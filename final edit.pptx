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90" r:id="rId3"/>
    <p:sldId id="291" r:id="rId4"/>
    <p:sldId id="259" r:id="rId5"/>
    <p:sldId id="260" r:id="rId6"/>
    <p:sldId id="261" r:id="rId7"/>
    <p:sldId id="282" r:id="rId8"/>
    <p:sldId id="283" r:id="rId9"/>
    <p:sldId id="262" r:id="rId10"/>
    <p:sldId id="284" r:id="rId11"/>
    <p:sldId id="287" r:id="rId12"/>
    <p:sldId id="285" r:id="rId13"/>
    <p:sldId id="286" r:id="rId14"/>
    <p:sldId id="263" r:id="rId15"/>
    <p:sldId id="264" r:id="rId16"/>
    <p:sldId id="265" r:id="rId17"/>
    <p:sldId id="266" r:id="rId18"/>
    <p:sldId id="267" r:id="rId19"/>
    <p:sldId id="268" r:id="rId20"/>
    <p:sldId id="269" r:id="rId21"/>
    <p:sldId id="270" r:id="rId22"/>
    <p:sldId id="271" r:id="rId23"/>
    <p:sldId id="272" r:id="rId24"/>
    <p:sldId id="273" r:id="rId25"/>
    <p:sldId id="288" r:id="rId26"/>
    <p:sldId id="274" r:id="rId27"/>
    <p:sldId id="275" r:id="rId28"/>
    <p:sldId id="276" r:id="rId29"/>
    <p:sldId id="277" r:id="rId30"/>
    <p:sldId id="289" r:id="rId31"/>
    <p:sldId id="280" r:id="rId32"/>
    <p:sldId id="278"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10"/>
  </p:normalViewPr>
  <p:slideViewPr>
    <p:cSldViewPr snapToGrid="0" snapToObjects="1">
      <p:cViewPr>
        <p:scale>
          <a:sx n="125" d="100"/>
          <a:sy n="125" d="100"/>
        </p:scale>
        <p:origin x="254" y="-18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771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366073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512633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77635-3FC1-8C30-EB88-6A29049748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79C65-3134-37D7-E3CA-19570C350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3A0AD-C2B7-162A-2F21-37F4E272CD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EDA315-E619-7D91-AFF3-2E169ABDEAB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05235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87A40-7499-0A4C-28F9-39CB2241E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A30950-A7C2-9C8B-278F-6D98001F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5EA65-1877-C274-BF36-4D075D6009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FC7B6-CD9D-AEE8-C3D9-AF01328F70D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31547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79291-8631-5994-0D16-77411694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4CF686-38B5-E634-FFBD-439566418A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D6C88-BE56-C7F1-6A75-DE490AEF20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BFFFB7-BD6D-BE87-C676-E32183772E52}"/>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111447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951B5-8BC4-77D9-1BB5-5CACE1E5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F39075-DE3E-D9E6-2B0B-807C4F234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D68605-F098-3EF3-2962-B18C316DD8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DE604F-7976-4296-D9AA-645BECA9B8A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262002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7E873-31D0-D24E-6670-AC01B7776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215BA7-94CD-E84A-2F9A-7DC197592F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C9B772-179D-34B3-A2C7-99C21DAC7D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8BD91E-EE38-AC63-BD63-DE5FCC701ACD}"/>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0234988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CED39-84F1-CC06-7F5A-E2DB8EC9A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4FE77-C86D-C1B5-C236-B5A7AF513B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6E3EA-E8C5-2DE7-DB97-13026C28DC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B6D2DC-E8D7-CDA6-693F-B25FF72712A4}"/>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353862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2.png"/><Relationship Id="rId4" Type="http://schemas.openxmlformats.org/officeDocument/2006/relationships/image" Target="../media/image26.png"/><Relationship Id="rId9"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33.jp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114" y="-3017"/>
            <a:ext cx="9144000" cy="5909109"/>
          </a:xfrm>
          <a:prstGeom prst="rect">
            <a:avLst/>
          </a:prstGeom>
        </p:spPr>
      </p:pic>
      <p:sp>
        <p:nvSpPr>
          <p:cNvPr id="3" name="Text 0"/>
          <p:cNvSpPr/>
          <p:nvPr/>
        </p:nvSpPr>
        <p:spPr>
          <a:xfrm>
            <a:off x="928688" y="444773"/>
            <a:ext cx="8001000" cy="1097235"/>
          </a:xfrm>
          <a:prstGeom prst="rect">
            <a:avLst/>
          </a:prstGeom>
          <a:noFill/>
          <a:ln/>
        </p:spPr>
        <p:txBody>
          <a:bodyPr wrap="square" lIns="0" tIns="0" rIns="0" bIns="0" rtlCol="0" anchor="ctr">
            <a:spAutoFit/>
          </a:bodyPr>
          <a:lstStyle/>
          <a:p>
            <a:pPr marL="0" indent="0" algn="ctr">
              <a:buNone/>
            </a:pPr>
            <a:r>
              <a:rPr lang="en-US" sz="3600" b="1" dirty="0">
                <a:solidFill>
                  <a:srgbClr val="FFFFFF"/>
                </a:solidFill>
                <a:latin typeface="Noto Sans" pitchFamily="34" charset="0"/>
                <a:ea typeface="Noto Sans" pitchFamily="34" charset="-122"/>
                <a:cs typeface="Noto Sans" pitchFamily="34" charset="-120"/>
              </a:rPr>
              <a:t>AI-Based System for 5 Categories Fungus Detection</a:t>
            </a:r>
            <a:endParaRPr lang="en-US" sz="3600" dirty="0"/>
          </a:p>
        </p:txBody>
      </p:sp>
      <p:sp>
        <p:nvSpPr>
          <p:cNvPr id="4" name="Shape 1"/>
          <p:cNvSpPr/>
          <p:nvPr/>
        </p:nvSpPr>
        <p:spPr>
          <a:xfrm>
            <a:off x="4214813" y="1740173"/>
            <a:ext cx="714375" cy="21431"/>
          </a:xfrm>
          <a:prstGeom prst="rect">
            <a:avLst/>
          </a:prstGeom>
          <a:solidFill>
            <a:srgbClr val="F39C12"/>
          </a:solidFill>
          <a:ln/>
        </p:spPr>
      </p:sp>
      <p:sp>
        <p:nvSpPr>
          <p:cNvPr id="5" name="Text 2"/>
          <p:cNvSpPr/>
          <p:nvPr/>
        </p:nvSpPr>
        <p:spPr>
          <a:xfrm>
            <a:off x="571500" y="2157435"/>
            <a:ext cx="8001000" cy="276999"/>
          </a:xfrm>
          <a:prstGeom prst="rect">
            <a:avLst/>
          </a:prstGeom>
          <a:noFill/>
          <a:ln/>
        </p:spPr>
        <p:txBody>
          <a:bodyPr wrap="squar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A 4-Phase Experimental Journey to a High-Accuracy Deployed Model</a:t>
            </a:r>
            <a:endParaRPr lang="en-US" sz="1800" dirty="0"/>
          </a:p>
        </p:txBody>
      </p:sp>
      <p:sp>
        <p:nvSpPr>
          <p:cNvPr id="6" name="Text 3"/>
          <p:cNvSpPr/>
          <p:nvPr/>
        </p:nvSpPr>
        <p:spPr>
          <a:xfrm>
            <a:off x="4460592" y="3022581"/>
            <a:ext cx="222818"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By</a:t>
            </a:r>
            <a:endParaRPr lang="en-US" sz="1400" dirty="0"/>
          </a:p>
        </p:txBody>
      </p:sp>
      <p:sp>
        <p:nvSpPr>
          <p:cNvPr id="7" name="Text 4"/>
          <p:cNvSpPr/>
          <p:nvPr/>
        </p:nvSpPr>
        <p:spPr>
          <a:xfrm>
            <a:off x="3978889" y="3282436"/>
            <a:ext cx="1186223"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Hothifa Sadiq</a:t>
            </a:r>
            <a:endParaRPr lang="en-US" sz="1400" dirty="0"/>
          </a:p>
        </p:txBody>
      </p:sp>
      <p:sp>
        <p:nvSpPr>
          <p:cNvPr id="8" name="Text 5"/>
          <p:cNvSpPr/>
          <p:nvPr/>
        </p:nvSpPr>
        <p:spPr>
          <a:xfrm>
            <a:off x="3951639" y="3488153"/>
            <a:ext cx="1240725"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Ahmed Essam</a:t>
            </a:r>
            <a:endParaRPr lang="en-US" sz="1400" dirty="0"/>
          </a:p>
        </p:txBody>
      </p:sp>
      <p:sp>
        <p:nvSpPr>
          <p:cNvPr id="9" name="Text 6"/>
          <p:cNvSpPr/>
          <p:nvPr/>
        </p:nvSpPr>
        <p:spPr>
          <a:xfrm>
            <a:off x="4005340" y="3693871"/>
            <a:ext cx="1133324"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Suhail Kamel</a:t>
            </a:r>
            <a:endParaRPr lang="en-US" sz="1400" dirty="0"/>
          </a:p>
        </p:txBody>
      </p:sp>
      <p:sp>
        <p:nvSpPr>
          <p:cNvPr id="10" name="Text 7"/>
          <p:cNvSpPr/>
          <p:nvPr/>
        </p:nvSpPr>
        <p:spPr>
          <a:xfrm>
            <a:off x="3699166" y="3899589"/>
            <a:ext cx="1745671"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Yaseen Al-Hammadi</a:t>
            </a:r>
            <a:endParaRPr lang="en-US" sz="1400" dirty="0"/>
          </a:p>
        </p:txBody>
      </p:sp>
      <p:sp>
        <p:nvSpPr>
          <p:cNvPr id="11" name="Text 8"/>
          <p:cNvSpPr/>
          <p:nvPr/>
        </p:nvSpPr>
        <p:spPr>
          <a:xfrm>
            <a:off x="4075857" y="4105306"/>
            <a:ext cx="992259"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Khalil Hadi </a:t>
            </a:r>
            <a:endParaRPr lang="en-US" sz="1400" dirty="0"/>
          </a:p>
        </p:txBody>
      </p:sp>
      <p:sp>
        <p:nvSpPr>
          <p:cNvPr id="12" name="Text 9"/>
          <p:cNvSpPr/>
          <p:nvPr/>
        </p:nvSpPr>
        <p:spPr>
          <a:xfrm>
            <a:off x="3457913" y="4579807"/>
            <a:ext cx="2228175"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Under the Supervision of</a:t>
            </a:r>
            <a:endParaRPr lang="en-US" sz="1400" dirty="0"/>
          </a:p>
        </p:txBody>
      </p:sp>
      <p:sp>
        <p:nvSpPr>
          <p:cNvPr id="13" name="Text 10"/>
          <p:cNvSpPr/>
          <p:nvPr/>
        </p:nvSpPr>
        <p:spPr>
          <a:xfrm>
            <a:off x="3779316" y="4808407"/>
            <a:ext cx="1585370"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Dr. Ayman Al-Sabri</a:t>
            </a:r>
            <a:endParaRPr lang="en-US" sz="1400" dirty="0"/>
          </a:p>
        </p:txBody>
      </p:sp>
      <p:sp>
        <p:nvSpPr>
          <p:cNvPr id="14" name="Text 11"/>
          <p:cNvSpPr/>
          <p:nvPr/>
        </p:nvSpPr>
        <p:spPr>
          <a:xfrm>
            <a:off x="4344373" y="5260934"/>
            <a:ext cx="455254" cy="246221"/>
          </a:xfrm>
          <a:prstGeom prst="rect">
            <a:avLst/>
          </a:prstGeom>
          <a:noFill/>
          <a:ln/>
        </p:spPr>
        <p:txBody>
          <a:bodyPr wrap="none" lIns="0" tIns="0" rIns="0" bIns="0" rtlCol="0" anchor="ctr">
            <a:spAutoFit/>
          </a:bodyPr>
          <a:lstStyle/>
          <a:p>
            <a:pPr marL="0" indent="0" algn="ctr">
              <a:buNone/>
            </a:pPr>
            <a:r>
              <a:rPr lang="en-US" sz="1600" b="1" dirty="0">
                <a:solidFill>
                  <a:srgbClr val="F39C12"/>
                </a:solidFill>
                <a:latin typeface="Noto Sans" pitchFamily="34" charset="0"/>
                <a:ea typeface="Noto Sans" pitchFamily="34" charset="-122"/>
                <a:cs typeface="Noto Sans" pitchFamily="34" charset="-120"/>
              </a:rPr>
              <a:t>2026</a:t>
            </a:r>
            <a:endParaRPr lang="en-US" sz="1600" dirty="0"/>
          </a:p>
        </p:txBody>
      </p:sp>
      <p:pic>
        <p:nvPicPr>
          <p:cNvPr id="16" name="Picture 15">
            <a:extLst>
              <a:ext uri="{FF2B5EF4-FFF2-40B4-BE49-F238E27FC236}">
                <a16:creationId xmlns:a16="http://schemas.microsoft.com/office/drawing/2014/main" id="{097ACD8F-F50C-6B5D-377B-7270F7276F3F}"/>
              </a:ext>
            </a:extLst>
          </p:cNvPr>
          <p:cNvPicPr>
            <a:picLocks noChangeAspect="1"/>
          </p:cNvPicPr>
          <p:nvPr/>
        </p:nvPicPr>
        <p:blipFill>
          <a:blip r:embed="rId4"/>
          <a:stretch>
            <a:fillRect/>
          </a:stretch>
        </p:blipFill>
        <p:spPr>
          <a:xfrm>
            <a:off x="214312" y="489719"/>
            <a:ext cx="992260" cy="9922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Table of Contents</a:t>
            </a:r>
            <a:endParaRPr lang="en-US" sz="2700" dirty="0"/>
          </a:p>
        </p:txBody>
      </p:sp>
      <p:sp>
        <p:nvSpPr>
          <p:cNvPr id="4" name="Text 1"/>
          <p:cNvSpPr/>
          <p:nvPr/>
        </p:nvSpPr>
        <p:spPr>
          <a:xfrm>
            <a:off x="571500" y="1451253"/>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01</a:t>
            </a:r>
            <a:endParaRPr lang="en-US" sz="2400" dirty="0"/>
          </a:p>
        </p:txBody>
      </p:sp>
      <p:sp>
        <p:nvSpPr>
          <p:cNvPr id="5" name="Text 2"/>
          <p:cNvSpPr/>
          <p:nvPr/>
        </p:nvSpPr>
        <p:spPr>
          <a:xfrm>
            <a:off x="1071563" y="1503136"/>
            <a:ext cx="1473160"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Introduction</a:t>
            </a:r>
            <a:endParaRPr lang="en-US" dirty="0"/>
          </a:p>
        </p:txBody>
      </p:sp>
      <p:sp>
        <p:nvSpPr>
          <p:cNvPr id="7" name="Text 4"/>
          <p:cNvSpPr/>
          <p:nvPr/>
        </p:nvSpPr>
        <p:spPr>
          <a:xfrm>
            <a:off x="4714875" y="1451253"/>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02</a:t>
            </a:r>
            <a:endParaRPr lang="en-US" sz="2400" dirty="0"/>
          </a:p>
        </p:txBody>
      </p:sp>
      <p:sp>
        <p:nvSpPr>
          <p:cNvPr id="8" name="Text 5"/>
          <p:cNvSpPr/>
          <p:nvPr/>
        </p:nvSpPr>
        <p:spPr>
          <a:xfrm>
            <a:off x="5214938" y="1495516"/>
            <a:ext cx="2643352"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Research Methodology</a:t>
            </a:r>
            <a:endParaRPr lang="en-US" dirty="0"/>
          </a:p>
        </p:txBody>
      </p:sp>
      <p:sp>
        <p:nvSpPr>
          <p:cNvPr id="10" name="Text 7"/>
          <p:cNvSpPr/>
          <p:nvPr/>
        </p:nvSpPr>
        <p:spPr>
          <a:xfrm>
            <a:off x="571500" y="2637115"/>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03</a:t>
            </a:r>
            <a:endParaRPr lang="en-US" sz="2400" dirty="0"/>
          </a:p>
        </p:txBody>
      </p:sp>
      <p:sp>
        <p:nvSpPr>
          <p:cNvPr id="11" name="Text 8"/>
          <p:cNvSpPr/>
          <p:nvPr/>
        </p:nvSpPr>
        <p:spPr>
          <a:xfrm>
            <a:off x="1071563" y="2688998"/>
            <a:ext cx="3262111"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Model Training &amp; Evaluation</a:t>
            </a:r>
            <a:endParaRPr lang="en-US" dirty="0"/>
          </a:p>
        </p:txBody>
      </p:sp>
      <p:sp>
        <p:nvSpPr>
          <p:cNvPr id="13" name="Text 10"/>
          <p:cNvSpPr/>
          <p:nvPr/>
        </p:nvSpPr>
        <p:spPr>
          <a:xfrm>
            <a:off x="4714875" y="2637115"/>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04</a:t>
            </a:r>
            <a:endParaRPr lang="en-US" sz="2400" dirty="0"/>
          </a:p>
        </p:txBody>
      </p:sp>
      <p:sp>
        <p:nvSpPr>
          <p:cNvPr id="14" name="Text 11"/>
          <p:cNvSpPr/>
          <p:nvPr/>
        </p:nvSpPr>
        <p:spPr>
          <a:xfrm>
            <a:off x="5214938" y="2688998"/>
            <a:ext cx="2786019"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System Implementation</a:t>
            </a:r>
            <a:endParaRPr lang="en-US" dirty="0"/>
          </a:p>
        </p:txBody>
      </p:sp>
      <p:sp>
        <p:nvSpPr>
          <p:cNvPr id="16" name="Text 13"/>
          <p:cNvSpPr/>
          <p:nvPr/>
        </p:nvSpPr>
        <p:spPr>
          <a:xfrm>
            <a:off x="571500" y="3822978"/>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05</a:t>
            </a:r>
            <a:endParaRPr lang="en-US" sz="2400" dirty="0"/>
          </a:p>
        </p:txBody>
      </p:sp>
      <p:sp>
        <p:nvSpPr>
          <p:cNvPr id="17" name="Text 14"/>
          <p:cNvSpPr/>
          <p:nvPr/>
        </p:nvSpPr>
        <p:spPr>
          <a:xfrm>
            <a:off x="1071563" y="3874861"/>
            <a:ext cx="3000821"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Conclusion &amp; Future Work</a:t>
            </a:r>
            <a:endParaRPr lang="en-US" dirty="0"/>
          </a:p>
        </p:txBody>
      </p:sp>
      <p:pic>
        <p:nvPicPr>
          <p:cNvPr id="6" name="Picture 5">
            <a:extLst>
              <a:ext uri="{FF2B5EF4-FFF2-40B4-BE49-F238E27FC236}">
                <a16:creationId xmlns:a16="http://schemas.microsoft.com/office/drawing/2014/main" id="{85653A15-C452-B77E-3CAE-15907AE95B63}"/>
              </a:ext>
            </a:extLst>
          </p:cNvPr>
          <p:cNvPicPr>
            <a:picLocks noChangeAspect="1"/>
          </p:cNvPicPr>
          <p:nvPr/>
        </p:nvPicPr>
        <p:blipFill>
          <a:blip r:embed="rId4"/>
          <a:stretch>
            <a:fillRect/>
          </a:stretch>
        </p:blipFill>
        <p:spPr>
          <a:xfrm>
            <a:off x="7994233" y="-59435"/>
            <a:ext cx="1141859" cy="1141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26355"/>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01 Introduction</a:t>
            </a:r>
            <a:endParaRPr lang="en-US" sz="2700" dirty="0"/>
          </a:p>
        </p:txBody>
      </p:sp>
      <p:sp>
        <p:nvSpPr>
          <p:cNvPr id="4" name="Text 1"/>
          <p:cNvSpPr/>
          <p:nvPr/>
        </p:nvSpPr>
        <p:spPr>
          <a:xfrm>
            <a:off x="571500" y="1220064"/>
            <a:ext cx="1090042"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Background</a:t>
            </a:r>
            <a:endParaRPr lang="en-US" sz="1400" dirty="0"/>
          </a:p>
        </p:txBody>
      </p:sp>
      <p:sp>
        <p:nvSpPr>
          <p:cNvPr id="5" name="Text 2"/>
          <p:cNvSpPr/>
          <p:nvPr/>
        </p:nvSpPr>
        <p:spPr>
          <a:xfrm>
            <a:off x="571500" y="1514610"/>
            <a:ext cx="163987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Fungal infections pose a </a:t>
            </a:r>
            <a:endParaRPr lang="en-US" sz="1100" dirty="0"/>
          </a:p>
        </p:txBody>
      </p:sp>
      <p:sp>
        <p:nvSpPr>
          <p:cNvPr id="6" name="Text 3"/>
          <p:cNvSpPr/>
          <p:nvPr/>
        </p:nvSpPr>
        <p:spPr>
          <a:xfrm>
            <a:off x="2189924" y="1514610"/>
            <a:ext cx="2441374" cy="169277"/>
          </a:xfrm>
          <a:prstGeom prst="rect">
            <a:avLst/>
          </a:prstGeom>
          <a:noFill/>
          <a:ln/>
        </p:spPr>
        <p:txBody>
          <a:bodyPr wrap="none" lIns="0" tIns="0" rIns="0" bIns="0" rtlCol="0" anchor="ctr">
            <a:spAutoFit/>
          </a:bodyPr>
          <a:lstStyle/>
          <a:p>
            <a:pPr marL="0" indent="0">
              <a:buNone/>
            </a:pPr>
            <a:r>
              <a:rPr lang="en-US" sz="1100" b="1" dirty="0">
                <a:solidFill>
                  <a:srgbClr val="2E5090"/>
                </a:solidFill>
                <a:latin typeface="Noto Sans" pitchFamily="34" charset="0"/>
                <a:ea typeface="Noto Sans" pitchFamily="34" charset="-122"/>
                <a:cs typeface="Noto Sans" pitchFamily="34" charset="-120"/>
              </a:rPr>
              <a:t>significant global health challenge</a:t>
            </a:r>
            <a:endParaRPr lang="en-US" sz="1100" dirty="0"/>
          </a:p>
        </p:txBody>
      </p:sp>
      <p:sp>
        <p:nvSpPr>
          <p:cNvPr id="7" name="Text 4"/>
          <p:cNvSpPr/>
          <p:nvPr/>
        </p:nvSpPr>
        <p:spPr>
          <a:xfrm>
            <a:off x="4638918" y="1512070"/>
            <a:ext cx="4369786"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,often complicated by slow and inaccurate traditional diagnostic </a:t>
            </a:r>
            <a:endParaRPr lang="en-US" sz="1100" dirty="0"/>
          </a:p>
        </p:txBody>
      </p:sp>
      <p:sp>
        <p:nvSpPr>
          <p:cNvPr id="8" name="Text 5"/>
          <p:cNvSpPr/>
          <p:nvPr/>
        </p:nvSpPr>
        <p:spPr>
          <a:xfrm>
            <a:off x="571500" y="1746056"/>
            <a:ext cx="8646598"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methods. Delayed or inaccurate diagnosis increases the risk of complications and makes treatment more difficult, highlighting the </a:t>
            </a:r>
            <a:endParaRPr lang="en-US" sz="1100" dirty="0"/>
          </a:p>
        </p:txBody>
      </p:sp>
      <p:sp>
        <p:nvSpPr>
          <p:cNvPr id="9" name="Text 6"/>
          <p:cNvSpPr/>
          <p:nvPr/>
        </p:nvSpPr>
        <p:spPr>
          <a:xfrm>
            <a:off x="571500" y="1977502"/>
            <a:ext cx="3215624"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urgent need for modern and effective solutions. </a:t>
            </a:r>
            <a:endParaRPr lang="en-US" sz="1100" dirty="0"/>
          </a:p>
        </p:txBody>
      </p:sp>
      <p:sp>
        <p:nvSpPr>
          <p:cNvPr id="16" name="Text 13"/>
          <p:cNvSpPr/>
          <p:nvPr/>
        </p:nvSpPr>
        <p:spPr>
          <a:xfrm>
            <a:off x="571500" y="3951767"/>
            <a:ext cx="1227900"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Project Vision</a:t>
            </a:r>
            <a:endParaRPr lang="en-US" sz="1400" dirty="0"/>
          </a:p>
        </p:txBody>
      </p:sp>
      <p:sp>
        <p:nvSpPr>
          <p:cNvPr id="17" name="Text 14"/>
          <p:cNvSpPr/>
          <p:nvPr/>
        </p:nvSpPr>
        <p:spPr>
          <a:xfrm>
            <a:off x="571500" y="4250160"/>
            <a:ext cx="2744341"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This project aims to design and develop an </a:t>
            </a:r>
            <a:endParaRPr lang="en-US" sz="1050" dirty="0"/>
          </a:p>
        </p:txBody>
      </p:sp>
      <p:sp>
        <p:nvSpPr>
          <p:cNvPr id="18" name="Text 15"/>
          <p:cNvSpPr/>
          <p:nvPr/>
        </p:nvSpPr>
        <p:spPr>
          <a:xfrm>
            <a:off x="3303372" y="4250160"/>
            <a:ext cx="3201197"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AI-based system for detecting fungal infections</a:t>
            </a:r>
            <a:endParaRPr lang="en-US" sz="1050" dirty="0"/>
          </a:p>
        </p:txBody>
      </p:sp>
      <p:sp>
        <p:nvSpPr>
          <p:cNvPr id="19" name="Text 16"/>
          <p:cNvSpPr/>
          <p:nvPr/>
        </p:nvSpPr>
        <p:spPr>
          <a:xfrm>
            <a:off x="6509435" y="4250160"/>
            <a:ext cx="2063065"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through the analysis of medical </a:t>
            </a:r>
            <a:endParaRPr lang="en-US" sz="1050" dirty="0"/>
          </a:p>
        </p:txBody>
      </p:sp>
      <p:sp>
        <p:nvSpPr>
          <p:cNvPr id="20" name="Text 17"/>
          <p:cNvSpPr/>
          <p:nvPr/>
        </p:nvSpPr>
        <p:spPr>
          <a:xfrm>
            <a:off x="571500" y="4481606"/>
            <a:ext cx="805669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images. By integrating the AI inference model with a Flutter-based mobile application and Flask middleware server, the system </a:t>
            </a:r>
            <a:endParaRPr lang="en-US" sz="1050" dirty="0"/>
          </a:p>
        </p:txBody>
      </p:sp>
      <p:sp>
        <p:nvSpPr>
          <p:cNvPr id="21" name="Text 18"/>
          <p:cNvSpPr/>
          <p:nvPr/>
        </p:nvSpPr>
        <p:spPr>
          <a:xfrm>
            <a:off x="571500" y="4713052"/>
            <a:ext cx="777457"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provides an </a:t>
            </a:r>
            <a:endParaRPr lang="en-US" sz="1050" dirty="0"/>
          </a:p>
        </p:txBody>
      </p:sp>
      <p:sp>
        <p:nvSpPr>
          <p:cNvPr id="22" name="Text 19"/>
          <p:cNvSpPr/>
          <p:nvPr/>
        </p:nvSpPr>
        <p:spPr>
          <a:xfrm>
            <a:off x="1375105" y="4713052"/>
            <a:ext cx="2418932"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accessible, real-time diagnostic tool</a:t>
            </a:r>
            <a:endParaRPr lang="en-US" sz="1050" dirty="0"/>
          </a:p>
        </p:txBody>
      </p:sp>
      <p:sp>
        <p:nvSpPr>
          <p:cNvPr id="23" name="Text 20"/>
          <p:cNvSpPr/>
          <p:nvPr/>
        </p:nvSpPr>
        <p:spPr>
          <a:xfrm>
            <a:off x="3824360" y="4713052"/>
            <a:ext cx="188032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for healthcare professionals. </a:t>
            </a:r>
            <a:endParaRPr lang="en-US" sz="1050" dirty="0"/>
          </a:p>
        </p:txBody>
      </p:sp>
      <p:pic>
        <p:nvPicPr>
          <p:cNvPr id="10" name="Picture 9">
            <a:extLst>
              <a:ext uri="{FF2B5EF4-FFF2-40B4-BE49-F238E27FC236}">
                <a16:creationId xmlns:a16="http://schemas.microsoft.com/office/drawing/2014/main" id="{B1DBB107-884C-09A8-1782-7A6E7C9B31DC}"/>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2422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Motivation &amp; Problem Statement</a:t>
            </a:r>
            <a:endParaRPr lang="en-US" sz="2700" dirty="0"/>
          </a:p>
        </p:txBody>
      </p:sp>
      <p:sp>
        <p:nvSpPr>
          <p:cNvPr id="4" name="Text 1"/>
          <p:cNvSpPr/>
          <p:nvPr/>
        </p:nvSpPr>
        <p:spPr>
          <a:xfrm>
            <a:off x="571500" y="1361688"/>
            <a:ext cx="1269578"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Motivation</a:t>
            </a:r>
            <a:endParaRPr lang="en-US" dirty="0"/>
          </a:p>
        </p:txBody>
      </p:sp>
      <p:sp>
        <p:nvSpPr>
          <p:cNvPr id="5" name="Text 2"/>
          <p:cNvSpPr/>
          <p:nvPr/>
        </p:nvSpPr>
        <p:spPr>
          <a:xfrm>
            <a:off x="571500" y="1823730"/>
            <a:ext cx="1627048"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Global Health Challenge</a:t>
            </a:r>
            <a:endParaRPr lang="en-US" sz="1050" dirty="0"/>
          </a:p>
        </p:txBody>
      </p:sp>
      <p:sp>
        <p:nvSpPr>
          <p:cNvPr id="6" name="Text 3"/>
          <p:cNvSpPr/>
          <p:nvPr/>
        </p:nvSpPr>
        <p:spPr>
          <a:xfrm>
            <a:off x="571500" y="2072813"/>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Fungal infections affect millions worldwide and are often difficult to diagnose accurately using conventional methods.</a:t>
            </a:r>
            <a:endParaRPr lang="en-US" sz="1000" dirty="0"/>
          </a:p>
        </p:txBody>
      </p:sp>
      <p:sp>
        <p:nvSpPr>
          <p:cNvPr id="7" name="Text 4"/>
          <p:cNvSpPr/>
          <p:nvPr/>
        </p:nvSpPr>
        <p:spPr>
          <a:xfrm>
            <a:off x="571500" y="2568103"/>
            <a:ext cx="119744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Diagnostic Delays</a:t>
            </a:r>
            <a:endParaRPr lang="en-US" sz="1050" dirty="0"/>
          </a:p>
        </p:txBody>
      </p:sp>
      <p:sp>
        <p:nvSpPr>
          <p:cNvPr id="8" name="Text 5"/>
          <p:cNvSpPr/>
          <p:nvPr/>
        </p:nvSpPr>
        <p:spPr>
          <a:xfrm>
            <a:off x="571500" y="2831326"/>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diagnostic methods require specialized laboratory tests and considerable time, leading to delayed treatment and increased complications.</a:t>
            </a:r>
            <a:endParaRPr lang="en-US" sz="1000" dirty="0"/>
          </a:p>
        </p:txBody>
      </p:sp>
      <p:sp>
        <p:nvSpPr>
          <p:cNvPr id="9" name="Text 6"/>
          <p:cNvSpPr/>
          <p:nvPr/>
        </p:nvSpPr>
        <p:spPr>
          <a:xfrm>
            <a:off x="571500" y="3494642"/>
            <a:ext cx="111248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AI Advancement</a:t>
            </a:r>
            <a:endParaRPr lang="en-US" sz="1050" dirty="0"/>
          </a:p>
        </p:txBody>
      </p:sp>
      <p:sp>
        <p:nvSpPr>
          <p:cNvPr id="10" name="Text 7"/>
          <p:cNvSpPr/>
          <p:nvPr/>
        </p:nvSpPr>
        <p:spPr>
          <a:xfrm>
            <a:off x="571500" y="366678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Deep learning has demonstrated exceptional capability in medical image analysis, enabling rapid and accurate disease detection.</a:t>
            </a:r>
            <a:endParaRPr lang="en-US" sz="1000" dirty="0"/>
          </a:p>
        </p:txBody>
      </p:sp>
      <p:sp>
        <p:nvSpPr>
          <p:cNvPr id="11" name="Text 8"/>
          <p:cNvSpPr/>
          <p:nvPr/>
        </p:nvSpPr>
        <p:spPr>
          <a:xfrm>
            <a:off x="571500" y="4239015"/>
            <a:ext cx="113172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Accessibility Gap</a:t>
            </a:r>
            <a:endParaRPr lang="en-US" sz="1050" dirty="0"/>
          </a:p>
        </p:txBody>
      </p:sp>
      <p:sp>
        <p:nvSpPr>
          <p:cNvPr id="12" name="Text 9"/>
          <p:cNvSpPr/>
          <p:nvPr/>
        </p:nvSpPr>
        <p:spPr>
          <a:xfrm>
            <a:off x="571500" y="4488098"/>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Many regions lack access to specialized dermatologists, making an accessible AI diagnostic tool essential for healthcare equity.</a:t>
            </a:r>
            <a:endParaRPr lang="en-US" sz="1000" dirty="0"/>
          </a:p>
        </p:txBody>
      </p:sp>
      <p:sp>
        <p:nvSpPr>
          <p:cNvPr id="13" name="Text 10"/>
          <p:cNvSpPr/>
          <p:nvPr/>
        </p:nvSpPr>
        <p:spPr>
          <a:xfrm>
            <a:off x="4750594" y="1452771"/>
            <a:ext cx="2249014"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Problem Statement</a:t>
            </a:r>
            <a:endParaRPr lang="en-US" dirty="0"/>
          </a:p>
        </p:txBody>
      </p:sp>
      <p:sp>
        <p:nvSpPr>
          <p:cNvPr id="14" name="Text 11"/>
          <p:cNvSpPr/>
          <p:nvPr/>
        </p:nvSpPr>
        <p:spPr>
          <a:xfrm>
            <a:off x="4750594" y="1914813"/>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Inaccurate Diagnosis</a:t>
            </a:r>
            <a:endParaRPr lang="en-US" sz="1050" dirty="0"/>
          </a:p>
        </p:txBody>
      </p:sp>
      <p:sp>
        <p:nvSpPr>
          <p:cNvPr id="15" name="Text 12"/>
          <p:cNvSpPr/>
          <p:nvPr/>
        </p:nvSpPr>
        <p:spPr>
          <a:xfrm>
            <a:off x="4750594" y="2163895"/>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methods often lead to inaccurate results due to human error or limitations in available medical resources.</a:t>
            </a:r>
            <a:endParaRPr lang="en-US" sz="1000" dirty="0"/>
          </a:p>
        </p:txBody>
      </p:sp>
      <p:sp>
        <p:nvSpPr>
          <p:cNvPr id="16" name="Text 13"/>
          <p:cNvSpPr/>
          <p:nvPr/>
        </p:nvSpPr>
        <p:spPr>
          <a:xfrm>
            <a:off x="4750594" y="2659186"/>
            <a:ext cx="114775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Time Constraints</a:t>
            </a:r>
            <a:endParaRPr lang="en-US" sz="1050" dirty="0"/>
          </a:p>
        </p:txBody>
      </p:sp>
      <p:sp>
        <p:nvSpPr>
          <p:cNvPr id="17" name="Text 14"/>
          <p:cNvSpPr/>
          <p:nvPr/>
        </p:nvSpPr>
        <p:spPr>
          <a:xfrm>
            <a:off x="4750594" y="2908269"/>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Patients may not receive immediate or precise diagnoses, which delays treatment and increases risk of complications.</a:t>
            </a:r>
            <a:endParaRPr lang="en-US" sz="1000" dirty="0"/>
          </a:p>
        </p:txBody>
      </p:sp>
      <p:sp>
        <p:nvSpPr>
          <p:cNvPr id="18" name="Text 15"/>
          <p:cNvSpPr/>
          <p:nvPr/>
        </p:nvSpPr>
        <p:spPr>
          <a:xfrm>
            <a:off x="4750594" y="3403559"/>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Resource Limitations</a:t>
            </a:r>
            <a:endParaRPr lang="en-US" sz="1050" dirty="0"/>
          </a:p>
        </p:txBody>
      </p:sp>
      <p:sp>
        <p:nvSpPr>
          <p:cNvPr id="19" name="Text 16"/>
          <p:cNvSpPr/>
          <p:nvPr/>
        </p:nvSpPr>
        <p:spPr>
          <a:xfrm>
            <a:off x="4750594" y="3652642"/>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Limited access to specialized diagnostic equipment and expertise in many healthcare settings worldwide.</a:t>
            </a:r>
            <a:endParaRPr lang="en-US" sz="1000" dirty="0"/>
          </a:p>
        </p:txBody>
      </p:sp>
      <p:sp>
        <p:nvSpPr>
          <p:cNvPr id="20" name="Text 17"/>
          <p:cNvSpPr/>
          <p:nvPr/>
        </p:nvSpPr>
        <p:spPr>
          <a:xfrm>
            <a:off x="4750594" y="4147932"/>
            <a:ext cx="94737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Solution Need</a:t>
            </a:r>
            <a:endParaRPr lang="en-US" sz="1050" dirty="0"/>
          </a:p>
        </p:txBody>
      </p:sp>
      <p:sp>
        <p:nvSpPr>
          <p:cNvPr id="21" name="Text 18"/>
          <p:cNvSpPr/>
          <p:nvPr/>
        </p:nvSpPr>
        <p:spPr>
          <a:xfrm>
            <a:off x="4750594" y="432007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There is an urgent need for advanced tools that can assist medical professionals in identifying fungal infections quickly and reliably.</a:t>
            </a:r>
            <a:endParaRPr lang="en-US" sz="1000" dirty="0"/>
          </a:p>
        </p:txBody>
      </p:sp>
      <p:pic>
        <p:nvPicPr>
          <p:cNvPr id="22" name="Picture 21">
            <a:extLst>
              <a:ext uri="{FF2B5EF4-FFF2-40B4-BE49-F238E27FC236}">
                <a16:creationId xmlns:a16="http://schemas.microsoft.com/office/drawing/2014/main" id="{C8233022-401F-2AB9-A219-A26BA22EAACC}"/>
              </a:ext>
            </a:extLst>
          </p:cNvPr>
          <p:cNvPicPr>
            <a:picLocks noChangeAspect="1"/>
          </p:cNvPicPr>
          <p:nvPr/>
        </p:nvPicPr>
        <p:blipFill>
          <a:blip r:embed="rId4"/>
          <a:stretch>
            <a:fillRect/>
          </a:stretch>
        </p:blipFill>
        <p:spPr>
          <a:xfrm>
            <a:off x="7994233" y="-39263"/>
            <a:ext cx="1141859" cy="1141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7742"/>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Project Objectives</a:t>
            </a:r>
            <a:endParaRPr lang="en-US" sz="2700" dirty="0"/>
          </a:p>
        </p:txBody>
      </p:sp>
      <p:sp>
        <p:nvSpPr>
          <p:cNvPr id="4" name="Shape 1"/>
          <p:cNvSpPr/>
          <p:nvPr/>
        </p:nvSpPr>
        <p:spPr>
          <a:xfrm>
            <a:off x="571500" y="1371600"/>
            <a:ext cx="8001000" cy="990079"/>
          </a:xfrm>
          <a:prstGeom prst="rect">
            <a:avLst/>
          </a:prstGeom>
          <a:solidFill>
            <a:srgbClr val="F5F9FC"/>
          </a:solidFill>
          <a:ln/>
        </p:spPr>
      </p:sp>
      <p:sp>
        <p:nvSpPr>
          <p:cNvPr id="5" name="Shape 2"/>
          <p:cNvSpPr/>
          <p:nvPr/>
        </p:nvSpPr>
        <p:spPr>
          <a:xfrm>
            <a:off x="571500" y="1371600"/>
            <a:ext cx="35719" cy="990079"/>
          </a:xfrm>
          <a:prstGeom prst="rect">
            <a:avLst/>
          </a:prstGeom>
          <a:solidFill>
            <a:srgbClr val="2E5090"/>
          </a:solidFill>
          <a:ln/>
        </p:spPr>
      </p:sp>
      <p:sp>
        <p:nvSpPr>
          <p:cNvPr id="6" name="Text 3"/>
          <p:cNvSpPr/>
          <p:nvPr/>
        </p:nvSpPr>
        <p:spPr>
          <a:xfrm>
            <a:off x="785813" y="1517483"/>
            <a:ext cx="1351524"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Main Objective</a:t>
            </a:r>
            <a:endParaRPr lang="en-US" sz="1400" dirty="0"/>
          </a:p>
        </p:txBody>
      </p:sp>
      <p:sp>
        <p:nvSpPr>
          <p:cNvPr id="7" name="Text 4"/>
          <p:cNvSpPr/>
          <p:nvPr/>
        </p:nvSpPr>
        <p:spPr>
          <a:xfrm>
            <a:off x="785813" y="1815785"/>
            <a:ext cx="7572375" cy="323165"/>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 Design and develop an intelligent, cloud-enabled system that can accurately detect and analyze fungal infections in the human body using Artificial Intelligence (AI) techniques. </a:t>
            </a:r>
            <a:endParaRPr lang="en-US" sz="1050" dirty="0"/>
          </a:p>
        </p:txBody>
      </p:sp>
      <p:sp>
        <p:nvSpPr>
          <p:cNvPr id="8" name="Text 5"/>
          <p:cNvSpPr/>
          <p:nvPr/>
        </p:nvSpPr>
        <p:spPr>
          <a:xfrm>
            <a:off x="571500" y="2625433"/>
            <a:ext cx="1672766"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Specific Objectives</a:t>
            </a:r>
            <a:endParaRPr lang="en-US" sz="1400" dirty="0"/>
          </a:p>
        </p:txBody>
      </p:sp>
      <p:sp>
        <p:nvSpPr>
          <p:cNvPr id="9" name="Text 6"/>
          <p:cNvSpPr/>
          <p:nvPr/>
        </p:nvSpPr>
        <p:spPr>
          <a:xfrm>
            <a:off x="571500"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10" name="Text 7"/>
          <p:cNvSpPr/>
          <p:nvPr/>
        </p:nvSpPr>
        <p:spPr>
          <a:xfrm>
            <a:off x="928688"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Collect and preprocess medical image datasets related to fungal infections, ensuring data quality and balance across five distinct classes (H1, H2, H3, H5, H6). </a:t>
            </a:r>
            <a:endParaRPr lang="en-US" sz="1050" dirty="0"/>
          </a:p>
        </p:txBody>
      </p:sp>
      <p:sp>
        <p:nvSpPr>
          <p:cNvPr id="11" name="Text 8"/>
          <p:cNvSpPr/>
          <p:nvPr/>
        </p:nvSpPr>
        <p:spPr>
          <a:xfrm>
            <a:off x="4661297"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2" name="Text 9"/>
          <p:cNvSpPr/>
          <p:nvPr/>
        </p:nvSpPr>
        <p:spPr>
          <a:xfrm>
            <a:off x="5018484"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and select the optimal deep learning model through rigorous experimentation with multiple CNN architectures and advanced techniques. </a:t>
            </a:r>
            <a:endParaRPr lang="en-US" sz="1050" dirty="0"/>
          </a:p>
        </p:txBody>
      </p:sp>
      <p:sp>
        <p:nvSpPr>
          <p:cNvPr id="13" name="Text 10"/>
          <p:cNvSpPr/>
          <p:nvPr/>
        </p:nvSpPr>
        <p:spPr>
          <a:xfrm>
            <a:off x="571500"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4" name="Text 11"/>
          <p:cNvSpPr/>
          <p:nvPr/>
        </p:nvSpPr>
        <p:spPr>
          <a:xfrm>
            <a:off x="928688" y="3583775"/>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Integrate cloud-based deep learning inference through the Hugging Face URL for accurate, scalable fungal image classification. </a:t>
            </a:r>
            <a:endParaRPr lang="en-US" sz="1050" dirty="0"/>
          </a:p>
        </p:txBody>
      </p:sp>
      <p:sp>
        <p:nvSpPr>
          <p:cNvPr id="15" name="Text 12"/>
          <p:cNvSpPr/>
          <p:nvPr/>
        </p:nvSpPr>
        <p:spPr>
          <a:xfrm>
            <a:off x="4661297"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16" name="Text 13"/>
          <p:cNvSpPr/>
          <p:nvPr/>
        </p:nvSpPr>
        <p:spPr>
          <a:xfrm>
            <a:off x="5018484" y="358377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Design a Flutter-based mobile application that allows users and healthcare professionals to upload and analyze images easily. </a:t>
            </a:r>
            <a:endParaRPr lang="en-US" sz="1050" dirty="0"/>
          </a:p>
        </p:txBody>
      </p:sp>
      <p:sp>
        <p:nvSpPr>
          <p:cNvPr id="17" name="Text 14"/>
          <p:cNvSpPr/>
          <p:nvPr/>
        </p:nvSpPr>
        <p:spPr>
          <a:xfrm>
            <a:off x="571500"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5</a:t>
            </a:r>
            <a:endParaRPr lang="en-US" sz="1350" dirty="0"/>
          </a:p>
        </p:txBody>
      </p:sp>
      <p:sp>
        <p:nvSpPr>
          <p:cNvPr id="18" name="Text 15"/>
          <p:cNvSpPr/>
          <p:nvPr/>
        </p:nvSpPr>
        <p:spPr>
          <a:xfrm>
            <a:off x="928688"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Implement a Flask middleware server to manage API communication, image preprocessing, and orchestration between mobile app and cloud AI. </a:t>
            </a:r>
            <a:endParaRPr lang="en-US" sz="1050" dirty="0"/>
          </a:p>
        </p:txBody>
      </p:sp>
      <p:sp>
        <p:nvSpPr>
          <p:cNvPr id="19" name="Text 16"/>
          <p:cNvSpPr/>
          <p:nvPr/>
        </p:nvSpPr>
        <p:spPr>
          <a:xfrm>
            <a:off x="4661297"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6</a:t>
            </a:r>
            <a:endParaRPr lang="en-US" sz="1350" dirty="0"/>
          </a:p>
        </p:txBody>
      </p:sp>
      <p:sp>
        <p:nvSpPr>
          <p:cNvPr id="20" name="Text 17"/>
          <p:cNvSpPr/>
          <p:nvPr/>
        </p:nvSpPr>
        <p:spPr>
          <a:xfrm>
            <a:off x="5018484"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system performance in terms of response time, scalability, diagnostic accuracy, and user experience in real-world scenarios. </a:t>
            </a:r>
            <a:endParaRPr lang="en-US" sz="1050" dirty="0"/>
          </a:p>
        </p:txBody>
      </p:sp>
      <p:pic>
        <p:nvPicPr>
          <p:cNvPr id="21" name="Picture 20">
            <a:extLst>
              <a:ext uri="{FF2B5EF4-FFF2-40B4-BE49-F238E27FC236}">
                <a16:creationId xmlns:a16="http://schemas.microsoft.com/office/drawing/2014/main" id="{6F00538F-A92A-E439-DB57-E4D16DBC5ED9}"/>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235743"/>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Scope of Study</a:t>
            </a:r>
            <a:endParaRPr lang="en-US" sz="2700" dirty="0"/>
          </a:p>
        </p:txBody>
      </p:sp>
      <p:sp>
        <p:nvSpPr>
          <p:cNvPr id="4" name="Shape 1"/>
          <p:cNvSpPr/>
          <p:nvPr/>
        </p:nvSpPr>
        <p:spPr>
          <a:xfrm>
            <a:off x="571500" y="873918"/>
            <a:ext cx="8001000" cy="385763"/>
          </a:xfrm>
          <a:prstGeom prst="rect">
            <a:avLst/>
          </a:prstGeom>
          <a:solidFill>
            <a:srgbClr val="2E5090"/>
          </a:solidFill>
          <a:ln/>
        </p:spPr>
      </p:sp>
      <p:sp>
        <p:nvSpPr>
          <p:cNvPr id="5" name="Text 2"/>
          <p:cNvSpPr/>
          <p:nvPr/>
        </p:nvSpPr>
        <p:spPr>
          <a:xfrm>
            <a:off x="571500" y="855973"/>
            <a:ext cx="8001000"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Primary Focus</a:t>
            </a:r>
            <a:endParaRPr lang="en-US" sz="1400" dirty="0"/>
          </a:p>
        </p:txBody>
      </p:sp>
      <p:sp>
        <p:nvSpPr>
          <p:cNvPr id="6" name="Text 3"/>
          <p:cNvSpPr/>
          <p:nvPr/>
        </p:nvSpPr>
        <p:spPr>
          <a:xfrm>
            <a:off x="571500" y="1356423"/>
            <a:ext cx="8001000"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study focuses on applying </a:t>
            </a:r>
            <a:r>
              <a:rPr lang="en-US" sz="1050" b="1" dirty="0">
                <a:solidFill>
                  <a:srgbClr val="2E5090"/>
                </a:solidFill>
                <a:latin typeface="Noto Sans" pitchFamily="34" charset="0"/>
                <a:ea typeface="Noto Sans" pitchFamily="34" charset="-122"/>
                <a:cs typeface="Noto Sans" pitchFamily="34" charset="-120"/>
              </a:rPr>
              <a:t>Artificial Intelligence and cloud computing</a:t>
            </a:r>
            <a:r>
              <a:rPr lang="en-US" sz="1050" b="1" dirty="0"/>
              <a:t> </a:t>
            </a:r>
            <a:r>
              <a:rPr lang="en-US" sz="1050" dirty="0">
                <a:solidFill>
                  <a:srgbClr val="34495E"/>
                </a:solidFill>
                <a:latin typeface="Noto Sans" pitchFamily="34" charset="0"/>
                <a:ea typeface="Noto Sans" pitchFamily="34" charset="-122"/>
                <a:cs typeface="Noto Sans" pitchFamily="34" charset="-120"/>
              </a:rPr>
              <a:t>in medical image analysis for fungal infection </a:t>
            </a:r>
          </a:p>
          <a:p>
            <a:r>
              <a:rPr lang="en-US" sz="1050" dirty="0">
                <a:solidFill>
                  <a:srgbClr val="34495E"/>
                </a:solidFill>
                <a:latin typeface="Noto Sans" pitchFamily="34" charset="0"/>
                <a:ea typeface="Noto Sans" pitchFamily="34" charset="-122"/>
                <a:cs typeface="Noto Sans" pitchFamily="34" charset="-120"/>
              </a:rPr>
              <a:t>detection. The project emphasizes scalability, cost-efficiency, and accessibility through cloud-based inference and mobile technology.</a:t>
            </a:r>
            <a:endParaRPr lang="en-US" sz="1050" dirty="0"/>
          </a:p>
        </p:txBody>
      </p:sp>
      <p:sp>
        <p:nvSpPr>
          <p:cNvPr id="10" name="Shape 7"/>
          <p:cNvSpPr/>
          <p:nvPr/>
        </p:nvSpPr>
        <p:spPr>
          <a:xfrm>
            <a:off x="571500" y="1921147"/>
            <a:ext cx="3857625" cy="385763"/>
          </a:xfrm>
          <a:prstGeom prst="rect">
            <a:avLst/>
          </a:prstGeom>
          <a:solidFill>
            <a:srgbClr val="2E5090"/>
          </a:solidFill>
          <a:ln/>
        </p:spPr>
      </p:sp>
      <p:sp>
        <p:nvSpPr>
          <p:cNvPr id="11" name="Text 8"/>
          <p:cNvSpPr/>
          <p:nvPr/>
        </p:nvSpPr>
        <p:spPr>
          <a:xfrm>
            <a:off x="571500" y="1887813"/>
            <a:ext cx="3857625" cy="452432"/>
          </a:xfrm>
          <a:prstGeom prst="rect">
            <a:avLst/>
          </a:prstGeom>
          <a:noFill/>
          <a:ln/>
        </p:spPr>
        <p:txBody>
          <a:bodyPr wrap="square" lIns="136017" tIns="102108" rIns="136017" bIns="102108" rtlCol="0" anchor="ctr">
            <a:spAutoFit/>
          </a:bodyPr>
          <a:lstStyle/>
          <a:p>
            <a:pPr marL="0" indent="0">
              <a:buNone/>
            </a:pPr>
            <a:r>
              <a:rPr lang="en-US" sz="1600" b="1" dirty="0">
                <a:solidFill>
                  <a:srgbClr val="FFFFFF"/>
                </a:solidFill>
                <a:latin typeface="Noto Sans" pitchFamily="34" charset="0"/>
                <a:ea typeface="Noto Sans" pitchFamily="34" charset="-122"/>
                <a:cs typeface="Noto Sans" pitchFamily="34" charset="-120"/>
              </a:rPr>
              <a:t>Inclusions</a:t>
            </a:r>
            <a:endParaRPr lang="en-US" sz="1600" dirty="0"/>
          </a:p>
        </p:txBody>
      </p:sp>
      <p:sp>
        <p:nvSpPr>
          <p:cNvPr id="12" name="Text 9"/>
          <p:cNvSpPr/>
          <p:nvPr/>
        </p:nvSpPr>
        <p:spPr>
          <a:xfrm>
            <a:off x="571500"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3" name="Text 10"/>
          <p:cNvSpPr/>
          <p:nvPr/>
        </p:nvSpPr>
        <p:spPr>
          <a:xfrm>
            <a:off x="800100" y="2463372"/>
            <a:ext cx="3629025" cy="338554"/>
          </a:xfrm>
          <a:prstGeom prst="rect">
            <a:avLst/>
          </a:prstGeom>
          <a:noFill/>
          <a:ln/>
        </p:spPr>
        <p:txBody>
          <a:bodyPr wrap="squar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Dataset preparation and preprocessing (5 fungal classes: H1, H2, H3, H5, H6)</a:t>
            </a:r>
            <a:endParaRPr lang="en-US" sz="1100" dirty="0"/>
          </a:p>
        </p:txBody>
      </p:sp>
      <p:sp>
        <p:nvSpPr>
          <p:cNvPr id="14" name="Text 11"/>
          <p:cNvSpPr/>
          <p:nvPr/>
        </p:nvSpPr>
        <p:spPr>
          <a:xfrm>
            <a:off x="571500" y="2908030"/>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5" name="Text 12"/>
          <p:cNvSpPr/>
          <p:nvPr/>
        </p:nvSpPr>
        <p:spPr>
          <a:xfrm>
            <a:off x="800100" y="2908030"/>
            <a:ext cx="3306996"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Evaluation of multiple deep learning architectures</a:t>
            </a:r>
            <a:endParaRPr lang="en-US" sz="1100" dirty="0"/>
          </a:p>
        </p:txBody>
      </p:sp>
      <p:sp>
        <p:nvSpPr>
          <p:cNvPr id="16" name="Text 13"/>
          <p:cNvSpPr/>
          <p:nvPr/>
        </p:nvSpPr>
        <p:spPr>
          <a:xfrm>
            <a:off x="571500" y="3176618"/>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7" name="Text 14"/>
          <p:cNvSpPr/>
          <p:nvPr/>
        </p:nvSpPr>
        <p:spPr>
          <a:xfrm>
            <a:off x="800100" y="3176618"/>
            <a:ext cx="3021661"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Model integration via Hugging Face cloud API</a:t>
            </a:r>
            <a:endParaRPr lang="en-US" sz="1100" dirty="0"/>
          </a:p>
        </p:txBody>
      </p:sp>
      <p:sp>
        <p:nvSpPr>
          <p:cNvPr id="18" name="Text 15"/>
          <p:cNvSpPr/>
          <p:nvPr/>
        </p:nvSpPr>
        <p:spPr>
          <a:xfrm>
            <a:off x="571500" y="344520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9" name="Text 16"/>
          <p:cNvSpPr/>
          <p:nvPr/>
        </p:nvSpPr>
        <p:spPr>
          <a:xfrm>
            <a:off x="800100" y="3445207"/>
            <a:ext cx="306013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Flutter-based mobile application development</a:t>
            </a:r>
            <a:endParaRPr lang="en-US" sz="1100" dirty="0"/>
          </a:p>
        </p:txBody>
      </p:sp>
      <p:sp>
        <p:nvSpPr>
          <p:cNvPr id="20" name="Text 17"/>
          <p:cNvSpPr/>
          <p:nvPr/>
        </p:nvSpPr>
        <p:spPr>
          <a:xfrm>
            <a:off x="571500" y="371379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1" name="Text 18"/>
          <p:cNvSpPr/>
          <p:nvPr/>
        </p:nvSpPr>
        <p:spPr>
          <a:xfrm>
            <a:off x="800100" y="3713795"/>
            <a:ext cx="270266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Flask middleware server implementation</a:t>
            </a:r>
            <a:endParaRPr lang="en-US" sz="1100" dirty="0"/>
          </a:p>
        </p:txBody>
      </p:sp>
      <p:sp>
        <p:nvSpPr>
          <p:cNvPr id="22" name="Text 19"/>
          <p:cNvSpPr/>
          <p:nvPr/>
        </p:nvSpPr>
        <p:spPr>
          <a:xfrm>
            <a:off x="571500" y="398238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3" name="Text 20"/>
          <p:cNvSpPr/>
          <p:nvPr/>
        </p:nvSpPr>
        <p:spPr>
          <a:xfrm>
            <a:off x="800100" y="3982383"/>
            <a:ext cx="307936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System performance and scalability evaluation</a:t>
            </a:r>
            <a:endParaRPr lang="en-US" sz="1100" dirty="0"/>
          </a:p>
        </p:txBody>
      </p:sp>
      <p:sp>
        <p:nvSpPr>
          <p:cNvPr id="24" name="Shape 21"/>
          <p:cNvSpPr/>
          <p:nvPr/>
        </p:nvSpPr>
        <p:spPr>
          <a:xfrm>
            <a:off x="4714875" y="1921147"/>
            <a:ext cx="3857625" cy="385763"/>
          </a:xfrm>
          <a:prstGeom prst="rect">
            <a:avLst/>
          </a:prstGeom>
          <a:solidFill>
            <a:srgbClr val="2E5090"/>
          </a:solidFill>
          <a:ln/>
        </p:spPr>
      </p:sp>
      <p:sp>
        <p:nvSpPr>
          <p:cNvPr id="25" name="Text 22"/>
          <p:cNvSpPr/>
          <p:nvPr/>
        </p:nvSpPr>
        <p:spPr>
          <a:xfrm>
            <a:off x="4714875" y="1903202"/>
            <a:ext cx="3857625"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Exclusions &amp; Limitations</a:t>
            </a:r>
            <a:endParaRPr lang="en-US" sz="1400" dirty="0"/>
          </a:p>
        </p:txBody>
      </p:sp>
      <p:sp>
        <p:nvSpPr>
          <p:cNvPr id="26" name="Text 23"/>
          <p:cNvSpPr/>
          <p:nvPr/>
        </p:nvSpPr>
        <p:spPr>
          <a:xfrm>
            <a:off x="4714875"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7" name="Text 24"/>
          <p:cNvSpPr/>
          <p:nvPr/>
        </p:nvSpPr>
        <p:spPr>
          <a:xfrm>
            <a:off x="4943475" y="2456579"/>
            <a:ext cx="2955937"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The system provides diagnostic support only</a:t>
            </a:r>
            <a:endParaRPr lang="en-US" sz="1100" dirty="0"/>
          </a:p>
        </p:txBody>
      </p:sp>
      <p:sp>
        <p:nvSpPr>
          <p:cNvPr id="28" name="Text 25"/>
          <p:cNvSpPr/>
          <p:nvPr/>
        </p:nvSpPr>
        <p:spPr>
          <a:xfrm>
            <a:off x="4714875" y="272516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9" name="Text 26"/>
          <p:cNvSpPr/>
          <p:nvPr/>
        </p:nvSpPr>
        <p:spPr>
          <a:xfrm>
            <a:off x="4943475" y="2725167"/>
            <a:ext cx="3520194"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Not a replacement for professional medical expertise</a:t>
            </a:r>
            <a:endParaRPr lang="en-US" sz="1100" dirty="0"/>
          </a:p>
        </p:txBody>
      </p:sp>
      <p:sp>
        <p:nvSpPr>
          <p:cNvPr id="30" name="Text 27"/>
          <p:cNvSpPr/>
          <p:nvPr/>
        </p:nvSpPr>
        <p:spPr>
          <a:xfrm>
            <a:off x="4714875" y="299375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1" name="Text 28"/>
          <p:cNvSpPr/>
          <p:nvPr/>
        </p:nvSpPr>
        <p:spPr>
          <a:xfrm>
            <a:off x="4943475" y="2993755"/>
            <a:ext cx="2981585"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Does not prescribe treatment or medications</a:t>
            </a:r>
            <a:endParaRPr lang="en-US" sz="1100" dirty="0"/>
          </a:p>
        </p:txBody>
      </p:sp>
      <p:sp>
        <p:nvSpPr>
          <p:cNvPr id="32" name="Text 29"/>
          <p:cNvSpPr/>
          <p:nvPr/>
        </p:nvSpPr>
        <p:spPr>
          <a:xfrm>
            <a:off x="4714875" y="326234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3" name="Text 30"/>
          <p:cNvSpPr/>
          <p:nvPr/>
        </p:nvSpPr>
        <p:spPr>
          <a:xfrm>
            <a:off x="4943475" y="3262343"/>
            <a:ext cx="364522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Requires stable internet connection for cloud inference</a:t>
            </a:r>
            <a:endParaRPr lang="en-US" sz="1100" dirty="0"/>
          </a:p>
        </p:txBody>
      </p:sp>
      <p:sp>
        <p:nvSpPr>
          <p:cNvPr id="34" name="Text 31"/>
          <p:cNvSpPr/>
          <p:nvPr/>
        </p:nvSpPr>
        <p:spPr>
          <a:xfrm>
            <a:off x="4714875" y="3530932"/>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5" name="Text 32"/>
          <p:cNvSpPr/>
          <p:nvPr/>
        </p:nvSpPr>
        <p:spPr>
          <a:xfrm>
            <a:off x="4943475" y="3530932"/>
            <a:ext cx="3720570"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Performance depends on dataset quality and availability</a:t>
            </a:r>
            <a:endParaRPr lang="en-US" sz="1100" dirty="0"/>
          </a:p>
        </p:txBody>
      </p:sp>
      <p:pic>
        <p:nvPicPr>
          <p:cNvPr id="7" name="Picture 6">
            <a:extLst>
              <a:ext uri="{FF2B5EF4-FFF2-40B4-BE49-F238E27FC236}">
                <a16:creationId xmlns:a16="http://schemas.microsoft.com/office/drawing/2014/main" id="{4E5443C7-33CD-22EF-97D6-3B4223060D13}"/>
              </a:ext>
            </a:extLst>
          </p:cNvPr>
          <p:cNvPicPr>
            <a:picLocks noChangeAspect="1"/>
          </p:cNvPicPr>
          <p:nvPr/>
        </p:nvPicPr>
        <p:blipFill>
          <a:blip r:embed="rId4"/>
          <a:stretch>
            <a:fillRect/>
          </a:stretch>
        </p:blipFill>
        <p:spPr>
          <a:xfrm>
            <a:off x="8155114" y="-59434"/>
            <a:ext cx="980978" cy="98097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86425"/>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Literature Review: State-of-the-Art Fungi Classification</a:t>
            </a:r>
            <a:endParaRPr lang="en-US" sz="2700" dirty="0"/>
          </a:p>
        </p:txBody>
      </p:sp>
      <p:sp>
        <p:nvSpPr>
          <p:cNvPr id="4" name="Shape 1"/>
          <p:cNvSpPr/>
          <p:nvPr/>
        </p:nvSpPr>
        <p:spPr>
          <a:xfrm>
            <a:off x="571500" y="1885950"/>
            <a:ext cx="8001000" cy="578644"/>
          </a:xfrm>
          <a:prstGeom prst="rect">
            <a:avLst/>
          </a:prstGeom>
          <a:solidFill>
            <a:srgbClr val="F0F7FC"/>
          </a:solidFill>
          <a:ln/>
        </p:spPr>
      </p:sp>
      <p:sp>
        <p:nvSpPr>
          <p:cNvPr id="5" name="Shape 2"/>
          <p:cNvSpPr/>
          <p:nvPr/>
        </p:nvSpPr>
        <p:spPr>
          <a:xfrm>
            <a:off x="571500" y="1885950"/>
            <a:ext cx="28575" cy="578644"/>
          </a:xfrm>
          <a:prstGeom prst="rect">
            <a:avLst/>
          </a:prstGeom>
          <a:solidFill>
            <a:srgbClr val="2E5090"/>
          </a:solidFill>
          <a:ln/>
        </p:spPr>
      </p:sp>
      <p:sp>
        <p:nvSpPr>
          <p:cNvPr id="6" name="Text 3"/>
          <p:cNvSpPr/>
          <p:nvPr/>
        </p:nvSpPr>
        <p:spPr>
          <a:xfrm>
            <a:off x="571500" y="1885950"/>
            <a:ext cx="8001000" cy="578644"/>
          </a:xfrm>
          <a:prstGeom prst="rect">
            <a:avLst/>
          </a:prstGeom>
          <a:noFill/>
          <a:ln/>
        </p:spPr>
        <p:txBody>
          <a:bodyPr wrap="square" lIns="170053" tIns="127508" rIns="170053" bIns="127508"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Recent advances in deep learning have significantly improved fungal classification accuracy. The following table presents a comprehensive review of state-of-the-art research in this field, demonstrating the rapid progression of accuracy metrics and the effectiveness of advanced architectures. </a:t>
            </a:r>
            <a:endParaRPr lang="en-US" sz="785" dirty="0"/>
          </a:p>
        </p:txBody>
      </p:sp>
      <p:sp>
        <p:nvSpPr>
          <p:cNvPr id="7" name="Shape 4"/>
          <p:cNvSpPr/>
          <p:nvPr/>
        </p:nvSpPr>
        <p:spPr>
          <a:xfrm>
            <a:off x="585788" y="2646759"/>
            <a:ext cx="428625" cy="317897"/>
          </a:xfrm>
          <a:prstGeom prst="rect">
            <a:avLst/>
          </a:prstGeom>
          <a:solidFill>
            <a:srgbClr val="2E5090"/>
          </a:solidFill>
          <a:ln w="99">
            <a:solidFill>
              <a:srgbClr val="1A3A52"/>
            </a:solidFill>
            <a:prstDash val="solid"/>
          </a:ln>
        </p:spPr>
      </p:sp>
      <p:sp>
        <p:nvSpPr>
          <p:cNvPr id="8" name="Text 5"/>
          <p:cNvSpPr/>
          <p:nvPr/>
        </p:nvSpPr>
        <p:spPr>
          <a:xfrm>
            <a:off x="585788" y="2646759"/>
            <a:ext cx="42862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Rank</a:t>
            </a:r>
            <a:endParaRPr lang="en-US" sz="680" dirty="0"/>
          </a:p>
        </p:txBody>
      </p:sp>
      <p:sp>
        <p:nvSpPr>
          <p:cNvPr id="9" name="Shape 6"/>
          <p:cNvSpPr/>
          <p:nvPr/>
        </p:nvSpPr>
        <p:spPr>
          <a:xfrm>
            <a:off x="1014413" y="2646759"/>
            <a:ext cx="2728606" cy="317897"/>
          </a:xfrm>
          <a:prstGeom prst="rect">
            <a:avLst/>
          </a:prstGeom>
          <a:solidFill>
            <a:srgbClr val="2E5090"/>
          </a:solidFill>
          <a:ln w="99">
            <a:solidFill>
              <a:srgbClr val="1A3A52"/>
            </a:solidFill>
            <a:prstDash val="solid"/>
          </a:ln>
        </p:spPr>
      </p:sp>
      <p:sp>
        <p:nvSpPr>
          <p:cNvPr id="10" name="Text 7"/>
          <p:cNvSpPr/>
          <p:nvPr/>
        </p:nvSpPr>
        <p:spPr>
          <a:xfrm>
            <a:off x="1014413" y="2646759"/>
            <a:ext cx="2728606"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Research / Model</a:t>
            </a:r>
            <a:endParaRPr lang="en-US" sz="680" dirty="0"/>
          </a:p>
        </p:txBody>
      </p:sp>
      <p:sp>
        <p:nvSpPr>
          <p:cNvPr id="11" name="Shape 8"/>
          <p:cNvSpPr/>
          <p:nvPr/>
        </p:nvSpPr>
        <p:spPr>
          <a:xfrm>
            <a:off x="3743018" y="2646759"/>
            <a:ext cx="2968535" cy="317897"/>
          </a:xfrm>
          <a:prstGeom prst="rect">
            <a:avLst/>
          </a:prstGeom>
          <a:solidFill>
            <a:srgbClr val="2E5090"/>
          </a:solidFill>
          <a:ln w="99">
            <a:solidFill>
              <a:srgbClr val="1A3A52"/>
            </a:solidFill>
            <a:prstDash val="solid"/>
          </a:ln>
        </p:spPr>
      </p:sp>
      <p:sp>
        <p:nvSpPr>
          <p:cNvPr id="12" name="Text 9"/>
          <p:cNvSpPr/>
          <p:nvPr/>
        </p:nvSpPr>
        <p:spPr>
          <a:xfrm>
            <a:off x="3743018" y="2646759"/>
            <a:ext cx="296853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Architecture / Approach</a:t>
            </a:r>
            <a:endParaRPr lang="en-US" sz="680" dirty="0"/>
          </a:p>
        </p:txBody>
      </p:sp>
      <p:sp>
        <p:nvSpPr>
          <p:cNvPr id="13" name="Shape 10"/>
          <p:cNvSpPr/>
          <p:nvPr/>
        </p:nvSpPr>
        <p:spPr>
          <a:xfrm>
            <a:off x="6711553" y="2646759"/>
            <a:ext cx="1000125" cy="317897"/>
          </a:xfrm>
          <a:prstGeom prst="rect">
            <a:avLst/>
          </a:prstGeom>
          <a:solidFill>
            <a:srgbClr val="2E5090"/>
          </a:solidFill>
          <a:ln w="99">
            <a:solidFill>
              <a:srgbClr val="1A3A52"/>
            </a:solidFill>
            <a:prstDash val="solid"/>
          </a:ln>
        </p:spPr>
      </p:sp>
      <p:sp>
        <p:nvSpPr>
          <p:cNvPr id="14" name="Text 11"/>
          <p:cNvSpPr/>
          <p:nvPr/>
        </p:nvSpPr>
        <p:spPr>
          <a:xfrm>
            <a:off x="6711553" y="2646759"/>
            <a:ext cx="1000125"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Test Accuracy (%)</a:t>
            </a:r>
            <a:endParaRPr lang="en-US" sz="680" dirty="0"/>
          </a:p>
        </p:txBody>
      </p:sp>
      <p:sp>
        <p:nvSpPr>
          <p:cNvPr id="15" name="Shape 12"/>
          <p:cNvSpPr/>
          <p:nvPr/>
        </p:nvSpPr>
        <p:spPr>
          <a:xfrm>
            <a:off x="7711678" y="2646759"/>
            <a:ext cx="857250" cy="317897"/>
          </a:xfrm>
          <a:prstGeom prst="rect">
            <a:avLst/>
          </a:prstGeom>
          <a:solidFill>
            <a:srgbClr val="2E5090"/>
          </a:solidFill>
          <a:ln w="99">
            <a:solidFill>
              <a:srgbClr val="1A3A52"/>
            </a:solidFill>
            <a:prstDash val="solid"/>
          </a:ln>
        </p:spPr>
      </p:sp>
      <p:sp>
        <p:nvSpPr>
          <p:cNvPr id="16" name="Text 13"/>
          <p:cNvSpPr/>
          <p:nvPr/>
        </p:nvSpPr>
        <p:spPr>
          <a:xfrm>
            <a:off x="7711678" y="2646759"/>
            <a:ext cx="857250" cy="317897"/>
          </a:xfrm>
          <a:prstGeom prst="rect">
            <a:avLst/>
          </a:prstGeom>
          <a:noFill/>
          <a:ln/>
        </p:spPr>
        <p:txBody>
          <a:bodyPr wrap="square" lIns="102108" tIns="102108" rIns="102108" bIns="102108" rtlCol="0" anchor="ctr">
            <a:spAutoFit/>
          </a:bodyPr>
          <a:lstStyle/>
          <a:p>
            <a:pPr marL="0" indent="0" algn="l">
              <a:buNone/>
            </a:pPr>
            <a:r>
              <a:rPr lang="en-US" sz="680" b="1" dirty="0">
                <a:solidFill>
                  <a:srgbClr val="FFFFFF"/>
                </a:solidFill>
                <a:latin typeface="Noto Sans" pitchFamily="34" charset="0"/>
                <a:ea typeface="Noto Sans" pitchFamily="34" charset="-122"/>
                <a:cs typeface="Noto Sans" pitchFamily="34" charset="-120"/>
              </a:rPr>
              <a:t>Year / Status</a:t>
            </a:r>
            <a:endParaRPr lang="en-US" sz="680" dirty="0"/>
          </a:p>
        </p:txBody>
      </p:sp>
      <p:sp>
        <p:nvSpPr>
          <p:cNvPr id="17" name="Shape 14"/>
          <p:cNvSpPr/>
          <p:nvPr/>
        </p:nvSpPr>
        <p:spPr>
          <a:xfrm>
            <a:off x="585788" y="2957513"/>
            <a:ext cx="7983141" cy="314325"/>
          </a:xfrm>
          <a:prstGeom prst="rect">
            <a:avLst/>
          </a:prstGeom>
          <a:solidFill>
            <a:srgbClr val="FFF3E0"/>
          </a:solidFill>
          <a:ln/>
        </p:spPr>
      </p:sp>
      <p:sp>
        <p:nvSpPr>
          <p:cNvPr id="18" name="Shape 15"/>
          <p:cNvSpPr/>
          <p:nvPr/>
        </p:nvSpPr>
        <p:spPr>
          <a:xfrm>
            <a:off x="585788" y="2957513"/>
            <a:ext cx="28575" cy="314325"/>
          </a:xfrm>
          <a:prstGeom prst="rect">
            <a:avLst/>
          </a:prstGeom>
          <a:solidFill>
            <a:srgbClr val="F39C12"/>
          </a:solidFill>
          <a:ln/>
        </p:spPr>
      </p:sp>
      <p:sp>
        <p:nvSpPr>
          <p:cNvPr id="19" name="Text 16"/>
          <p:cNvSpPr/>
          <p:nvPr/>
        </p:nvSpPr>
        <p:spPr>
          <a:xfrm>
            <a:off x="575072" y="295751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1</a:t>
            </a:r>
            <a:endParaRPr lang="en-US" sz="680" dirty="0"/>
          </a:p>
        </p:txBody>
      </p:sp>
      <p:sp>
        <p:nvSpPr>
          <p:cNvPr id="20" name="Text 17"/>
          <p:cNvSpPr/>
          <p:nvPr/>
        </p:nvSpPr>
        <p:spPr>
          <a:xfrm>
            <a:off x="1085850" y="3050381"/>
            <a:ext cx="1633575"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Our Project: SwinV2-Base Ensemble</a:t>
            </a:r>
            <a:endParaRPr lang="en-US" sz="680" dirty="0"/>
          </a:p>
        </p:txBody>
      </p:sp>
      <p:sp>
        <p:nvSpPr>
          <p:cNvPr id="21" name="Text 18"/>
          <p:cNvSpPr/>
          <p:nvPr/>
        </p:nvSpPr>
        <p:spPr>
          <a:xfrm>
            <a:off x="3737437" y="295751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Transformer Ensemble (5-fold CV)</a:t>
            </a:r>
            <a:endParaRPr lang="en-US" sz="680" dirty="0"/>
          </a:p>
        </p:txBody>
      </p:sp>
      <p:sp>
        <p:nvSpPr>
          <p:cNvPr id="22" name="Text 19"/>
          <p:cNvSpPr/>
          <p:nvPr/>
        </p:nvSpPr>
        <p:spPr>
          <a:xfrm>
            <a:off x="7082944" y="3046809"/>
            <a:ext cx="257342" cy="135731"/>
          </a:xfrm>
          <a:prstGeom prst="rect">
            <a:avLst/>
          </a:prstGeom>
          <a:noFill/>
          <a:ln/>
        </p:spPr>
        <p:txBody>
          <a:bodyPr wrap="none" lIns="0" tIns="0" rIns="0" bIns="0" rtlCol="0" anchor="ctr">
            <a:spAutoFit/>
          </a:bodyPr>
          <a:lstStyle/>
          <a:p>
            <a:pPr marL="0" indent="0" algn="ctr">
              <a:buNone/>
            </a:pPr>
            <a:r>
              <a:rPr lang="en-US" sz="732" b="1" dirty="0">
                <a:solidFill>
                  <a:srgbClr val="F39C12"/>
                </a:solidFill>
                <a:latin typeface="Noto Sans" pitchFamily="34" charset="0"/>
                <a:ea typeface="Noto Sans" pitchFamily="34" charset="-122"/>
                <a:cs typeface="Noto Sans" pitchFamily="34" charset="-120"/>
              </a:rPr>
              <a:t>98.61</a:t>
            </a:r>
            <a:endParaRPr lang="en-US" sz="732" dirty="0"/>
          </a:p>
        </p:txBody>
      </p:sp>
      <p:sp>
        <p:nvSpPr>
          <p:cNvPr id="23" name="Text 20"/>
          <p:cNvSpPr/>
          <p:nvPr/>
        </p:nvSpPr>
        <p:spPr>
          <a:xfrm>
            <a:off x="7711678" y="295751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2026 (Current)</a:t>
            </a:r>
            <a:endParaRPr lang="en-US" sz="680" dirty="0"/>
          </a:p>
        </p:txBody>
      </p:sp>
      <p:sp>
        <p:nvSpPr>
          <p:cNvPr id="24" name="Shape 21"/>
          <p:cNvSpPr/>
          <p:nvPr/>
        </p:nvSpPr>
        <p:spPr>
          <a:xfrm>
            <a:off x="575072" y="3271838"/>
            <a:ext cx="7993856" cy="314325"/>
          </a:xfrm>
          <a:prstGeom prst="rect">
            <a:avLst/>
          </a:prstGeom>
          <a:solidFill>
            <a:srgbClr val="FFFFFF"/>
          </a:solidFill>
          <a:ln/>
        </p:spPr>
      </p:sp>
      <p:sp>
        <p:nvSpPr>
          <p:cNvPr id="25" name="Text 22"/>
          <p:cNvSpPr/>
          <p:nvPr/>
        </p:nvSpPr>
        <p:spPr>
          <a:xfrm>
            <a:off x="575072" y="327183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2</a:t>
            </a:r>
            <a:endParaRPr lang="en-US" sz="680" dirty="0"/>
          </a:p>
        </p:txBody>
      </p:sp>
      <p:sp>
        <p:nvSpPr>
          <p:cNvPr id="26" name="Text 23"/>
          <p:cNvSpPr/>
          <p:nvPr/>
        </p:nvSpPr>
        <p:spPr>
          <a:xfrm>
            <a:off x="1003697" y="327183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Swin Transformer</a:t>
            </a:r>
            <a:endParaRPr lang="en-US" sz="680" dirty="0"/>
          </a:p>
        </p:txBody>
      </p:sp>
      <p:sp>
        <p:nvSpPr>
          <p:cNvPr id="27" name="Text 24"/>
          <p:cNvSpPr/>
          <p:nvPr/>
        </p:nvSpPr>
        <p:spPr>
          <a:xfrm>
            <a:off x="3737437" y="327183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Vision Transformer with Shifted Windows</a:t>
            </a:r>
            <a:endParaRPr lang="en-US" sz="680" dirty="0"/>
          </a:p>
        </p:txBody>
      </p:sp>
      <p:sp>
        <p:nvSpPr>
          <p:cNvPr id="28" name="Text 25"/>
          <p:cNvSpPr/>
          <p:nvPr/>
        </p:nvSpPr>
        <p:spPr>
          <a:xfrm>
            <a:off x="6711553" y="327183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98.36</a:t>
            </a:r>
            <a:endParaRPr lang="en-US" sz="732" dirty="0"/>
          </a:p>
        </p:txBody>
      </p:sp>
      <p:sp>
        <p:nvSpPr>
          <p:cNvPr id="29" name="Text 26"/>
          <p:cNvSpPr/>
          <p:nvPr/>
        </p:nvSpPr>
        <p:spPr>
          <a:xfrm>
            <a:off x="7711678" y="3282165"/>
            <a:ext cx="857250" cy="293670"/>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2024</a:t>
            </a:r>
            <a:endParaRPr lang="en-US" sz="680" dirty="0"/>
          </a:p>
        </p:txBody>
      </p:sp>
      <p:sp>
        <p:nvSpPr>
          <p:cNvPr id="30" name="Shape 27"/>
          <p:cNvSpPr/>
          <p:nvPr/>
        </p:nvSpPr>
        <p:spPr>
          <a:xfrm>
            <a:off x="575072" y="3586163"/>
            <a:ext cx="7993856" cy="314325"/>
          </a:xfrm>
          <a:prstGeom prst="rect">
            <a:avLst/>
          </a:prstGeom>
          <a:solidFill>
            <a:srgbClr val="F8F9FA"/>
          </a:solidFill>
          <a:ln/>
        </p:spPr>
      </p:sp>
      <p:sp>
        <p:nvSpPr>
          <p:cNvPr id="31" name="Text 28"/>
          <p:cNvSpPr/>
          <p:nvPr/>
        </p:nvSpPr>
        <p:spPr>
          <a:xfrm>
            <a:off x="575072" y="358616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3</a:t>
            </a:r>
            <a:endParaRPr lang="en-US" sz="680" dirty="0"/>
          </a:p>
        </p:txBody>
      </p:sp>
      <p:sp>
        <p:nvSpPr>
          <p:cNvPr id="32" name="Text 29"/>
          <p:cNvSpPr/>
          <p:nvPr/>
        </p:nvSpPr>
        <p:spPr>
          <a:xfrm>
            <a:off x="1003697" y="3586163"/>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VGG19DeFungi</a:t>
            </a:r>
            <a:endParaRPr lang="en-US" sz="680" dirty="0"/>
          </a:p>
        </p:txBody>
      </p:sp>
      <p:sp>
        <p:nvSpPr>
          <p:cNvPr id="33" name="Text 30"/>
          <p:cNvSpPr/>
          <p:nvPr/>
        </p:nvSpPr>
        <p:spPr>
          <a:xfrm>
            <a:off x="3737437" y="358616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VGG19 with Custom Augmentation</a:t>
            </a:r>
            <a:endParaRPr lang="en-US" sz="680" dirty="0"/>
          </a:p>
        </p:txBody>
      </p:sp>
      <p:sp>
        <p:nvSpPr>
          <p:cNvPr id="34" name="Text 31"/>
          <p:cNvSpPr/>
          <p:nvPr/>
        </p:nvSpPr>
        <p:spPr>
          <a:xfrm>
            <a:off x="6711553" y="3586163"/>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97.00</a:t>
            </a:r>
            <a:endParaRPr lang="en-US" sz="732" dirty="0"/>
          </a:p>
        </p:txBody>
      </p:sp>
      <p:sp>
        <p:nvSpPr>
          <p:cNvPr id="35" name="Text 32"/>
          <p:cNvSpPr/>
          <p:nvPr/>
        </p:nvSpPr>
        <p:spPr>
          <a:xfrm>
            <a:off x="7711678" y="358616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2023</a:t>
            </a:r>
            <a:endParaRPr lang="en-US" sz="680" dirty="0"/>
          </a:p>
        </p:txBody>
      </p:sp>
      <p:sp>
        <p:nvSpPr>
          <p:cNvPr id="36" name="Shape 33"/>
          <p:cNvSpPr/>
          <p:nvPr/>
        </p:nvSpPr>
        <p:spPr>
          <a:xfrm>
            <a:off x="575072" y="3900488"/>
            <a:ext cx="7993856" cy="314325"/>
          </a:xfrm>
          <a:prstGeom prst="rect">
            <a:avLst/>
          </a:prstGeom>
          <a:solidFill>
            <a:srgbClr val="FFFFFF"/>
          </a:solidFill>
          <a:ln/>
        </p:spPr>
      </p:sp>
      <p:sp>
        <p:nvSpPr>
          <p:cNvPr id="37" name="Text 34"/>
          <p:cNvSpPr/>
          <p:nvPr/>
        </p:nvSpPr>
        <p:spPr>
          <a:xfrm>
            <a:off x="575072" y="390048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4</a:t>
            </a:r>
            <a:endParaRPr lang="en-US" sz="680" dirty="0"/>
          </a:p>
        </p:txBody>
      </p:sp>
      <p:sp>
        <p:nvSpPr>
          <p:cNvPr id="38" name="Text 35"/>
          <p:cNvSpPr/>
          <p:nvPr/>
        </p:nvSpPr>
        <p:spPr>
          <a:xfrm>
            <a:off x="1003697" y="390048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VGG16 with Augmentation</a:t>
            </a:r>
            <a:endParaRPr lang="en-US" sz="680" dirty="0"/>
          </a:p>
        </p:txBody>
      </p:sp>
      <p:sp>
        <p:nvSpPr>
          <p:cNvPr id="39" name="Text 36"/>
          <p:cNvSpPr/>
          <p:nvPr/>
        </p:nvSpPr>
        <p:spPr>
          <a:xfrm>
            <a:off x="3737437" y="390048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VGG16 with Advanced Preprocessing</a:t>
            </a:r>
            <a:endParaRPr lang="en-US" sz="680" dirty="0"/>
          </a:p>
        </p:txBody>
      </p:sp>
      <p:sp>
        <p:nvSpPr>
          <p:cNvPr id="40" name="Text 37"/>
          <p:cNvSpPr/>
          <p:nvPr/>
        </p:nvSpPr>
        <p:spPr>
          <a:xfrm>
            <a:off x="6711553" y="390048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97.19</a:t>
            </a:r>
            <a:endParaRPr lang="en-US" sz="732" dirty="0"/>
          </a:p>
        </p:txBody>
      </p:sp>
      <p:sp>
        <p:nvSpPr>
          <p:cNvPr id="41" name="Text 38"/>
          <p:cNvSpPr/>
          <p:nvPr/>
        </p:nvSpPr>
        <p:spPr>
          <a:xfrm>
            <a:off x="7711678" y="3900488"/>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2022</a:t>
            </a:r>
            <a:endParaRPr lang="en-US" sz="680" dirty="0"/>
          </a:p>
        </p:txBody>
      </p:sp>
      <p:sp>
        <p:nvSpPr>
          <p:cNvPr id="42" name="Shape 39"/>
          <p:cNvSpPr/>
          <p:nvPr/>
        </p:nvSpPr>
        <p:spPr>
          <a:xfrm>
            <a:off x="575072" y="4214813"/>
            <a:ext cx="7993856" cy="314325"/>
          </a:xfrm>
          <a:prstGeom prst="rect">
            <a:avLst/>
          </a:prstGeom>
          <a:solidFill>
            <a:srgbClr val="F8F9FA"/>
          </a:solidFill>
          <a:ln/>
        </p:spPr>
      </p:sp>
      <p:sp>
        <p:nvSpPr>
          <p:cNvPr id="43" name="Text 40"/>
          <p:cNvSpPr/>
          <p:nvPr/>
        </p:nvSpPr>
        <p:spPr>
          <a:xfrm>
            <a:off x="575072" y="4214813"/>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5</a:t>
            </a:r>
            <a:endParaRPr lang="en-US" sz="680" dirty="0"/>
          </a:p>
        </p:txBody>
      </p:sp>
      <p:sp>
        <p:nvSpPr>
          <p:cNvPr id="44" name="Text 41"/>
          <p:cNvSpPr/>
          <p:nvPr/>
        </p:nvSpPr>
        <p:spPr>
          <a:xfrm>
            <a:off x="1003697" y="4214813"/>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MeFunX</a:t>
            </a:r>
            <a:endParaRPr lang="en-US" sz="680" dirty="0"/>
          </a:p>
        </p:txBody>
      </p:sp>
      <p:sp>
        <p:nvSpPr>
          <p:cNvPr id="45" name="Text 42"/>
          <p:cNvSpPr/>
          <p:nvPr/>
        </p:nvSpPr>
        <p:spPr>
          <a:xfrm>
            <a:off x="3737437" y="4214813"/>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Multi-Scale Feature Extraction</a:t>
            </a:r>
            <a:endParaRPr lang="en-US" sz="680" dirty="0"/>
          </a:p>
        </p:txBody>
      </p:sp>
      <p:sp>
        <p:nvSpPr>
          <p:cNvPr id="46" name="Text 43"/>
          <p:cNvSpPr/>
          <p:nvPr/>
        </p:nvSpPr>
        <p:spPr>
          <a:xfrm>
            <a:off x="6711553" y="4214813"/>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92.49</a:t>
            </a:r>
            <a:endParaRPr lang="en-US" sz="732" dirty="0"/>
          </a:p>
        </p:txBody>
      </p:sp>
      <p:sp>
        <p:nvSpPr>
          <p:cNvPr id="47" name="Text 44"/>
          <p:cNvSpPr/>
          <p:nvPr/>
        </p:nvSpPr>
        <p:spPr>
          <a:xfrm>
            <a:off x="7711678" y="4214813"/>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2021</a:t>
            </a:r>
            <a:endParaRPr lang="en-US" sz="680" dirty="0"/>
          </a:p>
        </p:txBody>
      </p:sp>
      <p:sp>
        <p:nvSpPr>
          <p:cNvPr id="48" name="Shape 45"/>
          <p:cNvSpPr/>
          <p:nvPr/>
        </p:nvSpPr>
        <p:spPr>
          <a:xfrm>
            <a:off x="575072" y="4529138"/>
            <a:ext cx="7993856" cy="314325"/>
          </a:xfrm>
          <a:prstGeom prst="rect">
            <a:avLst/>
          </a:prstGeom>
          <a:solidFill>
            <a:srgbClr val="FFFFFF"/>
          </a:solidFill>
          <a:ln/>
        </p:spPr>
      </p:sp>
      <p:sp>
        <p:nvSpPr>
          <p:cNvPr id="49" name="Text 46"/>
          <p:cNvSpPr/>
          <p:nvPr/>
        </p:nvSpPr>
        <p:spPr>
          <a:xfrm>
            <a:off x="575072" y="4529138"/>
            <a:ext cx="428625" cy="314325"/>
          </a:xfrm>
          <a:prstGeom prst="rect">
            <a:avLst/>
          </a:prstGeom>
          <a:noFill/>
          <a:ln/>
        </p:spPr>
        <p:txBody>
          <a:bodyPr wrap="square" lIns="93599" tIns="93599" rIns="93599" bIns="93599" rtlCol="0" anchor="ctr">
            <a:spAutoFit/>
          </a:bodyPr>
          <a:lstStyle/>
          <a:p>
            <a:pPr marL="0" indent="0" algn="ctr">
              <a:buNone/>
            </a:pPr>
            <a:r>
              <a:rPr lang="en-US" sz="680" b="1" dirty="0">
                <a:solidFill>
                  <a:srgbClr val="34495E"/>
                </a:solidFill>
                <a:latin typeface="Noto Sans" pitchFamily="34" charset="0"/>
                <a:ea typeface="Noto Sans" pitchFamily="34" charset="-122"/>
                <a:cs typeface="Noto Sans" pitchFamily="34" charset="-120"/>
              </a:rPr>
              <a:t>6</a:t>
            </a:r>
            <a:endParaRPr lang="en-US" sz="680" dirty="0"/>
          </a:p>
        </p:txBody>
      </p:sp>
      <p:sp>
        <p:nvSpPr>
          <p:cNvPr id="50" name="Text 47"/>
          <p:cNvSpPr/>
          <p:nvPr/>
        </p:nvSpPr>
        <p:spPr>
          <a:xfrm>
            <a:off x="1003697" y="4529138"/>
            <a:ext cx="2733740" cy="314325"/>
          </a:xfrm>
          <a:prstGeom prst="rect">
            <a:avLst/>
          </a:prstGeom>
          <a:noFill/>
          <a:ln/>
        </p:spPr>
        <p:txBody>
          <a:bodyPr wrap="square" lIns="93599" tIns="93599" rIns="93599" bIns="93599" rtlCol="0" anchor="ctr">
            <a:spAutoFit/>
          </a:bodyPr>
          <a:lstStyle/>
          <a:p>
            <a:pPr marL="0" indent="0">
              <a:buNone/>
            </a:pPr>
            <a:r>
              <a:rPr lang="en-US" sz="680" b="1" dirty="0">
                <a:solidFill>
                  <a:srgbClr val="34495E"/>
                </a:solidFill>
                <a:latin typeface="Noto Sans" pitchFamily="34" charset="0"/>
                <a:ea typeface="Noto Sans" pitchFamily="34" charset="-122"/>
                <a:cs typeface="Noto Sans" pitchFamily="34" charset="-120"/>
              </a:rPr>
              <a:t>Vision Transformer (ViT)</a:t>
            </a:r>
            <a:endParaRPr lang="en-US" sz="680" dirty="0"/>
          </a:p>
        </p:txBody>
      </p:sp>
      <p:sp>
        <p:nvSpPr>
          <p:cNvPr id="51" name="Text 48"/>
          <p:cNvSpPr/>
          <p:nvPr/>
        </p:nvSpPr>
        <p:spPr>
          <a:xfrm>
            <a:off x="3737437" y="4529138"/>
            <a:ext cx="2974116"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Pure Transformer Architecture</a:t>
            </a:r>
            <a:endParaRPr lang="en-US" sz="680" dirty="0"/>
          </a:p>
        </p:txBody>
      </p:sp>
      <p:sp>
        <p:nvSpPr>
          <p:cNvPr id="52" name="Text 49"/>
          <p:cNvSpPr/>
          <p:nvPr/>
        </p:nvSpPr>
        <p:spPr>
          <a:xfrm>
            <a:off x="6711553" y="4529138"/>
            <a:ext cx="1000125" cy="314325"/>
          </a:xfrm>
          <a:prstGeom prst="rect">
            <a:avLst/>
          </a:prstGeom>
          <a:noFill/>
          <a:ln/>
        </p:spPr>
        <p:txBody>
          <a:bodyPr wrap="square" lIns="93599" tIns="93599" rIns="93599" bIns="93599" rtlCol="0" anchor="ctr">
            <a:spAutoFit/>
          </a:bodyPr>
          <a:lstStyle/>
          <a:p>
            <a:pPr marL="0" indent="0" algn="ctr">
              <a:buNone/>
            </a:pPr>
            <a:r>
              <a:rPr lang="en-US" sz="732" b="1" dirty="0">
                <a:solidFill>
                  <a:srgbClr val="34495E"/>
                </a:solidFill>
                <a:latin typeface="Noto Sans" pitchFamily="34" charset="0"/>
                <a:ea typeface="Noto Sans" pitchFamily="34" charset="-122"/>
                <a:cs typeface="Noto Sans" pitchFamily="34" charset="-120"/>
              </a:rPr>
              <a:t>90.13</a:t>
            </a:r>
            <a:endParaRPr lang="en-US" sz="732" dirty="0"/>
          </a:p>
        </p:txBody>
      </p:sp>
      <p:sp>
        <p:nvSpPr>
          <p:cNvPr id="53" name="Text 50"/>
          <p:cNvSpPr/>
          <p:nvPr/>
        </p:nvSpPr>
        <p:spPr>
          <a:xfrm>
            <a:off x="7711678" y="4529138"/>
            <a:ext cx="857250" cy="314325"/>
          </a:xfrm>
          <a:prstGeom prst="rect">
            <a:avLst/>
          </a:prstGeom>
          <a:noFill/>
          <a:ln/>
        </p:spPr>
        <p:txBody>
          <a:bodyPr wrap="square" lIns="93599" tIns="93599" rIns="93599" bIns="93599"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2020</a:t>
            </a:r>
            <a:endParaRPr lang="en-US" sz="680" dirty="0"/>
          </a:p>
        </p:txBody>
      </p:sp>
      <p:sp>
        <p:nvSpPr>
          <p:cNvPr id="54" name="Text 51"/>
          <p:cNvSpPr/>
          <p:nvPr/>
        </p:nvSpPr>
        <p:spPr>
          <a:xfrm>
            <a:off x="571500" y="4989909"/>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Key insights on Transformer dominance, our achievement, rapid advancement, and augmentation impact </a:t>
            </a:r>
            <a:endParaRPr lang="en-US" sz="680" dirty="0"/>
          </a:p>
        </p:txBody>
      </p:sp>
      <p:pic>
        <p:nvPicPr>
          <p:cNvPr id="55" name="Picture 54">
            <a:extLst>
              <a:ext uri="{FF2B5EF4-FFF2-40B4-BE49-F238E27FC236}">
                <a16:creationId xmlns:a16="http://schemas.microsoft.com/office/drawing/2014/main" id="{FB1000AE-2845-E8DD-5756-D09730E5A283}"/>
              </a:ext>
            </a:extLst>
          </p:cNvPr>
          <p:cNvPicPr>
            <a:picLocks noChangeAspect="1"/>
          </p:cNvPicPr>
          <p:nvPr/>
        </p:nvPicPr>
        <p:blipFill>
          <a:blip r:embed="rId4"/>
          <a:stretch>
            <a:fillRect/>
          </a:stretch>
        </p:blipFill>
        <p:spPr>
          <a:xfrm>
            <a:off x="7994233" y="-52711"/>
            <a:ext cx="1141859" cy="1141859"/>
          </a:xfrm>
          <a:prstGeom prst="rect">
            <a:avLst/>
          </a:prstGeom>
        </p:spPr>
      </p:pic>
    </p:spTree>
    <p:extLst>
      <p:ext uri="{BB962C8B-B14F-4D97-AF65-F5344CB8AC3E}">
        <p14:creationId xmlns:p14="http://schemas.microsoft.com/office/powerpoint/2010/main" val="105352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149904"/>
          </a:xfrm>
          <a:prstGeom prst="rect">
            <a:avLst/>
          </a:prstGeom>
        </p:spPr>
      </p:pic>
      <p:sp>
        <p:nvSpPr>
          <p:cNvPr id="3" name="Text 0"/>
          <p:cNvSpPr/>
          <p:nvPr/>
        </p:nvSpPr>
        <p:spPr>
          <a:xfrm>
            <a:off x="560561" y="255390"/>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Literature Review: Key Insights &amp; Analysis</a:t>
            </a:r>
            <a:endParaRPr lang="en-US" sz="2700" dirty="0"/>
          </a:p>
        </p:txBody>
      </p:sp>
      <p:sp>
        <p:nvSpPr>
          <p:cNvPr id="4" name="Shape 1"/>
          <p:cNvSpPr/>
          <p:nvPr/>
        </p:nvSpPr>
        <p:spPr>
          <a:xfrm>
            <a:off x="395808" y="1040931"/>
            <a:ext cx="8001000" cy="944370"/>
          </a:xfrm>
          <a:prstGeom prst="rect">
            <a:avLst/>
          </a:prstGeom>
          <a:solidFill>
            <a:srgbClr val="F8F9FA"/>
          </a:solidFill>
          <a:ln/>
        </p:spPr>
      </p:sp>
      <p:sp>
        <p:nvSpPr>
          <p:cNvPr id="5" name="Shape 2"/>
          <p:cNvSpPr/>
          <p:nvPr/>
        </p:nvSpPr>
        <p:spPr>
          <a:xfrm>
            <a:off x="395808" y="1040931"/>
            <a:ext cx="28575" cy="944370"/>
          </a:xfrm>
          <a:prstGeom prst="rect">
            <a:avLst/>
          </a:prstGeom>
          <a:solidFill>
            <a:srgbClr val="2E5090"/>
          </a:solidFill>
          <a:ln/>
        </p:spPr>
      </p:sp>
      <p:sp>
        <p:nvSpPr>
          <p:cNvPr id="6" name="Text 3"/>
          <p:cNvSpPr/>
          <p:nvPr/>
        </p:nvSpPr>
        <p:spPr>
          <a:xfrm>
            <a:off x="538683" y="1183806"/>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7" name="Text 4"/>
          <p:cNvSpPr/>
          <p:nvPr/>
        </p:nvSpPr>
        <p:spPr>
          <a:xfrm>
            <a:off x="874439" y="1232026"/>
            <a:ext cx="1300581"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Transformer Dominance</a:t>
            </a:r>
            <a:endParaRPr lang="en-US" sz="785" dirty="0"/>
          </a:p>
        </p:txBody>
      </p:sp>
      <p:sp>
        <p:nvSpPr>
          <p:cNvPr id="8" name="Text 5"/>
          <p:cNvSpPr/>
          <p:nvPr/>
        </p:nvSpPr>
        <p:spPr>
          <a:xfrm>
            <a:off x="538683" y="1540994"/>
            <a:ext cx="1488049"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Transformer-based architectures</a:t>
            </a:r>
            <a:endParaRPr lang="en-US" sz="680" dirty="0"/>
          </a:p>
        </p:txBody>
      </p:sp>
      <p:sp>
        <p:nvSpPr>
          <p:cNvPr id="9" name="Text 6"/>
          <p:cNvSpPr/>
          <p:nvPr/>
        </p:nvSpPr>
        <p:spPr>
          <a:xfrm>
            <a:off x="2026732" y="1540994"/>
            <a:ext cx="6087005"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(Swin, SwinV2) consistently outperform traditional CNN approaches, achieving the highest accuracy metrics in fungi classification tasks. The </a:t>
            </a:r>
            <a:endParaRPr lang="en-US" sz="680" dirty="0"/>
          </a:p>
        </p:txBody>
      </p:sp>
      <p:sp>
        <p:nvSpPr>
          <p:cNvPr id="10" name="Text 7"/>
          <p:cNvSpPr/>
          <p:nvPr/>
        </p:nvSpPr>
        <p:spPr>
          <a:xfrm>
            <a:off x="538683" y="1698854"/>
            <a:ext cx="6501119"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self-attention mechanism enables better capture of long-range dependencies and fine morphological details critical for distinguishing fungal species. </a:t>
            </a:r>
            <a:endParaRPr lang="en-US" sz="680" dirty="0"/>
          </a:p>
        </p:txBody>
      </p:sp>
      <p:sp>
        <p:nvSpPr>
          <p:cNvPr id="11" name="Shape 8"/>
          <p:cNvSpPr/>
          <p:nvPr/>
        </p:nvSpPr>
        <p:spPr>
          <a:xfrm>
            <a:off x="395808" y="2113889"/>
            <a:ext cx="8001000" cy="944370"/>
          </a:xfrm>
          <a:prstGeom prst="rect">
            <a:avLst/>
          </a:prstGeom>
          <a:solidFill>
            <a:srgbClr val="F8F9FA"/>
          </a:solidFill>
          <a:ln/>
        </p:spPr>
      </p:sp>
      <p:sp>
        <p:nvSpPr>
          <p:cNvPr id="12" name="Shape 9"/>
          <p:cNvSpPr/>
          <p:nvPr/>
        </p:nvSpPr>
        <p:spPr>
          <a:xfrm>
            <a:off x="395808" y="2113889"/>
            <a:ext cx="28575" cy="944370"/>
          </a:xfrm>
          <a:prstGeom prst="rect">
            <a:avLst/>
          </a:prstGeom>
          <a:solidFill>
            <a:srgbClr val="2E5090"/>
          </a:solidFill>
          <a:ln/>
        </p:spPr>
      </p:sp>
      <p:sp>
        <p:nvSpPr>
          <p:cNvPr id="13" name="Text 10"/>
          <p:cNvSpPr/>
          <p:nvPr/>
        </p:nvSpPr>
        <p:spPr>
          <a:xfrm>
            <a:off x="538683" y="2256764"/>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4" name="Text 11"/>
          <p:cNvSpPr/>
          <p:nvPr/>
        </p:nvSpPr>
        <p:spPr>
          <a:xfrm>
            <a:off x="874439" y="2304984"/>
            <a:ext cx="935273"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Our Achievement</a:t>
            </a:r>
            <a:endParaRPr lang="en-US" sz="785" dirty="0"/>
          </a:p>
        </p:txBody>
      </p:sp>
      <p:sp>
        <p:nvSpPr>
          <p:cNvPr id="15" name="Text 12"/>
          <p:cNvSpPr/>
          <p:nvPr/>
        </p:nvSpPr>
        <p:spPr>
          <a:xfrm>
            <a:off x="538683" y="2613951"/>
            <a:ext cx="192435"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Our </a:t>
            </a:r>
            <a:endParaRPr lang="en-US" sz="680" dirty="0"/>
          </a:p>
        </p:txBody>
      </p:sp>
      <p:sp>
        <p:nvSpPr>
          <p:cNvPr id="16" name="Text 13"/>
          <p:cNvSpPr/>
          <p:nvPr/>
        </p:nvSpPr>
        <p:spPr>
          <a:xfrm>
            <a:off x="731118" y="2613951"/>
            <a:ext cx="1464078"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SwinV2-Base Ensemble (98.61%)</a:t>
            </a:r>
            <a:endParaRPr lang="en-US" sz="680" dirty="0"/>
          </a:p>
        </p:txBody>
      </p:sp>
      <p:sp>
        <p:nvSpPr>
          <p:cNvPr id="17" name="Text 14"/>
          <p:cNvSpPr/>
          <p:nvPr/>
        </p:nvSpPr>
        <p:spPr>
          <a:xfrm>
            <a:off x="2195196" y="2613951"/>
            <a:ext cx="1336300"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surpasses the state-of-the-art </a:t>
            </a:r>
            <a:endParaRPr lang="en-US" sz="680" dirty="0"/>
          </a:p>
        </p:txBody>
      </p:sp>
      <p:sp>
        <p:nvSpPr>
          <p:cNvPr id="18" name="Text 15"/>
          <p:cNvSpPr/>
          <p:nvPr/>
        </p:nvSpPr>
        <p:spPr>
          <a:xfrm>
            <a:off x="3531496" y="2613951"/>
            <a:ext cx="1206010"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Swin Transformer (98.36%)</a:t>
            </a:r>
            <a:endParaRPr lang="en-US" sz="680" dirty="0"/>
          </a:p>
        </p:txBody>
      </p:sp>
      <p:sp>
        <p:nvSpPr>
          <p:cNvPr id="19" name="Text 16"/>
          <p:cNvSpPr/>
          <p:nvPr/>
        </p:nvSpPr>
        <p:spPr>
          <a:xfrm>
            <a:off x="4737506" y="2613951"/>
            <a:ext cx="3353321"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through strategic model ensembling and high-resolution input optimization. </a:t>
            </a:r>
            <a:endParaRPr lang="en-US" sz="680" dirty="0"/>
          </a:p>
        </p:txBody>
      </p:sp>
      <p:sp>
        <p:nvSpPr>
          <p:cNvPr id="20" name="Text 17"/>
          <p:cNvSpPr/>
          <p:nvPr/>
        </p:nvSpPr>
        <p:spPr>
          <a:xfrm>
            <a:off x="538683" y="2771811"/>
            <a:ext cx="201644"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This </a:t>
            </a:r>
            <a:endParaRPr lang="en-US" sz="680" dirty="0"/>
          </a:p>
        </p:txBody>
      </p:sp>
      <p:sp>
        <p:nvSpPr>
          <p:cNvPr id="21" name="Text 18"/>
          <p:cNvSpPr/>
          <p:nvPr/>
        </p:nvSpPr>
        <p:spPr>
          <a:xfrm>
            <a:off x="740327" y="2771811"/>
            <a:ext cx="923051"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0.25% improvement</a:t>
            </a:r>
            <a:endParaRPr lang="en-US" sz="680" dirty="0"/>
          </a:p>
        </p:txBody>
      </p:sp>
      <p:sp>
        <p:nvSpPr>
          <p:cNvPr id="22" name="Text 19"/>
          <p:cNvSpPr/>
          <p:nvPr/>
        </p:nvSpPr>
        <p:spPr>
          <a:xfrm>
            <a:off x="1663377" y="2771811"/>
            <a:ext cx="5531272"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represents a significant advancement in the field, achieved through 5-fold cross-validation and careful hyperparameter tuning. </a:t>
            </a:r>
            <a:endParaRPr lang="en-US" sz="680" dirty="0"/>
          </a:p>
        </p:txBody>
      </p:sp>
      <p:sp>
        <p:nvSpPr>
          <p:cNvPr id="23" name="Shape 20"/>
          <p:cNvSpPr/>
          <p:nvPr/>
        </p:nvSpPr>
        <p:spPr>
          <a:xfrm>
            <a:off x="395808" y="3186847"/>
            <a:ext cx="8001000" cy="944370"/>
          </a:xfrm>
          <a:prstGeom prst="rect">
            <a:avLst/>
          </a:prstGeom>
          <a:solidFill>
            <a:srgbClr val="F8F9FA"/>
          </a:solidFill>
          <a:ln/>
        </p:spPr>
      </p:sp>
      <p:sp>
        <p:nvSpPr>
          <p:cNvPr id="24" name="Shape 21"/>
          <p:cNvSpPr/>
          <p:nvPr/>
        </p:nvSpPr>
        <p:spPr>
          <a:xfrm>
            <a:off x="395808" y="3186847"/>
            <a:ext cx="28575" cy="944370"/>
          </a:xfrm>
          <a:prstGeom prst="rect">
            <a:avLst/>
          </a:prstGeom>
          <a:solidFill>
            <a:srgbClr val="2E5090"/>
          </a:solidFill>
          <a:ln/>
        </p:spPr>
      </p:sp>
      <p:sp>
        <p:nvSpPr>
          <p:cNvPr id="25" name="Text 22"/>
          <p:cNvSpPr/>
          <p:nvPr/>
        </p:nvSpPr>
        <p:spPr>
          <a:xfrm>
            <a:off x="538683" y="3329722"/>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26" name="Text 23"/>
          <p:cNvSpPr/>
          <p:nvPr/>
        </p:nvSpPr>
        <p:spPr>
          <a:xfrm>
            <a:off x="874439" y="3377942"/>
            <a:ext cx="1073404"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Rapid Advancement</a:t>
            </a:r>
            <a:endParaRPr lang="en-US" sz="785" dirty="0"/>
          </a:p>
        </p:txBody>
      </p:sp>
      <p:sp>
        <p:nvSpPr>
          <p:cNvPr id="27" name="Text 24"/>
          <p:cNvSpPr/>
          <p:nvPr/>
        </p:nvSpPr>
        <p:spPr>
          <a:xfrm>
            <a:off x="538683" y="3686909"/>
            <a:ext cx="1981749"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The field has progressed from approximately </a:t>
            </a:r>
            <a:endParaRPr lang="en-US" sz="680" dirty="0"/>
          </a:p>
        </p:txBody>
      </p:sp>
      <p:sp>
        <p:nvSpPr>
          <p:cNvPr id="28" name="Text 25"/>
          <p:cNvSpPr/>
          <p:nvPr/>
        </p:nvSpPr>
        <p:spPr>
          <a:xfrm>
            <a:off x="2520432" y="3686909"/>
            <a:ext cx="623627"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90% accuracy</a:t>
            </a:r>
            <a:endParaRPr lang="en-US" sz="680" dirty="0"/>
          </a:p>
        </p:txBody>
      </p:sp>
      <p:sp>
        <p:nvSpPr>
          <p:cNvPr id="29" name="Text 26"/>
          <p:cNvSpPr/>
          <p:nvPr/>
        </p:nvSpPr>
        <p:spPr>
          <a:xfrm>
            <a:off x="3144059" y="3686909"/>
            <a:ext cx="1291903"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(Vision Transformer, 2020) to </a:t>
            </a:r>
            <a:endParaRPr lang="en-US" sz="680" dirty="0"/>
          </a:p>
        </p:txBody>
      </p:sp>
      <p:sp>
        <p:nvSpPr>
          <p:cNvPr id="30" name="Text 27"/>
          <p:cNvSpPr/>
          <p:nvPr/>
        </p:nvSpPr>
        <p:spPr>
          <a:xfrm>
            <a:off x="4435961" y="3686909"/>
            <a:ext cx="676759"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98%+ accuracy</a:t>
            </a:r>
            <a:endParaRPr lang="en-US" sz="680" dirty="0"/>
          </a:p>
        </p:txBody>
      </p:sp>
      <p:sp>
        <p:nvSpPr>
          <p:cNvPr id="31" name="Text 28"/>
          <p:cNvSpPr/>
          <p:nvPr/>
        </p:nvSpPr>
        <p:spPr>
          <a:xfrm>
            <a:off x="5112720" y="3686909"/>
            <a:ext cx="968732"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(SwinV2, 2026) in just </a:t>
            </a:r>
            <a:endParaRPr lang="en-US" sz="680" dirty="0"/>
          </a:p>
        </p:txBody>
      </p:sp>
      <p:sp>
        <p:nvSpPr>
          <p:cNvPr id="32" name="Text 29"/>
          <p:cNvSpPr/>
          <p:nvPr/>
        </p:nvSpPr>
        <p:spPr>
          <a:xfrm>
            <a:off x="6081452" y="3686909"/>
            <a:ext cx="329422" cy="126802"/>
          </a:xfrm>
          <a:prstGeom prst="rect">
            <a:avLst/>
          </a:prstGeom>
          <a:noFill/>
          <a:ln/>
        </p:spPr>
        <p:txBody>
          <a:bodyPr wrap="none" lIns="0" tIns="0" rIns="0" bIns="0" rtlCol="0" anchor="ctr">
            <a:spAutoFit/>
          </a:bodyPr>
          <a:lstStyle/>
          <a:p>
            <a:pPr marL="0" indent="0">
              <a:buNone/>
            </a:pPr>
            <a:r>
              <a:rPr lang="en-US" sz="680" b="1" dirty="0">
                <a:solidFill>
                  <a:srgbClr val="F39C12"/>
                </a:solidFill>
                <a:latin typeface="Noto Sans" pitchFamily="34" charset="0"/>
                <a:ea typeface="Noto Sans" pitchFamily="34" charset="-122"/>
                <a:cs typeface="Noto Sans" pitchFamily="34" charset="-120"/>
              </a:rPr>
              <a:t>6 years</a:t>
            </a:r>
            <a:endParaRPr lang="en-US" sz="680" dirty="0"/>
          </a:p>
        </p:txBody>
      </p:sp>
      <p:sp>
        <p:nvSpPr>
          <p:cNvPr id="33" name="Text 30"/>
          <p:cNvSpPr/>
          <p:nvPr/>
        </p:nvSpPr>
        <p:spPr>
          <a:xfrm>
            <a:off x="6410873" y="3686909"/>
            <a:ext cx="1214270"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This accelerating progress </a:t>
            </a:r>
            <a:endParaRPr lang="en-US" sz="680" dirty="0"/>
          </a:p>
        </p:txBody>
      </p:sp>
      <p:sp>
        <p:nvSpPr>
          <p:cNvPr id="34" name="Text 31"/>
          <p:cNvSpPr/>
          <p:nvPr/>
        </p:nvSpPr>
        <p:spPr>
          <a:xfrm>
            <a:off x="538683" y="3724596"/>
            <a:ext cx="7693372" cy="209288"/>
          </a:xfrm>
          <a:prstGeom prst="rect">
            <a:avLst/>
          </a:prstGeom>
          <a:noFill/>
          <a:ln/>
        </p:spPr>
        <p:txBody>
          <a:bodyPr wrap="square" lIns="0" tIns="0" rIns="0" bIns="0" rtlCol="0" anchor="ctr">
            <a:spAutoFit/>
          </a:bodyPr>
          <a:lstStyle/>
          <a:p>
            <a:pPr marL="0" indent="0">
              <a:buNone/>
            </a:pPr>
            <a:endParaRPr lang="en-US" sz="680" dirty="0">
              <a:solidFill>
                <a:srgbClr val="34495E"/>
              </a:solidFill>
              <a:latin typeface="Noto Sans" pitchFamily="34" charset="0"/>
              <a:ea typeface="Noto Sans" pitchFamily="34" charset="-122"/>
              <a:cs typeface="Noto Sans" pitchFamily="34" charset="-120"/>
            </a:endParaRPr>
          </a:p>
          <a:p>
            <a:pPr marL="0" indent="0">
              <a:buNone/>
            </a:pPr>
            <a:r>
              <a:rPr lang="en-US" sz="680" dirty="0">
                <a:solidFill>
                  <a:srgbClr val="34495E"/>
                </a:solidFill>
                <a:latin typeface="Noto Sans" pitchFamily="34" charset="0"/>
                <a:ea typeface="Noto Sans" pitchFamily="34" charset="-122"/>
                <a:cs typeface="Noto Sans" pitchFamily="34" charset="-120"/>
              </a:rPr>
              <a:t> demonstrates the transformative impact of advanced architectures and optimization techniques in medical imaging, particularly for microscopic fungal classification. </a:t>
            </a:r>
            <a:endParaRPr lang="en-US" sz="680" dirty="0"/>
          </a:p>
        </p:txBody>
      </p:sp>
      <p:sp>
        <p:nvSpPr>
          <p:cNvPr id="35" name="Shape 32"/>
          <p:cNvSpPr/>
          <p:nvPr/>
        </p:nvSpPr>
        <p:spPr>
          <a:xfrm>
            <a:off x="395808" y="4259804"/>
            <a:ext cx="8001000" cy="1102230"/>
          </a:xfrm>
          <a:prstGeom prst="rect">
            <a:avLst/>
          </a:prstGeom>
          <a:solidFill>
            <a:srgbClr val="F8F9FA"/>
          </a:solidFill>
          <a:ln/>
        </p:spPr>
      </p:sp>
      <p:sp>
        <p:nvSpPr>
          <p:cNvPr id="36" name="Shape 33"/>
          <p:cNvSpPr/>
          <p:nvPr/>
        </p:nvSpPr>
        <p:spPr>
          <a:xfrm>
            <a:off x="395808" y="4259804"/>
            <a:ext cx="28575" cy="1102230"/>
          </a:xfrm>
          <a:prstGeom prst="rect">
            <a:avLst/>
          </a:prstGeom>
          <a:solidFill>
            <a:srgbClr val="2E5090"/>
          </a:solidFill>
          <a:ln/>
        </p:spPr>
      </p:sp>
      <p:sp>
        <p:nvSpPr>
          <p:cNvPr id="37" name="Text 34"/>
          <p:cNvSpPr/>
          <p:nvPr/>
        </p:nvSpPr>
        <p:spPr>
          <a:xfrm>
            <a:off x="538683" y="4402679"/>
            <a:ext cx="250031"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38" name="Text 35"/>
          <p:cNvSpPr/>
          <p:nvPr/>
        </p:nvSpPr>
        <p:spPr>
          <a:xfrm>
            <a:off x="874439" y="4450900"/>
            <a:ext cx="1187202" cy="160734"/>
          </a:xfrm>
          <a:prstGeom prst="rect">
            <a:avLst/>
          </a:prstGeom>
          <a:noFill/>
          <a:ln/>
        </p:spPr>
        <p:txBody>
          <a:bodyPr wrap="none" lIns="0" tIns="0" rIns="0" bIns="0" rtlCol="0" anchor="ctr">
            <a:spAutoFit/>
          </a:bodyPr>
          <a:lstStyle/>
          <a:p>
            <a:pPr marL="0" indent="0">
              <a:buNone/>
            </a:pPr>
            <a:r>
              <a:rPr lang="en-US" sz="785" b="1" dirty="0">
                <a:solidFill>
                  <a:srgbClr val="1A3A52"/>
                </a:solidFill>
                <a:latin typeface="Noto Sans" pitchFamily="34" charset="0"/>
                <a:ea typeface="Noto Sans" pitchFamily="34" charset="-122"/>
                <a:cs typeface="Noto Sans" pitchFamily="34" charset="-120"/>
              </a:rPr>
              <a:t>Augmentation Impact</a:t>
            </a:r>
            <a:endParaRPr lang="en-US" sz="785" dirty="0"/>
          </a:p>
        </p:txBody>
      </p:sp>
      <p:sp>
        <p:nvSpPr>
          <p:cNvPr id="39" name="Text 36"/>
          <p:cNvSpPr/>
          <p:nvPr/>
        </p:nvSpPr>
        <p:spPr>
          <a:xfrm>
            <a:off x="538683" y="4759867"/>
            <a:ext cx="1593726" cy="126802"/>
          </a:xfrm>
          <a:prstGeom prst="rect">
            <a:avLst/>
          </a:prstGeom>
          <a:noFill/>
          <a:ln/>
        </p:spPr>
        <p:txBody>
          <a:bodyPr wrap="none" lIns="0" tIns="0" rIns="0" bIns="0" rtlCol="0" anchor="ctr">
            <a:spAutoFit/>
          </a:bodyPr>
          <a:lstStyle/>
          <a:p>
            <a:pPr marL="0" indent="0">
              <a:buNone/>
            </a:pPr>
            <a:r>
              <a:rPr lang="en-US" sz="680" b="1" dirty="0">
                <a:solidFill>
                  <a:srgbClr val="2E5090"/>
                </a:solidFill>
                <a:latin typeface="Noto Sans" pitchFamily="34" charset="0"/>
                <a:ea typeface="Noto Sans" pitchFamily="34" charset="-122"/>
                <a:cs typeface="Noto Sans" pitchFamily="34" charset="-120"/>
              </a:rPr>
              <a:t>Advanced augmentation strategies</a:t>
            </a:r>
            <a:endParaRPr lang="en-US" sz="680" dirty="0"/>
          </a:p>
        </p:txBody>
      </p:sp>
      <p:sp>
        <p:nvSpPr>
          <p:cNvPr id="40" name="Text 37"/>
          <p:cNvSpPr/>
          <p:nvPr/>
        </p:nvSpPr>
        <p:spPr>
          <a:xfrm>
            <a:off x="2132409" y="4759867"/>
            <a:ext cx="6090354"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(MixUp, CutMix, Label Smoothing) and regularization techniques significantly improve model robustness and generalization. The consistent </a:t>
            </a:r>
            <a:endParaRPr lang="en-US" sz="680" dirty="0"/>
          </a:p>
        </p:txBody>
      </p:sp>
      <p:sp>
        <p:nvSpPr>
          <p:cNvPr id="41" name="Text 38"/>
          <p:cNvSpPr/>
          <p:nvPr/>
        </p:nvSpPr>
        <p:spPr>
          <a:xfrm>
            <a:off x="538683" y="4917727"/>
            <a:ext cx="7654277"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performance improvements across recent works underscore the importance of data augmentation in preventing overfitting and enhancing the model's ability to handle diverse </a:t>
            </a:r>
            <a:endParaRPr lang="en-US" sz="680" dirty="0"/>
          </a:p>
        </p:txBody>
      </p:sp>
      <p:sp>
        <p:nvSpPr>
          <p:cNvPr id="42" name="Text 39"/>
          <p:cNvSpPr/>
          <p:nvPr/>
        </p:nvSpPr>
        <p:spPr>
          <a:xfrm>
            <a:off x="538683" y="5075587"/>
            <a:ext cx="2201838" cy="126802"/>
          </a:xfrm>
          <a:prstGeom prst="rect">
            <a:avLst/>
          </a:prstGeom>
          <a:noFill/>
          <a:ln/>
        </p:spPr>
        <p:txBody>
          <a:bodyPr wrap="non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fungal morphologies in real-world clinical settings. </a:t>
            </a:r>
            <a:endParaRPr lang="en-US" sz="680" dirty="0"/>
          </a:p>
        </p:txBody>
      </p:sp>
      <p:pic>
        <p:nvPicPr>
          <p:cNvPr id="43" name="Picture 42">
            <a:extLst>
              <a:ext uri="{FF2B5EF4-FFF2-40B4-BE49-F238E27FC236}">
                <a16:creationId xmlns:a16="http://schemas.microsoft.com/office/drawing/2014/main" id="{FEB1FF4E-7FE7-2616-3EA4-AB11F61E706E}"/>
              </a:ext>
            </a:extLst>
          </p:cNvPr>
          <p:cNvPicPr>
            <a:picLocks noChangeAspect="1"/>
          </p:cNvPicPr>
          <p:nvPr/>
        </p:nvPicPr>
        <p:blipFill>
          <a:blip r:embed="rId4"/>
          <a:stretch>
            <a:fillRect/>
          </a:stretch>
        </p:blipFill>
        <p:spPr>
          <a:xfrm>
            <a:off x="7994233" y="-52711"/>
            <a:ext cx="1141859" cy="1141859"/>
          </a:xfrm>
          <a:prstGeom prst="rect">
            <a:avLst/>
          </a:prstGeom>
        </p:spPr>
      </p:pic>
    </p:spTree>
    <p:extLst>
      <p:ext uri="{BB962C8B-B14F-4D97-AF65-F5344CB8AC3E}">
        <p14:creationId xmlns:p14="http://schemas.microsoft.com/office/powerpoint/2010/main" val="2810925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40651"/>
          </a:xfrm>
          <a:prstGeom prst="rect">
            <a:avLst/>
          </a:prstGeom>
        </p:spPr>
      </p:pic>
      <p:sp>
        <p:nvSpPr>
          <p:cNvPr id="3" name="Text 0"/>
          <p:cNvSpPr/>
          <p:nvPr/>
        </p:nvSpPr>
        <p:spPr>
          <a:xfrm>
            <a:off x="571500" y="857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14" name="Picture 13">
            <a:extLst>
              <a:ext uri="{FF2B5EF4-FFF2-40B4-BE49-F238E27FC236}">
                <a16:creationId xmlns:a16="http://schemas.microsoft.com/office/drawing/2014/main" id="{07AE7A38-DCEA-5654-05EA-5150078D079A}"/>
              </a:ext>
            </a:extLst>
          </p:cNvPr>
          <p:cNvPicPr>
            <a:picLocks noChangeAspect="1"/>
          </p:cNvPicPr>
          <p:nvPr/>
        </p:nvPicPr>
        <p:blipFill>
          <a:blip r:embed="rId4"/>
          <a:srcRect t="-1" b="-1838"/>
          <a:stretch>
            <a:fillRect/>
          </a:stretch>
        </p:blipFill>
        <p:spPr>
          <a:xfrm>
            <a:off x="2562635" y="608798"/>
            <a:ext cx="4018730" cy="4680151"/>
          </a:xfrm>
          <a:prstGeom prst="rect">
            <a:avLst/>
          </a:prstGeom>
        </p:spPr>
      </p:pic>
      <p:pic>
        <p:nvPicPr>
          <p:cNvPr id="4" name="Picture 3">
            <a:extLst>
              <a:ext uri="{FF2B5EF4-FFF2-40B4-BE49-F238E27FC236}">
                <a16:creationId xmlns:a16="http://schemas.microsoft.com/office/drawing/2014/main" id="{6A83A4C4-2550-6B87-1C88-640FEE2D5D44}"/>
              </a:ext>
            </a:extLst>
          </p:cNvPr>
          <p:cNvPicPr>
            <a:picLocks noChangeAspect="1"/>
          </p:cNvPicPr>
          <p:nvPr/>
        </p:nvPicPr>
        <p:blipFill>
          <a:blip r:embed="rId5"/>
          <a:stretch>
            <a:fillRect/>
          </a:stretch>
        </p:blipFill>
        <p:spPr>
          <a:xfrm>
            <a:off x="7994233" y="-59435"/>
            <a:ext cx="1141859" cy="1141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0C279-C0DD-B865-3A06-0D7852A2824A}"/>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FEB9997-232B-71B0-6458-61CEA9AC7A64}"/>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EC08F20-EA4C-93EC-0ABB-C1B408EDFAF0}"/>
              </a:ext>
            </a:extLst>
          </p:cNvPr>
          <p:cNvSpPr/>
          <p:nvPr/>
        </p:nvSpPr>
        <p:spPr>
          <a:xfrm>
            <a:off x="548351" y="28972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6" name="Picture 5">
            <a:extLst>
              <a:ext uri="{FF2B5EF4-FFF2-40B4-BE49-F238E27FC236}">
                <a16:creationId xmlns:a16="http://schemas.microsoft.com/office/drawing/2014/main" id="{01B20DEC-2CB2-D6A8-820F-1B1117BBC12F}"/>
              </a:ext>
            </a:extLst>
          </p:cNvPr>
          <p:cNvPicPr>
            <a:picLocks noChangeAspect="1"/>
          </p:cNvPicPr>
          <p:nvPr/>
        </p:nvPicPr>
        <p:blipFill>
          <a:blip r:embed="rId4"/>
          <a:srcRect t="-2306" b="59496"/>
          <a:stretch>
            <a:fillRect/>
          </a:stretch>
        </p:blipFill>
        <p:spPr>
          <a:xfrm>
            <a:off x="696651" y="632629"/>
            <a:ext cx="7750697" cy="4221142"/>
          </a:xfrm>
          <a:prstGeom prst="rect">
            <a:avLst/>
          </a:prstGeom>
        </p:spPr>
      </p:pic>
      <p:pic>
        <p:nvPicPr>
          <p:cNvPr id="4" name="Picture 3">
            <a:extLst>
              <a:ext uri="{FF2B5EF4-FFF2-40B4-BE49-F238E27FC236}">
                <a16:creationId xmlns:a16="http://schemas.microsoft.com/office/drawing/2014/main" id="{B5FD599F-1F85-8434-1512-EF2E250FCB6F}"/>
              </a:ext>
            </a:extLst>
          </p:cNvPr>
          <p:cNvPicPr>
            <a:picLocks noChangeAspect="1"/>
          </p:cNvPicPr>
          <p:nvPr/>
        </p:nvPicPr>
        <p:blipFill>
          <a:blip r:embed="rId5"/>
          <a:stretch>
            <a:fillRect/>
          </a:stretch>
        </p:blipFill>
        <p:spPr>
          <a:xfrm>
            <a:off x="7994233" y="-59435"/>
            <a:ext cx="1141859" cy="1141859"/>
          </a:xfrm>
          <a:prstGeom prst="rect">
            <a:avLst/>
          </a:prstGeom>
        </p:spPr>
      </p:pic>
    </p:spTree>
    <p:extLst>
      <p:ext uri="{BB962C8B-B14F-4D97-AF65-F5344CB8AC3E}">
        <p14:creationId xmlns:p14="http://schemas.microsoft.com/office/powerpoint/2010/main" val="33266436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A7823-1630-C96D-494A-2A35C0AD7C4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794F42D-F831-8CD9-0E5E-E05310EF7E2C}"/>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B4137EA1-BD30-EB3F-CF23-246831F83D1D}"/>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0B423BF0-DD8A-E107-0986-9B26FBA002B6}"/>
              </a:ext>
            </a:extLst>
          </p:cNvPr>
          <p:cNvPicPr>
            <a:picLocks noChangeAspect="1"/>
          </p:cNvPicPr>
          <p:nvPr/>
        </p:nvPicPr>
        <p:blipFill>
          <a:blip r:embed="rId4"/>
          <a:srcRect t="37172" b="24611"/>
          <a:stretch>
            <a:fillRect/>
          </a:stretch>
        </p:blipFill>
        <p:spPr>
          <a:xfrm>
            <a:off x="1165861" y="901853"/>
            <a:ext cx="7200900" cy="4332515"/>
          </a:xfrm>
          <a:prstGeom prst="rect">
            <a:avLst/>
          </a:prstGeom>
        </p:spPr>
      </p:pic>
      <p:pic>
        <p:nvPicPr>
          <p:cNvPr id="5" name="Picture 4">
            <a:extLst>
              <a:ext uri="{FF2B5EF4-FFF2-40B4-BE49-F238E27FC236}">
                <a16:creationId xmlns:a16="http://schemas.microsoft.com/office/drawing/2014/main" id="{216C1415-DABC-006C-6602-83DF59595F9A}"/>
              </a:ext>
            </a:extLst>
          </p:cNvPr>
          <p:cNvPicPr>
            <a:picLocks noChangeAspect="1"/>
          </p:cNvPicPr>
          <p:nvPr/>
        </p:nvPicPr>
        <p:blipFill>
          <a:blip r:embed="rId5"/>
          <a:stretch>
            <a:fillRect/>
          </a:stretch>
        </p:blipFill>
        <p:spPr>
          <a:xfrm>
            <a:off x="7994233" y="-52711"/>
            <a:ext cx="1141859" cy="1141859"/>
          </a:xfrm>
          <a:prstGeom prst="rect">
            <a:avLst/>
          </a:prstGeom>
        </p:spPr>
      </p:pic>
    </p:spTree>
    <p:extLst>
      <p:ext uri="{BB962C8B-B14F-4D97-AF65-F5344CB8AC3E}">
        <p14:creationId xmlns:p14="http://schemas.microsoft.com/office/powerpoint/2010/main" val="535784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070F2-865C-C564-83AD-3B9BD686913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7B7B183-D6DA-7963-1AE6-29926119E3ED}"/>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6DDB20EC-875E-F3D2-CBEC-A49AE148CD32}"/>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9BE67631-28D8-1403-F5DE-10E1A9078DAA}"/>
              </a:ext>
            </a:extLst>
          </p:cNvPr>
          <p:cNvPicPr>
            <a:picLocks noChangeAspect="1"/>
          </p:cNvPicPr>
          <p:nvPr/>
        </p:nvPicPr>
        <p:blipFill>
          <a:blip r:embed="rId4"/>
          <a:srcRect l="-2858" t="72931" r="741" b="-11148"/>
          <a:stretch>
            <a:fillRect/>
          </a:stretch>
        </p:blipFill>
        <p:spPr>
          <a:xfrm>
            <a:off x="571500" y="1335796"/>
            <a:ext cx="7851139" cy="5065004"/>
          </a:xfrm>
          <a:prstGeom prst="rect">
            <a:avLst/>
          </a:prstGeom>
        </p:spPr>
      </p:pic>
      <p:pic>
        <p:nvPicPr>
          <p:cNvPr id="5" name="Picture 4">
            <a:extLst>
              <a:ext uri="{FF2B5EF4-FFF2-40B4-BE49-F238E27FC236}">
                <a16:creationId xmlns:a16="http://schemas.microsoft.com/office/drawing/2014/main" id="{52543E48-E50F-8938-688A-0307CA851126}"/>
              </a:ext>
            </a:extLst>
          </p:cNvPr>
          <p:cNvPicPr>
            <a:picLocks noChangeAspect="1"/>
          </p:cNvPicPr>
          <p:nvPr/>
        </p:nvPicPr>
        <p:blipFill>
          <a:blip r:embed="rId5"/>
          <a:stretch>
            <a:fillRect/>
          </a:stretch>
        </p:blipFill>
        <p:spPr>
          <a:xfrm>
            <a:off x="7994233" y="-59435"/>
            <a:ext cx="1141859" cy="1141859"/>
          </a:xfrm>
          <a:prstGeom prst="rect">
            <a:avLst/>
          </a:prstGeom>
        </p:spPr>
      </p:pic>
    </p:spTree>
    <p:extLst>
      <p:ext uri="{BB962C8B-B14F-4D97-AF65-F5344CB8AC3E}">
        <p14:creationId xmlns:p14="http://schemas.microsoft.com/office/powerpoint/2010/main" val="2614436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494-8B09-B2FD-0586-0E4F3DB723F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4A6A3B2-55FF-1EFB-F534-A6BFC669D605}"/>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B872B20-7608-C4CF-66F9-7ABE091991A0}"/>
              </a:ext>
            </a:extLst>
          </p:cNvPr>
          <p:cNvSpPr/>
          <p:nvPr/>
        </p:nvSpPr>
        <p:spPr>
          <a:xfrm>
            <a:off x="449771" y="125966"/>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5" name="Image 1" descr="preencoded.png">
            <a:extLst>
              <a:ext uri="{FF2B5EF4-FFF2-40B4-BE49-F238E27FC236}">
                <a16:creationId xmlns:a16="http://schemas.microsoft.com/office/drawing/2014/main" id="{14BC55C4-5A72-91DD-64A7-E71D8472D33A}"/>
              </a:ext>
            </a:extLst>
          </p:cNvPr>
          <p:cNvPicPr>
            <a:picLocks noChangeAspect="1"/>
          </p:cNvPicPr>
          <p:nvPr/>
        </p:nvPicPr>
        <p:blipFill>
          <a:blip r:embed="rId4"/>
          <a:stretch>
            <a:fillRect/>
          </a:stretch>
        </p:blipFill>
        <p:spPr>
          <a:xfrm>
            <a:off x="-2550160" y="595560"/>
            <a:ext cx="14305280" cy="3686811"/>
          </a:xfrm>
          <a:prstGeom prst="rect">
            <a:avLst/>
          </a:prstGeom>
        </p:spPr>
      </p:pic>
      <p:sp>
        <p:nvSpPr>
          <p:cNvPr id="6" name="Text 2">
            <a:extLst>
              <a:ext uri="{FF2B5EF4-FFF2-40B4-BE49-F238E27FC236}">
                <a16:creationId xmlns:a16="http://schemas.microsoft.com/office/drawing/2014/main" id="{B22630A7-0520-996F-EAAC-1377C2EDC7C1}"/>
              </a:ext>
            </a:extLst>
          </p:cNvPr>
          <p:cNvSpPr/>
          <p:nvPr/>
        </p:nvSpPr>
        <p:spPr>
          <a:xfrm>
            <a:off x="1008077" y="4386356"/>
            <a:ext cx="1473160"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This project adopts an </a:t>
            </a:r>
            <a:endParaRPr lang="en-US" sz="1050" dirty="0"/>
          </a:p>
        </p:txBody>
      </p:sp>
      <p:sp>
        <p:nvSpPr>
          <p:cNvPr id="7" name="Text 3">
            <a:extLst>
              <a:ext uri="{FF2B5EF4-FFF2-40B4-BE49-F238E27FC236}">
                <a16:creationId xmlns:a16="http://schemas.microsoft.com/office/drawing/2014/main" id="{CFE4AC6B-F6F3-3293-A12E-E1272AD01588}"/>
              </a:ext>
            </a:extLst>
          </p:cNvPr>
          <p:cNvSpPr/>
          <p:nvPr/>
        </p:nvSpPr>
        <p:spPr>
          <a:xfrm>
            <a:off x="2481237" y="4396086"/>
            <a:ext cx="2374048"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Agile Software Development Model</a:t>
            </a:r>
            <a:endParaRPr lang="en-US" sz="1050" dirty="0"/>
          </a:p>
        </p:txBody>
      </p:sp>
      <p:sp>
        <p:nvSpPr>
          <p:cNvPr id="8" name="Text 4">
            <a:extLst>
              <a:ext uri="{FF2B5EF4-FFF2-40B4-BE49-F238E27FC236}">
                <a16:creationId xmlns:a16="http://schemas.microsoft.com/office/drawing/2014/main" id="{C824A2D4-EA2B-F50E-1F3B-32CF22A86F12}"/>
              </a:ext>
            </a:extLst>
          </p:cNvPr>
          <p:cNvSpPr/>
          <p:nvPr/>
        </p:nvSpPr>
        <p:spPr>
          <a:xfrm>
            <a:off x="4833191" y="4386355"/>
            <a:ext cx="1030731"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with a rigorous </a:t>
            </a:r>
            <a:endParaRPr lang="en-US" sz="1050" dirty="0"/>
          </a:p>
        </p:txBody>
      </p:sp>
      <p:sp>
        <p:nvSpPr>
          <p:cNvPr id="9" name="Text 5">
            <a:extLst>
              <a:ext uri="{FF2B5EF4-FFF2-40B4-BE49-F238E27FC236}">
                <a16:creationId xmlns:a16="http://schemas.microsoft.com/office/drawing/2014/main" id="{8CFA483B-E932-DCF7-40EA-BF14DD0A8C87}"/>
              </a:ext>
            </a:extLst>
          </p:cNvPr>
          <p:cNvSpPr/>
          <p:nvPr/>
        </p:nvSpPr>
        <p:spPr>
          <a:xfrm>
            <a:off x="5841828" y="4396086"/>
            <a:ext cx="1195840"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4-phase approach</a:t>
            </a:r>
            <a:endParaRPr lang="en-US" sz="1050" dirty="0"/>
          </a:p>
        </p:txBody>
      </p:sp>
      <p:sp>
        <p:nvSpPr>
          <p:cNvPr id="10" name="Text 6">
            <a:extLst>
              <a:ext uri="{FF2B5EF4-FFF2-40B4-BE49-F238E27FC236}">
                <a16:creationId xmlns:a16="http://schemas.microsoft.com/office/drawing/2014/main" id="{3C80D98A-4C55-3174-4B5C-E8CB6C9D34C3}"/>
              </a:ext>
            </a:extLst>
          </p:cNvPr>
          <p:cNvSpPr/>
          <p:nvPr/>
        </p:nvSpPr>
        <p:spPr>
          <a:xfrm>
            <a:off x="7037668" y="4396086"/>
            <a:ext cx="1389804"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for model evaluation </a:t>
            </a:r>
            <a:endParaRPr lang="en-US" sz="1050" dirty="0"/>
          </a:p>
        </p:txBody>
      </p:sp>
      <p:sp>
        <p:nvSpPr>
          <p:cNvPr id="11" name="Text 7">
            <a:extLst>
              <a:ext uri="{FF2B5EF4-FFF2-40B4-BE49-F238E27FC236}">
                <a16:creationId xmlns:a16="http://schemas.microsoft.com/office/drawing/2014/main" id="{3EEBCBF1-50A4-DA8D-F984-32FC95A1A7BD}"/>
              </a:ext>
            </a:extLst>
          </p:cNvPr>
          <p:cNvSpPr/>
          <p:nvPr/>
        </p:nvSpPr>
        <p:spPr>
          <a:xfrm>
            <a:off x="866660" y="4590390"/>
            <a:ext cx="74106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and selection. The methodology ensures systematic evaluation of augmentation strategies, model architectures, and </a:t>
            </a:r>
            <a:endParaRPr lang="en-US" sz="1050" dirty="0"/>
          </a:p>
        </p:txBody>
      </p:sp>
      <p:sp>
        <p:nvSpPr>
          <p:cNvPr id="12" name="Text 8">
            <a:extLst>
              <a:ext uri="{FF2B5EF4-FFF2-40B4-BE49-F238E27FC236}">
                <a16:creationId xmlns:a16="http://schemas.microsoft.com/office/drawing/2014/main" id="{4EB4DA89-D49C-D7CD-529E-7B56606161BC}"/>
              </a:ext>
            </a:extLst>
          </p:cNvPr>
          <p:cNvSpPr/>
          <p:nvPr/>
        </p:nvSpPr>
        <p:spPr>
          <a:xfrm>
            <a:off x="1667346" y="4784695"/>
            <a:ext cx="58092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optimization techniques to identify the optimal solution for microscopic fungi classification. </a:t>
            </a:r>
            <a:endParaRPr lang="en-US" sz="1050" dirty="0"/>
          </a:p>
        </p:txBody>
      </p:sp>
      <p:pic>
        <p:nvPicPr>
          <p:cNvPr id="4" name="Picture 3">
            <a:extLst>
              <a:ext uri="{FF2B5EF4-FFF2-40B4-BE49-F238E27FC236}">
                <a16:creationId xmlns:a16="http://schemas.microsoft.com/office/drawing/2014/main" id="{843D9635-E314-FC72-6C88-A7DCA1D5E963}"/>
              </a:ext>
            </a:extLst>
          </p:cNvPr>
          <p:cNvPicPr>
            <a:picLocks noChangeAspect="1"/>
          </p:cNvPicPr>
          <p:nvPr/>
        </p:nvPicPr>
        <p:blipFill>
          <a:blip r:embed="rId5"/>
          <a:stretch>
            <a:fillRect/>
          </a:stretch>
        </p:blipFill>
        <p:spPr>
          <a:xfrm>
            <a:off x="7994233" y="-59435"/>
            <a:ext cx="1141859" cy="1141859"/>
          </a:xfrm>
          <a:prstGeom prst="rect">
            <a:avLst/>
          </a:prstGeom>
        </p:spPr>
      </p:pic>
    </p:spTree>
    <p:extLst>
      <p:ext uri="{BB962C8B-B14F-4D97-AF65-F5344CB8AC3E}">
        <p14:creationId xmlns:p14="http://schemas.microsoft.com/office/powerpoint/2010/main" val="188571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813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Augmentation Strategies Evaluated</a:t>
            </a:r>
            <a:endParaRPr lang="en-US" sz="2700" dirty="0"/>
          </a:p>
        </p:txBody>
      </p:sp>
      <p:sp>
        <p:nvSpPr>
          <p:cNvPr id="4" name="Text 1"/>
          <p:cNvSpPr/>
          <p:nvPr/>
        </p:nvSpPr>
        <p:spPr>
          <a:xfrm>
            <a:off x="571500" y="1362247"/>
            <a:ext cx="2773131" cy="161583"/>
          </a:xfrm>
          <a:prstGeom prst="rect">
            <a:avLst/>
          </a:prstGeom>
          <a:noFill/>
          <a:ln/>
        </p:spPr>
        <p:txBody>
          <a:bodyPr wrap="none" lIns="0" tIns="0" rIns="0" bIns="0" rtlCol="0" anchor="ctr">
            <a:spAutoFit/>
          </a:bodyPr>
          <a:lstStyle/>
          <a:p>
            <a:pPr marL="0" indent="0">
              <a:buNone/>
            </a:pPr>
            <a:r>
              <a:rPr lang="en-US" sz="1050" b="1" kern="0" spc="1" dirty="0">
                <a:solidFill>
                  <a:srgbClr val="F39C12"/>
                </a:solidFill>
                <a:latin typeface="Noto Sans" pitchFamily="34" charset="0"/>
                <a:ea typeface="Noto Sans" pitchFamily="34" charset="-122"/>
                <a:cs typeface="Noto Sans" pitchFamily="34" charset="-120"/>
              </a:rPr>
              <a:t>Four Augmentation Strategies Compared</a:t>
            </a:r>
            <a:endParaRPr lang="en-US" sz="1050" dirty="0"/>
          </a:p>
        </p:txBody>
      </p:sp>
      <p:sp>
        <p:nvSpPr>
          <p:cNvPr id="5" name="Shape 2"/>
          <p:cNvSpPr/>
          <p:nvPr/>
        </p:nvSpPr>
        <p:spPr>
          <a:xfrm>
            <a:off x="571500" y="1721644"/>
            <a:ext cx="3911203" cy="1452972"/>
          </a:xfrm>
          <a:prstGeom prst="rect">
            <a:avLst/>
          </a:prstGeom>
          <a:solidFill>
            <a:srgbClr val="F8F9FA"/>
          </a:solidFill>
          <a:ln/>
        </p:spPr>
      </p:sp>
      <p:sp>
        <p:nvSpPr>
          <p:cNvPr id="6" name="Shape 3"/>
          <p:cNvSpPr/>
          <p:nvPr/>
        </p:nvSpPr>
        <p:spPr>
          <a:xfrm>
            <a:off x="571500" y="1721644"/>
            <a:ext cx="28575" cy="1452972"/>
          </a:xfrm>
          <a:prstGeom prst="rect">
            <a:avLst/>
          </a:prstGeom>
          <a:solidFill>
            <a:srgbClr val="2E5090"/>
          </a:solidFill>
          <a:ln/>
        </p:spPr>
      </p:sp>
      <p:sp>
        <p:nvSpPr>
          <p:cNvPr id="7" name="Text 4"/>
          <p:cNvSpPr/>
          <p:nvPr/>
        </p:nvSpPr>
        <p:spPr>
          <a:xfrm>
            <a:off x="750094"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8" name="Text 5"/>
          <p:cNvSpPr/>
          <p:nvPr/>
        </p:nvSpPr>
        <p:spPr>
          <a:xfrm>
            <a:off x="750094" y="2233784"/>
            <a:ext cx="14651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Simple Augmentation</a:t>
            </a:r>
            <a:endParaRPr lang="en-US" sz="1050" dirty="0"/>
          </a:p>
        </p:txBody>
      </p:sp>
      <p:sp>
        <p:nvSpPr>
          <p:cNvPr id="9" name="Text 6"/>
          <p:cNvSpPr/>
          <p:nvPr/>
        </p:nvSpPr>
        <p:spPr>
          <a:xfrm>
            <a:off x="750094" y="2510191"/>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Rotate(45), horizontal flip, vertical flip, Rotate(-45). Introduces basic variability in orientation and flipping while maintaining computational efficiency. </a:t>
            </a:r>
            <a:endParaRPr lang="en-US" sz="1000" dirty="0"/>
          </a:p>
        </p:txBody>
      </p:sp>
      <p:sp>
        <p:nvSpPr>
          <p:cNvPr id="10" name="Shape 7"/>
          <p:cNvSpPr/>
          <p:nvPr/>
        </p:nvSpPr>
        <p:spPr>
          <a:xfrm>
            <a:off x="4661297" y="1721644"/>
            <a:ext cx="3911203" cy="1452972"/>
          </a:xfrm>
          <a:prstGeom prst="rect">
            <a:avLst/>
          </a:prstGeom>
          <a:solidFill>
            <a:srgbClr val="F8F9FA"/>
          </a:solidFill>
          <a:ln/>
        </p:spPr>
      </p:sp>
      <p:sp>
        <p:nvSpPr>
          <p:cNvPr id="11" name="Shape 8"/>
          <p:cNvSpPr/>
          <p:nvPr/>
        </p:nvSpPr>
        <p:spPr>
          <a:xfrm>
            <a:off x="4661297" y="1721644"/>
            <a:ext cx="28575" cy="1452972"/>
          </a:xfrm>
          <a:prstGeom prst="rect">
            <a:avLst/>
          </a:prstGeom>
          <a:solidFill>
            <a:srgbClr val="2E5090"/>
          </a:solidFill>
          <a:ln/>
        </p:spPr>
      </p:sp>
      <p:sp>
        <p:nvSpPr>
          <p:cNvPr id="12" name="Text 9"/>
          <p:cNvSpPr/>
          <p:nvPr/>
        </p:nvSpPr>
        <p:spPr>
          <a:xfrm>
            <a:off x="4839891"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3" name="Text 10"/>
          <p:cNvSpPr/>
          <p:nvPr/>
        </p:nvSpPr>
        <p:spPr>
          <a:xfrm>
            <a:off x="4839891" y="2233784"/>
            <a:ext cx="16783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Balancing Augmentation</a:t>
            </a:r>
            <a:endParaRPr lang="en-US" sz="1050" dirty="0"/>
          </a:p>
        </p:txBody>
      </p:sp>
      <p:sp>
        <p:nvSpPr>
          <p:cNvPr id="14" name="Text 11"/>
          <p:cNvSpPr/>
          <p:nvPr/>
        </p:nvSpPr>
        <p:spPr>
          <a:xfrm>
            <a:off x="4839891" y="2474095"/>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Generated 4400 images per class to address class imbalance and ensure balanced training distribution across all five fungal classes. </a:t>
            </a:r>
            <a:endParaRPr lang="en-US" sz="1000" dirty="0"/>
          </a:p>
        </p:txBody>
      </p:sp>
      <p:sp>
        <p:nvSpPr>
          <p:cNvPr id="15" name="Shape 12"/>
          <p:cNvSpPr/>
          <p:nvPr/>
        </p:nvSpPr>
        <p:spPr>
          <a:xfrm>
            <a:off x="571500" y="3353209"/>
            <a:ext cx="3911203" cy="1452972"/>
          </a:xfrm>
          <a:prstGeom prst="rect">
            <a:avLst/>
          </a:prstGeom>
          <a:solidFill>
            <a:srgbClr val="F8F9FA"/>
          </a:solidFill>
          <a:ln/>
        </p:spPr>
      </p:sp>
      <p:sp>
        <p:nvSpPr>
          <p:cNvPr id="16" name="Shape 13"/>
          <p:cNvSpPr/>
          <p:nvPr/>
        </p:nvSpPr>
        <p:spPr>
          <a:xfrm>
            <a:off x="571500" y="3353209"/>
            <a:ext cx="28575" cy="1452972"/>
          </a:xfrm>
          <a:prstGeom prst="rect">
            <a:avLst/>
          </a:prstGeom>
          <a:solidFill>
            <a:srgbClr val="2E5090"/>
          </a:solidFill>
          <a:ln/>
        </p:spPr>
      </p:sp>
      <p:sp>
        <p:nvSpPr>
          <p:cNvPr id="17" name="Text 14"/>
          <p:cNvSpPr/>
          <p:nvPr/>
        </p:nvSpPr>
        <p:spPr>
          <a:xfrm>
            <a:off x="750094"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8" name="Text 15"/>
          <p:cNvSpPr/>
          <p:nvPr/>
        </p:nvSpPr>
        <p:spPr>
          <a:xfrm>
            <a:off x="750094" y="3865350"/>
            <a:ext cx="1912383"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Class-specific Augmentation</a:t>
            </a:r>
            <a:endParaRPr lang="en-US" sz="1050" dirty="0"/>
          </a:p>
        </p:txBody>
      </p:sp>
      <p:sp>
        <p:nvSpPr>
          <p:cNvPr id="19" name="Text 16"/>
          <p:cNvSpPr/>
          <p:nvPr/>
        </p:nvSpPr>
        <p:spPr>
          <a:xfrm>
            <a:off x="750094" y="414175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Different augmentation techniques applied to each class individually for specialized feature extraction tailored to unique morphological characteristics. </a:t>
            </a:r>
            <a:endParaRPr lang="en-US" sz="1000" dirty="0"/>
          </a:p>
        </p:txBody>
      </p:sp>
      <p:sp>
        <p:nvSpPr>
          <p:cNvPr id="20" name="Shape 17"/>
          <p:cNvSpPr/>
          <p:nvPr/>
        </p:nvSpPr>
        <p:spPr>
          <a:xfrm>
            <a:off x="4661297" y="3353209"/>
            <a:ext cx="3911203" cy="1452972"/>
          </a:xfrm>
          <a:prstGeom prst="rect">
            <a:avLst/>
          </a:prstGeom>
          <a:solidFill>
            <a:srgbClr val="F8F9FA"/>
          </a:solidFill>
          <a:ln/>
        </p:spPr>
      </p:sp>
      <p:sp>
        <p:nvSpPr>
          <p:cNvPr id="21" name="Shape 18"/>
          <p:cNvSpPr/>
          <p:nvPr/>
        </p:nvSpPr>
        <p:spPr>
          <a:xfrm>
            <a:off x="4661297" y="3353209"/>
            <a:ext cx="28575" cy="1452972"/>
          </a:xfrm>
          <a:prstGeom prst="rect">
            <a:avLst/>
          </a:prstGeom>
          <a:solidFill>
            <a:srgbClr val="2E5090"/>
          </a:solidFill>
          <a:ln/>
        </p:spPr>
      </p:sp>
      <p:sp>
        <p:nvSpPr>
          <p:cNvPr id="22" name="Text 19"/>
          <p:cNvSpPr/>
          <p:nvPr/>
        </p:nvSpPr>
        <p:spPr>
          <a:xfrm>
            <a:off x="4839891"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23" name="Text 20"/>
          <p:cNvSpPr/>
          <p:nvPr/>
        </p:nvSpPr>
        <p:spPr>
          <a:xfrm>
            <a:off x="4839891" y="3865350"/>
            <a:ext cx="131286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W/O Augmentation</a:t>
            </a:r>
            <a:endParaRPr lang="en-US" sz="1050" dirty="0"/>
          </a:p>
        </p:txBody>
      </p:sp>
      <p:sp>
        <p:nvSpPr>
          <p:cNvPr id="24" name="Text 21"/>
          <p:cNvSpPr/>
          <p:nvPr/>
        </p:nvSpPr>
        <p:spPr>
          <a:xfrm>
            <a:off x="4839891" y="410831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Training without any augmentation techniques to establish baseline performance and understand the contribution of augmentation strategies. </a:t>
            </a:r>
            <a:endParaRPr lang="en-US" sz="1000" dirty="0"/>
          </a:p>
        </p:txBody>
      </p:sp>
      <p:sp>
        <p:nvSpPr>
          <p:cNvPr id="25" name="Text 22"/>
          <p:cNvSpPr/>
          <p:nvPr/>
        </p:nvSpPr>
        <p:spPr>
          <a:xfrm>
            <a:off x="571500" y="4945484"/>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Evaluation across CNN architectures and Phase 1 results </a:t>
            </a:r>
            <a:endParaRPr lang="en-US" sz="680" dirty="0"/>
          </a:p>
        </p:txBody>
      </p:sp>
      <p:pic>
        <p:nvPicPr>
          <p:cNvPr id="26" name="Picture 25">
            <a:extLst>
              <a:ext uri="{FF2B5EF4-FFF2-40B4-BE49-F238E27FC236}">
                <a16:creationId xmlns:a16="http://schemas.microsoft.com/office/drawing/2014/main" id="{F8D03019-B203-7934-6FDB-BE3F83F7B87C}"/>
              </a:ext>
            </a:extLst>
          </p:cNvPr>
          <p:cNvPicPr>
            <a:picLocks noChangeAspect="1"/>
          </p:cNvPicPr>
          <p:nvPr/>
        </p:nvPicPr>
        <p:blipFill>
          <a:blip r:embed="rId4"/>
          <a:stretch>
            <a:fillRect/>
          </a:stretch>
        </p:blipFill>
        <p:spPr>
          <a:xfrm>
            <a:off x="8061512" y="-59434"/>
            <a:ext cx="1074580" cy="10745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23255"/>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Models &amp; Results</a:t>
            </a:r>
            <a:endParaRPr lang="en-US" sz="2700" dirty="0"/>
          </a:p>
        </p:txBody>
      </p:sp>
      <p:sp>
        <p:nvSpPr>
          <p:cNvPr id="4" name="Text 1"/>
          <p:cNvSpPr/>
          <p:nvPr/>
        </p:nvSpPr>
        <p:spPr>
          <a:xfrm>
            <a:off x="571499" y="1395904"/>
            <a:ext cx="4366132" cy="169277"/>
          </a:xfrm>
          <a:prstGeom prst="rect">
            <a:avLst/>
          </a:prstGeom>
          <a:noFill/>
          <a:ln/>
        </p:spPr>
        <p:txBody>
          <a:bodyPr wrap="none" lIns="0" tIns="0" rIns="0" bIns="0" rtlCol="0" anchor="ctr">
            <a:spAutoFit/>
          </a:bodyPr>
          <a:lstStyle/>
          <a:p>
            <a:pPr marL="0" indent="0">
              <a:buNone/>
            </a:pPr>
            <a:r>
              <a:rPr lang="en-US" sz="1100" b="1" kern="0" spc="1" dirty="0">
                <a:solidFill>
                  <a:srgbClr val="F39C12"/>
                </a:solidFill>
                <a:latin typeface="Noto Sans" pitchFamily="34" charset="0"/>
                <a:ea typeface="Noto Sans" pitchFamily="34" charset="-122"/>
                <a:cs typeface="Noto Sans" pitchFamily="34" charset="-120"/>
              </a:rPr>
              <a:t>CNN Architectures Tested Across All Augmentation Strategies</a:t>
            </a:r>
            <a:endParaRPr lang="en-US" sz="1100" dirty="0"/>
          </a:p>
        </p:txBody>
      </p:sp>
      <p:sp>
        <p:nvSpPr>
          <p:cNvPr id="5" name="Shape 2"/>
          <p:cNvSpPr/>
          <p:nvPr/>
        </p:nvSpPr>
        <p:spPr>
          <a:xfrm>
            <a:off x="571499" y="1709142"/>
            <a:ext cx="1514475" cy="435769"/>
          </a:xfrm>
          <a:prstGeom prst="rect">
            <a:avLst/>
          </a:prstGeom>
          <a:solidFill>
            <a:srgbClr val="F8F9FA"/>
          </a:solidFill>
          <a:ln w="198">
            <a:solidFill>
              <a:srgbClr val="2E5090"/>
            </a:solidFill>
            <a:prstDash val="solid"/>
          </a:ln>
        </p:spPr>
      </p:sp>
      <p:sp>
        <p:nvSpPr>
          <p:cNvPr id="6" name="Text 3"/>
          <p:cNvSpPr/>
          <p:nvPr/>
        </p:nvSpPr>
        <p:spPr>
          <a:xfrm>
            <a:off x="877492" y="1828102"/>
            <a:ext cx="90249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Classic CNNs</a:t>
            </a:r>
            <a:endParaRPr lang="en-US" sz="1100" dirty="0"/>
          </a:p>
        </p:txBody>
      </p:sp>
      <p:sp>
        <p:nvSpPr>
          <p:cNvPr id="7" name="Shape 4"/>
          <p:cNvSpPr/>
          <p:nvPr/>
        </p:nvSpPr>
        <p:spPr>
          <a:xfrm>
            <a:off x="2193130" y="1709142"/>
            <a:ext cx="1514475" cy="435769"/>
          </a:xfrm>
          <a:prstGeom prst="rect">
            <a:avLst/>
          </a:prstGeom>
          <a:solidFill>
            <a:srgbClr val="F8F9FA"/>
          </a:solidFill>
          <a:ln w="198">
            <a:solidFill>
              <a:srgbClr val="2E5090"/>
            </a:solidFill>
            <a:prstDash val="solid"/>
          </a:ln>
        </p:spPr>
      </p:sp>
      <p:sp>
        <p:nvSpPr>
          <p:cNvPr id="8" name="Text 5"/>
          <p:cNvSpPr/>
          <p:nvPr/>
        </p:nvSpPr>
        <p:spPr>
          <a:xfrm>
            <a:off x="2697094" y="1828102"/>
            <a:ext cx="506549"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ResNet</a:t>
            </a:r>
            <a:endParaRPr lang="en-US" sz="1100" dirty="0"/>
          </a:p>
        </p:txBody>
      </p:sp>
      <p:sp>
        <p:nvSpPr>
          <p:cNvPr id="9" name="Shape 6"/>
          <p:cNvSpPr/>
          <p:nvPr/>
        </p:nvSpPr>
        <p:spPr>
          <a:xfrm>
            <a:off x="3814762" y="1709142"/>
            <a:ext cx="1514475" cy="435769"/>
          </a:xfrm>
          <a:prstGeom prst="rect">
            <a:avLst/>
          </a:prstGeom>
          <a:solidFill>
            <a:srgbClr val="F8F9FA"/>
          </a:solidFill>
          <a:ln w="198">
            <a:solidFill>
              <a:srgbClr val="2E5090"/>
            </a:solidFill>
            <a:prstDash val="solid"/>
          </a:ln>
        </p:spPr>
      </p:sp>
      <p:sp>
        <p:nvSpPr>
          <p:cNvPr id="10" name="Text 7"/>
          <p:cNvSpPr/>
          <p:nvPr/>
        </p:nvSpPr>
        <p:spPr>
          <a:xfrm>
            <a:off x="3880305" y="1828102"/>
            <a:ext cx="1383392"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 (B0-B7)</a:t>
            </a:r>
            <a:endParaRPr lang="en-US" sz="1100" dirty="0"/>
          </a:p>
        </p:txBody>
      </p:sp>
      <p:sp>
        <p:nvSpPr>
          <p:cNvPr id="11" name="Shape 8"/>
          <p:cNvSpPr/>
          <p:nvPr/>
        </p:nvSpPr>
        <p:spPr>
          <a:xfrm>
            <a:off x="5436393" y="1709142"/>
            <a:ext cx="1514475" cy="435769"/>
          </a:xfrm>
          <a:prstGeom prst="rect">
            <a:avLst/>
          </a:prstGeom>
          <a:solidFill>
            <a:srgbClr val="F8F9FA"/>
          </a:solidFill>
          <a:ln w="198">
            <a:solidFill>
              <a:srgbClr val="2E5090"/>
            </a:solidFill>
            <a:prstDash val="solid"/>
          </a:ln>
        </p:spPr>
      </p:sp>
      <p:sp>
        <p:nvSpPr>
          <p:cNvPr id="12" name="Text 9"/>
          <p:cNvSpPr/>
          <p:nvPr/>
        </p:nvSpPr>
        <p:spPr>
          <a:xfrm>
            <a:off x="5687884" y="1828102"/>
            <a:ext cx="1011495"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EfficientNetV2</a:t>
            </a:r>
            <a:endParaRPr lang="en-US" sz="1100" dirty="0"/>
          </a:p>
        </p:txBody>
      </p:sp>
      <p:sp>
        <p:nvSpPr>
          <p:cNvPr id="13" name="Shape 10"/>
          <p:cNvSpPr/>
          <p:nvPr/>
        </p:nvSpPr>
        <p:spPr>
          <a:xfrm>
            <a:off x="7058024" y="1709142"/>
            <a:ext cx="1514475" cy="435769"/>
          </a:xfrm>
          <a:prstGeom prst="rect">
            <a:avLst/>
          </a:prstGeom>
          <a:solidFill>
            <a:srgbClr val="F8F9FA"/>
          </a:solidFill>
          <a:ln w="198">
            <a:solidFill>
              <a:srgbClr val="2E5090"/>
            </a:solidFill>
            <a:prstDash val="solid"/>
          </a:ln>
        </p:spPr>
      </p:sp>
      <p:sp>
        <p:nvSpPr>
          <p:cNvPr id="14" name="Text 11"/>
          <p:cNvSpPr/>
          <p:nvPr/>
        </p:nvSpPr>
        <p:spPr>
          <a:xfrm>
            <a:off x="7468212" y="1842389"/>
            <a:ext cx="69410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DenseNet</a:t>
            </a:r>
            <a:endParaRPr lang="en-US" sz="1100" dirty="0"/>
          </a:p>
        </p:txBody>
      </p:sp>
      <p:sp>
        <p:nvSpPr>
          <p:cNvPr id="15" name="Shape 12"/>
          <p:cNvSpPr/>
          <p:nvPr/>
        </p:nvSpPr>
        <p:spPr>
          <a:xfrm>
            <a:off x="561918" y="2374110"/>
            <a:ext cx="8001000" cy="1626870"/>
          </a:xfrm>
          <a:prstGeom prst="rect">
            <a:avLst/>
          </a:prstGeom>
          <a:solidFill>
            <a:srgbClr val="E8F4F8"/>
          </a:solidFill>
          <a:ln/>
        </p:spPr>
      </p:sp>
      <p:sp>
        <p:nvSpPr>
          <p:cNvPr id="16" name="Shape 13"/>
          <p:cNvSpPr/>
          <p:nvPr/>
        </p:nvSpPr>
        <p:spPr>
          <a:xfrm>
            <a:off x="571499" y="2374110"/>
            <a:ext cx="45719" cy="1626870"/>
          </a:xfrm>
          <a:prstGeom prst="rect">
            <a:avLst/>
          </a:prstGeom>
          <a:solidFill>
            <a:srgbClr val="F39C12"/>
          </a:solidFill>
          <a:ln/>
        </p:spPr>
      </p:sp>
      <p:sp>
        <p:nvSpPr>
          <p:cNvPr id="17" name="Text 14"/>
          <p:cNvSpPr/>
          <p:nvPr/>
        </p:nvSpPr>
        <p:spPr>
          <a:xfrm>
            <a:off x="750093" y="2518620"/>
            <a:ext cx="3210815"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Phase 1 Result: Optimal Strategy Selected</a:t>
            </a:r>
            <a:endParaRPr lang="en-US" sz="1200" dirty="0"/>
          </a:p>
        </p:txBody>
      </p:sp>
      <p:sp>
        <p:nvSpPr>
          <p:cNvPr id="18" name="Text 15"/>
          <p:cNvSpPr/>
          <p:nvPr/>
        </p:nvSpPr>
        <p:spPr>
          <a:xfrm>
            <a:off x="727233" y="2727502"/>
            <a:ext cx="7865936" cy="677108"/>
          </a:xfrm>
          <a:prstGeom prst="rect">
            <a:avLst/>
          </a:prstGeom>
          <a:noFill/>
          <a:ln/>
        </p:spPr>
        <p:txBody>
          <a:bodyPr wrap="none" lIns="0" tIns="0" rIns="0" bIns="0" rtlCol="0" anchor="ctr">
            <a:spAutoFit/>
          </a:bodyPr>
          <a:lstStyle/>
          <a:p>
            <a:r>
              <a:rPr lang="en-US" sz="1100" dirty="0">
                <a:solidFill>
                  <a:srgbClr val="34495E"/>
                </a:solidFill>
                <a:latin typeface="Noto Sans" pitchFamily="34" charset="0"/>
                <a:ea typeface="Noto Sans" pitchFamily="34" charset="-122"/>
                <a:cs typeface="Noto Sans" pitchFamily="34" charset="-120"/>
              </a:rPr>
              <a:t>After comprehensive evaluation of all four augmentation strategies across multiple CNN architectures, </a:t>
            </a:r>
            <a:br>
              <a:rPr lang="en-US" sz="1100" dirty="0">
                <a:solidFill>
                  <a:srgbClr val="34495E"/>
                </a:solidFill>
                <a:latin typeface="Noto Sans" pitchFamily="34" charset="0"/>
                <a:ea typeface="Noto Sans" pitchFamily="34" charset="-122"/>
                <a:cs typeface="Noto Sans" pitchFamily="34" charset="-120"/>
              </a:rPr>
            </a:br>
            <a:r>
              <a:rPr lang="en-US" sz="1100" b="1" dirty="0">
                <a:solidFill>
                  <a:srgbClr val="F39C12"/>
                </a:solidFill>
                <a:latin typeface="Noto Sans" pitchFamily="34" charset="0"/>
                <a:ea typeface="Noto Sans" pitchFamily="34" charset="-122"/>
                <a:cs typeface="Noto Sans" pitchFamily="34" charset="-120"/>
              </a:rPr>
              <a:t>Simple Augmentation</a:t>
            </a:r>
            <a:r>
              <a:rPr lang="en-US" sz="1100" dirty="0">
                <a:solidFill>
                  <a:srgbClr val="34495E"/>
                </a:solidFill>
                <a:latin typeface="Noto Sans" pitchFamily="34" charset="0"/>
                <a:ea typeface="Noto Sans" pitchFamily="34" charset="-122"/>
                <a:cs typeface="Noto Sans" pitchFamily="34" charset="-120"/>
              </a:rPr>
              <a:t>  was identified as the optimal strategy for the fungi dataset. This strategy provides an effective </a:t>
            </a:r>
            <a:br>
              <a:rPr lang="en-US" sz="1100" dirty="0">
                <a:solidFill>
                  <a:srgbClr val="34495E"/>
                </a:solidFill>
                <a:latin typeface="Noto Sans" pitchFamily="34" charset="0"/>
                <a:ea typeface="Noto Sans" pitchFamily="34" charset="-122"/>
                <a:cs typeface="Noto Sans" pitchFamily="34" charset="-120"/>
              </a:rPr>
            </a:br>
            <a:r>
              <a:rPr lang="en-US" sz="1100" dirty="0">
                <a:solidFill>
                  <a:srgbClr val="34495E"/>
                </a:solidFill>
                <a:latin typeface="Noto Sans" pitchFamily="34" charset="0"/>
                <a:ea typeface="Noto Sans" pitchFamily="34" charset="-122"/>
                <a:cs typeface="Noto Sans" pitchFamily="34" charset="-120"/>
              </a:rPr>
              <a:t>balance between data variability and computational efficiency, achieving superior performance across all tested CNN</a:t>
            </a:r>
          </a:p>
          <a:p>
            <a:r>
              <a:rPr lang="en-US" sz="1100" dirty="0">
                <a:solidFill>
                  <a:srgbClr val="34495E"/>
                </a:solidFill>
                <a:latin typeface="Noto Sans" pitchFamily="34" charset="0"/>
                <a:ea typeface="Noto Sans" pitchFamily="34" charset="-122"/>
                <a:cs typeface="Noto Sans" pitchFamily="34" charset="-120"/>
              </a:rPr>
              <a:t> architectures while maintaining practical training times. </a:t>
            </a:r>
            <a:endParaRPr lang="en-US" sz="1100" dirty="0"/>
          </a:p>
        </p:txBody>
      </p:sp>
      <p:sp>
        <p:nvSpPr>
          <p:cNvPr id="22" name="Text 19"/>
          <p:cNvSpPr/>
          <p:nvPr/>
        </p:nvSpPr>
        <p:spPr>
          <a:xfrm>
            <a:off x="750093" y="3209781"/>
            <a:ext cx="65" cy="153888"/>
          </a:xfrm>
          <a:prstGeom prst="rect">
            <a:avLst/>
          </a:prstGeom>
          <a:noFill/>
          <a:ln/>
        </p:spPr>
        <p:txBody>
          <a:bodyPr wrap="none" lIns="0" tIns="0" rIns="0" bIns="0" rtlCol="0" anchor="ctr">
            <a:spAutoFit/>
          </a:bodyPr>
          <a:lstStyle/>
          <a:p>
            <a:pPr marL="0" indent="0">
              <a:buNone/>
            </a:pPr>
            <a:endParaRPr lang="en-US" sz="1000" dirty="0"/>
          </a:p>
        </p:txBody>
      </p:sp>
      <p:sp>
        <p:nvSpPr>
          <p:cNvPr id="23" name="Shape 20"/>
          <p:cNvSpPr/>
          <p:nvPr/>
        </p:nvSpPr>
        <p:spPr>
          <a:xfrm>
            <a:off x="3433762" y="3505395"/>
            <a:ext cx="2357438" cy="362917"/>
          </a:xfrm>
          <a:prstGeom prst="rect">
            <a:avLst/>
          </a:prstGeom>
          <a:solidFill>
            <a:srgbClr val="F39C12"/>
          </a:solidFill>
          <a:ln/>
        </p:spPr>
      </p:sp>
      <p:sp>
        <p:nvSpPr>
          <p:cNvPr id="24" name="Text 21"/>
          <p:cNvSpPr/>
          <p:nvPr/>
        </p:nvSpPr>
        <p:spPr>
          <a:xfrm>
            <a:off x="3419474" y="3546347"/>
            <a:ext cx="2371726" cy="256993"/>
          </a:xfrm>
          <a:prstGeom prst="rect">
            <a:avLst/>
          </a:prstGeom>
          <a:noFill/>
          <a:ln/>
        </p:spPr>
        <p:txBody>
          <a:bodyPr wrap="square" lIns="119126" tIns="51054" rIns="119126" bIns="51054"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Simple Augmentation Selected</a:t>
            </a:r>
            <a:endParaRPr lang="en-US" sz="1000" dirty="0"/>
          </a:p>
        </p:txBody>
      </p:sp>
      <p:pic>
        <p:nvPicPr>
          <p:cNvPr id="19" name="Picture 18">
            <a:extLst>
              <a:ext uri="{FF2B5EF4-FFF2-40B4-BE49-F238E27FC236}">
                <a16:creationId xmlns:a16="http://schemas.microsoft.com/office/drawing/2014/main" id="{9C1730B1-7C39-3A06-AB7A-364EBDF90893}"/>
              </a:ext>
            </a:extLst>
          </p:cNvPr>
          <p:cNvPicPr>
            <a:picLocks noChangeAspect="1"/>
          </p:cNvPicPr>
          <p:nvPr/>
        </p:nvPicPr>
        <p:blipFill>
          <a:blip r:embed="rId4"/>
          <a:stretch>
            <a:fillRect/>
          </a:stretch>
        </p:blipFill>
        <p:spPr>
          <a:xfrm>
            <a:off x="7994233" y="-59435"/>
            <a:ext cx="1141859" cy="1141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5044"/>
          </a:xfrm>
          <a:prstGeom prst="rect">
            <a:avLst/>
          </a:prstGeom>
        </p:spPr>
      </p:pic>
      <p:sp>
        <p:nvSpPr>
          <p:cNvPr id="3" name="Text 0"/>
          <p:cNvSpPr/>
          <p:nvPr/>
        </p:nvSpPr>
        <p:spPr>
          <a:xfrm>
            <a:off x="585787" y="19980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2: New Model Experimentation</a:t>
            </a:r>
            <a:endParaRPr lang="en-US" sz="2700" dirty="0"/>
          </a:p>
        </p:txBody>
      </p:sp>
      <p:sp>
        <p:nvSpPr>
          <p:cNvPr id="4" name="Shape 1"/>
          <p:cNvSpPr/>
          <p:nvPr/>
        </p:nvSpPr>
        <p:spPr>
          <a:xfrm>
            <a:off x="571500" y="906780"/>
            <a:ext cx="8001000" cy="835819"/>
          </a:xfrm>
          <a:prstGeom prst="rect">
            <a:avLst/>
          </a:prstGeom>
          <a:solidFill>
            <a:srgbClr val="F0F7FC"/>
          </a:solidFill>
          <a:ln/>
        </p:spPr>
      </p:sp>
      <p:sp>
        <p:nvSpPr>
          <p:cNvPr id="5" name="Shape 2"/>
          <p:cNvSpPr/>
          <p:nvPr/>
        </p:nvSpPr>
        <p:spPr>
          <a:xfrm>
            <a:off x="571500" y="906780"/>
            <a:ext cx="28575" cy="835819"/>
          </a:xfrm>
          <a:prstGeom prst="rect">
            <a:avLst/>
          </a:prstGeom>
          <a:solidFill>
            <a:srgbClr val="2E5090"/>
          </a:solidFill>
          <a:ln/>
        </p:spPr>
      </p:sp>
      <p:sp>
        <p:nvSpPr>
          <p:cNvPr id="6" name="Text 3"/>
          <p:cNvSpPr/>
          <p:nvPr/>
        </p:nvSpPr>
        <p:spPr>
          <a:xfrm>
            <a:off x="714375" y="1032333"/>
            <a:ext cx="1020921"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Methodology</a:t>
            </a:r>
            <a:endParaRPr lang="en-US" sz="1200" dirty="0"/>
          </a:p>
        </p:txBody>
      </p:sp>
      <p:sp>
        <p:nvSpPr>
          <p:cNvPr id="7" name="Text 4"/>
          <p:cNvSpPr/>
          <p:nvPr/>
        </p:nvSpPr>
        <p:spPr>
          <a:xfrm>
            <a:off x="714376" y="1250782"/>
            <a:ext cx="7729538"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All new models were trained using the </a:t>
            </a:r>
            <a:r>
              <a:rPr lang="en-US" sz="1050" b="1" dirty="0">
                <a:solidFill>
                  <a:srgbClr val="F39C12"/>
                </a:solidFill>
                <a:latin typeface="Noto Sans" pitchFamily="34" charset="0"/>
                <a:ea typeface="Noto Sans" pitchFamily="34" charset="-122"/>
                <a:cs typeface="Noto Sans" pitchFamily="34" charset="-120"/>
              </a:rPr>
              <a:t>Simple Augmentation strategy </a:t>
            </a:r>
            <a:r>
              <a:rPr lang="en-US" sz="1050" dirty="0">
                <a:solidFill>
                  <a:srgbClr val="34495E"/>
                </a:solidFill>
                <a:latin typeface="Noto Sans" pitchFamily="34" charset="0"/>
                <a:ea typeface="Noto Sans" pitchFamily="34" charset="-122"/>
                <a:cs typeface="Noto Sans" pitchFamily="34" charset="-120"/>
              </a:rPr>
              <a:t>selected from Phase 1. This ensures consistent </a:t>
            </a:r>
          </a:p>
          <a:p>
            <a:r>
              <a:rPr lang="en-US" sz="1050" dirty="0">
                <a:solidFill>
                  <a:srgbClr val="34495E"/>
                </a:solidFill>
                <a:latin typeface="Noto Sans" pitchFamily="34" charset="0"/>
                <a:ea typeface="Noto Sans" pitchFamily="34" charset="-122"/>
                <a:cs typeface="Noto Sans" pitchFamily="34" charset="-120"/>
              </a:rPr>
              <a:t>evaluation cross advanced architectures while maintaining the optimal augmentation approach identified in the previous phase. </a:t>
            </a:r>
            <a:endParaRPr lang="en-US" sz="1050" dirty="0"/>
          </a:p>
        </p:txBody>
      </p:sp>
      <p:sp>
        <p:nvSpPr>
          <p:cNvPr id="8" name="Text 5"/>
          <p:cNvSpPr/>
          <p:nvPr/>
        </p:nvSpPr>
        <p:spPr>
          <a:xfrm>
            <a:off x="2613173" y="1269452"/>
            <a:ext cx="65" cy="130805"/>
          </a:xfrm>
          <a:prstGeom prst="rect">
            <a:avLst/>
          </a:prstGeom>
          <a:noFill/>
          <a:ln/>
        </p:spPr>
        <p:txBody>
          <a:bodyPr wrap="none" lIns="0" tIns="0" rIns="0" bIns="0" rtlCol="0" anchor="ctr">
            <a:spAutoFit/>
          </a:bodyPr>
          <a:lstStyle/>
          <a:p>
            <a:pPr marL="0" indent="0">
              <a:buNone/>
            </a:pPr>
            <a:endParaRPr lang="en-US" sz="850" dirty="0"/>
          </a:p>
        </p:txBody>
      </p:sp>
      <p:sp>
        <p:nvSpPr>
          <p:cNvPr id="10" name="Text 7"/>
          <p:cNvSpPr/>
          <p:nvPr/>
        </p:nvSpPr>
        <p:spPr>
          <a:xfrm>
            <a:off x="714375" y="1444749"/>
            <a:ext cx="65" cy="138499"/>
          </a:xfrm>
          <a:prstGeom prst="rect">
            <a:avLst/>
          </a:prstGeom>
          <a:noFill/>
          <a:ln/>
        </p:spPr>
        <p:txBody>
          <a:bodyPr wrap="none" lIns="0" tIns="0" rIns="0" bIns="0" rtlCol="0" anchor="ctr">
            <a:spAutoFit/>
          </a:bodyPr>
          <a:lstStyle/>
          <a:p>
            <a:pPr marL="0" indent="0">
              <a:buNone/>
            </a:pPr>
            <a:endParaRPr lang="en-US" sz="900" dirty="0"/>
          </a:p>
        </p:txBody>
      </p:sp>
      <p:sp>
        <p:nvSpPr>
          <p:cNvPr id="11" name="Text 8"/>
          <p:cNvSpPr/>
          <p:nvPr/>
        </p:nvSpPr>
        <p:spPr>
          <a:xfrm>
            <a:off x="571500" y="2093179"/>
            <a:ext cx="2398605"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Advanced Architectures Tested</a:t>
            </a:r>
            <a:endParaRPr lang="en-US" sz="1200" dirty="0"/>
          </a:p>
        </p:txBody>
      </p:sp>
      <p:sp>
        <p:nvSpPr>
          <p:cNvPr id="12" name="Shape 9"/>
          <p:cNvSpPr/>
          <p:nvPr/>
        </p:nvSpPr>
        <p:spPr>
          <a:xfrm>
            <a:off x="571500" y="2414111"/>
            <a:ext cx="1919883" cy="946547"/>
          </a:xfrm>
          <a:prstGeom prst="rect">
            <a:avLst/>
          </a:prstGeom>
          <a:solidFill>
            <a:srgbClr val="F8F9FA"/>
          </a:solidFill>
          <a:ln w="198">
            <a:solidFill>
              <a:srgbClr val="2E5090"/>
            </a:solidFill>
            <a:prstDash val="solid"/>
          </a:ln>
        </p:spPr>
      </p:sp>
      <p:sp>
        <p:nvSpPr>
          <p:cNvPr id="13" name="Text 10"/>
          <p:cNvSpPr/>
          <p:nvPr/>
        </p:nvSpPr>
        <p:spPr>
          <a:xfrm>
            <a:off x="1201223" y="2486673"/>
            <a:ext cx="660437"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ConvNext</a:t>
            </a:r>
            <a:endParaRPr lang="en-US" sz="1050" dirty="0"/>
          </a:p>
        </p:txBody>
      </p:sp>
      <p:sp>
        <p:nvSpPr>
          <p:cNvPr id="14" name="Text 11"/>
          <p:cNvSpPr/>
          <p:nvPr/>
        </p:nvSpPr>
        <p:spPr>
          <a:xfrm>
            <a:off x="700088"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Modern CNN architecture with improved efficiency and accuracy compared to traditional ResNets.</a:t>
            </a:r>
            <a:endParaRPr lang="en-US" sz="1050" dirty="0"/>
          </a:p>
        </p:txBody>
      </p:sp>
      <p:sp>
        <p:nvSpPr>
          <p:cNvPr id="15" name="Shape 12"/>
          <p:cNvSpPr/>
          <p:nvPr/>
        </p:nvSpPr>
        <p:spPr>
          <a:xfrm>
            <a:off x="2598539" y="2414111"/>
            <a:ext cx="1919883" cy="946547"/>
          </a:xfrm>
          <a:prstGeom prst="rect">
            <a:avLst/>
          </a:prstGeom>
          <a:solidFill>
            <a:srgbClr val="F8F9FA"/>
          </a:solidFill>
          <a:ln w="198">
            <a:solidFill>
              <a:srgbClr val="2E5090"/>
            </a:solidFill>
            <a:prstDash val="solid"/>
          </a:ln>
        </p:spPr>
      </p:sp>
      <p:sp>
        <p:nvSpPr>
          <p:cNvPr id="16" name="Text 13"/>
          <p:cNvSpPr/>
          <p:nvPr/>
        </p:nvSpPr>
        <p:spPr>
          <a:xfrm>
            <a:off x="3398982" y="2486673"/>
            <a:ext cx="318998"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a:t>
            </a:r>
            <a:endParaRPr lang="en-US" sz="1050" dirty="0"/>
          </a:p>
        </p:txBody>
      </p:sp>
      <p:sp>
        <p:nvSpPr>
          <p:cNvPr id="17" name="Text 14"/>
          <p:cNvSpPr/>
          <p:nvPr/>
        </p:nvSpPr>
        <p:spPr>
          <a:xfrm>
            <a:off x="2727127"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Shifted Window Transformer architecture introducing hierarchical vision transformers.</a:t>
            </a:r>
            <a:endParaRPr lang="en-US" sz="1050" dirty="0"/>
          </a:p>
        </p:txBody>
      </p:sp>
      <p:sp>
        <p:nvSpPr>
          <p:cNvPr id="18" name="Shape 15"/>
          <p:cNvSpPr/>
          <p:nvPr/>
        </p:nvSpPr>
        <p:spPr>
          <a:xfrm>
            <a:off x="4625578" y="2414111"/>
            <a:ext cx="1919883" cy="946547"/>
          </a:xfrm>
          <a:prstGeom prst="rect">
            <a:avLst/>
          </a:prstGeom>
          <a:solidFill>
            <a:srgbClr val="F8F9FA"/>
          </a:solidFill>
          <a:ln w="198">
            <a:solidFill>
              <a:srgbClr val="2E5090"/>
            </a:solidFill>
            <a:prstDash val="solid"/>
          </a:ln>
        </p:spPr>
      </p:sp>
      <p:sp>
        <p:nvSpPr>
          <p:cNvPr id="19" name="Text 16"/>
          <p:cNvSpPr/>
          <p:nvPr/>
        </p:nvSpPr>
        <p:spPr>
          <a:xfrm>
            <a:off x="5345070" y="2486673"/>
            <a:ext cx="480901"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SwinV2</a:t>
            </a:r>
            <a:endParaRPr lang="en-US" sz="1050" dirty="0"/>
          </a:p>
        </p:txBody>
      </p:sp>
      <p:sp>
        <p:nvSpPr>
          <p:cNvPr id="20" name="Text 17"/>
          <p:cNvSpPr/>
          <p:nvPr/>
        </p:nvSpPr>
        <p:spPr>
          <a:xfrm>
            <a:off x="4754166"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Improved version of Swin with enhanced training stability and performance.</a:t>
            </a:r>
            <a:endParaRPr lang="en-US" sz="1050" dirty="0"/>
          </a:p>
        </p:txBody>
      </p:sp>
      <p:sp>
        <p:nvSpPr>
          <p:cNvPr id="21" name="Shape 18"/>
          <p:cNvSpPr/>
          <p:nvPr/>
        </p:nvSpPr>
        <p:spPr>
          <a:xfrm>
            <a:off x="6652617" y="2414111"/>
            <a:ext cx="1919883" cy="946547"/>
          </a:xfrm>
          <a:prstGeom prst="rect">
            <a:avLst/>
          </a:prstGeom>
          <a:solidFill>
            <a:srgbClr val="F8F9FA"/>
          </a:solidFill>
          <a:ln w="198">
            <a:solidFill>
              <a:srgbClr val="2E5090"/>
            </a:solidFill>
            <a:prstDash val="solid"/>
          </a:ln>
        </p:spPr>
      </p:sp>
      <p:sp>
        <p:nvSpPr>
          <p:cNvPr id="22" name="Text 19"/>
          <p:cNvSpPr/>
          <p:nvPr/>
        </p:nvSpPr>
        <p:spPr>
          <a:xfrm>
            <a:off x="7176541" y="2486673"/>
            <a:ext cx="872035"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EVA-02 Large</a:t>
            </a:r>
            <a:endParaRPr lang="en-US" sz="1050" dirty="0"/>
          </a:p>
        </p:txBody>
      </p:sp>
      <p:sp>
        <p:nvSpPr>
          <p:cNvPr id="23" name="Text 20"/>
          <p:cNvSpPr/>
          <p:nvPr/>
        </p:nvSpPr>
        <p:spPr>
          <a:xfrm>
            <a:off x="6781205"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Large-scale vision model with advanced feature extraction capabilities.</a:t>
            </a:r>
            <a:endParaRPr lang="en-US" sz="1050" dirty="0"/>
          </a:p>
        </p:txBody>
      </p:sp>
      <p:sp>
        <p:nvSpPr>
          <p:cNvPr id="24" name="Shape 21"/>
          <p:cNvSpPr/>
          <p:nvPr/>
        </p:nvSpPr>
        <p:spPr>
          <a:xfrm>
            <a:off x="571500" y="3689271"/>
            <a:ext cx="8001000" cy="1425178"/>
          </a:xfrm>
          <a:prstGeom prst="rect">
            <a:avLst/>
          </a:prstGeom>
          <a:solidFill>
            <a:srgbClr val="E8F8F4"/>
          </a:solidFill>
          <a:ln/>
        </p:spPr>
      </p:sp>
      <p:sp>
        <p:nvSpPr>
          <p:cNvPr id="25" name="Shape 22"/>
          <p:cNvSpPr/>
          <p:nvPr/>
        </p:nvSpPr>
        <p:spPr>
          <a:xfrm>
            <a:off x="571500" y="3689271"/>
            <a:ext cx="35719" cy="1425178"/>
          </a:xfrm>
          <a:prstGeom prst="rect">
            <a:avLst/>
          </a:prstGeom>
          <a:solidFill>
            <a:srgbClr val="F39C12"/>
          </a:solidFill>
          <a:ln/>
        </p:spPr>
      </p:sp>
      <p:sp>
        <p:nvSpPr>
          <p:cNvPr id="26" name="Text 23"/>
          <p:cNvSpPr/>
          <p:nvPr/>
        </p:nvSpPr>
        <p:spPr>
          <a:xfrm>
            <a:off x="750094" y="3883513"/>
            <a:ext cx="250068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Phase 2 Result: SwinV2-Base Selected</a:t>
            </a:r>
            <a:endParaRPr lang="en-US" sz="1050" dirty="0"/>
          </a:p>
        </p:txBody>
      </p:sp>
      <p:sp>
        <p:nvSpPr>
          <p:cNvPr id="27" name="Text 24"/>
          <p:cNvSpPr/>
          <p:nvPr/>
        </p:nvSpPr>
        <p:spPr>
          <a:xfrm>
            <a:off x="767200" y="4106838"/>
            <a:ext cx="7822406" cy="507831"/>
          </a:xfrm>
          <a:prstGeom prst="rect">
            <a:avLst/>
          </a:prstGeom>
          <a:noFill/>
          <a:ln/>
        </p:spPr>
        <p:txBody>
          <a:bodyPr wrap="square" lIns="0" tIns="0" rIns="0" bIns="0" rtlCol="0" anchor="ctr">
            <a:spAutoFit/>
          </a:bodyPr>
          <a:lstStyle/>
          <a:p>
            <a:r>
              <a:rPr lang="en-US" sz="1100" b="1" dirty="0">
                <a:solidFill>
                  <a:srgbClr val="F39C12"/>
                </a:solidFill>
                <a:latin typeface="Noto Sans" pitchFamily="34" charset="0"/>
                <a:ea typeface="Noto Sans" pitchFamily="34" charset="-122"/>
                <a:cs typeface="Noto Sans" pitchFamily="34" charset="-120"/>
              </a:rPr>
              <a:t>SwinV2-Base </a:t>
            </a:r>
            <a:r>
              <a:rPr lang="en-US" sz="1100" dirty="0">
                <a:solidFill>
                  <a:srgbClr val="34495E"/>
                </a:solidFill>
                <a:latin typeface="Noto Sans" pitchFamily="34" charset="0"/>
                <a:ea typeface="Noto Sans" pitchFamily="34" charset="-122"/>
                <a:cs typeface="Noto Sans" pitchFamily="34" charset="-120"/>
              </a:rPr>
              <a:t>was identified as the best-performing model among all tested advanced architectures. Its superior performance in capturing both local and global features from microscopic fungi images, combined with computational efficiency, made it the optimal choice for further optimization through 5-fold cross validation in Phase 3 &amp; 4. </a:t>
            </a:r>
            <a:endParaRPr lang="en-US" sz="1100" dirty="0"/>
          </a:p>
        </p:txBody>
      </p:sp>
      <p:sp>
        <p:nvSpPr>
          <p:cNvPr id="28" name="Text 25"/>
          <p:cNvSpPr/>
          <p:nvPr/>
        </p:nvSpPr>
        <p:spPr>
          <a:xfrm>
            <a:off x="1477857" y="4170066"/>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29" name="Text 26"/>
          <p:cNvSpPr/>
          <p:nvPr/>
        </p:nvSpPr>
        <p:spPr>
          <a:xfrm>
            <a:off x="750094" y="4358164"/>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0" name="Text 27"/>
          <p:cNvSpPr/>
          <p:nvPr/>
        </p:nvSpPr>
        <p:spPr>
          <a:xfrm>
            <a:off x="750094" y="4540329"/>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1" name="Shape 28"/>
          <p:cNvSpPr/>
          <p:nvPr/>
        </p:nvSpPr>
        <p:spPr>
          <a:xfrm>
            <a:off x="3414046" y="4682218"/>
            <a:ext cx="2066258" cy="364331"/>
          </a:xfrm>
          <a:prstGeom prst="rect">
            <a:avLst/>
          </a:prstGeom>
          <a:solidFill>
            <a:srgbClr val="F39C12"/>
          </a:solidFill>
          <a:ln/>
        </p:spPr>
      </p:sp>
      <p:sp>
        <p:nvSpPr>
          <p:cNvPr id="32" name="Text 29"/>
          <p:cNvSpPr/>
          <p:nvPr/>
        </p:nvSpPr>
        <p:spPr>
          <a:xfrm>
            <a:off x="3428149" y="4750117"/>
            <a:ext cx="2066258" cy="222625"/>
          </a:xfrm>
          <a:prstGeom prst="rect">
            <a:avLst/>
          </a:prstGeom>
          <a:noFill/>
          <a:ln/>
        </p:spPr>
        <p:txBody>
          <a:bodyPr wrap="square" lIns="102108" tIns="34036" rIns="102108" bIns="34036"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Best Performer Selected</a:t>
            </a:r>
            <a:endParaRPr lang="en-US" sz="1000" dirty="0"/>
          </a:p>
        </p:txBody>
      </p:sp>
      <p:pic>
        <p:nvPicPr>
          <p:cNvPr id="9" name="Picture 8">
            <a:extLst>
              <a:ext uri="{FF2B5EF4-FFF2-40B4-BE49-F238E27FC236}">
                <a16:creationId xmlns:a16="http://schemas.microsoft.com/office/drawing/2014/main" id="{FFFF391D-784B-8644-D7F0-E48959ED55C9}"/>
              </a:ext>
            </a:extLst>
          </p:cNvPr>
          <p:cNvPicPr>
            <a:picLocks noChangeAspect="1"/>
          </p:cNvPicPr>
          <p:nvPr/>
        </p:nvPicPr>
        <p:blipFill>
          <a:blip r:embed="rId4"/>
          <a:stretch>
            <a:fillRect/>
          </a:stretch>
        </p:blipFill>
        <p:spPr>
          <a:xfrm>
            <a:off x="8222876" y="-37238"/>
            <a:ext cx="1049140" cy="10491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566990"/>
          </a:xfrm>
          <a:prstGeom prst="rect">
            <a:avLst/>
          </a:prstGeom>
        </p:spPr>
      </p:pic>
      <p:sp>
        <p:nvSpPr>
          <p:cNvPr id="3" name="Text 0"/>
          <p:cNvSpPr/>
          <p:nvPr/>
        </p:nvSpPr>
        <p:spPr>
          <a:xfrm>
            <a:off x="571500" y="357188"/>
            <a:ext cx="8001000" cy="1164431"/>
          </a:xfrm>
          <a:prstGeom prst="rect">
            <a:avLst/>
          </a:prstGeom>
          <a:noFill/>
          <a:ln/>
        </p:spPr>
        <p:txBody>
          <a:bodyPr wrap="square" lIns="0" tIns="0" rIns="0" bIns="127508"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3: SwinV2-B Training with 5-Fold Cross Validation</a:t>
            </a:r>
            <a:endParaRPr lang="en-US" sz="2700" dirty="0"/>
          </a:p>
        </p:txBody>
      </p:sp>
      <p:sp>
        <p:nvSpPr>
          <p:cNvPr id="4" name="Shape 1"/>
          <p:cNvSpPr/>
          <p:nvPr/>
        </p:nvSpPr>
        <p:spPr>
          <a:xfrm>
            <a:off x="571500" y="1707356"/>
            <a:ext cx="8001000" cy="1885838"/>
          </a:xfrm>
          <a:prstGeom prst="rect">
            <a:avLst/>
          </a:prstGeom>
          <a:solidFill>
            <a:srgbClr val="F8F9FA"/>
          </a:solidFill>
          <a:ln/>
        </p:spPr>
      </p:sp>
      <p:sp>
        <p:nvSpPr>
          <p:cNvPr id="5" name="Shape 2"/>
          <p:cNvSpPr/>
          <p:nvPr/>
        </p:nvSpPr>
        <p:spPr>
          <a:xfrm>
            <a:off x="571500" y="1707356"/>
            <a:ext cx="28575" cy="1885838"/>
          </a:xfrm>
          <a:prstGeom prst="rect">
            <a:avLst/>
          </a:prstGeom>
          <a:solidFill>
            <a:srgbClr val="2E5090"/>
          </a:solidFill>
          <a:ln/>
        </p:spPr>
      </p:sp>
      <p:sp>
        <p:nvSpPr>
          <p:cNvPr id="6" name="Shape 3"/>
          <p:cNvSpPr/>
          <p:nvPr/>
        </p:nvSpPr>
        <p:spPr>
          <a:xfrm>
            <a:off x="714375" y="1850231"/>
            <a:ext cx="285750" cy="285750"/>
          </a:xfrm>
          <a:prstGeom prst="rect">
            <a:avLst/>
          </a:prstGeom>
          <a:solidFill>
            <a:srgbClr val="F39C12"/>
          </a:solidFill>
          <a:ln/>
        </p:spPr>
      </p:sp>
      <p:sp>
        <p:nvSpPr>
          <p:cNvPr id="7" name="Text 4"/>
          <p:cNvSpPr/>
          <p:nvPr/>
        </p:nvSpPr>
        <p:spPr>
          <a:xfrm>
            <a:off x="714375" y="1850231"/>
            <a:ext cx="285750" cy="285750"/>
          </a:xfrm>
          <a:prstGeom prst="rect">
            <a:avLst/>
          </a:prstGeom>
          <a:noFill/>
          <a:ln/>
        </p:spPr>
        <p:txBody>
          <a:bodyPr wrap="none" lIns="0" tIns="0" rIns="0" bIns="0" rtlCol="0" anchor="ctr">
            <a:spAutoFit/>
          </a:bodyPr>
          <a:lstStyle/>
          <a:p>
            <a:pPr marL="0" indent="0" algn="ctr">
              <a:buNone/>
            </a:pPr>
            <a:r>
              <a:rPr lang="en-US" sz="942" b="1" dirty="0">
                <a:solidFill>
                  <a:srgbClr val="FFFFFF"/>
                </a:solidFill>
                <a:latin typeface="Noto Sans" pitchFamily="34" charset="0"/>
                <a:ea typeface="Noto Sans" pitchFamily="34" charset="-122"/>
                <a:cs typeface="Noto Sans" pitchFamily="34" charset="-120"/>
              </a:rPr>
              <a:t>3</a:t>
            </a:r>
            <a:endParaRPr lang="en-US" sz="942" dirty="0"/>
          </a:p>
        </p:txBody>
      </p:sp>
      <p:sp>
        <p:nvSpPr>
          <p:cNvPr id="8" name="Text 5"/>
          <p:cNvSpPr/>
          <p:nvPr/>
        </p:nvSpPr>
        <p:spPr>
          <a:xfrm>
            <a:off x="1085850" y="1885950"/>
            <a:ext cx="1761939" cy="214313"/>
          </a:xfrm>
          <a:prstGeom prst="rect">
            <a:avLst/>
          </a:prstGeom>
          <a:noFill/>
          <a:ln/>
        </p:spPr>
        <p:txBody>
          <a:bodyPr wrap="none" lIns="0" tIns="0" rIns="0" bIns="0" rtlCol="0" anchor="ctr">
            <a:spAutoFit/>
          </a:bodyPr>
          <a:lstStyle/>
          <a:p>
            <a:pPr marL="0" indent="0">
              <a:buNone/>
            </a:pPr>
            <a:r>
              <a:rPr lang="en-US" sz="1046" b="1" dirty="0">
                <a:solidFill>
                  <a:srgbClr val="1A3A52"/>
                </a:solidFill>
                <a:latin typeface="Noto Sans" pitchFamily="34" charset="0"/>
                <a:ea typeface="Noto Sans" pitchFamily="34" charset="-122"/>
                <a:cs typeface="Noto Sans" pitchFamily="34" charset="-120"/>
              </a:rPr>
              <a:t> Training Phase Overview </a:t>
            </a:r>
            <a:endParaRPr lang="en-US" sz="1046" dirty="0"/>
          </a:p>
        </p:txBody>
      </p:sp>
      <p:sp>
        <p:nvSpPr>
          <p:cNvPr id="9" name="Text 6"/>
          <p:cNvSpPr/>
          <p:nvPr/>
        </p:nvSpPr>
        <p:spPr>
          <a:xfrm>
            <a:off x="714375" y="2258889"/>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0" name="Text 7"/>
          <p:cNvSpPr/>
          <p:nvPr/>
        </p:nvSpPr>
        <p:spPr>
          <a:xfrm>
            <a:off x="942975" y="2257828"/>
            <a:ext cx="91531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Model Selected:</a:t>
            </a:r>
            <a:endParaRPr lang="en-US" sz="900" dirty="0"/>
          </a:p>
        </p:txBody>
      </p:sp>
      <p:sp>
        <p:nvSpPr>
          <p:cNvPr id="11" name="Text 8"/>
          <p:cNvSpPr/>
          <p:nvPr/>
        </p:nvSpPr>
        <p:spPr>
          <a:xfrm>
            <a:off x="1923127" y="2257828"/>
            <a:ext cx="1518044"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SwinV2-Base (from Phase 2)</a:t>
            </a:r>
            <a:endParaRPr lang="en-US" sz="900" dirty="0"/>
          </a:p>
        </p:txBody>
      </p:sp>
      <p:sp>
        <p:nvSpPr>
          <p:cNvPr id="12" name="Text 9"/>
          <p:cNvSpPr/>
          <p:nvPr/>
        </p:nvSpPr>
        <p:spPr>
          <a:xfrm>
            <a:off x="714375" y="2500325"/>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3" name="Text 10"/>
          <p:cNvSpPr/>
          <p:nvPr/>
        </p:nvSpPr>
        <p:spPr>
          <a:xfrm>
            <a:off x="942975" y="2499264"/>
            <a:ext cx="530594"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Strategy:</a:t>
            </a:r>
            <a:endParaRPr lang="en-US" sz="900" dirty="0"/>
          </a:p>
        </p:txBody>
      </p:sp>
      <p:sp>
        <p:nvSpPr>
          <p:cNvPr id="14" name="Text 11"/>
          <p:cNvSpPr/>
          <p:nvPr/>
        </p:nvSpPr>
        <p:spPr>
          <a:xfrm>
            <a:off x="1591975" y="2499264"/>
            <a:ext cx="1237518"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5-Fold Cross Validation</a:t>
            </a:r>
            <a:endParaRPr lang="en-US" sz="900" dirty="0"/>
          </a:p>
        </p:txBody>
      </p:sp>
      <p:sp>
        <p:nvSpPr>
          <p:cNvPr id="15" name="Text 12"/>
          <p:cNvSpPr/>
          <p:nvPr/>
        </p:nvSpPr>
        <p:spPr>
          <a:xfrm>
            <a:off x="714375" y="2741761"/>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6" name="Text 13"/>
          <p:cNvSpPr/>
          <p:nvPr/>
        </p:nvSpPr>
        <p:spPr>
          <a:xfrm>
            <a:off x="942975" y="2740701"/>
            <a:ext cx="47769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Process:</a:t>
            </a:r>
            <a:endParaRPr lang="en-US" sz="900" dirty="0"/>
          </a:p>
        </p:txBody>
      </p:sp>
      <p:sp>
        <p:nvSpPr>
          <p:cNvPr id="17" name="Text 14"/>
          <p:cNvSpPr/>
          <p:nvPr/>
        </p:nvSpPr>
        <p:spPr>
          <a:xfrm>
            <a:off x="1544955" y="2740701"/>
            <a:ext cx="372858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Dataset divided into 5 folds, model trained on each fold combination</a:t>
            </a:r>
            <a:endParaRPr lang="en-US" sz="900" dirty="0"/>
          </a:p>
        </p:txBody>
      </p:sp>
      <p:sp>
        <p:nvSpPr>
          <p:cNvPr id="18" name="Text 15"/>
          <p:cNvSpPr/>
          <p:nvPr/>
        </p:nvSpPr>
        <p:spPr>
          <a:xfrm>
            <a:off x="714375" y="2983198"/>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9" name="Text 16"/>
          <p:cNvSpPr/>
          <p:nvPr/>
        </p:nvSpPr>
        <p:spPr>
          <a:xfrm>
            <a:off x="942975" y="2982137"/>
            <a:ext cx="58509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Objective:</a:t>
            </a:r>
            <a:endParaRPr lang="en-US" sz="900" dirty="0"/>
          </a:p>
        </p:txBody>
      </p:sp>
      <p:sp>
        <p:nvSpPr>
          <p:cNvPr id="20" name="Text 17"/>
          <p:cNvSpPr/>
          <p:nvPr/>
        </p:nvSpPr>
        <p:spPr>
          <a:xfrm>
            <a:off x="1640782" y="2982137"/>
            <a:ext cx="2592056"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Generate diverse models for ensemble creation</a:t>
            </a:r>
            <a:endParaRPr lang="en-US" sz="900" dirty="0"/>
          </a:p>
        </p:txBody>
      </p:sp>
      <p:sp>
        <p:nvSpPr>
          <p:cNvPr id="21" name="Text 18"/>
          <p:cNvSpPr/>
          <p:nvPr/>
        </p:nvSpPr>
        <p:spPr>
          <a:xfrm>
            <a:off x="714375" y="3224634"/>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22" name="Text 19"/>
          <p:cNvSpPr/>
          <p:nvPr/>
        </p:nvSpPr>
        <p:spPr>
          <a:xfrm>
            <a:off x="942975" y="3223574"/>
            <a:ext cx="45204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Output:</a:t>
            </a:r>
            <a:endParaRPr lang="en-US" sz="900" dirty="0"/>
          </a:p>
        </p:txBody>
      </p:sp>
      <p:sp>
        <p:nvSpPr>
          <p:cNvPr id="23" name="Text 20"/>
          <p:cNvSpPr/>
          <p:nvPr/>
        </p:nvSpPr>
        <p:spPr>
          <a:xfrm>
            <a:off x="1528072" y="3223574"/>
            <a:ext cx="283731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 trained SwinV2-B models from different data splits</a:t>
            </a:r>
            <a:endParaRPr lang="en-US" sz="900" dirty="0"/>
          </a:p>
        </p:txBody>
      </p:sp>
      <p:sp>
        <p:nvSpPr>
          <p:cNvPr id="24" name="Shape 21"/>
          <p:cNvSpPr/>
          <p:nvPr/>
        </p:nvSpPr>
        <p:spPr>
          <a:xfrm>
            <a:off x="571500" y="3736070"/>
            <a:ext cx="8001000" cy="1105830"/>
          </a:xfrm>
          <a:prstGeom prst="rect">
            <a:avLst/>
          </a:prstGeom>
          <a:solidFill>
            <a:srgbClr val="E8F4F8"/>
          </a:solidFill>
          <a:ln/>
        </p:spPr>
      </p:sp>
      <p:sp>
        <p:nvSpPr>
          <p:cNvPr id="25" name="Shape 22"/>
          <p:cNvSpPr/>
          <p:nvPr/>
        </p:nvSpPr>
        <p:spPr>
          <a:xfrm>
            <a:off x="571500" y="3736070"/>
            <a:ext cx="28575" cy="1105830"/>
          </a:xfrm>
          <a:prstGeom prst="rect">
            <a:avLst/>
          </a:prstGeom>
          <a:solidFill>
            <a:srgbClr val="F39C12"/>
          </a:solidFill>
          <a:ln/>
        </p:spPr>
      </p:sp>
      <p:sp>
        <p:nvSpPr>
          <p:cNvPr id="26" name="Text 23"/>
          <p:cNvSpPr/>
          <p:nvPr/>
        </p:nvSpPr>
        <p:spPr>
          <a:xfrm>
            <a:off x="678656" y="3843226"/>
            <a:ext cx="778668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5-Fold Cross Validation Methodology</a:t>
            </a:r>
            <a:endParaRPr lang="en-US" sz="837" dirty="0"/>
          </a:p>
        </p:txBody>
      </p:sp>
      <p:sp>
        <p:nvSpPr>
          <p:cNvPr id="27" name="Text 24"/>
          <p:cNvSpPr/>
          <p:nvPr/>
        </p:nvSpPr>
        <p:spPr>
          <a:xfrm>
            <a:off x="678656" y="4103139"/>
            <a:ext cx="1322478"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The dataset is divided into </a:t>
            </a:r>
            <a:endParaRPr lang="en-US" sz="800" dirty="0"/>
          </a:p>
        </p:txBody>
      </p:sp>
      <p:sp>
        <p:nvSpPr>
          <p:cNvPr id="28" name="Text 25"/>
          <p:cNvSpPr/>
          <p:nvPr/>
        </p:nvSpPr>
        <p:spPr>
          <a:xfrm>
            <a:off x="1988895" y="4096829"/>
            <a:ext cx="632389" cy="135731"/>
          </a:xfrm>
          <a:prstGeom prst="rect">
            <a:avLst/>
          </a:prstGeom>
          <a:noFill/>
          <a:ln/>
        </p:spPr>
        <p:txBody>
          <a:bodyPr wrap="none" lIns="0" tIns="0" rIns="0" bIns="0" rtlCol="0" anchor="ctr">
            <a:spAutoFit/>
          </a:bodyPr>
          <a:lstStyle/>
          <a:p>
            <a:pPr marL="0" indent="0">
              <a:buNone/>
            </a:pPr>
            <a:r>
              <a:rPr lang="en-US" sz="732" b="1" dirty="0">
                <a:solidFill>
                  <a:srgbClr val="F39C12"/>
                </a:solidFill>
                <a:latin typeface="Noto Sans" pitchFamily="34" charset="0"/>
                <a:ea typeface="Noto Sans" pitchFamily="34" charset="-122"/>
                <a:cs typeface="Noto Sans" pitchFamily="34" charset="-120"/>
              </a:rPr>
              <a:t>5 equal folds</a:t>
            </a:r>
            <a:endParaRPr lang="en-US" sz="732" dirty="0"/>
          </a:p>
        </p:txBody>
      </p:sp>
      <p:sp>
        <p:nvSpPr>
          <p:cNvPr id="29" name="Text 26"/>
          <p:cNvSpPr/>
          <p:nvPr/>
        </p:nvSpPr>
        <p:spPr>
          <a:xfrm>
            <a:off x="2566420" y="4103139"/>
            <a:ext cx="5934317"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 For each iteration, one fold is held out as the validation set while the remaining 4 folds are used for training. This process </a:t>
            </a:r>
            <a:endParaRPr lang="en-US" sz="800" dirty="0"/>
          </a:p>
        </p:txBody>
      </p:sp>
      <p:sp>
        <p:nvSpPr>
          <p:cNvPr id="30" name="Text 27"/>
          <p:cNvSpPr/>
          <p:nvPr/>
        </p:nvSpPr>
        <p:spPr>
          <a:xfrm>
            <a:off x="678656" y="4263148"/>
            <a:ext cx="3871253"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repeats 5 times, ensuring each fold is used as both training and validation data. </a:t>
            </a:r>
            <a:endParaRPr lang="en-US" sz="800" dirty="0"/>
          </a:p>
        </p:txBody>
      </p:sp>
      <p:sp>
        <p:nvSpPr>
          <p:cNvPr id="31" name="Shape 28"/>
          <p:cNvSpPr/>
          <p:nvPr/>
        </p:nvSpPr>
        <p:spPr>
          <a:xfrm>
            <a:off x="678656" y="4477569"/>
            <a:ext cx="1523042" cy="257175"/>
          </a:xfrm>
          <a:prstGeom prst="rect">
            <a:avLst/>
          </a:prstGeom>
          <a:solidFill>
            <a:srgbClr val="FFFFFF"/>
          </a:solidFill>
          <a:ln w="99">
            <a:solidFill>
              <a:srgbClr val="2E5090"/>
            </a:solidFill>
            <a:prstDash val="solid"/>
          </a:ln>
        </p:spPr>
      </p:sp>
      <p:sp>
        <p:nvSpPr>
          <p:cNvPr id="32" name="Text 29"/>
          <p:cNvSpPr/>
          <p:nvPr/>
        </p:nvSpPr>
        <p:spPr>
          <a:xfrm>
            <a:off x="678656"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 1</a:t>
            </a:r>
            <a:endParaRPr lang="en-US" sz="800" dirty="0"/>
          </a:p>
        </p:txBody>
      </p:sp>
      <p:sp>
        <p:nvSpPr>
          <p:cNvPr id="33" name="Shape 30"/>
          <p:cNvSpPr/>
          <p:nvPr/>
        </p:nvSpPr>
        <p:spPr>
          <a:xfrm>
            <a:off x="2244561" y="4477569"/>
            <a:ext cx="1523042" cy="257175"/>
          </a:xfrm>
          <a:prstGeom prst="rect">
            <a:avLst/>
          </a:prstGeom>
          <a:solidFill>
            <a:srgbClr val="FFFFFF"/>
          </a:solidFill>
          <a:ln w="99">
            <a:solidFill>
              <a:srgbClr val="2E5090"/>
            </a:solidFill>
            <a:prstDash val="solid"/>
          </a:ln>
        </p:spPr>
      </p:sp>
      <p:sp>
        <p:nvSpPr>
          <p:cNvPr id="34" name="Text 31"/>
          <p:cNvSpPr/>
          <p:nvPr/>
        </p:nvSpPr>
        <p:spPr>
          <a:xfrm>
            <a:off x="2244561"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2</a:t>
            </a:r>
            <a:endParaRPr lang="en-US" sz="628" dirty="0"/>
          </a:p>
        </p:txBody>
      </p:sp>
      <p:sp>
        <p:nvSpPr>
          <p:cNvPr id="35" name="Shape 32"/>
          <p:cNvSpPr/>
          <p:nvPr/>
        </p:nvSpPr>
        <p:spPr>
          <a:xfrm>
            <a:off x="3810465" y="4477569"/>
            <a:ext cx="1523042" cy="257175"/>
          </a:xfrm>
          <a:prstGeom prst="rect">
            <a:avLst/>
          </a:prstGeom>
          <a:solidFill>
            <a:srgbClr val="FFFFFF"/>
          </a:solidFill>
          <a:ln w="99">
            <a:solidFill>
              <a:srgbClr val="2E5090"/>
            </a:solidFill>
            <a:prstDash val="solid"/>
          </a:ln>
        </p:spPr>
      </p:sp>
      <p:sp>
        <p:nvSpPr>
          <p:cNvPr id="36" name="Text 33"/>
          <p:cNvSpPr/>
          <p:nvPr/>
        </p:nvSpPr>
        <p:spPr>
          <a:xfrm>
            <a:off x="3810465"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3</a:t>
            </a:r>
            <a:endParaRPr lang="en-US" sz="628" dirty="0"/>
          </a:p>
        </p:txBody>
      </p:sp>
      <p:sp>
        <p:nvSpPr>
          <p:cNvPr id="37" name="Shape 34"/>
          <p:cNvSpPr/>
          <p:nvPr/>
        </p:nvSpPr>
        <p:spPr>
          <a:xfrm>
            <a:off x="5376370" y="4477569"/>
            <a:ext cx="1523042" cy="257175"/>
          </a:xfrm>
          <a:prstGeom prst="rect">
            <a:avLst/>
          </a:prstGeom>
          <a:solidFill>
            <a:srgbClr val="FFFFFF"/>
          </a:solidFill>
          <a:ln w="99">
            <a:solidFill>
              <a:srgbClr val="2E5090"/>
            </a:solidFill>
            <a:prstDash val="solid"/>
          </a:ln>
        </p:spPr>
      </p:sp>
      <p:sp>
        <p:nvSpPr>
          <p:cNvPr id="38" name="Text 35"/>
          <p:cNvSpPr/>
          <p:nvPr/>
        </p:nvSpPr>
        <p:spPr>
          <a:xfrm>
            <a:off x="5376370" y="4468171"/>
            <a:ext cx="1523042" cy="275973"/>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900" b="1" dirty="0">
                <a:solidFill>
                  <a:srgbClr val="2E5090"/>
                </a:solidFill>
                <a:latin typeface="Noto Sans" pitchFamily="34" charset="0"/>
                <a:ea typeface="Noto Sans" pitchFamily="34" charset="-122"/>
                <a:cs typeface="Noto Sans" pitchFamily="34" charset="-120"/>
              </a:rPr>
              <a:t>4</a:t>
            </a:r>
            <a:endParaRPr lang="en-US" sz="628" dirty="0"/>
          </a:p>
        </p:txBody>
      </p:sp>
      <p:sp>
        <p:nvSpPr>
          <p:cNvPr id="39" name="Shape 36"/>
          <p:cNvSpPr/>
          <p:nvPr/>
        </p:nvSpPr>
        <p:spPr>
          <a:xfrm>
            <a:off x="6942274" y="4477569"/>
            <a:ext cx="1523042" cy="257175"/>
          </a:xfrm>
          <a:prstGeom prst="rect">
            <a:avLst/>
          </a:prstGeom>
          <a:solidFill>
            <a:srgbClr val="FFFFFF"/>
          </a:solidFill>
          <a:ln w="99">
            <a:solidFill>
              <a:srgbClr val="2E5090"/>
            </a:solidFill>
            <a:prstDash val="solid"/>
          </a:ln>
        </p:spPr>
      </p:sp>
      <p:sp>
        <p:nvSpPr>
          <p:cNvPr id="40" name="Text 37"/>
          <p:cNvSpPr/>
          <p:nvPr/>
        </p:nvSpPr>
        <p:spPr>
          <a:xfrm>
            <a:off x="6942274"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5</a:t>
            </a:r>
            <a:endParaRPr lang="en-US" sz="628" dirty="0"/>
          </a:p>
        </p:txBody>
      </p:sp>
      <p:sp>
        <p:nvSpPr>
          <p:cNvPr id="41" name="Text 38"/>
          <p:cNvSpPr/>
          <p:nvPr/>
        </p:nvSpPr>
        <p:spPr>
          <a:xfrm>
            <a:off x="571500" y="4934769"/>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Phase 4 - Evaluation of best individual fold and ensemble results </a:t>
            </a:r>
            <a:endParaRPr lang="en-US" sz="680" dirty="0"/>
          </a:p>
        </p:txBody>
      </p:sp>
      <p:pic>
        <p:nvPicPr>
          <p:cNvPr id="42" name="Picture 41">
            <a:extLst>
              <a:ext uri="{FF2B5EF4-FFF2-40B4-BE49-F238E27FC236}">
                <a16:creationId xmlns:a16="http://schemas.microsoft.com/office/drawing/2014/main" id="{F1259A19-FE10-30F6-4AA6-33FB17162F48}"/>
              </a:ext>
            </a:extLst>
          </p:cNvPr>
          <p:cNvPicPr>
            <a:picLocks noChangeAspect="1"/>
          </p:cNvPicPr>
          <p:nvPr/>
        </p:nvPicPr>
        <p:blipFill>
          <a:blip r:embed="rId4"/>
          <a:stretch>
            <a:fillRect/>
          </a:stretch>
        </p:blipFill>
        <p:spPr>
          <a:xfrm>
            <a:off x="8159407" y="-39263"/>
            <a:ext cx="976685" cy="97668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3211" y="0"/>
            <a:ext cx="9159474" cy="6096381"/>
          </a:xfrm>
          <a:prstGeom prst="rect">
            <a:avLst/>
          </a:prstGeom>
        </p:spPr>
      </p:pic>
      <p:sp>
        <p:nvSpPr>
          <p:cNvPr id="3" name="Text 0"/>
          <p:cNvSpPr/>
          <p:nvPr/>
        </p:nvSpPr>
        <p:spPr>
          <a:xfrm>
            <a:off x="571500" y="231124"/>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4: Evaluation &amp; Ensemble Results</a:t>
            </a:r>
            <a:endParaRPr lang="en-US" sz="2700" dirty="0"/>
          </a:p>
        </p:txBody>
      </p:sp>
      <p:sp>
        <p:nvSpPr>
          <p:cNvPr id="4" name="Text 1"/>
          <p:cNvSpPr/>
          <p:nvPr/>
        </p:nvSpPr>
        <p:spPr>
          <a:xfrm>
            <a:off x="571500" y="899690"/>
            <a:ext cx="1572162" cy="153888"/>
          </a:xfrm>
          <a:prstGeom prst="rect">
            <a:avLst/>
          </a:prstGeom>
          <a:noFill/>
          <a:ln/>
        </p:spPr>
        <p:txBody>
          <a:bodyPr wrap="none" lIns="0" tIns="0" rIns="0" bIns="0" rtlCol="0" anchor="ctr">
            <a:spAutoFit/>
          </a:bodyPr>
          <a:lstStyle/>
          <a:p>
            <a:pPr marL="0" indent="0">
              <a:buNone/>
            </a:pPr>
            <a:r>
              <a:rPr lang="en-US" sz="1000" b="1" kern="0" spc="1" dirty="0">
                <a:solidFill>
                  <a:srgbClr val="F39C12"/>
                </a:solidFill>
                <a:latin typeface="Noto Sans" pitchFamily="34" charset="0"/>
                <a:ea typeface="Noto Sans" pitchFamily="34" charset="-122"/>
                <a:cs typeface="Noto Sans" pitchFamily="34" charset="-120"/>
              </a:rPr>
              <a:t>Evaluation Methodology</a:t>
            </a:r>
            <a:endParaRPr lang="en-US" sz="1000" dirty="0"/>
          </a:p>
        </p:txBody>
      </p:sp>
      <p:sp>
        <p:nvSpPr>
          <p:cNvPr id="5" name="Shape 2"/>
          <p:cNvSpPr/>
          <p:nvPr/>
        </p:nvSpPr>
        <p:spPr>
          <a:xfrm>
            <a:off x="571500" y="1205234"/>
            <a:ext cx="3911203" cy="1005790"/>
          </a:xfrm>
          <a:prstGeom prst="rect">
            <a:avLst/>
          </a:prstGeom>
          <a:solidFill>
            <a:srgbClr val="F8F9FA"/>
          </a:solidFill>
          <a:ln/>
        </p:spPr>
      </p:sp>
      <p:sp>
        <p:nvSpPr>
          <p:cNvPr id="6" name="Shape 3"/>
          <p:cNvSpPr/>
          <p:nvPr/>
        </p:nvSpPr>
        <p:spPr>
          <a:xfrm>
            <a:off x="571500" y="1205234"/>
            <a:ext cx="28575" cy="1005790"/>
          </a:xfrm>
          <a:prstGeom prst="rect">
            <a:avLst/>
          </a:prstGeom>
          <a:solidFill>
            <a:srgbClr val="2E5090"/>
          </a:solidFill>
          <a:ln/>
        </p:spPr>
      </p:sp>
      <p:sp>
        <p:nvSpPr>
          <p:cNvPr id="7" name="Text 4"/>
          <p:cNvSpPr/>
          <p:nvPr/>
        </p:nvSpPr>
        <p:spPr>
          <a:xfrm>
            <a:off x="714375" y="1359226"/>
            <a:ext cx="2250616"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1: Best Individual Fold (TTA)</a:t>
            </a:r>
            <a:endParaRPr lang="en-US" sz="900" dirty="0"/>
          </a:p>
        </p:txBody>
      </p:sp>
      <p:sp>
        <p:nvSpPr>
          <p:cNvPr id="8" name="Text 5"/>
          <p:cNvSpPr/>
          <p:nvPr/>
        </p:nvSpPr>
        <p:spPr>
          <a:xfrm>
            <a:off x="714375" y="162360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Test-Time Augmentation applied to the best performing fold from the 5-fold cross-validation. Multiple augmented versions of test images are generated and averaged for final prediction. </a:t>
            </a:r>
            <a:endParaRPr lang="en-US" sz="900" dirty="0"/>
          </a:p>
        </p:txBody>
      </p:sp>
      <p:sp>
        <p:nvSpPr>
          <p:cNvPr id="9" name="Shape 6"/>
          <p:cNvSpPr/>
          <p:nvPr/>
        </p:nvSpPr>
        <p:spPr>
          <a:xfrm>
            <a:off x="4661297" y="1205234"/>
            <a:ext cx="3911203" cy="1005790"/>
          </a:xfrm>
          <a:prstGeom prst="rect">
            <a:avLst/>
          </a:prstGeom>
          <a:solidFill>
            <a:srgbClr val="F8F9FA"/>
          </a:solidFill>
          <a:ln/>
        </p:spPr>
      </p:sp>
      <p:sp>
        <p:nvSpPr>
          <p:cNvPr id="10" name="Shape 7"/>
          <p:cNvSpPr/>
          <p:nvPr/>
        </p:nvSpPr>
        <p:spPr>
          <a:xfrm>
            <a:off x="4661297" y="1205234"/>
            <a:ext cx="28575" cy="1005790"/>
          </a:xfrm>
          <a:prstGeom prst="rect">
            <a:avLst/>
          </a:prstGeom>
          <a:solidFill>
            <a:srgbClr val="2E5090"/>
          </a:solidFill>
          <a:ln/>
        </p:spPr>
      </p:sp>
      <p:sp>
        <p:nvSpPr>
          <p:cNvPr id="11" name="Text 8"/>
          <p:cNvSpPr/>
          <p:nvPr/>
        </p:nvSpPr>
        <p:spPr>
          <a:xfrm>
            <a:off x="4804172" y="1359226"/>
            <a:ext cx="174246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2: Ensemble Voting</a:t>
            </a:r>
            <a:endParaRPr lang="en-US" sz="900" dirty="0"/>
          </a:p>
        </p:txBody>
      </p:sp>
      <p:sp>
        <p:nvSpPr>
          <p:cNvPr id="12" name="Text 9"/>
          <p:cNvSpPr/>
          <p:nvPr/>
        </p:nvSpPr>
        <p:spPr>
          <a:xfrm>
            <a:off x="4804172" y="154467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All 5 trained models vote on each prediction. Final class is determined by majority voting mechanism across all 5 folds, leveraging model diversity for robustness. </a:t>
            </a:r>
            <a:endParaRPr lang="en-US" sz="900" dirty="0"/>
          </a:p>
        </p:txBody>
      </p:sp>
      <p:sp>
        <p:nvSpPr>
          <p:cNvPr id="13" name="Shape 10"/>
          <p:cNvSpPr/>
          <p:nvPr/>
        </p:nvSpPr>
        <p:spPr>
          <a:xfrm>
            <a:off x="571500" y="2425336"/>
            <a:ext cx="8001000" cy="2590279"/>
          </a:xfrm>
          <a:prstGeom prst="rect">
            <a:avLst/>
          </a:prstGeom>
          <a:solidFill>
            <a:srgbClr val="E8F4F8"/>
          </a:solidFill>
          <a:ln/>
        </p:spPr>
      </p:sp>
      <p:sp>
        <p:nvSpPr>
          <p:cNvPr id="14" name="Shape 11"/>
          <p:cNvSpPr/>
          <p:nvPr/>
        </p:nvSpPr>
        <p:spPr>
          <a:xfrm>
            <a:off x="571500" y="2425336"/>
            <a:ext cx="28575" cy="2590279"/>
          </a:xfrm>
          <a:prstGeom prst="rect">
            <a:avLst/>
          </a:prstGeom>
          <a:solidFill>
            <a:srgbClr val="F39C12"/>
          </a:solidFill>
          <a:ln/>
        </p:spPr>
      </p:sp>
      <p:sp>
        <p:nvSpPr>
          <p:cNvPr id="15" name="Text 12"/>
          <p:cNvSpPr/>
          <p:nvPr/>
        </p:nvSpPr>
        <p:spPr>
          <a:xfrm>
            <a:off x="750094" y="2612711"/>
            <a:ext cx="2148024"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Performance Metrics Comparison</a:t>
            </a:r>
            <a:endParaRPr lang="en-US" sz="1000" dirty="0"/>
          </a:p>
        </p:txBody>
      </p:sp>
      <p:sp>
        <p:nvSpPr>
          <p:cNvPr id="16" name="Shape 13"/>
          <p:cNvSpPr/>
          <p:nvPr/>
        </p:nvSpPr>
        <p:spPr>
          <a:xfrm>
            <a:off x="750094" y="2918255"/>
            <a:ext cx="7643813" cy="310753"/>
          </a:xfrm>
          <a:prstGeom prst="rect">
            <a:avLst/>
          </a:prstGeom>
          <a:solidFill>
            <a:srgbClr val="F8F9FA"/>
          </a:solidFill>
          <a:ln/>
        </p:spPr>
      </p:sp>
      <p:sp>
        <p:nvSpPr>
          <p:cNvPr id="17" name="Shape 14"/>
          <p:cNvSpPr/>
          <p:nvPr/>
        </p:nvSpPr>
        <p:spPr>
          <a:xfrm>
            <a:off x="750094" y="2918255"/>
            <a:ext cx="1808987" cy="310753"/>
          </a:xfrm>
          <a:prstGeom prst="rect">
            <a:avLst/>
          </a:prstGeom>
          <a:solidFill>
            <a:srgbClr val="2E5090"/>
          </a:solidFill>
          <a:ln/>
        </p:spPr>
      </p:sp>
      <p:sp>
        <p:nvSpPr>
          <p:cNvPr id="18" name="Text 15"/>
          <p:cNvSpPr/>
          <p:nvPr/>
        </p:nvSpPr>
        <p:spPr>
          <a:xfrm>
            <a:off x="750094" y="2901277"/>
            <a:ext cx="180898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Evaluation Method</a:t>
            </a:r>
            <a:endParaRPr lang="en-US" sz="900" dirty="0"/>
          </a:p>
        </p:txBody>
      </p:sp>
      <p:sp>
        <p:nvSpPr>
          <p:cNvPr id="19" name="Shape 16"/>
          <p:cNvSpPr/>
          <p:nvPr/>
        </p:nvSpPr>
        <p:spPr>
          <a:xfrm>
            <a:off x="2559081" y="2918255"/>
            <a:ext cx="1015557" cy="310753"/>
          </a:xfrm>
          <a:prstGeom prst="rect">
            <a:avLst/>
          </a:prstGeom>
          <a:solidFill>
            <a:srgbClr val="2E5090"/>
          </a:solidFill>
          <a:ln/>
        </p:spPr>
      </p:sp>
      <p:sp>
        <p:nvSpPr>
          <p:cNvPr id="20" name="Text 17"/>
          <p:cNvSpPr/>
          <p:nvPr/>
        </p:nvSpPr>
        <p:spPr>
          <a:xfrm>
            <a:off x="2559081" y="2901277"/>
            <a:ext cx="101555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Accuracy</a:t>
            </a:r>
            <a:endParaRPr lang="en-US" sz="900" dirty="0"/>
          </a:p>
        </p:txBody>
      </p:sp>
      <p:sp>
        <p:nvSpPr>
          <p:cNvPr id="21" name="Shape 18"/>
          <p:cNvSpPr/>
          <p:nvPr/>
        </p:nvSpPr>
        <p:spPr>
          <a:xfrm>
            <a:off x="3574638" y="2918255"/>
            <a:ext cx="1711514" cy="310753"/>
          </a:xfrm>
          <a:prstGeom prst="rect">
            <a:avLst/>
          </a:prstGeom>
          <a:solidFill>
            <a:srgbClr val="2E5090"/>
          </a:solidFill>
          <a:ln/>
        </p:spPr>
      </p:sp>
      <p:sp>
        <p:nvSpPr>
          <p:cNvPr id="22" name="Text 19"/>
          <p:cNvSpPr/>
          <p:nvPr/>
        </p:nvSpPr>
        <p:spPr>
          <a:xfrm>
            <a:off x="3574638" y="2901277"/>
            <a:ext cx="171151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Precision (W. Avg)</a:t>
            </a:r>
            <a:endParaRPr lang="en-US" sz="900" dirty="0"/>
          </a:p>
        </p:txBody>
      </p:sp>
      <p:sp>
        <p:nvSpPr>
          <p:cNvPr id="23" name="Shape 20"/>
          <p:cNvSpPr/>
          <p:nvPr/>
        </p:nvSpPr>
        <p:spPr>
          <a:xfrm>
            <a:off x="5286152" y="2918255"/>
            <a:ext cx="1459920" cy="310753"/>
          </a:xfrm>
          <a:prstGeom prst="rect">
            <a:avLst/>
          </a:prstGeom>
          <a:solidFill>
            <a:srgbClr val="2E5090"/>
          </a:solidFill>
          <a:ln/>
        </p:spPr>
      </p:sp>
      <p:sp>
        <p:nvSpPr>
          <p:cNvPr id="24" name="Text 21"/>
          <p:cNvSpPr/>
          <p:nvPr/>
        </p:nvSpPr>
        <p:spPr>
          <a:xfrm>
            <a:off x="5286152" y="2901277"/>
            <a:ext cx="1459920"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Recall (W. Avg)</a:t>
            </a:r>
            <a:endParaRPr lang="en-US" sz="900" dirty="0"/>
          </a:p>
        </p:txBody>
      </p:sp>
      <p:sp>
        <p:nvSpPr>
          <p:cNvPr id="25" name="Shape 22"/>
          <p:cNvSpPr/>
          <p:nvPr/>
        </p:nvSpPr>
        <p:spPr>
          <a:xfrm>
            <a:off x="6746072" y="2918255"/>
            <a:ext cx="1647834" cy="310753"/>
          </a:xfrm>
          <a:prstGeom prst="rect">
            <a:avLst/>
          </a:prstGeom>
          <a:solidFill>
            <a:srgbClr val="2E5090"/>
          </a:solidFill>
          <a:ln/>
        </p:spPr>
      </p:sp>
      <p:sp>
        <p:nvSpPr>
          <p:cNvPr id="26" name="Text 23"/>
          <p:cNvSpPr/>
          <p:nvPr/>
        </p:nvSpPr>
        <p:spPr>
          <a:xfrm>
            <a:off x="6746072" y="2901277"/>
            <a:ext cx="164783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F1-Score (W. Avg)</a:t>
            </a:r>
            <a:endParaRPr lang="en-US" sz="900" dirty="0"/>
          </a:p>
        </p:txBody>
      </p:sp>
      <p:sp>
        <p:nvSpPr>
          <p:cNvPr id="27" name="Shape 24"/>
          <p:cNvSpPr/>
          <p:nvPr/>
        </p:nvSpPr>
        <p:spPr>
          <a:xfrm>
            <a:off x="750094" y="3229008"/>
            <a:ext cx="7643813" cy="314325"/>
          </a:xfrm>
          <a:prstGeom prst="rect">
            <a:avLst/>
          </a:prstGeom>
          <a:solidFill>
            <a:srgbClr val="F8F9FA"/>
          </a:solidFill>
          <a:ln/>
        </p:spPr>
      </p:sp>
      <p:sp>
        <p:nvSpPr>
          <p:cNvPr id="28" name="Text 25"/>
          <p:cNvSpPr/>
          <p:nvPr/>
        </p:nvSpPr>
        <p:spPr>
          <a:xfrm>
            <a:off x="835819" y="3314242"/>
            <a:ext cx="864019"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Best Fold (TTA)</a:t>
            </a:r>
            <a:endParaRPr lang="en-US" sz="900" dirty="0"/>
          </a:p>
        </p:txBody>
      </p:sp>
      <p:sp>
        <p:nvSpPr>
          <p:cNvPr id="29" name="Text 26"/>
          <p:cNvSpPr/>
          <p:nvPr/>
        </p:nvSpPr>
        <p:spPr>
          <a:xfrm>
            <a:off x="2559081" y="3213816"/>
            <a:ext cx="1015557"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98.03%</a:t>
            </a:r>
            <a:endParaRPr lang="en-US" sz="900" dirty="0"/>
          </a:p>
        </p:txBody>
      </p:sp>
      <p:sp>
        <p:nvSpPr>
          <p:cNvPr id="30" name="Text 27"/>
          <p:cNvSpPr/>
          <p:nvPr/>
        </p:nvSpPr>
        <p:spPr>
          <a:xfrm>
            <a:off x="3574638" y="3213816"/>
            <a:ext cx="171151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0.9804</a:t>
            </a:r>
            <a:endParaRPr lang="en-US" sz="900" dirty="0"/>
          </a:p>
        </p:txBody>
      </p:sp>
      <p:sp>
        <p:nvSpPr>
          <p:cNvPr id="31" name="Text 28"/>
          <p:cNvSpPr/>
          <p:nvPr/>
        </p:nvSpPr>
        <p:spPr>
          <a:xfrm>
            <a:off x="5286152" y="3213816"/>
            <a:ext cx="1459920"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2" name="Text 29"/>
          <p:cNvSpPr/>
          <p:nvPr/>
        </p:nvSpPr>
        <p:spPr>
          <a:xfrm>
            <a:off x="6746072" y="3213816"/>
            <a:ext cx="164783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3" name="Shape 30"/>
          <p:cNvSpPr/>
          <p:nvPr/>
        </p:nvSpPr>
        <p:spPr>
          <a:xfrm>
            <a:off x="750094" y="3543333"/>
            <a:ext cx="7643813" cy="317897"/>
          </a:xfrm>
          <a:prstGeom prst="rect">
            <a:avLst/>
          </a:prstGeom>
          <a:solidFill>
            <a:srgbClr val="FFFFFF"/>
          </a:solidFill>
          <a:ln/>
        </p:spPr>
      </p:sp>
      <p:sp>
        <p:nvSpPr>
          <p:cNvPr id="34" name="Text 31"/>
          <p:cNvSpPr/>
          <p:nvPr/>
        </p:nvSpPr>
        <p:spPr>
          <a:xfrm>
            <a:off x="835819" y="3632139"/>
            <a:ext cx="1075615"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Ensemble (5 Folds)</a:t>
            </a:r>
            <a:endParaRPr lang="en-US" sz="900" dirty="0"/>
          </a:p>
        </p:txBody>
      </p:sp>
      <p:sp>
        <p:nvSpPr>
          <p:cNvPr id="35" name="Text 32"/>
          <p:cNvSpPr/>
          <p:nvPr/>
        </p:nvSpPr>
        <p:spPr>
          <a:xfrm>
            <a:off x="2644806" y="3632139"/>
            <a:ext cx="39433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36" name="Text 33"/>
          <p:cNvSpPr/>
          <p:nvPr/>
        </p:nvSpPr>
        <p:spPr>
          <a:xfrm>
            <a:off x="3660363"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0.9862</a:t>
            </a:r>
            <a:endParaRPr lang="en-US" sz="900" dirty="0"/>
          </a:p>
        </p:txBody>
      </p:sp>
      <p:sp>
        <p:nvSpPr>
          <p:cNvPr id="37" name="Text 34"/>
          <p:cNvSpPr/>
          <p:nvPr/>
        </p:nvSpPr>
        <p:spPr>
          <a:xfrm>
            <a:off x="537187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8" name="Text 35"/>
          <p:cNvSpPr/>
          <p:nvPr/>
        </p:nvSpPr>
        <p:spPr>
          <a:xfrm>
            <a:off x="683179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9" name="Shape 36"/>
          <p:cNvSpPr/>
          <p:nvPr/>
        </p:nvSpPr>
        <p:spPr>
          <a:xfrm>
            <a:off x="750095" y="4007677"/>
            <a:ext cx="7643812" cy="944692"/>
          </a:xfrm>
          <a:prstGeom prst="rect">
            <a:avLst/>
          </a:prstGeom>
          <a:solidFill>
            <a:srgbClr val="FFFACD"/>
          </a:solidFill>
          <a:ln/>
        </p:spPr>
      </p:sp>
      <p:sp>
        <p:nvSpPr>
          <p:cNvPr id="40" name="Shape 37"/>
          <p:cNvSpPr/>
          <p:nvPr/>
        </p:nvSpPr>
        <p:spPr>
          <a:xfrm>
            <a:off x="714376" y="4007677"/>
            <a:ext cx="45719" cy="1007938"/>
          </a:xfrm>
          <a:prstGeom prst="rect">
            <a:avLst/>
          </a:prstGeom>
          <a:solidFill>
            <a:srgbClr val="F39C12"/>
          </a:solidFill>
          <a:ln/>
        </p:spPr>
      </p:sp>
      <p:sp>
        <p:nvSpPr>
          <p:cNvPr id="41" name="Text 38"/>
          <p:cNvSpPr/>
          <p:nvPr/>
        </p:nvSpPr>
        <p:spPr>
          <a:xfrm>
            <a:off x="878681" y="4139687"/>
            <a:ext cx="2191306"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Key Finding: Ensemble Superiority</a:t>
            </a:r>
            <a:endParaRPr lang="en-US" sz="1000" dirty="0"/>
          </a:p>
        </p:txBody>
      </p:sp>
      <p:sp>
        <p:nvSpPr>
          <p:cNvPr id="42" name="Text 39"/>
          <p:cNvSpPr/>
          <p:nvPr/>
        </p:nvSpPr>
        <p:spPr>
          <a:xfrm>
            <a:off x="878681" y="4371585"/>
            <a:ext cx="269304"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The </a:t>
            </a:r>
            <a:endParaRPr lang="en-US" sz="1050" dirty="0"/>
          </a:p>
        </p:txBody>
      </p:sp>
      <p:sp>
        <p:nvSpPr>
          <p:cNvPr id="43" name="Text 40"/>
          <p:cNvSpPr/>
          <p:nvPr/>
        </p:nvSpPr>
        <p:spPr>
          <a:xfrm>
            <a:off x="1305810" y="4367737"/>
            <a:ext cx="2936701" cy="153888"/>
          </a:xfrm>
          <a:prstGeom prst="rect">
            <a:avLst/>
          </a:prstGeom>
          <a:noFill/>
          <a:ln/>
        </p:spPr>
        <p:txBody>
          <a:bodyPr wrap="none" lIns="0" tIns="0" rIns="0" bIns="0"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ensemble approach achieved 98.61% accuracy</a:t>
            </a:r>
            <a:endParaRPr lang="en-US" sz="1000" dirty="0"/>
          </a:p>
        </p:txBody>
      </p:sp>
      <p:sp>
        <p:nvSpPr>
          <p:cNvPr id="44" name="Text 41"/>
          <p:cNvSpPr/>
          <p:nvPr/>
        </p:nvSpPr>
        <p:spPr>
          <a:xfrm>
            <a:off x="4247035" y="4379481"/>
            <a:ext cx="2717090"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outperforming the best individual fold by </a:t>
            </a:r>
            <a:endParaRPr lang="en-US" sz="1050" dirty="0"/>
          </a:p>
        </p:txBody>
      </p:sp>
      <p:sp>
        <p:nvSpPr>
          <p:cNvPr id="45" name="Text 42"/>
          <p:cNvSpPr/>
          <p:nvPr/>
        </p:nvSpPr>
        <p:spPr>
          <a:xfrm>
            <a:off x="6977679" y="4360043"/>
            <a:ext cx="397545"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0.58%</a:t>
            </a:r>
            <a:endParaRPr lang="en-US" sz="1100" dirty="0"/>
          </a:p>
        </p:txBody>
      </p:sp>
      <p:sp>
        <p:nvSpPr>
          <p:cNvPr id="46" name="Text 43"/>
          <p:cNvSpPr/>
          <p:nvPr/>
        </p:nvSpPr>
        <p:spPr>
          <a:xfrm>
            <a:off x="5671440" y="4390820"/>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47" name="Text 44"/>
          <p:cNvSpPr/>
          <p:nvPr/>
        </p:nvSpPr>
        <p:spPr>
          <a:xfrm>
            <a:off x="878680" y="4554287"/>
            <a:ext cx="7355691" cy="323165"/>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demonstrates the power of model ensembling in leveraging the diversity of models trained on different data splits to create a highly robust and generalizable final predictor for fungal classification. </a:t>
            </a:r>
            <a:endParaRPr lang="en-US" sz="1050" dirty="0"/>
          </a:p>
        </p:txBody>
      </p:sp>
      <p:pic>
        <p:nvPicPr>
          <p:cNvPr id="48" name="Picture 47">
            <a:extLst>
              <a:ext uri="{FF2B5EF4-FFF2-40B4-BE49-F238E27FC236}">
                <a16:creationId xmlns:a16="http://schemas.microsoft.com/office/drawing/2014/main" id="{8FB1DF65-7E97-CA59-686E-34F47C458D2B}"/>
              </a:ext>
            </a:extLst>
          </p:cNvPr>
          <p:cNvPicPr>
            <a:picLocks noChangeAspect="1"/>
          </p:cNvPicPr>
          <p:nvPr/>
        </p:nvPicPr>
        <p:blipFill>
          <a:blip r:embed="rId4"/>
          <a:stretch>
            <a:fillRect/>
          </a:stretch>
        </p:blipFill>
        <p:spPr>
          <a:xfrm>
            <a:off x="8130302" y="-39262"/>
            <a:ext cx="1005790" cy="100579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1" y="0"/>
            <a:ext cx="9144000" cy="6383192"/>
          </a:xfrm>
          <a:prstGeom prst="rect">
            <a:avLst/>
          </a:prstGeom>
        </p:spPr>
      </p:pic>
      <p:sp>
        <p:nvSpPr>
          <p:cNvPr id="3" name="Text 0"/>
          <p:cNvSpPr/>
          <p:nvPr/>
        </p:nvSpPr>
        <p:spPr>
          <a:xfrm>
            <a:off x="538487" y="197881"/>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Consolidated Model Performance Comparison</a:t>
            </a:r>
            <a:endParaRPr lang="en-US" sz="2700" dirty="0"/>
          </a:p>
        </p:txBody>
      </p:sp>
      <p:sp>
        <p:nvSpPr>
          <p:cNvPr id="4" name="Shape 1"/>
          <p:cNvSpPr/>
          <p:nvPr/>
        </p:nvSpPr>
        <p:spPr>
          <a:xfrm>
            <a:off x="580429" y="764460"/>
            <a:ext cx="7983141" cy="435769"/>
          </a:xfrm>
          <a:prstGeom prst="rect">
            <a:avLst/>
          </a:prstGeom>
          <a:solidFill>
            <a:srgbClr val="2E5090"/>
          </a:solidFill>
          <a:ln/>
        </p:spPr>
      </p:sp>
      <p:sp>
        <p:nvSpPr>
          <p:cNvPr id="5" name="Text 2"/>
          <p:cNvSpPr/>
          <p:nvPr/>
        </p:nvSpPr>
        <p:spPr>
          <a:xfrm>
            <a:off x="580429" y="764460"/>
            <a:ext cx="1288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Model (Variant)</a:t>
            </a:r>
            <a:endParaRPr lang="en-US" sz="628" dirty="0"/>
          </a:p>
        </p:txBody>
      </p:sp>
      <p:sp>
        <p:nvSpPr>
          <p:cNvPr id="6" name="Text 3"/>
          <p:cNvSpPr/>
          <p:nvPr/>
        </p:nvSpPr>
        <p:spPr>
          <a:xfrm>
            <a:off x="1868731" y="764460"/>
            <a:ext cx="124390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Training Setup</a:t>
            </a:r>
            <a:endParaRPr lang="en-US" sz="628" dirty="0"/>
          </a:p>
        </p:txBody>
      </p:sp>
      <p:sp>
        <p:nvSpPr>
          <p:cNvPr id="7" name="Text 4"/>
          <p:cNvSpPr/>
          <p:nvPr/>
        </p:nvSpPr>
        <p:spPr>
          <a:xfrm>
            <a:off x="3112637" y="764460"/>
            <a:ext cx="577388"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Input Res.</a:t>
            </a:r>
            <a:endParaRPr lang="en-US" sz="628" dirty="0"/>
          </a:p>
        </p:txBody>
      </p:sp>
      <p:sp>
        <p:nvSpPr>
          <p:cNvPr id="8" name="Text 5"/>
          <p:cNvSpPr/>
          <p:nvPr/>
        </p:nvSpPr>
        <p:spPr>
          <a:xfrm>
            <a:off x="3690025" y="764460"/>
            <a:ext cx="86355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Test Accuracy (%)</a:t>
            </a:r>
            <a:endParaRPr lang="en-US" sz="628" dirty="0"/>
          </a:p>
        </p:txBody>
      </p:sp>
      <p:sp>
        <p:nvSpPr>
          <p:cNvPr id="9" name="Text 6"/>
          <p:cNvSpPr/>
          <p:nvPr/>
        </p:nvSpPr>
        <p:spPr>
          <a:xfrm>
            <a:off x="4553581" y="764460"/>
            <a:ext cx="88102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Precision (W. Avg)</a:t>
            </a:r>
            <a:endParaRPr lang="en-US" sz="628" dirty="0"/>
          </a:p>
        </p:txBody>
      </p:sp>
      <p:sp>
        <p:nvSpPr>
          <p:cNvPr id="10" name="Text 7"/>
          <p:cNvSpPr/>
          <p:nvPr/>
        </p:nvSpPr>
        <p:spPr>
          <a:xfrm>
            <a:off x="5434607" y="764460"/>
            <a:ext cx="747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Recall (W. Avg)</a:t>
            </a:r>
            <a:endParaRPr lang="en-US" sz="628" dirty="0"/>
          </a:p>
        </p:txBody>
      </p:sp>
      <p:sp>
        <p:nvSpPr>
          <p:cNvPr id="11" name="Text 8"/>
          <p:cNvSpPr/>
          <p:nvPr/>
        </p:nvSpPr>
        <p:spPr>
          <a:xfrm>
            <a:off x="6181910" y="764460"/>
            <a:ext cx="84050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F1-Score (W. Avg)</a:t>
            </a:r>
            <a:endParaRPr lang="en-US" sz="628" dirty="0"/>
          </a:p>
        </p:txBody>
      </p:sp>
      <p:sp>
        <p:nvSpPr>
          <p:cNvPr id="12" name="Text 9"/>
          <p:cNvSpPr/>
          <p:nvPr/>
        </p:nvSpPr>
        <p:spPr>
          <a:xfrm>
            <a:off x="7022417" y="764460"/>
            <a:ext cx="1541152"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Key Insight</a:t>
            </a:r>
            <a:endParaRPr lang="en-US" sz="628" dirty="0"/>
          </a:p>
        </p:txBody>
      </p:sp>
      <p:sp>
        <p:nvSpPr>
          <p:cNvPr id="13" name="Shape 10"/>
          <p:cNvSpPr/>
          <p:nvPr/>
        </p:nvSpPr>
        <p:spPr>
          <a:xfrm>
            <a:off x="580429" y="1200229"/>
            <a:ext cx="7983141" cy="385763"/>
          </a:xfrm>
          <a:prstGeom prst="rect">
            <a:avLst/>
          </a:prstGeom>
          <a:solidFill>
            <a:srgbClr val="FFF3E0"/>
          </a:solidFill>
          <a:ln/>
        </p:spPr>
      </p:sp>
      <p:sp>
        <p:nvSpPr>
          <p:cNvPr id="14" name="Shape 11"/>
          <p:cNvSpPr/>
          <p:nvPr/>
        </p:nvSpPr>
        <p:spPr>
          <a:xfrm>
            <a:off x="580429" y="1200229"/>
            <a:ext cx="28575" cy="385763"/>
          </a:xfrm>
          <a:prstGeom prst="rect">
            <a:avLst/>
          </a:prstGeom>
          <a:solidFill>
            <a:srgbClr val="F39C12"/>
          </a:solidFill>
          <a:ln/>
        </p:spPr>
      </p:sp>
      <p:sp>
        <p:nvSpPr>
          <p:cNvPr id="15" name="Text 12"/>
          <p:cNvSpPr/>
          <p:nvPr/>
        </p:nvSpPr>
        <p:spPr>
          <a:xfrm>
            <a:off x="580429" y="1200229"/>
            <a:ext cx="1288303" cy="385763"/>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Ensemble</a:t>
            </a:r>
            <a:endParaRPr lang="en-US" sz="628" dirty="0"/>
          </a:p>
        </p:txBody>
      </p:sp>
      <p:sp>
        <p:nvSpPr>
          <p:cNvPr id="16" name="Text 13"/>
          <p:cNvSpPr/>
          <p:nvPr/>
        </p:nvSpPr>
        <p:spPr>
          <a:xfrm>
            <a:off x="1868731" y="1200229"/>
            <a:ext cx="124390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(5-Fold Ensemble)</a:t>
            </a:r>
            <a:endParaRPr lang="en-US" sz="628" dirty="0"/>
          </a:p>
        </p:txBody>
      </p:sp>
      <p:sp>
        <p:nvSpPr>
          <p:cNvPr id="17" name="Text 14"/>
          <p:cNvSpPr/>
          <p:nvPr/>
        </p:nvSpPr>
        <p:spPr>
          <a:xfrm>
            <a:off x="3112637" y="1200229"/>
            <a:ext cx="577388"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18" name="Text 15"/>
          <p:cNvSpPr/>
          <p:nvPr/>
        </p:nvSpPr>
        <p:spPr>
          <a:xfrm>
            <a:off x="3690025" y="1200229"/>
            <a:ext cx="863557" cy="385763"/>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98.61</a:t>
            </a:r>
            <a:endParaRPr lang="en-US" sz="628" dirty="0"/>
          </a:p>
        </p:txBody>
      </p:sp>
      <p:sp>
        <p:nvSpPr>
          <p:cNvPr id="19" name="Text 16"/>
          <p:cNvSpPr/>
          <p:nvPr/>
        </p:nvSpPr>
        <p:spPr>
          <a:xfrm>
            <a:off x="4553581" y="1200229"/>
            <a:ext cx="88102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0.9862</a:t>
            </a:r>
            <a:endParaRPr lang="en-US" sz="628" dirty="0"/>
          </a:p>
        </p:txBody>
      </p:sp>
      <p:sp>
        <p:nvSpPr>
          <p:cNvPr id="20" name="Text 17"/>
          <p:cNvSpPr/>
          <p:nvPr/>
        </p:nvSpPr>
        <p:spPr>
          <a:xfrm>
            <a:off x="5434607" y="1200229"/>
            <a:ext cx="747303"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1" name="Text 18"/>
          <p:cNvSpPr/>
          <p:nvPr/>
        </p:nvSpPr>
        <p:spPr>
          <a:xfrm>
            <a:off x="6181910" y="1200229"/>
            <a:ext cx="840507"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2" name="Text 19"/>
          <p:cNvSpPr/>
          <p:nvPr/>
        </p:nvSpPr>
        <p:spPr>
          <a:xfrm>
            <a:off x="7022417" y="1200229"/>
            <a:ext cx="1541152" cy="385763"/>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Overall Leader: Transformer + Ensembling</a:t>
            </a:r>
            <a:endParaRPr lang="en-US" sz="575" dirty="0"/>
          </a:p>
        </p:txBody>
      </p:sp>
      <p:sp>
        <p:nvSpPr>
          <p:cNvPr id="23" name="Shape 20"/>
          <p:cNvSpPr/>
          <p:nvPr/>
        </p:nvSpPr>
        <p:spPr>
          <a:xfrm>
            <a:off x="580429" y="1585992"/>
            <a:ext cx="7983141" cy="407194"/>
          </a:xfrm>
          <a:prstGeom prst="rect">
            <a:avLst/>
          </a:prstGeom>
          <a:solidFill>
            <a:srgbClr val="F0F7FF"/>
          </a:solidFill>
          <a:ln/>
        </p:spPr>
      </p:sp>
      <p:sp>
        <p:nvSpPr>
          <p:cNvPr id="24" name="Shape 21"/>
          <p:cNvSpPr/>
          <p:nvPr/>
        </p:nvSpPr>
        <p:spPr>
          <a:xfrm>
            <a:off x="580429" y="1585992"/>
            <a:ext cx="28575" cy="407194"/>
          </a:xfrm>
          <a:prstGeom prst="rect">
            <a:avLst/>
          </a:prstGeom>
          <a:solidFill>
            <a:srgbClr val="2E5090"/>
          </a:solidFill>
          <a:ln/>
        </p:spPr>
      </p:sp>
      <p:sp>
        <p:nvSpPr>
          <p:cNvPr id="25" name="Text 22"/>
          <p:cNvSpPr/>
          <p:nvPr/>
        </p:nvSpPr>
        <p:spPr>
          <a:xfrm>
            <a:off x="580429" y="1585992"/>
            <a:ext cx="1280545"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(Best Fold TTA)</a:t>
            </a:r>
            <a:endParaRPr lang="en-US" sz="628" dirty="0"/>
          </a:p>
        </p:txBody>
      </p:sp>
      <p:sp>
        <p:nvSpPr>
          <p:cNvPr id="26" name="Text 23"/>
          <p:cNvSpPr/>
          <p:nvPr/>
        </p:nvSpPr>
        <p:spPr>
          <a:xfrm>
            <a:off x="1858071" y="1585992"/>
            <a:ext cx="1246250"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27" name="Text 24"/>
          <p:cNvSpPr/>
          <p:nvPr/>
        </p:nvSpPr>
        <p:spPr>
          <a:xfrm>
            <a:off x="3101809" y="1585992"/>
            <a:ext cx="578002"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28" name="Text 25"/>
          <p:cNvSpPr/>
          <p:nvPr/>
        </p:nvSpPr>
        <p:spPr>
          <a:xfrm>
            <a:off x="3679811" y="1585992"/>
            <a:ext cx="865901" cy="403622"/>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98.03</a:t>
            </a:r>
            <a:endParaRPr lang="en-US" sz="628" dirty="0"/>
          </a:p>
        </p:txBody>
      </p:sp>
      <p:sp>
        <p:nvSpPr>
          <p:cNvPr id="29" name="Text 26"/>
          <p:cNvSpPr/>
          <p:nvPr/>
        </p:nvSpPr>
        <p:spPr>
          <a:xfrm>
            <a:off x="4545712" y="1585992"/>
            <a:ext cx="88348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0.9804</a:t>
            </a:r>
            <a:endParaRPr lang="en-US" sz="628" dirty="0"/>
          </a:p>
        </p:txBody>
      </p:sp>
      <p:sp>
        <p:nvSpPr>
          <p:cNvPr id="30" name="Text 27"/>
          <p:cNvSpPr/>
          <p:nvPr/>
        </p:nvSpPr>
        <p:spPr>
          <a:xfrm>
            <a:off x="5429193" y="1585992"/>
            <a:ext cx="749647"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1" name="Text 28"/>
          <p:cNvSpPr/>
          <p:nvPr/>
        </p:nvSpPr>
        <p:spPr>
          <a:xfrm>
            <a:off x="6178840" y="1585992"/>
            <a:ext cx="84352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2" name="Text 29"/>
          <p:cNvSpPr/>
          <p:nvPr/>
        </p:nvSpPr>
        <p:spPr>
          <a:xfrm>
            <a:off x="7022361" y="1585992"/>
            <a:ext cx="1541208" cy="403622"/>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single model with TTA</a:t>
            </a:r>
            <a:endParaRPr lang="en-US" sz="575" dirty="0"/>
          </a:p>
        </p:txBody>
      </p:sp>
      <p:sp>
        <p:nvSpPr>
          <p:cNvPr id="33" name="Shape 30"/>
          <p:cNvSpPr/>
          <p:nvPr/>
        </p:nvSpPr>
        <p:spPr>
          <a:xfrm>
            <a:off x="580429" y="1986042"/>
            <a:ext cx="7983141" cy="278606"/>
          </a:xfrm>
          <a:prstGeom prst="rect">
            <a:avLst/>
          </a:prstGeom>
          <a:solidFill>
            <a:srgbClr val="F0F7FF"/>
          </a:solidFill>
          <a:ln/>
        </p:spPr>
      </p:sp>
      <p:sp>
        <p:nvSpPr>
          <p:cNvPr id="34" name="Shape 31"/>
          <p:cNvSpPr/>
          <p:nvPr/>
        </p:nvSpPr>
        <p:spPr>
          <a:xfrm>
            <a:off x="580429" y="1986042"/>
            <a:ext cx="28575" cy="278606"/>
          </a:xfrm>
          <a:prstGeom prst="rect">
            <a:avLst/>
          </a:prstGeom>
          <a:solidFill>
            <a:srgbClr val="2E5090"/>
          </a:solidFill>
          <a:ln/>
        </p:spPr>
      </p:sp>
      <p:sp>
        <p:nvSpPr>
          <p:cNvPr id="35" name="Text 32"/>
          <p:cNvSpPr/>
          <p:nvPr/>
        </p:nvSpPr>
        <p:spPr>
          <a:xfrm>
            <a:off x="569713" y="1986042"/>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EfficientNetV2-M (in21k)</a:t>
            </a:r>
            <a:endParaRPr lang="en-US" sz="628" dirty="0"/>
          </a:p>
        </p:txBody>
      </p:sp>
      <p:sp>
        <p:nvSpPr>
          <p:cNvPr id="36" name="Text 33"/>
          <p:cNvSpPr/>
          <p:nvPr/>
        </p:nvSpPr>
        <p:spPr>
          <a:xfrm>
            <a:off x="1845821" y="1982470"/>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(Advanced Aug.)</a:t>
            </a:r>
            <a:endParaRPr lang="en-US" sz="628" dirty="0"/>
          </a:p>
        </p:txBody>
      </p:sp>
      <p:sp>
        <p:nvSpPr>
          <p:cNvPr id="37" name="Text 34"/>
          <p:cNvSpPr/>
          <p:nvPr/>
        </p:nvSpPr>
        <p:spPr>
          <a:xfrm>
            <a:off x="3093717" y="1982470"/>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38" name="Text 35"/>
          <p:cNvSpPr/>
          <p:nvPr/>
        </p:nvSpPr>
        <p:spPr>
          <a:xfrm>
            <a:off x="3671998" y="1982470"/>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96.71</a:t>
            </a:r>
            <a:endParaRPr lang="en-US" sz="628" dirty="0"/>
          </a:p>
        </p:txBody>
      </p:sp>
      <p:sp>
        <p:nvSpPr>
          <p:cNvPr id="39" name="Text 36"/>
          <p:cNvSpPr/>
          <p:nvPr/>
        </p:nvSpPr>
        <p:spPr>
          <a:xfrm>
            <a:off x="4538987" y="1982470"/>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0.9675</a:t>
            </a:r>
            <a:endParaRPr lang="en-US" sz="628" dirty="0"/>
          </a:p>
        </p:txBody>
      </p:sp>
      <p:sp>
        <p:nvSpPr>
          <p:cNvPr id="40" name="Text 37"/>
          <p:cNvSpPr/>
          <p:nvPr/>
        </p:nvSpPr>
        <p:spPr>
          <a:xfrm>
            <a:off x="5423584" y="1982470"/>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0.9671</a:t>
            </a:r>
            <a:endParaRPr lang="en-US" sz="628" dirty="0"/>
          </a:p>
        </p:txBody>
      </p:sp>
      <p:sp>
        <p:nvSpPr>
          <p:cNvPr id="41" name="Text 38"/>
          <p:cNvSpPr/>
          <p:nvPr/>
        </p:nvSpPr>
        <p:spPr>
          <a:xfrm>
            <a:off x="6174320" y="1982470"/>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0.9672</a:t>
            </a:r>
            <a:endParaRPr lang="en-US" sz="628" dirty="0"/>
          </a:p>
        </p:txBody>
      </p:sp>
      <p:sp>
        <p:nvSpPr>
          <p:cNvPr id="42" name="Text 39"/>
          <p:cNvSpPr/>
          <p:nvPr/>
        </p:nvSpPr>
        <p:spPr>
          <a:xfrm>
            <a:off x="7019235" y="1982470"/>
            <a:ext cx="1544334" cy="27503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CNN performance</a:t>
            </a:r>
            <a:endParaRPr lang="en-US" sz="575" dirty="0"/>
          </a:p>
        </p:txBody>
      </p:sp>
      <p:sp>
        <p:nvSpPr>
          <p:cNvPr id="43" name="Shape 40"/>
          <p:cNvSpPr/>
          <p:nvPr/>
        </p:nvSpPr>
        <p:spPr>
          <a:xfrm>
            <a:off x="569713" y="2257504"/>
            <a:ext cx="7993856" cy="278606"/>
          </a:xfrm>
          <a:prstGeom prst="rect">
            <a:avLst/>
          </a:prstGeom>
          <a:solidFill>
            <a:srgbClr val="FFFFFF"/>
          </a:solidFill>
          <a:ln/>
        </p:spPr>
      </p:sp>
      <p:sp>
        <p:nvSpPr>
          <p:cNvPr id="44" name="Text 41"/>
          <p:cNvSpPr/>
          <p:nvPr/>
        </p:nvSpPr>
        <p:spPr>
          <a:xfrm>
            <a:off x="569713" y="2257504"/>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VGG19</a:t>
            </a:r>
            <a:endParaRPr lang="en-US" sz="628" dirty="0"/>
          </a:p>
        </p:txBody>
      </p:sp>
      <p:sp>
        <p:nvSpPr>
          <p:cNvPr id="45" name="Text 42"/>
          <p:cNvSpPr/>
          <p:nvPr/>
        </p:nvSpPr>
        <p:spPr>
          <a:xfrm>
            <a:off x="1845821" y="2257504"/>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(MixUp/CutMix)</a:t>
            </a:r>
            <a:endParaRPr lang="en-US" sz="628" dirty="0"/>
          </a:p>
        </p:txBody>
      </p:sp>
      <p:sp>
        <p:nvSpPr>
          <p:cNvPr id="46" name="Text 43"/>
          <p:cNvSpPr/>
          <p:nvPr/>
        </p:nvSpPr>
        <p:spPr>
          <a:xfrm>
            <a:off x="3093717" y="2257504"/>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47" name="Text 44"/>
          <p:cNvSpPr/>
          <p:nvPr/>
        </p:nvSpPr>
        <p:spPr>
          <a:xfrm>
            <a:off x="3671998" y="2257504"/>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95.33</a:t>
            </a:r>
            <a:endParaRPr lang="en-US" sz="628" dirty="0"/>
          </a:p>
        </p:txBody>
      </p:sp>
      <p:sp>
        <p:nvSpPr>
          <p:cNvPr id="48" name="Text 45"/>
          <p:cNvSpPr/>
          <p:nvPr/>
        </p:nvSpPr>
        <p:spPr>
          <a:xfrm>
            <a:off x="4538987" y="2257504"/>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0.9535</a:t>
            </a:r>
            <a:endParaRPr lang="en-US" sz="628" dirty="0"/>
          </a:p>
        </p:txBody>
      </p:sp>
      <p:sp>
        <p:nvSpPr>
          <p:cNvPr id="49" name="Text 46"/>
          <p:cNvSpPr/>
          <p:nvPr/>
        </p:nvSpPr>
        <p:spPr>
          <a:xfrm>
            <a:off x="5423584" y="2257504"/>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0.9533</a:t>
            </a:r>
            <a:endParaRPr lang="en-US" sz="628" dirty="0"/>
          </a:p>
        </p:txBody>
      </p:sp>
      <p:sp>
        <p:nvSpPr>
          <p:cNvPr id="50" name="Text 47"/>
          <p:cNvSpPr/>
          <p:nvPr/>
        </p:nvSpPr>
        <p:spPr>
          <a:xfrm>
            <a:off x="6174320" y="2257504"/>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0.9532</a:t>
            </a:r>
            <a:endParaRPr lang="en-US" sz="628" dirty="0"/>
          </a:p>
        </p:txBody>
      </p:sp>
      <p:sp>
        <p:nvSpPr>
          <p:cNvPr id="51" name="Text 48"/>
          <p:cNvSpPr/>
          <p:nvPr/>
        </p:nvSpPr>
        <p:spPr>
          <a:xfrm>
            <a:off x="7019235" y="2257504"/>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 performance at lower resolution</a:t>
            </a:r>
            <a:endParaRPr lang="en-US" sz="575" dirty="0"/>
          </a:p>
        </p:txBody>
      </p:sp>
      <p:sp>
        <p:nvSpPr>
          <p:cNvPr id="52" name="Shape 49"/>
          <p:cNvSpPr/>
          <p:nvPr/>
        </p:nvSpPr>
        <p:spPr>
          <a:xfrm>
            <a:off x="569713" y="2536110"/>
            <a:ext cx="7993856" cy="407194"/>
          </a:xfrm>
          <a:prstGeom prst="rect">
            <a:avLst/>
          </a:prstGeom>
          <a:solidFill>
            <a:srgbClr val="F8F9FA"/>
          </a:solidFill>
          <a:ln/>
        </p:spPr>
      </p:sp>
      <p:sp>
        <p:nvSpPr>
          <p:cNvPr id="53" name="Text 50"/>
          <p:cNvSpPr/>
          <p:nvPr/>
        </p:nvSpPr>
        <p:spPr>
          <a:xfrm>
            <a:off x="569713" y="2536110"/>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DenseNet201</a:t>
            </a:r>
            <a:endParaRPr lang="en-US" sz="628" dirty="0"/>
          </a:p>
        </p:txBody>
      </p:sp>
      <p:sp>
        <p:nvSpPr>
          <p:cNvPr id="54" name="Text 51"/>
          <p:cNvSpPr/>
          <p:nvPr/>
        </p:nvSpPr>
        <p:spPr>
          <a:xfrm>
            <a:off x="1845821" y="2536110"/>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55" name="Text 52"/>
          <p:cNvSpPr/>
          <p:nvPr/>
        </p:nvSpPr>
        <p:spPr>
          <a:xfrm>
            <a:off x="3093717" y="2536110"/>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56" name="Text 53"/>
          <p:cNvSpPr/>
          <p:nvPr/>
        </p:nvSpPr>
        <p:spPr>
          <a:xfrm>
            <a:off x="3671998" y="2536110"/>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94.23</a:t>
            </a:r>
            <a:endParaRPr lang="en-US" sz="628" dirty="0"/>
          </a:p>
        </p:txBody>
      </p:sp>
      <p:sp>
        <p:nvSpPr>
          <p:cNvPr id="57" name="Text 54"/>
          <p:cNvSpPr/>
          <p:nvPr/>
        </p:nvSpPr>
        <p:spPr>
          <a:xfrm>
            <a:off x="4538987" y="2536110"/>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8" name="Text 55"/>
          <p:cNvSpPr/>
          <p:nvPr/>
        </p:nvSpPr>
        <p:spPr>
          <a:xfrm>
            <a:off x="5423584" y="2536110"/>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9" name="Text 56"/>
          <p:cNvSpPr/>
          <p:nvPr/>
        </p:nvSpPr>
        <p:spPr>
          <a:xfrm>
            <a:off x="6174320" y="2536110"/>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60" name="Text 57"/>
          <p:cNvSpPr/>
          <p:nvPr/>
        </p:nvSpPr>
        <p:spPr>
          <a:xfrm>
            <a:off x="7019235" y="2536110"/>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Highest Keras baseline</a:t>
            </a:r>
            <a:endParaRPr lang="en-US" sz="575" dirty="0"/>
          </a:p>
        </p:txBody>
      </p:sp>
      <p:sp>
        <p:nvSpPr>
          <p:cNvPr id="61" name="Shape 58"/>
          <p:cNvSpPr/>
          <p:nvPr/>
        </p:nvSpPr>
        <p:spPr>
          <a:xfrm>
            <a:off x="569713" y="2943304"/>
            <a:ext cx="7993856" cy="407194"/>
          </a:xfrm>
          <a:prstGeom prst="rect">
            <a:avLst/>
          </a:prstGeom>
          <a:solidFill>
            <a:srgbClr val="FFFFFF"/>
          </a:solidFill>
          <a:ln/>
        </p:spPr>
        <p:txBody>
          <a:bodyPr/>
          <a:lstStyle/>
          <a:p>
            <a:endParaRPr lang="en-US" dirty="0"/>
          </a:p>
        </p:txBody>
      </p:sp>
      <p:sp>
        <p:nvSpPr>
          <p:cNvPr id="62" name="Text 59"/>
          <p:cNvSpPr/>
          <p:nvPr/>
        </p:nvSpPr>
        <p:spPr>
          <a:xfrm>
            <a:off x="569713" y="3012665"/>
            <a:ext cx="1276108" cy="268471"/>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EfficientNetB3</a:t>
            </a:r>
            <a:endParaRPr lang="en-US" sz="628" dirty="0"/>
          </a:p>
        </p:txBody>
      </p:sp>
      <p:sp>
        <p:nvSpPr>
          <p:cNvPr id="63" name="Text 60"/>
          <p:cNvSpPr/>
          <p:nvPr/>
        </p:nvSpPr>
        <p:spPr>
          <a:xfrm>
            <a:off x="1845821" y="2943304"/>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64" name="Text 61"/>
          <p:cNvSpPr/>
          <p:nvPr/>
        </p:nvSpPr>
        <p:spPr>
          <a:xfrm>
            <a:off x="3093717" y="2943304"/>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65" name="Text 62"/>
          <p:cNvSpPr/>
          <p:nvPr/>
        </p:nvSpPr>
        <p:spPr>
          <a:xfrm>
            <a:off x="3671998" y="2943304"/>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95.11</a:t>
            </a:r>
            <a:endParaRPr lang="en-US" sz="628" dirty="0"/>
          </a:p>
        </p:txBody>
      </p:sp>
      <p:sp>
        <p:nvSpPr>
          <p:cNvPr id="66" name="Text 63"/>
          <p:cNvSpPr/>
          <p:nvPr/>
        </p:nvSpPr>
        <p:spPr>
          <a:xfrm>
            <a:off x="4538987" y="2943304"/>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7" name="Text 64"/>
          <p:cNvSpPr/>
          <p:nvPr/>
        </p:nvSpPr>
        <p:spPr>
          <a:xfrm>
            <a:off x="5423584" y="2943304"/>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8" name="Text 65"/>
          <p:cNvSpPr/>
          <p:nvPr/>
        </p:nvSpPr>
        <p:spPr>
          <a:xfrm>
            <a:off x="6174320" y="2943304"/>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9" name="Text 66"/>
          <p:cNvSpPr/>
          <p:nvPr/>
        </p:nvSpPr>
        <p:spPr>
          <a:xfrm>
            <a:off x="7019235" y="2943304"/>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70" name="Shape 67"/>
          <p:cNvSpPr/>
          <p:nvPr/>
        </p:nvSpPr>
        <p:spPr>
          <a:xfrm>
            <a:off x="569713" y="3350498"/>
            <a:ext cx="7993856" cy="407194"/>
          </a:xfrm>
          <a:prstGeom prst="rect">
            <a:avLst/>
          </a:prstGeom>
          <a:solidFill>
            <a:srgbClr val="F8F9FA"/>
          </a:solidFill>
          <a:ln/>
        </p:spPr>
      </p:sp>
      <p:sp>
        <p:nvSpPr>
          <p:cNvPr id="71" name="Text 68"/>
          <p:cNvSpPr/>
          <p:nvPr/>
        </p:nvSpPr>
        <p:spPr>
          <a:xfrm>
            <a:off x="569713" y="3350498"/>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(Full Train/Val)</a:t>
            </a:r>
            <a:endParaRPr lang="en-US" sz="628" dirty="0"/>
          </a:p>
        </p:txBody>
      </p:sp>
      <p:sp>
        <p:nvSpPr>
          <p:cNvPr id="72" name="Text 69"/>
          <p:cNvSpPr/>
          <p:nvPr/>
        </p:nvSpPr>
        <p:spPr>
          <a:xfrm>
            <a:off x="1845821" y="3350498"/>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73" name="Text 70"/>
          <p:cNvSpPr/>
          <p:nvPr/>
        </p:nvSpPr>
        <p:spPr>
          <a:xfrm>
            <a:off x="3093717" y="3350498"/>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74" name="Text 71"/>
          <p:cNvSpPr/>
          <p:nvPr/>
        </p:nvSpPr>
        <p:spPr>
          <a:xfrm>
            <a:off x="3671998" y="3350498"/>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98.39</a:t>
            </a:r>
            <a:endParaRPr lang="en-US" sz="628" dirty="0"/>
          </a:p>
        </p:txBody>
      </p:sp>
      <p:sp>
        <p:nvSpPr>
          <p:cNvPr id="75" name="Text 72"/>
          <p:cNvSpPr/>
          <p:nvPr/>
        </p:nvSpPr>
        <p:spPr>
          <a:xfrm>
            <a:off x="4538987" y="3350498"/>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0.9840</a:t>
            </a:r>
            <a:endParaRPr lang="en-US" sz="628" dirty="0"/>
          </a:p>
        </p:txBody>
      </p:sp>
      <p:sp>
        <p:nvSpPr>
          <p:cNvPr id="76" name="Text 73"/>
          <p:cNvSpPr/>
          <p:nvPr/>
        </p:nvSpPr>
        <p:spPr>
          <a:xfrm>
            <a:off x="5423584" y="3350498"/>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7" name="Text 74"/>
          <p:cNvSpPr/>
          <p:nvPr/>
        </p:nvSpPr>
        <p:spPr>
          <a:xfrm>
            <a:off x="6174320" y="3350498"/>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8" name="Text 75"/>
          <p:cNvSpPr/>
          <p:nvPr/>
        </p:nvSpPr>
        <p:spPr>
          <a:xfrm>
            <a:off x="7019235" y="3350498"/>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Strong ensemble variant</a:t>
            </a:r>
            <a:endParaRPr lang="en-US" sz="575" dirty="0"/>
          </a:p>
        </p:txBody>
      </p:sp>
      <p:sp>
        <p:nvSpPr>
          <p:cNvPr id="79" name="Shape 76"/>
          <p:cNvSpPr/>
          <p:nvPr/>
        </p:nvSpPr>
        <p:spPr>
          <a:xfrm>
            <a:off x="569713" y="3757692"/>
            <a:ext cx="7993856" cy="407194"/>
          </a:xfrm>
          <a:prstGeom prst="rect">
            <a:avLst/>
          </a:prstGeom>
          <a:solidFill>
            <a:srgbClr val="FFFFFF"/>
          </a:solidFill>
          <a:ln/>
        </p:spPr>
      </p:sp>
      <p:sp>
        <p:nvSpPr>
          <p:cNvPr id="80" name="Text 77"/>
          <p:cNvSpPr/>
          <p:nvPr/>
        </p:nvSpPr>
        <p:spPr>
          <a:xfrm>
            <a:off x="569713" y="3757692"/>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EfficientNetB0(2)(1)</a:t>
            </a:r>
            <a:endParaRPr lang="en-US" sz="628" dirty="0"/>
          </a:p>
        </p:txBody>
      </p:sp>
      <p:sp>
        <p:nvSpPr>
          <p:cNvPr id="81" name="Text 78"/>
          <p:cNvSpPr/>
          <p:nvPr/>
        </p:nvSpPr>
        <p:spPr>
          <a:xfrm>
            <a:off x="1845821" y="3757692"/>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82" name="Text 79"/>
          <p:cNvSpPr/>
          <p:nvPr/>
        </p:nvSpPr>
        <p:spPr>
          <a:xfrm>
            <a:off x="3093717" y="3757692"/>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83" name="Text 80"/>
          <p:cNvSpPr/>
          <p:nvPr/>
        </p:nvSpPr>
        <p:spPr>
          <a:xfrm>
            <a:off x="3671998" y="3757692"/>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91.75</a:t>
            </a:r>
            <a:endParaRPr lang="en-US" sz="628" dirty="0"/>
          </a:p>
        </p:txBody>
      </p:sp>
      <p:sp>
        <p:nvSpPr>
          <p:cNvPr id="84" name="Text 81"/>
          <p:cNvSpPr/>
          <p:nvPr/>
        </p:nvSpPr>
        <p:spPr>
          <a:xfrm>
            <a:off x="4538987" y="3757692"/>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85" name="Text 82"/>
          <p:cNvSpPr/>
          <p:nvPr/>
        </p:nvSpPr>
        <p:spPr>
          <a:xfrm>
            <a:off x="5423584" y="3757692"/>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0.91</a:t>
            </a:r>
            <a:endParaRPr lang="en-US" sz="628" dirty="0"/>
          </a:p>
        </p:txBody>
      </p:sp>
      <p:sp>
        <p:nvSpPr>
          <p:cNvPr id="86" name="Text 83"/>
          <p:cNvSpPr/>
          <p:nvPr/>
        </p:nvSpPr>
        <p:spPr>
          <a:xfrm>
            <a:off x="6174320" y="3757692"/>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0.93</a:t>
            </a:r>
            <a:endParaRPr lang="en-US" sz="628" dirty="0"/>
          </a:p>
        </p:txBody>
      </p:sp>
      <p:sp>
        <p:nvSpPr>
          <p:cNvPr id="87" name="Text 84"/>
          <p:cNvSpPr/>
          <p:nvPr/>
        </p:nvSpPr>
        <p:spPr>
          <a:xfrm>
            <a:off x="7019235" y="3757692"/>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88" name="Shape 85"/>
          <p:cNvSpPr/>
          <p:nvPr/>
        </p:nvSpPr>
        <p:spPr>
          <a:xfrm>
            <a:off x="569713" y="4164885"/>
            <a:ext cx="7993856" cy="407194"/>
          </a:xfrm>
          <a:prstGeom prst="rect">
            <a:avLst/>
          </a:prstGeom>
          <a:solidFill>
            <a:srgbClr val="F8F9FA"/>
          </a:solidFill>
          <a:ln/>
        </p:spPr>
      </p:sp>
      <p:sp>
        <p:nvSpPr>
          <p:cNvPr id="89" name="Text 86"/>
          <p:cNvSpPr/>
          <p:nvPr/>
        </p:nvSpPr>
        <p:spPr>
          <a:xfrm>
            <a:off x="569713" y="4164885"/>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ConvNeXtTiny</a:t>
            </a:r>
            <a:endParaRPr lang="en-US" sz="628" dirty="0"/>
          </a:p>
        </p:txBody>
      </p:sp>
      <p:sp>
        <p:nvSpPr>
          <p:cNvPr id="90" name="Text 87"/>
          <p:cNvSpPr/>
          <p:nvPr/>
        </p:nvSpPr>
        <p:spPr>
          <a:xfrm>
            <a:off x="1845821" y="4164885"/>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91" name="Text 88"/>
          <p:cNvSpPr/>
          <p:nvPr/>
        </p:nvSpPr>
        <p:spPr>
          <a:xfrm>
            <a:off x="3093717" y="4164885"/>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92" name="Text 89"/>
          <p:cNvSpPr/>
          <p:nvPr/>
        </p:nvSpPr>
        <p:spPr>
          <a:xfrm>
            <a:off x="3671998" y="4164885"/>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91.82</a:t>
            </a:r>
            <a:endParaRPr lang="en-US" sz="628" dirty="0"/>
          </a:p>
        </p:txBody>
      </p:sp>
      <p:sp>
        <p:nvSpPr>
          <p:cNvPr id="93" name="Text 90"/>
          <p:cNvSpPr/>
          <p:nvPr/>
        </p:nvSpPr>
        <p:spPr>
          <a:xfrm>
            <a:off x="4538987" y="4164885"/>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4" name="Text 91"/>
          <p:cNvSpPr/>
          <p:nvPr/>
        </p:nvSpPr>
        <p:spPr>
          <a:xfrm>
            <a:off x="5423584" y="4164885"/>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5" name="Text 92"/>
          <p:cNvSpPr/>
          <p:nvPr/>
        </p:nvSpPr>
        <p:spPr>
          <a:xfrm>
            <a:off x="6174320" y="4164885"/>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6" name="Text 93"/>
          <p:cNvSpPr/>
          <p:nvPr/>
        </p:nvSpPr>
        <p:spPr>
          <a:xfrm>
            <a:off x="7019235" y="4164885"/>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Baseline performance</a:t>
            </a:r>
            <a:endParaRPr lang="en-US" sz="575" dirty="0"/>
          </a:p>
        </p:txBody>
      </p:sp>
      <p:sp>
        <p:nvSpPr>
          <p:cNvPr id="97" name="Shape 94"/>
          <p:cNvSpPr/>
          <p:nvPr/>
        </p:nvSpPr>
        <p:spPr>
          <a:xfrm>
            <a:off x="569713" y="4572079"/>
            <a:ext cx="7993856" cy="278606"/>
          </a:xfrm>
          <a:prstGeom prst="rect">
            <a:avLst/>
          </a:prstGeom>
          <a:solidFill>
            <a:srgbClr val="FFFFFF"/>
          </a:solidFill>
          <a:ln/>
        </p:spPr>
      </p:sp>
      <p:sp>
        <p:nvSpPr>
          <p:cNvPr id="98" name="Text 95"/>
          <p:cNvSpPr/>
          <p:nvPr/>
        </p:nvSpPr>
        <p:spPr>
          <a:xfrm>
            <a:off x="569713" y="4572079"/>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EfficientNetB5</a:t>
            </a:r>
            <a:endParaRPr lang="en-US" sz="628" dirty="0"/>
          </a:p>
        </p:txBody>
      </p:sp>
      <p:sp>
        <p:nvSpPr>
          <p:cNvPr id="99" name="Text 96"/>
          <p:cNvSpPr/>
          <p:nvPr/>
        </p:nvSpPr>
        <p:spPr>
          <a:xfrm>
            <a:off x="1845821" y="4572079"/>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(2-stage)</a:t>
            </a:r>
            <a:endParaRPr lang="en-US" sz="628" dirty="0"/>
          </a:p>
        </p:txBody>
      </p:sp>
      <p:sp>
        <p:nvSpPr>
          <p:cNvPr id="100" name="Text 97"/>
          <p:cNvSpPr/>
          <p:nvPr/>
        </p:nvSpPr>
        <p:spPr>
          <a:xfrm>
            <a:off x="3093717" y="4572079"/>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101" name="Text 98"/>
          <p:cNvSpPr/>
          <p:nvPr/>
        </p:nvSpPr>
        <p:spPr>
          <a:xfrm>
            <a:off x="3671998" y="4572079"/>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E74C3C"/>
                </a:solidFill>
                <a:latin typeface="Noto Sans" pitchFamily="34" charset="0"/>
                <a:ea typeface="Noto Sans" pitchFamily="34" charset="-122"/>
                <a:cs typeface="Noto Sans" pitchFamily="34" charset="-120"/>
              </a:rPr>
              <a:t>77.00</a:t>
            </a:r>
            <a:endParaRPr lang="en-US" sz="628" dirty="0"/>
          </a:p>
        </p:txBody>
      </p:sp>
      <p:sp>
        <p:nvSpPr>
          <p:cNvPr id="102" name="Text 99"/>
          <p:cNvSpPr/>
          <p:nvPr/>
        </p:nvSpPr>
        <p:spPr>
          <a:xfrm>
            <a:off x="4538987" y="4572079"/>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3" name="Text 100"/>
          <p:cNvSpPr/>
          <p:nvPr/>
        </p:nvSpPr>
        <p:spPr>
          <a:xfrm>
            <a:off x="5423584" y="4572079"/>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4" name="Text 101"/>
          <p:cNvSpPr/>
          <p:nvPr/>
        </p:nvSpPr>
        <p:spPr>
          <a:xfrm>
            <a:off x="6174320" y="4572079"/>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5" name="Text 102"/>
          <p:cNvSpPr/>
          <p:nvPr/>
        </p:nvSpPr>
        <p:spPr>
          <a:xfrm>
            <a:off x="7019235" y="4572079"/>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Lowest performance</a:t>
            </a:r>
            <a:endParaRPr lang="en-US" sz="575" dirty="0"/>
          </a:p>
        </p:txBody>
      </p:sp>
      <p:sp>
        <p:nvSpPr>
          <p:cNvPr id="106" name="Shape 103"/>
          <p:cNvSpPr/>
          <p:nvPr/>
        </p:nvSpPr>
        <p:spPr>
          <a:xfrm>
            <a:off x="566141" y="4889751"/>
            <a:ext cx="114300" cy="114300"/>
          </a:xfrm>
          <a:prstGeom prst="rect">
            <a:avLst/>
          </a:prstGeom>
          <a:solidFill>
            <a:srgbClr val="FFCC99"/>
          </a:solidFill>
          <a:ln/>
        </p:spPr>
      </p:sp>
      <p:sp>
        <p:nvSpPr>
          <p:cNvPr id="107" name="Text 104"/>
          <p:cNvSpPr/>
          <p:nvPr/>
        </p:nvSpPr>
        <p:spPr>
          <a:xfrm>
            <a:off x="745600" y="4880570"/>
            <a:ext cx="1030932"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Best Performer (98.61%)</a:t>
            </a:r>
            <a:endParaRPr lang="en-US" sz="628" dirty="0"/>
          </a:p>
        </p:txBody>
      </p:sp>
      <p:sp>
        <p:nvSpPr>
          <p:cNvPr id="108" name="Shape 105"/>
          <p:cNvSpPr/>
          <p:nvPr/>
        </p:nvSpPr>
        <p:spPr>
          <a:xfrm>
            <a:off x="2013141" y="4889751"/>
            <a:ext cx="114300" cy="114300"/>
          </a:xfrm>
          <a:prstGeom prst="rect">
            <a:avLst/>
          </a:prstGeom>
          <a:solidFill>
            <a:srgbClr val="F0F7FF"/>
          </a:solidFill>
          <a:ln/>
        </p:spPr>
      </p:sp>
      <p:sp>
        <p:nvSpPr>
          <p:cNvPr id="109" name="Text 106"/>
          <p:cNvSpPr/>
          <p:nvPr/>
        </p:nvSpPr>
        <p:spPr>
          <a:xfrm>
            <a:off x="2192600" y="4880570"/>
            <a:ext cx="962955"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Top Performers (&gt;95%)</a:t>
            </a:r>
            <a:endParaRPr lang="en-US" sz="628" dirty="0"/>
          </a:p>
        </p:txBody>
      </p:sp>
      <p:pic>
        <p:nvPicPr>
          <p:cNvPr id="110" name="Picture 109">
            <a:extLst>
              <a:ext uri="{FF2B5EF4-FFF2-40B4-BE49-F238E27FC236}">
                <a16:creationId xmlns:a16="http://schemas.microsoft.com/office/drawing/2014/main" id="{8B1E24B4-9854-28FF-543E-B6D4E4C2C4DB}"/>
              </a:ext>
            </a:extLst>
          </p:cNvPr>
          <p:cNvPicPr>
            <a:picLocks noChangeAspect="1"/>
          </p:cNvPicPr>
          <p:nvPr/>
        </p:nvPicPr>
        <p:blipFill>
          <a:blip r:embed="rId4"/>
          <a:stretch>
            <a:fillRect/>
          </a:stretch>
        </p:blipFill>
        <p:spPr>
          <a:xfrm>
            <a:off x="8418175" y="0"/>
            <a:ext cx="823895" cy="8238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98511"/>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Best Performer: SwinV2-Base Ensemble</a:t>
            </a:r>
            <a:endParaRPr lang="en-US" sz="2700" dirty="0"/>
          </a:p>
        </p:txBody>
      </p:sp>
      <p:sp>
        <p:nvSpPr>
          <p:cNvPr id="4" name="Shape 1"/>
          <p:cNvSpPr/>
          <p:nvPr/>
        </p:nvSpPr>
        <p:spPr>
          <a:xfrm>
            <a:off x="571500" y="1371600"/>
            <a:ext cx="8001000" cy="1494439"/>
          </a:xfrm>
          <a:prstGeom prst="rect">
            <a:avLst/>
          </a:prstGeom>
          <a:solidFill>
            <a:srgbClr val="1A3A52"/>
          </a:solidFill>
          <a:ln/>
        </p:spPr>
      </p:sp>
      <p:sp>
        <p:nvSpPr>
          <p:cNvPr id="5" name="Text 2"/>
          <p:cNvSpPr/>
          <p:nvPr/>
        </p:nvSpPr>
        <p:spPr>
          <a:xfrm>
            <a:off x="2753023" y="1775920"/>
            <a:ext cx="2382469" cy="685800"/>
          </a:xfrm>
          <a:prstGeom prst="rect">
            <a:avLst/>
          </a:prstGeom>
          <a:noFill/>
          <a:ln/>
        </p:spPr>
        <p:txBody>
          <a:bodyPr wrap="none" lIns="0" tIns="0" rIns="0" bIns="0" rtlCol="0" anchor="ctr">
            <a:spAutoFit/>
          </a:bodyPr>
          <a:lstStyle/>
          <a:p>
            <a:pPr marL="0" indent="0" algn="ctr">
              <a:buNone/>
            </a:pPr>
            <a:r>
              <a:rPr lang="en-US" sz="5400" b="1" dirty="0">
                <a:solidFill>
                  <a:srgbClr val="F39C12"/>
                </a:solidFill>
                <a:latin typeface="Noto Sans" pitchFamily="34" charset="0"/>
                <a:ea typeface="Noto Sans" pitchFamily="34" charset="-122"/>
                <a:cs typeface="Noto Sans" pitchFamily="34" charset="-120"/>
              </a:rPr>
              <a:t>98.61%</a:t>
            </a:r>
            <a:endParaRPr lang="en-US" sz="5400" dirty="0"/>
          </a:p>
        </p:txBody>
      </p:sp>
      <p:sp>
        <p:nvSpPr>
          <p:cNvPr id="6" name="Text 3"/>
          <p:cNvSpPr/>
          <p:nvPr/>
        </p:nvSpPr>
        <p:spPr>
          <a:xfrm>
            <a:off x="5421241" y="1728788"/>
            <a:ext cx="969708" cy="214313"/>
          </a:xfrm>
          <a:prstGeom prst="rect">
            <a:avLst/>
          </a:prstGeom>
          <a:noFill/>
          <a:ln/>
        </p:spPr>
        <p:txBody>
          <a:bodyPr wrap="none" lIns="0" tIns="0" rIns="0" bIns="0" rtlCol="0" anchor="ctr">
            <a:spAutoFit/>
          </a:bodyPr>
          <a:lstStyle/>
          <a:p>
            <a:pPr marL="0" indent="0" algn="l">
              <a:buNone/>
            </a:pPr>
            <a:r>
              <a:rPr lang="en-US" sz="1046" b="1" dirty="0">
                <a:solidFill>
                  <a:srgbClr val="FFFFFF"/>
                </a:solidFill>
                <a:latin typeface="Noto Sans" pitchFamily="34" charset="0"/>
                <a:ea typeface="Noto Sans" pitchFamily="34" charset="-122"/>
                <a:cs typeface="Noto Sans" pitchFamily="34" charset="-120"/>
              </a:rPr>
              <a:t>Test Accuracy</a:t>
            </a:r>
            <a:endParaRPr lang="en-US" sz="1046" dirty="0"/>
          </a:p>
        </p:txBody>
      </p:sp>
      <p:sp>
        <p:nvSpPr>
          <p:cNvPr id="7" name="Text 4"/>
          <p:cNvSpPr/>
          <p:nvPr/>
        </p:nvSpPr>
        <p:spPr>
          <a:xfrm>
            <a:off x="5421241" y="2039541"/>
            <a:ext cx="487980"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Precision: </a:t>
            </a:r>
            <a:endParaRPr lang="en-US" sz="732" dirty="0"/>
          </a:p>
        </p:txBody>
      </p:sp>
      <p:sp>
        <p:nvSpPr>
          <p:cNvPr id="8" name="Text 5"/>
          <p:cNvSpPr/>
          <p:nvPr/>
        </p:nvSpPr>
        <p:spPr>
          <a:xfrm>
            <a:off x="5909221" y="2039541"/>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0.9862</a:t>
            </a:r>
            <a:endParaRPr lang="en-US" sz="732" dirty="0"/>
          </a:p>
        </p:txBody>
      </p:sp>
      <p:sp>
        <p:nvSpPr>
          <p:cNvPr id="9" name="Text 6"/>
          <p:cNvSpPr/>
          <p:nvPr/>
        </p:nvSpPr>
        <p:spPr>
          <a:xfrm>
            <a:off x="5421241" y="2199549"/>
            <a:ext cx="334668"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Recall: </a:t>
            </a:r>
            <a:endParaRPr lang="en-US" sz="732" dirty="0"/>
          </a:p>
        </p:txBody>
      </p:sp>
      <p:sp>
        <p:nvSpPr>
          <p:cNvPr id="10" name="Text 7"/>
          <p:cNvSpPr/>
          <p:nvPr/>
        </p:nvSpPr>
        <p:spPr>
          <a:xfrm>
            <a:off x="5755909" y="2199549"/>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1" name="Text 8"/>
          <p:cNvSpPr/>
          <p:nvPr/>
        </p:nvSpPr>
        <p:spPr>
          <a:xfrm>
            <a:off x="5421241" y="2359558"/>
            <a:ext cx="458177"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F1-Score: </a:t>
            </a:r>
            <a:endParaRPr lang="en-US" sz="732" dirty="0"/>
          </a:p>
        </p:txBody>
      </p:sp>
      <p:sp>
        <p:nvSpPr>
          <p:cNvPr id="12" name="Text 9"/>
          <p:cNvSpPr/>
          <p:nvPr/>
        </p:nvSpPr>
        <p:spPr>
          <a:xfrm>
            <a:off x="5879418" y="2359558"/>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3" name="Shape 10"/>
          <p:cNvSpPr/>
          <p:nvPr/>
        </p:nvSpPr>
        <p:spPr>
          <a:xfrm>
            <a:off x="571500" y="3151789"/>
            <a:ext cx="8001000" cy="1232297"/>
          </a:xfrm>
          <a:prstGeom prst="rect">
            <a:avLst/>
          </a:prstGeom>
          <a:solidFill>
            <a:srgbClr val="F0F7FC"/>
          </a:solidFill>
          <a:ln/>
        </p:spPr>
      </p:sp>
      <p:sp>
        <p:nvSpPr>
          <p:cNvPr id="14" name="Shape 11"/>
          <p:cNvSpPr/>
          <p:nvPr/>
        </p:nvSpPr>
        <p:spPr>
          <a:xfrm>
            <a:off x="571500" y="3151789"/>
            <a:ext cx="28575" cy="1232297"/>
          </a:xfrm>
          <a:prstGeom prst="rect">
            <a:avLst/>
          </a:prstGeom>
          <a:solidFill>
            <a:srgbClr val="2E5090"/>
          </a:solidFill>
          <a:ln/>
        </p:spPr>
      </p:sp>
      <p:sp>
        <p:nvSpPr>
          <p:cNvPr id="15" name="Text 12"/>
          <p:cNvSpPr/>
          <p:nvPr/>
        </p:nvSpPr>
        <p:spPr>
          <a:xfrm>
            <a:off x="785813" y="3366102"/>
            <a:ext cx="757237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Project Achievement</a:t>
            </a:r>
            <a:endParaRPr lang="en-US" sz="837" dirty="0"/>
          </a:p>
        </p:txBody>
      </p:sp>
      <p:sp>
        <p:nvSpPr>
          <p:cNvPr id="16" name="Text 13"/>
          <p:cNvSpPr/>
          <p:nvPr/>
        </p:nvSpPr>
        <p:spPr>
          <a:xfrm>
            <a:off x="785813" y="3641136"/>
            <a:ext cx="214117"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The </a:t>
            </a:r>
            <a:endParaRPr lang="en-US" sz="785" dirty="0"/>
          </a:p>
        </p:txBody>
      </p:sp>
      <p:sp>
        <p:nvSpPr>
          <p:cNvPr id="17" name="Text 14"/>
          <p:cNvSpPr/>
          <p:nvPr/>
        </p:nvSpPr>
        <p:spPr>
          <a:xfrm>
            <a:off x="999930" y="3641136"/>
            <a:ext cx="1579829"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SwinV2-Base Ensemble model</a:t>
            </a:r>
            <a:endParaRPr lang="en-US" sz="785" dirty="0"/>
          </a:p>
        </p:txBody>
      </p:sp>
      <p:sp>
        <p:nvSpPr>
          <p:cNvPr id="18" name="Text 15"/>
          <p:cNvSpPr/>
          <p:nvPr/>
        </p:nvSpPr>
        <p:spPr>
          <a:xfrm>
            <a:off x="2579759" y="3641136"/>
            <a:ext cx="559132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represents the culmination of our rigorous 4-phase methodology, achieving exceptional performance in fungal </a:t>
            </a:r>
            <a:endParaRPr lang="en-US" sz="785" dirty="0"/>
          </a:p>
        </p:txBody>
      </p:sp>
      <p:sp>
        <p:nvSpPr>
          <p:cNvPr id="19" name="Text 16"/>
          <p:cNvSpPr/>
          <p:nvPr/>
        </p:nvSpPr>
        <p:spPr>
          <a:xfrm>
            <a:off x="785813" y="3823302"/>
            <a:ext cx="1400008"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infection classification. This </a:t>
            </a:r>
            <a:endParaRPr lang="en-US" sz="785" dirty="0"/>
          </a:p>
        </p:txBody>
      </p:sp>
      <p:sp>
        <p:nvSpPr>
          <p:cNvPr id="20" name="Text 17"/>
          <p:cNvSpPr/>
          <p:nvPr/>
        </p:nvSpPr>
        <p:spPr>
          <a:xfrm>
            <a:off x="2185820" y="3823302"/>
            <a:ext cx="1110155"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98.61% test accuracy</a:t>
            </a:r>
            <a:endParaRPr lang="en-US" sz="785" dirty="0"/>
          </a:p>
        </p:txBody>
      </p:sp>
      <p:sp>
        <p:nvSpPr>
          <p:cNvPr id="21" name="Text 18"/>
          <p:cNvSpPr/>
          <p:nvPr/>
        </p:nvSpPr>
        <p:spPr>
          <a:xfrm>
            <a:off x="3295976" y="3823302"/>
            <a:ext cx="446777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demonstrates the effectiveness of combining advanced deep learning architectures with </a:t>
            </a:r>
            <a:endParaRPr lang="en-US" sz="785" dirty="0"/>
          </a:p>
        </p:txBody>
      </p:sp>
      <p:sp>
        <p:nvSpPr>
          <p:cNvPr id="22" name="Text 19"/>
          <p:cNvSpPr/>
          <p:nvPr/>
        </p:nvSpPr>
        <p:spPr>
          <a:xfrm>
            <a:off x="785813" y="4005467"/>
            <a:ext cx="3653191"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sophisticated optimization techniques and model ensembling strategies. </a:t>
            </a:r>
            <a:endParaRPr lang="en-US" sz="785" dirty="0"/>
          </a:p>
        </p:txBody>
      </p:sp>
      <p:sp>
        <p:nvSpPr>
          <p:cNvPr id="23" name="Text 20"/>
          <p:cNvSpPr/>
          <p:nvPr/>
        </p:nvSpPr>
        <p:spPr>
          <a:xfrm>
            <a:off x="571500" y="4891292"/>
            <a:ext cx="8001000" cy="150019"/>
          </a:xfrm>
          <a:prstGeom prst="rect">
            <a:avLst/>
          </a:prstGeom>
          <a:noFill/>
          <a:ln/>
        </p:spPr>
        <p:txBody>
          <a:bodyPr wrap="none" lIns="0" tIns="0" rIns="0" bIns="0" rtlCol="0" anchor="ctr">
            <a:spAutoFit/>
          </a:bodyPr>
          <a:lstStyle/>
          <a:p>
            <a:pPr marL="0" indent="0" algn="ctr">
              <a:buNone/>
            </a:pPr>
            <a:r>
              <a:rPr lang="en-US" sz="732" i="1" dirty="0">
                <a:solidFill>
                  <a:srgbClr val="2E5090"/>
                </a:solidFill>
                <a:latin typeface="Noto Sans" pitchFamily="34" charset="0"/>
                <a:ea typeface="Noto Sans" pitchFamily="34" charset="-122"/>
                <a:cs typeface="Noto Sans" pitchFamily="34" charset="-120"/>
              </a:rPr>
              <a:t> → Next: Key factors contributing to this superior performance </a:t>
            </a:r>
            <a:endParaRPr lang="en-US" sz="732" dirty="0"/>
          </a:p>
        </p:txBody>
      </p:sp>
      <p:pic>
        <p:nvPicPr>
          <p:cNvPr id="24" name="Picture 23">
            <a:extLst>
              <a:ext uri="{FF2B5EF4-FFF2-40B4-BE49-F238E27FC236}">
                <a16:creationId xmlns:a16="http://schemas.microsoft.com/office/drawing/2014/main" id="{0E0FF876-7B97-7031-B83E-6FFD37F1F926}"/>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41386"/>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Key Factors for Superior Performance</a:t>
            </a:r>
            <a:endParaRPr lang="en-US" sz="2700" dirty="0"/>
          </a:p>
        </p:txBody>
      </p:sp>
      <p:sp>
        <p:nvSpPr>
          <p:cNvPr id="4" name="Shape 1"/>
          <p:cNvSpPr/>
          <p:nvPr/>
        </p:nvSpPr>
        <p:spPr>
          <a:xfrm>
            <a:off x="600075" y="1042639"/>
            <a:ext cx="3893344" cy="1729485"/>
          </a:xfrm>
          <a:prstGeom prst="rect">
            <a:avLst/>
          </a:prstGeom>
          <a:solidFill>
            <a:srgbClr val="F8F9FA"/>
          </a:solidFill>
          <a:ln/>
        </p:spPr>
      </p:sp>
      <p:sp>
        <p:nvSpPr>
          <p:cNvPr id="5" name="Shape 2"/>
          <p:cNvSpPr/>
          <p:nvPr/>
        </p:nvSpPr>
        <p:spPr>
          <a:xfrm>
            <a:off x="600075" y="1042639"/>
            <a:ext cx="28575" cy="1729485"/>
          </a:xfrm>
          <a:prstGeom prst="rect">
            <a:avLst/>
          </a:prstGeom>
          <a:solidFill>
            <a:srgbClr val="2E5090"/>
          </a:solidFill>
          <a:ln/>
        </p:spPr>
      </p:sp>
      <p:sp>
        <p:nvSpPr>
          <p:cNvPr id="6" name="Shape 3"/>
          <p:cNvSpPr/>
          <p:nvPr/>
        </p:nvSpPr>
        <p:spPr>
          <a:xfrm>
            <a:off x="778669" y="1221233"/>
            <a:ext cx="357188" cy="357188"/>
          </a:xfrm>
          <a:prstGeom prst="rect">
            <a:avLst/>
          </a:prstGeom>
          <a:solidFill>
            <a:srgbClr val="FFFFFF"/>
          </a:solidFill>
          <a:ln w="198">
            <a:solidFill>
              <a:srgbClr val="F39C12"/>
            </a:solidFill>
            <a:prstDash val="solid"/>
          </a:ln>
        </p:spPr>
      </p:sp>
      <p:sp>
        <p:nvSpPr>
          <p:cNvPr id="7" name="Text 4"/>
          <p:cNvSpPr/>
          <p:nvPr/>
        </p:nvSpPr>
        <p:spPr>
          <a:xfrm>
            <a:off x="778669"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1</a:t>
            </a:r>
            <a:endParaRPr lang="en-US" sz="1800" dirty="0"/>
          </a:p>
        </p:txBody>
      </p:sp>
      <p:sp>
        <p:nvSpPr>
          <p:cNvPr id="8" name="Text 5"/>
          <p:cNvSpPr/>
          <p:nvPr/>
        </p:nvSpPr>
        <p:spPr>
          <a:xfrm>
            <a:off x="1243013" y="1314102"/>
            <a:ext cx="145425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Transformer Architecture</a:t>
            </a:r>
            <a:endParaRPr lang="en-US" sz="837" dirty="0"/>
          </a:p>
        </p:txBody>
      </p:sp>
      <p:sp>
        <p:nvSpPr>
          <p:cNvPr id="9" name="Text 6"/>
          <p:cNvSpPr/>
          <p:nvPr/>
        </p:nvSpPr>
        <p:spPr>
          <a:xfrm>
            <a:off x="778669"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SwinV2's shifted window mechanism effectively captures both local and global features in microscopic images, enabling superior feature extraction compared to traditional CNNs. </a:t>
            </a:r>
            <a:endParaRPr lang="en-US" sz="732" dirty="0"/>
          </a:p>
        </p:txBody>
      </p:sp>
      <p:sp>
        <p:nvSpPr>
          <p:cNvPr id="10" name="Shape 7"/>
          <p:cNvSpPr/>
          <p:nvPr/>
        </p:nvSpPr>
        <p:spPr>
          <a:xfrm>
            <a:off x="778669" y="2311352"/>
            <a:ext cx="3536156" cy="282178"/>
          </a:xfrm>
          <a:prstGeom prst="rect">
            <a:avLst/>
          </a:prstGeom>
          <a:solidFill>
            <a:srgbClr val="E8F4F8"/>
          </a:solidFill>
          <a:ln/>
        </p:spPr>
      </p:sp>
      <p:sp>
        <p:nvSpPr>
          <p:cNvPr id="11" name="Shape 8"/>
          <p:cNvSpPr/>
          <p:nvPr/>
        </p:nvSpPr>
        <p:spPr>
          <a:xfrm>
            <a:off x="778669" y="2311352"/>
            <a:ext cx="21431" cy="282178"/>
          </a:xfrm>
          <a:prstGeom prst="rect">
            <a:avLst/>
          </a:prstGeom>
          <a:solidFill>
            <a:srgbClr val="2E5090"/>
          </a:solidFill>
          <a:ln/>
        </p:spPr>
      </p:sp>
      <p:sp>
        <p:nvSpPr>
          <p:cNvPr id="12" name="Text 9"/>
          <p:cNvSpPr/>
          <p:nvPr/>
        </p:nvSpPr>
        <p:spPr>
          <a:xfrm>
            <a:off x="778669"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Hierarchical feature learning with reduced computational complexity </a:t>
            </a:r>
            <a:endParaRPr lang="en-US" sz="680" dirty="0"/>
          </a:p>
        </p:txBody>
      </p:sp>
      <p:sp>
        <p:nvSpPr>
          <p:cNvPr id="13" name="Shape 10"/>
          <p:cNvSpPr/>
          <p:nvPr/>
        </p:nvSpPr>
        <p:spPr>
          <a:xfrm>
            <a:off x="4707731" y="1042639"/>
            <a:ext cx="3893344" cy="1729485"/>
          </a:xfrm>
          <a:prstGeom prst="rect">
            <a:avLst/>
          </a:prstGeom>
          <a:solidFill>
            <a:srgbClr val="F8F9FA"/>
          </a:solidFill>
          <a:ln/>
        </p:spPr>
      </p:sp>
      <p:sp>
        <p:nvSpPr>
          <p:cNvPr id="14" name="Shape 11"/>
          <p:cNvSpPr/>
          <p:nvPr/>
        </p:nvSpPr>
        <p:spPr>
          <a:xfrm>
            <a:off x="4707731" y="1042639"/>
            <a:ext cx="28575" cy="1729485"/>
          </a:xfrm>
          <a:prstGeom prst="rect">
            <a:avLst/>
          </a:prstGeom>
          <a:solidFill>
            <a:srgbClr val="2E5090"/>
          </a:solidFill>
          <a:ln/>
        </p:spPr>
      </p:sp>
      <p:sp>
        <p:nvSpPr>
          <p:cNvPr id="15" name="Shape 12"/>
          <p:cNvSpPr/>
          <p:nvPr/>
        </p:nvSpPr>
        <p:spPr>
          <a:xfrm>
            <a:off x="4886325" y="1221233"/>
            <a:ext cx="357188" cy="357188"/>
          </a:xfrm>
          <a:prstGeom prst="rect">
            <a:avLst/>
          </a:prstGeom>
          <a:solidFill>
            <a:srgbClr val="FFFFFF"/>
          </a:solidFill>
          <a:ln w="198">
            <a:solidFill>
              <a:srgbClr val="F39C12"/>
            </a:solidFill>
            <a:prstDash val="solid"/>
          </a:ln>
        </p:spPr>
      </p:sp>
      <p:sp>
        <p:nvSpPr>
          <p:cNvPr id="16" name="Text 13"/>
          <p:cNvSpPr/>
          <p:nvPr/>
        </p:nvSpPr>
        <p:spPr>
          <a:xfrm>
            <a:off x="4886325"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2</a:t>
            </a:r>
            <a:endParaRPr lang="en-US" sz="1800" dirty="0"/>
          </a:p>
        </p:txBody>
      </p:sp>
      <p:sp>
        <p:nvSpPr>
          <p:cNvPr id="17" name="Text 14"/>
          <p:cNvSpPr/>
          <p:nvPr/>
        </p:nvSpPr>
        <p:spPr>
          <a:xfrm>
            <a:off x="5350669" y="1314102"/>
            <a:ext cx="126371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High-Resolution Input</a:t>
            </a:r>
            <a:endParaRPr lang="en-US" sz="837" dirty="0"/>
          </a:p>
        </p:txBody>
      </p:sp>
      <p:sp>
        <p:nvSpPr>
          <p:cNvPr id="18" name="Text 15"/>
          <p:cNvSpPr/>
          <p:nvPr/>
        </p:nvSpPr>
        <p:spPr>
          <a:xfrm>
            <a:off x="4886325"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Training on 384×384 pixel images (vs. standard 224×224) allows the model to capture finer details and morphological characteristics of fungal structures. </a:t>
            </a:r>
            <a:endParaRPr lang="en-US" sz="732" dirty="0"/>
          </a:p>
        </p:txBody>
      </p:sp>
      <p:sp>
        <p:nvSpPr>
          <p:cNvPr id="19" name="Shape 16"/>
          <p:cNvSpPr/>
          <p:nvPr/>
        </p:nvSpPr>
        <p:spPr>
          <a:xfrm>
            <a:off x="4886325" y="2311352"/>
            <a:ext cx="3536156" cy="282178"/>
          </a:xfrm>
          <a:prstGeom prst="rect">
            <a:avLst/>
          </a:prstGeom>
          <a:solidFill>
            <a:srgbClr val="E8F4F8"/>
          </a:solidFill>
          <a:ln/>
        </p:spPr>
      </p:sp>
      <p:sp>
        <p:nvSpPr>
          <p:cNvPr id="20" name="Shape 17"/>
          <p:cNvSpPr/>
          <p:nvPr/>
        </p:nvSpPr>
        <p:spPr>
          <a:xfrm>
            <a:off x="4886325" y="2311352"/>
            <a:ext cx="21431" cy="282178"/>
          </a:xfrm>
          <a:prstGeom prst="rect">
            <a:avLst/>
          </a:prstGeom>
          <a:solidFill>
            <a:srgbClr val="2E5090"/>
          </a:solidFill>
          <a:ln/>
        </p:spPr>
      </p:sp>
      <p:sp>
        <p:nvSpPr>
          <p:cNvPr id="21" name="Text 18"/>
          <p:cNvSpPr/>
          <p:nvPr/>
        </p:nvSpPr>
        <p:spPr>
          <a:xfrm>
            <a:off x="4886325"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Preserves critical microscopic details for accurate classification </a:t>
            </a:r>
            <a:endParaRPr lang="en-US" sz="680" dirty="0"/>
          </a:p>
        </p:txBody>
      </p:sp>
      <p:sp>
        <p:nvSpPr>
          <p:cNvPr id="22" name="Shape 19"/>
          <p:cNvSpPr/>
          <p:nvPr/>
        </p:nvSpPr>
        <p:spPr>
          <a:xfrm>
            <a:off x="600075" y="2986437"/>
            <a:ext cx="3893344" cy="1868788"/>
          </a:xfrm>
          <a:prstGeom prst="rect">
            <a:avLst/>
          </a:prstGeom>
          <a:solidFill>
            <a:srgbClr val="F8F9FA"/>
          </a:solidFill>
          <a:ln/>
        </p:spPr>
      </p:sp>
      <p:sp>
        <p:nvSpPr>
          <p:cNvPr id="23" name="Shape 20"/>
          <p:cNvSpPr/>
          <p:nvPr/>
        </p:nvSpPr>
        <p:spPr>
          <a:xfrm>
            <a:off x="600075" y="2986437"/>
            <a:ext cx="28575" cy="1868788"/>
          </a:xfrm>
          <a:prstGeom prst="rect">
            <a:avLst/>
          </a:prstGeom>
          <a:solidFill>
            <a:srgbClr val="2E5090"/>
          </a:solidFill>
          <a:ln/>
        </p:spPr>
      </p:sp>
      <p:sp>
        <p:nvSpPr>
          <p:cNvPr id="24" name="Shape 21"/>
          <p:cNvSpPr/>
          <p:nvPr/>
        </p:nvSpPr>
        <p:spPr>
          <a:xfrm>
            <a:off x="778669" y="3165030"/>
            <a:ext cx="357188" cy="357188"/>
          </a:xfrm>
          <a:prstGeom prst="rect">
            <a:avLst/>
          </a:prstGeom>
          <a:solidFill>
            <a:srgbClr val="FFFFFF"/>
          </a:solidFill>
          <a:ln w="198">
            <a:solidFill>
              <a:srgbClr val="F39C12"/>
            </a:solidFill>
            <a:prstDash val="solid"/>
          </a:ln>
        </p:spPr>
      </p:sp>
      <p:sp>
        <p:nvSpPr>
          <p:cNvPr id="25" name="Text 22"/>
          <p:cNvSpPr/>
          <p:nvPr/>
        </p:nvSpPr>
        <p:spPr>
          <a:xfrm>
            <a:off x="778669"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3</a:t>
            </a:r>
            <a:endParaRPr lang="en-US" sz="1800" dirty="0"/>
          </a:p>
        </p:txBody>
      </p:sp>
      <p:sp>
        <p:nvSpPr>
          <p:cNvPr id="26" name="Text 23"/>
          <p:cNvSpPr/>
          <p:nvPr/>
        </p:nvSpPr>
        <p:spPr>
          <a:xfrm>
            <a:off x="1243013" y="3257899"/>
            <a:ext cx="1424983"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a:t>
            </a:r>
            <a:endParaRPr lang="en-US" sz="837" dirty="0"/>
          </a:p>
        </p:txBody>
      </p:sp>
      <p:sp>
        <p:nvSpPr>
          <p:cNvPr id="27" name="Text 24"/>
          <p:cNvSpPr/>
          <p:nvPr/>
        </p:nvSpPr>
        <p:spPr>
          <a:xfrm>
            <a:off x="778669"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MixUp/CutMix augmentation combined with Automatic Mixed Precision (AMP) training enhances model robustness and prevents overfitting while improving computational efficiency. </a:t>
            </a:r>
            <a:endParaRPr lang="en-US" sz="732" dirty="0"/>
          </a:p>
        </p:txBody>
      </p:sp>
      <p:sp>
        <p:nvSpPr>
          <p:cNvPr id="28" name="Shape 25"/>
          <p:cNvSpPr/>
          <p:nvPr/>
        </p:nvSpPr>
        <p:spPr>
          <a:xfrm>
            <a:off x="778669" y="4255150"/>
            <a:ext cx="3536156" cy="282178"/>
          </a:xfrm>
          <a:prstGeom prst="rect">
            <a:avLst/>
          </a:prstGeom>
          <a:solidFill>
            <a:srgbClr val="E8F4F8"/>
          </a:solidFill>
          <a:ln/>
        </p:spPr>
      </p:sp>
      <p:sp>
        <p:nvSpPr>
          <p:cNvPr id="29" name="Shape 26"/>
          <p:cNvSpPr/>
          <p:nvPr/>
        </p:nvSpPr>
        <p:spPr>
          <a:xfrm>
            <a:off x="778669" y="4255150"/>
            <a:ext cx="21431" cy="282178"/>
          </a:xfrm>
          <a:prstGeom prst="rect">
            <a:avLst/>
          </a:prstGeom>
          <a:solidFill>
            <a:srgbClr val="2E5090"/>
          </a:solidFill>
          <a:ln/>
        </p:spPr>
      </p:sp>
      <p:sp>
        <p:nvSpPr>
          <p:cNvPr id="30" name="Text 27"/>
          <p:cNvSpPr/>
          <p:nvPr/>
        </p:nvSpPr>
        <p:spPr>
          <a:xfrm>
            <a:off x="778669"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Improved generalization and faster training without accuracy loss </a:t>
            </a:r>
            <a:endParaRPr lang="en-US" sz="680" dirty="0"/>
          </a:p>
        </p:txBody>
      </p:sp>
      <p:sp>
        <p:nvSpPr>
          <p:cNvPr id="31" name="Shape 28"/>
          <p:cNvSpPr/>
          <p:nvPr/>
        </p:nvSpPr>
        <p:spPr>
          <a:xfrm>
            <a:off x="4707731" y="2986437"/>
            <a:ext cx="3893344" cy="1868788"/>
          </a:xfrm>
          <a:prstGeom prst="rect">
            <a:avLst/>
          </a:prstGeom>
          <a:solidFill>
            <a:srgbClr val="F8F9FA"/>
          </a:solidFill>
          <a:ln/>
        </p:spPr>
      </p:sp>
      <p:sp>
        <p:nvSpPr>
          <p:cNvPr id="32" name="Shape 29"/>
          <p:cNvSpPr/>
          <p:nvPr/>
        </p:nvSpPr>
        <p:spPr>
          <a:xfrm>
            <a:off x="4707731" y="2986437"/>
            <a:ext cx="28575" cy="1868788"/>
          </a:xfrm>
          <a:prstGeom prst="rect">
            <a:avLst/>
          </a:prstGeom>
          <a:solidFill>
            <a:srgbClr val="2E5090"/>
          </a:solidFill>
          <a:ln/>
        </p:spPr>
      </p:sp>
      <p:sp>
        <p:nvSpPr>
          <p:cNvPr id="33" name="Shape 30"/>
          <p:cNvSpPr/>
          <p:nvPr/>
        </p:nvSpPr>
        <p:spPr>
          <a:xfrm>
            <a:off x="4886325" y="3165030"/>
            <a:ext cx="357188" cy="357188"/>
          </a:xfrm>
          <a:prstGeom prst="rect">
            <a:avLst/>
          </a:prstGeom>
          <a:solidFill>
            <a:srgbClr val="FFFFFF"/>
          </a:solidFill>
          <a:ln w="198">
            <a:solidFill>
              <a:srgbClr val="F39C12"/>
            </a:solidFill>
            <a:prstDash val="solid"/>
          </a:ln>
        </p:spPr>
      </p:sp>
      <p:sp>
        <p:nvSpPr>
          <p:cNvPr id="34" name="Text 31"/>
          <p:cNvSpPr/>
          <p:nvPr/>
        </p:nvSpPr>
        <p:spPr>
          <a:xfrm>
            <a:off x="4886325"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4</a:t>
            </a:r>
            <a:endParaRPr lang="en-US" sz="1800" dirty="0"/>
          </a:p>
        </p:txBody>
      </p:sp>
      <p:sp>
        <p:nvSpPr>
          <p:cNvPr id="35" name="Text 32"/>
          <p:cNvSpPr/>
          <p:nvPr/>
        </p:nvSpPr>
        <p:spPr>
          <a:xfrm>
            <a:off x="5350669" y="3257899"/>
            <a:ext cx="1048262"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Model Ensembling</a:t>
            </a:r>
            <a:endParaRPr lang="en-US" sz="837" dirty="0"/>
          </a:p>
        </p:txBody>
      </p:sp>
      <p:sp>
        <p:nvSpPr>
          <p:cNvPr id="36" name="Text 33"/>
          <p:cNvSpPr/>
          <p:nvPr/>
        </p:nvSpPr>
        <p:spPr>
          <a:xfrm>
            <a:off x="4886325"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Leveraging the diversity of 5-fold cross-validation models creates a highly robust final predictor by combining predictions from multiple independently trained models. </a:t>
            </a:r>
            <a:endParaRPr lang="en-US" sz="732" dirty="0"/>
          </a:p>
        </p:txBody>
      </p:sp>
      <p:sp>
        <p:nvSpPr>
          <p:cNvPr id="37" name="Shape 34"/>
          <p:cNvSpPr/>
          <p:nvPr/>
        </p:nvSpPr>
        <p:spPr>
          <a:xfrm>
            <a:off x="4886325" y="4255150"/>
            <a:ext cx="3536156" cy="282178"/>
          </a:xfrm>
          <a:prstGeom prst="rect">
            <a:avLst/>
          </a:prstGeom>
          <a:solidFill>
            <a:srgbClr val="E8F4F8"/>
          </a:solidFill>
          <a:ln/>
        </p:spPr>
      </p:sp>
      <p:sp>
        <p:nvSpPr>
          <p:cNvPr id="38" name="Shape 35"/>
          <p:cNvSpPr/>
          <p:nvPr/>
        </p:nvSpPr>
        <p:spPr>
          <a:xfrm>
            <a:off x="4886325" y="4255150"/>
            <a:ext cx="21431" cy="282178"/>
          </a:xfrm>
          <a:prstGeom prst="rect">
            <a:avLst/>
          </a:prstGeom>
          <a:solidFill>
            <a:srgbClr val="2E5090"/>
          </a:solidFill>
          <a:ln/>
        </p:spPr>
      </p:sp>
      <p:sp>
        <p:nvSpPr>
          <p:cNvPr id="39" name="Text 36"/>
          <p:cNvSpPr/>
          <p:nvPr/>
        </p:nvSpPr>
        <p:spPr>
          <a:xfrm>
            <a:off x="4886325"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Ensemble voting reduces individual model biases (+0.58% accuracy gain) </a:t>
            </a:r>
            <a:endParaRPr lang="en-US" sz="680" dirty="0"/>
          </a:p>
        </p:txBody>
      </p:sp>
      <p:pic>
        <p:nvPicPr>
          <p:cNvPr id="40" name="Picture 39">
            <a:extLst>
              <a:ext uri="{FF2B5EF4-FFF2-40B4-BE49-F238E27FC236}">
                <a16:creationId xmlns:a16="http://schemas.microsoft.com/office/drawing/2014/main" id="{8E9F658B-32A1-E2B0-DB78-02075F63E112}"/>
              </a:ext>
            </a:extLst>
          </p:cNvPr>
          <p:cNvPicPr>
            <a:picLocks noChangeAspect="1"/>
          </p:cNvPicPr>
          <p:nvPr/>
        </p:nvPicPr>
        <p:blipFill>
          <a:blip r:embed="rId4"/>
          <a:stretch>
            <a:fillRect/>
          </a:stretch>
        </p:blipFill>
        <p:spPr>
          <a:xfrm>
            <a:off x="7994233" y="-39263"/>
            <a:ext cx="1141859" cy="1141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1472"/>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Framework &amp; Input</a:t>
            </a:r>
            <a:endParaRPr lang="en-US" sz="2700" dirty="0"/>
          </a:p>
        </p:txBody>
      </p:sp>
      <p:sp>
        <p:nvSpPr>
          <p:cNvPr id="4" name="Shape 1"/>
          <p:cNvSpPr/>
          <p:nvPr/>
        </p:nvSpPr>
        <p:spPr>
          <a:xfrm>
            <a:off x="571501" y="1457325"/>
            <a:ext cx="8001000" cy="342900"/>
          </a:xfrm>
          <a:prstGeom prst="rect">
            <a:avLst/>
          </a:prstGeom>
          <a:solidFill>
            <a:srgbClr val="2E5090"/>
          </a:solidFill>
          <a:ln/>
        </p:spPr>
      </p:sp>
      <p:sp>
        <p:nvSpPr>
          <p:cNvPr id="5" name="Text 2"/>
          <p:cNvSpPr/>
          <p:nvPr/>
        </p:nvSpPr>
        <p:spPr>
          <a:xfrm>
            <a:off x="571501" y="1457325"/>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Framework &amp; Pre-training</a:t>
            </a:r>
            <a:endParaRPr lang="en-US" sz="837" dirty="0"/>
          </a:p>
        </p:txBody>
      </p:sp>
      <p:sp>
        <p:nvSpPr>
          <p:cNvPr id="6" name="Text 3"/>
          <p:cNvSpPr/>
          <p:nvPr/>
        </p:nvSpPr>
        <p:spPr>
          <a:xfrm>
            <a:off x="571501" y="1993106"/>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Framework</a:t>
            </a:r>
            <a:endParaRPr lang="en-US" sz="732" dirty="0"/>
          </a:p>
        </p:txBody>
      </p:sp>
      <p:sp>
        <p:nvSpPr>
          <p:cNvPr id="7" name="Text 4"/>
          <p:cNvSpPr/>
          <p:nvPr/>
        </p:nvSpPr>
        <p:spPr>
          <a:xfrm>
            <a:off x="1643064" y="2000250"/>
            <a:ext cx="38425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PyTorch</a:t>
            </a:r>
            <a:endParaRPr lang="en-US" sz="732" dirty="0"/>
          </a:p>
        </p:txBody>
      </p:sp>
      <p:sp>
        <p:nvSpPr>
          <p:cNvPr id="8" name="Text 5"/>
          <p:cNvSpPr/>
          <p:nvPr/>
        </p:nvSpPr>
        <p:spPr>
          <a:xfrm>
            <a:off x="2027319" y="2000250"/>
            <a:ext cx="830126"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timm library</a:t>
            </a:r>
            <a:endParaRPr lang="en-US" sz="732" dirty="0"/>
          </a:p>
        </p:txBody>
      </p:sp>
      <p:sp>
        <p:nvSpPr>
          <p:cNvPr id="9" name="Text 6"/>
          <p:cNvSpPr/>
          <p:nvPr/>
        </p:nvSpPr>
        <p:spPr>
          <a:xfrm>
            <a:off x="571501" y="232171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Pre-training</a:t>
            </a:r>
            <a:endParaRPr lang="en-US" sz="732" dirty="0"/>
          </a:p>
        </p:txBody>
      </p:sp>
      <p:sp>
        <p:nvSpPr>
          <p:cNvPr id="10" name="Text 7"/>
          <p:cNvSpPr/>
          <p:nvPr/>
        </p:nvSpPr>
        <p:spPr>
          <a:xfrm>
            <a:off x="1643064" y="2328863"/>
            <a:ext cx="696404"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ImageNet-21k</a:t>
            </a:r>
            <a:endParaRPr lang="en-US" sz="732" dirty="0"/>
          </a:p>
        </p:txBody>
      </p:sp>
      <p:sp>
        <p:nvSpPr>
          <p:cNvPr id="11" name="Text 8"/>
          <p:cNvSpPr/>
          <p:nvPr/>
        </p:nvSpPr>
        <p:spPr>
          <a:xfrm>
            <a:off x="2339468" y="2328863"/>
            <a:ext cx="3941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weights</a:t>
            </a:r>
            <a:endParaRPr lang="en-US" sz="732" dirty="0"/>
          </a:p>
        </p:txBody>
      </p:sp>
      <p:sp>
        <p:nvSpPr>
          <p:cNvPr id="12" name="Text 9"/>
          <p:cNvSpPr/>
          <p:nvPr/>
        </p:nvSpPr>
        <p:spPr>
          <a:xfrm>
            <a:off x="571501" y="265033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Model Variant</a:t>
            </a:r>
            <a:endParaRPr lang="en-US" sz="732" dirty="0"/>
          </a:p>
        </p:txBody>
      </p:sp>
      <p:sp>
        <p:nvSpPr>
          <p:cNvPr id="13" name="Text 10"/>
          <p:cNvSpPr/>
          <p:nvPr/>
        </p:nvSpPr>
        <p:spPr>
          <a:xfrm>
            <a:off x="1643064" y="2657475"/>
            <a:ext cx="61578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SwinV2-Base</a:t>
            </a:r>
            <a:endParaRPr lang="en-US" sz="732" dirty="0"/>
          </a:p>
        </p:txBody>
      </p:sp>
      <p:sp>
        <p:nvSpPr>
          <p:cNvPr id="14" name="Shape 11"/>
          <p:cNvSpPr/>
          <p:nvPr/>
        </p:nvSpPr>
        <p:spPr>
          <a:xfrm>
            <a:off x="571501" y="3100388"/>
            <a:ext cx="8001000" cy="342900"/>
          </a:xfrm>
          <a:prstGeom prst="rect">
            <a:avLst/>
          </a:prstGeom>
          <a:solidFill>
            <a:srgbClr val="2E5090"/>
          </a:solidFill>
          <a:ln/>
        </p:spPr>
      </p:sp>
      <p:sp>
        <p:nvSpPr>
          <p:cNvPr id="15" name="Text 12"/>
          <p:cNvSpPr/>
          <p:nvPr/>
        </p:nvSpPr>
        <p:spPr>
          <a:xfrm>
            <a:off x="571501" y="3100388"/>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Input Configuration</a:t>
            </a:r>
            <a:endParaRPr lang="en-US" sz="837" dirty="0"/>
          </a:p>
        </p:txBody>
      </p:sp>
      <p:sp>
        <p:nvSpPr>
          <p:cNvPr id="16" name="Text 13"/>
          <p:cNvSpPr/>
          <p:nvPr/>
        </p:nvSpPr>
        <p:spPr>
          <a:xfrm>
            <a:off x="571501" y="363616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Input Resolution</a:t>
            </a:r>
            <a:endParaRPr lang="en-US" sz="732" dirty="0"/>
          </a:p>
        </p:txBody>
      </p:sp>
      <p:sp>
        <p:nvSpPr>
          <p:cNvPr id="17" name="Text 14"/>
          <p:cNvSpPr/>
          <p:nvPr/>
        </p:nvSpPr>
        <p:spPr>
          <a:xfrm>
            <a:off x="1643064" y="3643313"/>
            <a:ext cx="400469"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384×384</a:t>
            </a:r>
            <a:endParaRPr lang="en-US" sz="732" dirty="0"/>
          </a:p>
        </p:txBody>
      </p:sp>
      <p:sp>
        <p:nvSpPr>
          <p:cNvPr id="18" name="Text 15"/>
          <p:cNvSpPr/>
          <p:nvPr/>
        </p:nvSpPr>
        <p:spPr>
          <a:xfrm>
            <a:off x="2043532" y="3643313"/>
            <a:ext cx="294345"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pixels</a:t>
            </a:r>
            <a:endParaRPr lang="en-US" sz="732" dirty="0"/>
          </a:p>
        </p:txBody>
      </p:sp>
      <p:sp>
        <p:nvSpPr>
          <p:cNvPr id="19" name="Text 16"/>
          <p:cNvSpPr/>
          <p:nvPr/>
        </p:nvSpPr>
        <p:spPr>
          <a:xfrm>
            <a:off x="571501" y="396478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Batch Size</a:t>
            </a:r>
            <a:endParaRPr lang="en-US" sz="732" dirty="0"/>
          </a:p>
        </p:txBody>
      </p:sp>
      <p:sp>
        <p:nvSpPr>
          <p:cNvPr id="20" name="Text 17"/>
          <p:cNvSpPr/>
          <p:nvPr/>
        </p:nvSpPr>
        <p:spPr>
          <a:xfrm>
            <a:off x="1643064" y="3971925"/>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32</a:t>
            </a:r>
            <a:endParaRPr lang="en-US" sz="732" dirty="0"/>
          </a:p>
        </p:txBody>
      </p:sp>
      <p:sp>
        <p:nvSpPr>
          <p:cNvPr id="21" name="Text 18"/>
          <p:cNvSpPr/>
          <p:nvPr/>
        </p:nvSpPr>
        <p:spPr>
          <a:xfrm>
            <a:off x="571501" y="429339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Normalization</a:t>
            </a:r>
            <a:endParaRPr lang="en-US" sz="732" dirty="0"/>
          </a:p>
        </p:txBody>
      </p:sp>
      <p:sp>
        <p:nvSpPr>
          <p:cNvPr id="22" name="Text 19"/>
          <p:cNvSpPr/>
          <p:nvPr/>
        </p:nvSpPr>
        <p:spPr>
          <a:xfrm>
            <a:off x="1643064" y="4293394"/>
            <a:ext cx="6929438" cy="150019"/>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ImageNet statistics (mean: [0.485, 0.456, 0.406], std: [0.229, 0.224, 0.225])</a:t>
            </a:r>
            <a:endParaRPr lang="en-US" sz="732" dirty="0"/>
          </a:p>
        </p:txBody>
      </p:sp>
      <p:sp>
        <p:nvSpPr>
          <p:cNvPr id="23" name="Text 20"/>
          <p:cNvSpPr/>
          <p:nvPr/>
        </p:nvSpPr>
        <p:spPr>
          <a:xfrm>
            <a:off x="510541" y="4655939"/>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Training Parameters, Optimization, and Advanced Regularization Techniques </a:t>
            </a:r>
            <a:endParaRPr lang="en-US" sz="680" dirty="0"/>
          </a:p>
        </p:txBody>
      </p:sp>
      <p:pic>
        <p:nvPicPr>
          <p:cNvPr id="24" name="Picture 23">
            <a:extLst>
              <a:ext uri="{FF2B5EF4-FFF2-40B4-BE49-F238E27FC236}">
                <a16:creationId xmlns:a16="http://schemas.microsoft.com/office/drawing/2014/main" id="{F0EBEB53-136D-F17C-1C3D-C72A7E54F7D9}"/>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823496"/>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Optimization &amp; Regularization</a:t>
            </a:r>
            <a:endParaRPr lang="en-US" sz="2700" dirty="0"/>
          </a:p>
        </p:txBody>
      </p:sp>
      <p:sp>
        <p:nvSpPr>
          <p:cNvPr id="4" name="Shape 1"/>
          <p:cNvSpPr/>
          <p:nvPr/>
        </p:nvSpPr>
        <p:spPr>
          <a:xfrm>
            <a:off x="600075" y="1559123"/>
            <a:ext cx="3857625" cy="342900"/>
          </a:xfrm>
          <a:prstGeom prst="rect">
            <a:avLst/>
          </a:prstGeom>
          <a:solidFill>
            <a:srgbClr val="2E5090"/>
          </a:solidFill>
          <a:ln/>
        </p:spPr>
      </p:sp>
      <p:sp>
        <p:nvSpPr>
          <p:cNvPr id="5" name="Text 2"/>
          <p:cNvSpPr/>
          <p:nvPr/>
        </p:nvSpPr>
        <p:spPr>
          <a:xfrm>
            <a:off x="600075"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Training Parameters</a:t>
            </a:r>
            <a:endParaRPr lang="en-US" sz="837" dirty="0"/>
          </a:p>
        </p:txBody>
      </p:sp>
      <p:sp>
        <p:nvSpPr>
          <p:cNvPr id="6" name="Text 3"/>
          <p:cNvSpPr/>
          <p:nvPr/>
        </p:nvSpPr>
        <p:spPr>
          <a:xfrm>
            <a:off x="600075"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Max Epochs</a:t>
            </a:r>
            <a:endParaRPr lang="en-US" sz="732" dirty="0"/>
          </a:p>
        </p:txBody>
      </p:sp>
      <p:sp>
        <p:nvSpPr>
          <p:cNvPr id="7" name="Text 4"/>
          <p:cNvSpPr/>
          <p:nvPr/>
        </p:nvSpPr>
        <p:spPr>
          <a:xfrm>
            <a:off x="1671638" y="2102048"/>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75</a:t>
            </a:r>
            <a:endParaRPr lang="en-US" sz="732" dirty="0"/>
          </a:p>
        </p:txBody>
      </p:sp>
      <p:sp>
        <p:nvSpPr>
          <p:cNvPr id="8" name="Text 5"/>
          <p:cNvSpPr/>
          <p:nvPr/>
        </p:nvSpPr>
        <p:spPr>
          <a:xfrm>
            <a:off x="600075"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Early Stopping</a:t>
            </a:r>
            <a:endParaRPr lang="en-US" sz="732" dirty="0"/>
          </a:p>
        </p:txBody>
      </p:sp>
      <p:sp>
        <p:nvSpPr>
          <p:cNvPr id="9" name="Text 6"/>
          <p:cNvSpPr/>
          <p:nvPr/>
        </p:nvSpPr>
        <p:spPr>
          <a:xfrm>
            <a:off x="1671638" y="2430661"/>
            <a:ext cx="91283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Triggered at epoch </a:t>
            </a:r>
            <a:endParaRPr lang="en-US" sz="732" dirty="0"/>
          </a:p>
        </p:txBody>
      </p:sp>
      <p:sp>
        <p:nvSpPr>
          <p:cNvPr id="10" name="Text 7"/>
          <p:cNvSpPr/>
          <p:nvPr/>
        </p:nvSpPr>
        <p:spPr>
          <a:xfrm>
            <a:off x="2584475" y="2430661"/>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48</a:t>
            </a:r>
            <a:endParaRPr lang="en-US" sz="732" dirty="0"/>
          </a:p>
        </p:txBody>
      </p:sp>
      <p:sp>
        <p:nvSpPr>
          <p:cNvPr id="11" name="Text 8"/>
          <p:cNvSpPr/>
          <p:nvPr/>
        </p:nvSpPr>
        <p:spPr>
          <a:xfrm>
            <a:off x="2698914" y="2430661"/>
            <a:ext cx="101653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(Patience: 15 epochs)</a:t>
            </a:r>
            <a:endParaRPr lang="en-US" sz="732" dirty="0"/>
          </a:p>
        </p:txBody>
      </p:sp>
      <p:sp>
        <p:nvSpPr>
          <p:cNvPr id="12" name="Text 9"/>
          <p:cNvSpPr/>
          <p:nvPr/>
        </p:nvSpPr>
        <p:spPr>
          <a:xfrm>
            <a:off x="600075"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Loss Function</a:t>
            </a:r>
            <a:endParaRPr lang="en-US" sz="732" dirty="0"/>
          </a:p>
        </p:txBody>
      </p:sp>
      <p:sp>
        <p:nvSpPr>
          <p:cNvPr id="13" name="Text 10"/>
          <p:cNvSpPr/>
          <p:nvPr/>
        </p:nvSpPr>
        <p:spPr>
          <a:xfrm>
            <a:off x="1671638" y="2759273"/>
            <a:ext cx="115025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SoftTargetCrossEntropy</a:t>
            </a:r>
            <a:endParaRPr lang="en-US" sz="732" dirty="0"/>
          </a:p>
        </p:txBody>
      </p:sp>
      <p:sp>
        <p:nvSpPr>
          <p:cNvPr id="14" name="Shape 11"/>
          <p:cNvSpPr/>
          <p:nvPr/>
        </p:nvSpPr>
        <p:spPr>
          <a:xfrm>
            <a:off x="4743450" y="1559123"/>
            <a:ext cx="3857625" cy="342900"/>
          </a:xfrm>
          <a:prstGeom prst="rect">
            <a:avLst/>
          </a:prstGeom>
          <a:solidFill>
            <a:srgbClr val="2E5090"/>
          </a:solidFill>
          <a:ln/>
        </p:spPr>
      </p:sp>
      <p:sp>
        <p:nvSpPr>
          <p:cNvPr id="15" name="Text 12"/>
          <p:cNvSpPr/>
          <p:nvPr/>
        </p:nvSpPr>
        <p:spPr>
          <a:xfrm>
            <a:off x="4743450"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Optimization</a:t>
            </a:r>
            <a:endParaRPr lang="en-US" sz="837" dirty="0"/>
          </a:p>
        </p:txBody>
      </p:sp>
      <p:sp>
        <p:nvSpPr>
          <p:cNvPr id="16" name="Text 13"/>
          <p:cNvSpPr/>
          <p:nvPr/>
        </p:nvSpPr>
        <p:spPr>
          <a:xfrm>
            <a:off x="4743450"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Optimizer</a:t>
            </a:r>
            <a:endParaRPr lang="en-US" sz="732" dirty="0"/>
          </a:p>
        </p:txBody>
      </p:sp>
      <p:sp>
        <p:nvSpPr>
          <p:cNvPr id="17" name="Text 14"/>
          <p:cNvSpPr/>
          <p:nvPr/>
        </p:nvSpPr>
        <p:spPr>
          <a:xfrm>
            <a:off x="5815013" y="2102048"/>
            <a:ext cx="38026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AdamW</a:t>
            </a:r>
            <a:endParaRPr lang="en-US" sz="732" dirty="0"/>
          </a:p>
        </p:txBody>
      </p:sp>
      <p:sp>
        <p:nvSpPr>
          <p:cNvPr id="18" name="Text 15"/>
          <p:cNvSpPr/>
          <p:nvPr/>
        </p:nvSpPr>
        <p:spPr>
          <a:xfrm>
            <a:off x="4743450"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Learning Rate</a:t>
            </a:r>
            <a:endParaRPr lang="en-US" sz="732" dirty="0"/>
          </a:p>
        </p:txBody>
      </p:sp>
      <p:sp>
        <p:nvSpPr>
          <p:cNvPr id="19" name="Text 16"/>
          <p:cNvSpPr/>
          <p:nvPr/>
        </p:nvSpPr>
        <p:spPr>
          <a:xfrm>
            <a:off x="5815013" y="2430661"/>
            <a:ext cx="30076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5×10⁻⁵</a:t>
            </a:r>
            <a:endParaRPr lang="en-US" sz="732" dirty="0"/>
          </a:p>
        </p:txBody>
      </p:sp>
      <p:sp>
        <p:nvSpPr>
          <p:cNvPr id="20" name="Text 17"/>
          <p:cNvSpPr/>
          <p:nvPr/>
        </p:nvSpPr>
        <p:spPr>
          <a:xfrm>
            <a:off x="6115776" y="2430661"/>
            <a:ext cx="34326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(initial)</a:t>
            </a:r>
            <a:endParaRPr lang="en-US" sz="732" dirty="0"/>
          </a:p>
        </p:txBody>
      </p:sp>
      <p:sp>
        <p:nvSpPr>
          <p:cNvPr id="21" name="Text 18"/>
          <p:cNvSpPr/>
          <p:nvPr/>
        </p:nvSpPr>
        <p:spPr>
          <a:xfrm>
            <a:off x="4743450"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Weight Decay</a:t>
            </a:r>
            <a:endParaRPr lang="en-US" sz="732" dirty="0"/>
          </a:p>
        </p:txBody>
      </p:sp>
      <p:sp>
        <p:nvSpPr>
          <p:cNvPr id="22" name="Text 19"/>
          <p:cNvSpPr/>
          <p:nvPr/>
        </p:nvSpPr>
        <p:spPr>
          <a:xfrm>
            <a:off x="5815013" y="2759273"/>
            <a:ext cx="199551"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0.05</a:t>
            </a:r>
            <a:endParaRPr lang="en-US" sz="732" dirty="0"/>
          </a:p>
        </p:txBody>
      </p:sp>
      <p:sp>
        <p:nvSpPr>
          <p:cNvPr id="23" name="Text 20"/>
          <p:cNvSpPr/>
          <p:nvPr/>
        </p:nvSpPr>
        <p:spPr>
          <a:xfrm>
            <a:off x="4743450" y="3080742"/>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LR Scheduler</a:t>
            </a:r>
            <a:endParaRPr lang="en-US" sz="732" dirty="0"/>
          </a:p>
        </p:txBody>
      </p:sp>
      <p:sp>
        <p:nvSpPr>
          <p:cNvPr id="24" name="Text 21"/>
          <p:cNvSpPr/>
          <p:nvPr/>
        </p:nvSpPr>
        <p:spPr>
          <a:xfrm>
            <a:off x="5815013" y="3087886"/>
            <a:ext cx="84762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Cosine Annealing</a:t>
            </a:r>
            <a:endParaRPr lang="en-US" sz="732" dirty="0"/>
          </a:p>
        </p:txBody>
      </p:sp>
      <p:sp>
        <p:nvSpPr>
          <p:cNvPr id="25" name="Text 22"/>
          <p:cNvSpPr/>
          <p:nvPr/>
        </p:nvSpPr>
        <p:spPr>
          <a:xfrm>
            <a:off x="6662635" y="3087886"/>
            <a:ext cx="105085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5-epoch warmup</a:t>
            </a:r>
            <a:endParaRPr lang="en-US" sz="732" dirty="0"/>
          </a:p>
        </p:txBody>
      </p:sp>
      <p:sp>
        <p:nvSpPr>
          <p:cNvPr id="26" name="Shape 23"/>
          <p:cNvSpPr/>
          <p:nvPr/>
        </p:nvSpPr>
        <p:spPr>
          <a:xfrm>
            <a:off x="571500" y="3458809"/>
            <a:ext cx="8001000" cy="1222921"/>
          </a:xfrm>
          <a:prstGeom prst="rect">
            <a:avLst/>
          </a:prstGeom>
          <a:solidFill>
            <a:srgbClr val="E8F4F8"/>
          </a:solidFill>
          <a:ln/>
        </p:spPr>
      </p:sp>
      <p:sp>
        <p:nvSpPr>
          <p:cNvPr id="27" name="Shape 24"/>
          <p:cNvSpPr/>
          <p:nvPr/>
        </p:nvSpPr>
        <p:spPr>
          <a:xfrm>
            <a:off x="571500" y="3458809"/>
            <a:ext cx="28575" cy="1222921"/>
          </a:xfrm>
          <a:prstGeom prst="rect">
            <a:avLst/>
          </a:prstGeom>
          <a:solidFill>
            <a:srgbClr val="F39C12"/>
          </a:solidFill>
          <a:ln/>
        </p:spPr>
      </p:sp>
      <p:sp>
        <p:nvSpPr>
          <p:cNvPr id="28" name="Text 25"/>
          <p:cNvSpPr/>
          <p:nvPr/>
        </p:nvSpPr>
        <p:spPr>
          <a:xfrm>
            <a:off x="714375" y="3601684"/>
            <a:ext cx="7715250"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 Techniques</a:t>
            </a:r>
            <a:endParaRPr lang="en-US" sz="837" dirty="0"/>
          </a:p>
        </p:txBody>
      </p:sp>
      <p:sp>
        <p:nvSpPr>
          <p:cNvPr id="29" name="Text 26"/>
          <p:cNvSpPr/>
          <p:nvPr/>
        </p:nvSpPr>
        <p:spPr>
          <a:xfrm>
            <a:off x="714375" y="3874932"/>
            <a:ext cx="35004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MixUp:</a:t>
            </a:r>
            <a:endParaRPr lang="en-US" sz="732" dirty="0"/>
          </a:p>
        </p:txBody>
      </p:sp>
      <p:sp>
        <p:nvSpPr>
          <p:cNvPr id="30" name="Text 27"/>
          <p:cNvSpPr/>
          <p:nvPr/>
        </p:nvSpPr>
        <p:spPr>
          <a:xfrm>
            <a:off x="1064419" y="3874932"/>
            <a:ext cx="2749758"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0.8 — Blends pairs of training samples and their labels</a:t>
            </a:r>
            <a:endParaRPr lang="en-US" sz="732" dirty="0"/>
          </a:p>
        </p:txBody>
      </p:sp>
      <p:sp>
        <p:nvSpPr>
          <p:cNvPr id="31" name="Text 28"/>
          <p:cNvSpPr/>
          <p:nvPr/>
        </p:nvSpPr>
        <p:spPr>
          <a:xfrm>
            <a:off x="714375" y="4044931"/>
            <a:ext cx="383949"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CutMix:</a:t>
            </a:r>
            <a:endParaRPr lang="en-US" sz="732" dirty="0"/>
          </a:p>
        </p:txBody>
      </p:sp>
      <p:sp>
        <p:nvSpPr>
          <p:cNvPr id="32" name="Text 29"/>
          <p:cNvSpPr/>
          <p:nvPr/>
        </p:nvSpPr>
        <p:spPr>
          <a:xfrm>
            <a:off x="1098324" y="4044931"/>
            <a:ext cx="28249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1.0 — Cuts and pastes patches between training images</a:t>
            </a:r>
            <a:endParaRPr lang="en-US" sz="732" dirty="0"/>
          </a:p>
        </p:txBody>
      </p:sp>
      <p:sp>
        <p:nvSpPr>
          <p:cNvPr id="33" name="Text 30"/>
          <p:cNvSpPr/>
          <p:nvPr/>
        </p:nvSpPr>
        <p:spPr>
          <a:xfrm>
            <a:off x="714375" y="4214930"/>
            <a:ext cx="87011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Label Smoothing:</a:t>
            </a:r>
            <a:endParaRPr lang="en-US" sz="732" dirty="0"/>
          </a:p>
        </p:txBody>
      </p:sp>
      <p:sp>
        <p:nvSpPr>
          <p:cNvPr id="34" name="Text 31"/>
          <p:cNvSpPr/>
          <p:nvPr/>
        </p:nvSpPr>
        <p:spPr>
          <a:xfrm>
            <a:off x="1584489" y="4214930"/>
            <a:ext cx="2446511"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0.1 — Softens hard labels to improve generalization</a:t>
            </a:r>
            <a:endParaRPr lang="en-US" sz="732" dirty="0"/>
          </a:p>
        </p:txBody>
      </p:sp>
      <p:sp>
        <p:nvSpPr>
          <p:cNvPr id="35" name="Text 32"/>
          <p:cNvSpPr/>
          <p:nvPr/>
        </p:nvSpPr>
        <p:spPr>
          <a:xfrm>
            <a:off x="714375" y="4384929"/>
            <a:ext cx="1682521"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Automatic Mixed Precision (AMP):</a:t>
            </a:r>
            <a:endParaRPr lang="en-US" sz="732" dirty="0"/>
          </a:p>
        </p:txBody>
      </p:sp>
      <p:sp>
        <p:nvSpPr>
          <p:cNvPr id="36" name="Text 33"/>
          <p:cNvSpPr/>
          <p:nvPr/>
        </p:nvSpPr>
        <p:spPr>
          <a:xfrm>
            <a:off x="2396896" y="4384929"/>
            <a:ext cx="3453054"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Enabled — Uses lower precision for efficiency while maintaining accuracy </a:t>
            </a:r>
            <a:endParaRPr lang="en-US" sz="732" dirty="0"/>
          </a:p>
        </p:txBody>
      </p:sp>
      <p:pic>
        <p:nvPicPr>
          <p:cNvPr id="37" name="Picture 36">
            <a:extLst>
              <a:ext uri="{FF2B5EF4-FFF2-40B4-BE49-F238E27FC236}">
                <a16:creationId xmlns:a16="http://schemas.microsoft.com/office/drawing/2014/main" id="{0DDB109B-1E70-F061-7202-2F79A1D861BC}"/>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7920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4" name="Shape 1"/>
          <p:cNvSpPr/>
          <p:nvPr/>
        </p:nvSpPr>
        <p:spPr>
          <a:xfrm>
            <a:off x="497133" y="1935522"/>
            <a:ext cx="3930087" cy="2621238"/>
          </a:xfrm>
          <a:prstGeom prst="rect">
            <a:avLst/>
          </a:prstGeom>
          <a:solidFill>
            <a:srgbClr val="FFF3E0"/>
          </a:solidFill>
          <a:ln/>
        </p:spPr>
      </p:sp>
      <p:sp>
        <p:nvSpPr>
          <p:cNvPr id="5" name="Shape 2"/>
          <p:cNvSpPr/>
          <p:nvPr/>
        </p:nvSpPr>
        <p:spPr>
          <a:xfrm>
            <a:off x="497133" y="1935522"/>
            <a:ext cx="45719" cy="2621238"/>
          </a:xfrm>
          <a:prstGeom prst="rect">
            <a:avLst/>
          </a:prstGeom>
          <a:solidFill>
            <a:srgbClr val="F39C12"/>
          </a:solidFill>
          <a:ln/>
        </p:spPr>
      </p:sp>
      <p:sp>
        <p:nvSpPr>
          <p:cNvPr id="6" name="Text 3"/>
          <p:cNvSpPr/>
          <p:nvPr/>
        </p:nvSpPr>
        <p:spPr>
          <a:xfrm>
            <a:off x="643174" y="2056119"/>
            <a:ext cx="1398985" cy="215444"/>
          </a:xfrm>
          <a:prstGeom prst="rect">
            <a:avLst/>
          </a:prstGeom>
          <a:noFill/>
          <a:ln/>
        </p:spPr>
        <p:txBody>
          <a:bodyPr wrap="squar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The Challenge</a:t>
            </a:r>
            <a:endParaRPr lang="en-US" sz="1400" dirty="0"/>
          </a:p>
        </p:txBody>
      </p:sp>
      <p:sp>
        <p:nvSpPr>
          <p:cNvPr id="7" name="Text 4"/>
          <p:cNvSpPr/>
          <p:nvPr/>
        </p:nvSpPr>
        <p:spPr>
          <a:xfrm>
            <a:off x="650723" y="2399755"/>
            <a:ext cx="3668736" cy="1692771"/>
          </a:xfrm>
          <a:prstGeom prst="rect">
            <a:avLst/>
          </a:prstGeom>
          <a:noFill/>
          <a:ln/>
        </p:spPr>
        <p:txBody>
          <a:bodyPr wrap="square" lIns="0" tIns="0" rIns="0" bIns="0" rtlCol="0" anchor="ctr">
            <a:spAutoFit/>
          </a:bodyPr>
          <a:lstStyle/>
          <a:p>
            <a:r>
              <a:rPr lang="en-US" sz="1400" dirty="0">
                <a:solidFill>
                  <a:srgbClr val="34495E"/>
                </a:solidFill>
                <a:latin typeface="Noto Sans" pitchFamily="34" charset="0"/>
                <a:ea typeface="Noto Sans" pitchFamily="34" charset="-122"/>
                <a:cs typeface="Noto Sans" pitchFamily="34" charset="-120"/>
              </a:rPr>
              <a:t>All models, including the best-performing </a:t>
            </a:r>
            <a:r>
              <a:rPr lang="en-US" sz="1200" dirty="0">
                <a:solidFill>
                  <a:srgbClr val="34495E"/>
                </a:solidFill>
                <a:latin typeface="Noto Sans" pitchFamily="34" charset="0"/>
                <a:ea typeface="Noto Sans" pitchFamily="34" charset="-122"/>
                <a:cs typeface="Noto Sans" pitchFamily="34" charset="-120"/>
              </a:rPr>
              <a:t>SwinV2-Base Ensemble, struggled to differentiate between </a:t>
            </a:r>
            <a:r>
              <a:rPr lang="en-US" sz="1200" b="1" kern="1200" dirty="0">
                <a:solidFill>
                  <a:srgbClr val="F39C12"/>
                </a:solidFill>
                <a:effectLst/>
                <a:latin typeface="Noto Sans" panose="020B0502040504020204" pitchFamily="34" charset="0"/>
                <a:ea typeface="Noto Sans" panose="020B0502040504020204" pitchFamily="34" charset="0"/>
                <a:cs typeface="Noto Sans" panose="020B0502040504020204" pitchFamily="34" charset="0"/>
              </a:rPr>
              <a:t>Classes H1 and H2</a:t>
            </a:r>
            <a:r>
              <a:rPr lang="en-US" sz="1400" dirty="0">
                <a:solidFill>
                  <a:srgbClr val="34495E"/>
                </a:solidFill>
                <a:latin typeface="Noto Sans" pitchFamily="34" charset="0"/>
                <a:ea typeface="Noto Sans" pitchFamily="34" charset="-122"/>
                <a:cs typeface="Noto Sans" pitchFamily="34" charset="-120"/>
              </a:rPr>
              <a:t> due to their </a:t>
            </a:r>
            <a:r>
              <a:rPr lang="en-US" sz="1400" b="1" dirty="0">
                <a:solidFill>
                  <a:srgbClr val="F39C12"/>
                </a:solidFill>
                <a:latin typeface="Noto Sans" pitchFamily="34" charset="0"/>
                <a:ea typeface="Noto Sans" pitchFamily="34" charset="-122"/>
                <a:cs typeface="Noto Sans" pitchFamily="34" charset="-120"/>
              </a:rPr>
              <a:t>morphological similarities</a:t>
            </a:r>
            <a:r>
              <a:rPr lang="en-US" sz="1400" dirty="0">
                <a:solidFill>
                  <a:srgbClr val="34495E"/>
                </a:solidFill>
                <a:latin typeface="Noto Sans" pitchFamily="34" charset="0"/>
                <a:ea typeface="Noto Sans" pitchFamily="34" charset="-122"/>
                <a:cs typeface="Noto Sans" pitchFamily="34" charset="-120"/>
              </a:rPr>
              <a:t>. These two fungal species share many visual characteristics at the microscopic level, making them inherently difficult to distinguish. </a:t>
            </a:r>
            <a:endParaRPr lang="en-US" sz="1400" dirty="0"/>
          </a:p>
        </p:txBody>
      </p:sp>
      <p:sp>
        <p:nvSpPr>
          <p:cNvPr id="10" name="Text 7"/>
          <p:cNvSpPr/>
          <p:nvPr/>
        </p:nvSpPr>
        <p:spPr>
          <a:xfrm>
            <a:off x="3060383" y="2479265"/>
            <a:ext cx="45719" cy="212007"/>
          </a:xfrm>
          <a:prstGeom prst="rect">
            <a:avLst/>
          </a:prstGeom>
          <a:noFill/>
          <a:ln/>
        </p:spPr>
        <p:txBody>
          <a:bodyPr wrap="square" lIns="0" tIns="0" rIns="0" bIns="0" rtlCol="0" anchor="ctr">
            <a:spAutoFit/>
          </a:bodyPr>
          <a:lstStyle/>
          <a:p>
            <a:pPr marL="0" indent="0">
              <a:buNone/>
            </a:pPr>
            <a:endParaRPr lang="en-US" sz="732" dirty="0"/>
          </a:p>
        </p:txBody>
      </p:sp>
      <p:sp>
        <p:nvSpPr>
          <p:cNvPr id="58" name="Shape 55"/>
          <p:cNvSpPr/>
          <p:nvPr/>
        </p:nvSpPr>
        <p:spPr>
          <a:xfrm>
            <a:off x="4527542" y="1641477"/>
            <a:ext cx="4179282" cy="3145017"/>
          </a:xfrm>
          <a:prstGeom prst="rect">
            <a:avLst/>
          </a:prstGeom>
          <a:solidFill>
            <a:srgbClr val="F0F0F0"/>
          </a:solidFill>
          <a:ln w="198">
            <a:solidFill>
              <a:srgbClr val="2E5090"/>
            </a:solidFill>
            <a:prstDash val="solid"/>
          </a:ln>
        </p:spPr>
      </p:sp>
      <p:pic>
        <p:nvPicPr>
          <p:cNvPr id="73" name="Picture 72">
            <a:extLst>
              <a:ext uri="{FF2B5EF4-FFF2-40B4-BE49-F238E27FC236}">
                <a16:creationId xmlns:a16="http://schemas.microsoft.com/office/drawing/2014/main" id="{D660B6C8-7A11-1668-C483-4DCDD73C85C9}"/>
              </a:ext>
            </a:extLst>
          </p:cNvPr>
          <p:cNvPicPr>
            <a:picLocks noChangeAspect="1"/>
          </p:cNvPicPr>
          <p:nvPr/>
        </p:nvPicPr>
        <p:blipFill>
          <a:blip r:embed="rId4"/>
          <a:stretch>
            <a:fillRect/>
          </a:stretch>
        </p:blipFill>
        <p:spPr>
          <a:xfrm>
            <a:off x="4548999" y="1566640"/>
            <a:ext cx="4549056" cy="3311433"/>
          </a:xfrm>
          <a:prstGeom prst="rect">
            <a:avLst/>
          </a:prstGeom>
        </p:spPr>
      </p:pic>
      <p:pic>
        <p:nvPicPr>
          <p:cNvPr id="8" name="Picture 7">
            <a:extLst>
              <a:ext uri="{FF2B5EF4-FFF2-40B4-BE49-F238E27FC236}">
                <a16:creationId xmlns:a16="http://schemas.microsoft.com/office/drawing/2014/main" id="{E5F8B050-49F3-75A3-7176-545D95502DDD}"/>
              </a:ext>
            </a:extLst>
          </p:cNvPr>
          <p:cNvPicPr>
            <a:picLocks noChangeAspect="1"/>
          </p:cNvPicPr>
          <p:nvPr/>
        </p:nvPicPr>
        <p:blipFill>
          <a:blip r:embed="rId5"/>
          <a:stretch>
            <a:fillRect/>
          </a:stretch>
        </p:blipFill>
        <p:spPr>
          <a:xfrm>
            <a:off x="8229499" y="-59435"/>
            <a:ext cx="1081411" cy="108141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17B92-AC39-2627-8C0B-8B235BF87201}"/>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0655291-0114-868C-9A93-6566609F280C}"/>
              </a:ext>
            </a:extLst>
          </p:cNvPr>
          <p:cNvPicPr>
            <a:picLocks noChangeAspect="1"/>
          </p:cNvPicPr>
          <p:nvPr/>
        </p:nvPicPr>
        <p:blipFill>
          <a:blip r:embed="rId3"/>
          <a:stretch>
            <a:fillRect/>
          </a:stretch>
        </p:blipFill>
        <p:spPr>
          <a:xfrm>
            <a:off x="0" y="0"/>
            <a:ext cx="9144000" cy="5979207"/>
          </a:xfrm>
          <a:prstGeom prst="rect">
            <a:avLst/>
          </a:prstGeom>
        </p:spPr>
      </p:pic>
      <p:sp>
        <p:nvSpPr>
          <p:cNvPr id="3" name="Text 0">
            <a:extLst>
              <a:ext uri="{FF2B5EF4-FFF2-40B4-BE49-F238E27FC236}">
                <a16:creationId xmlns:a16="http://schemas.microsoft.com/office/drawing/2014/main" id="{BF4AFC7D-6B4F-BA3C-D3AC-BE0748C3CE87}"/>
              </a:ext>
            </a:extLst>
          </p:cNvPr>
          <p:cNvSpPr/>
          <p:nvPr/>
        </p:nvSpPr>
        <p:spPr>
          <a:xfrm>
            <a:off x="531667" y="837700"/>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15" name="Shape 12">
            <a:extLst>
              <a:ext uri="{FF2B5EF4-FFF2-40B4-BE49-F238E27FC236}">
                <a16:creationId xmlns:a16="http://schemas.microsoft.com/office/drawing/2014/main" id="{254C7C17-2AC9-B1F3-F02E-C2C935C089DB}"/>
              </a:ext>
            </a:extLst>
          </p:cNvPr>
          <p:cNvSpPr/>
          <p:nvPr/>
        </p:nvSpPr>
        <p:spPr>
          <a:xfrm>
            <a:off x="170300" y="1944620"/>
            <a:ext cx="4045177" cy="2490575"/>
          </a:xfrm>
          <a:prstGeom prst="rect">
            <a:avLst/>
          </a:prstGeom>
          <a:solidFill>
            <a:srgbClr val="F8F9FA"/>
          </a:solidFill>
          <a:ln/>
        </p:spPr>
      </p:sp>
      <p:sp>
        <p:nvSpPr>
          <p:cNvPr id="16" name="Shape 13">
            <a:extLst>
              <a:ext uri="{FF2B5EF4-FFF2-40B4-BE49-F238E27FC236}">
                <a16:creationId xmlns:a16="http://schemas.microsoft.com/office/drawing/2014/main" id="{43B7258D-2947-6105-3376-BCA6D550B74C}"/>
              </a:ext>
            </a:extLst>
          </p:cNvPr>
          <p:cNvSpPr/>
          <p:nvPr/>
        </p:nvSpPr>
        <p:spPr>
          <a:xfrm>
            <a:off x="170300" y="1990340"/>
            <a:ext cx="48650" cy="2398220"/>
          </a:xfrm>
          <a:prstGeom prst="rect">
            <a:avLst/>
          </a:prstGeom>
          <a:solidFill>
            <a:srgbClr val="2E5090"/>
          </a:solidFill>
          <a:ln/>
        </p:spPr>
      </p:sp>
      <p:sp>
        <p:nvSpPr>
          <p:cNvPr id="17" name="Text 14">
            <a:extLst>
              <a:ext uri="{FF2B5EF4-FFF2-40B4-BE49-F238E27FC236}">
                <a16:creationId xmlns:a16="http://schemas.microsoft.com/office/drawing/2014/main" id="{DEF38EC0-EA20-A781-957E-7D53625BA3E7}"/>
              </a:ext>
            </a:extLst>
          </p:cNvPr>
          <p:cNvSpPr/>
          <p:nvPr/>
        </p:nvSpPr>
        <p:spPr>
          <a:xfrm>
            <a:off x="309299" y="2042146"/>
            <a:ext cx="3616500" cy="153888"/>
          </a:xfrm>
          <a:prstGeom prst="rect">
            <a:avLst/>
          </a:prstGeom>
          <a:noFill/>
          <a:ln/>
        </p:spPr>
        <p:txBody>
          <a:bodyPr wrap="squar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Per-Class Performance (SwinV2 Ensemble)</a:t>
            </a:r>
            <a:endParaRPr lang="en-US" sz="1000" dirty="0"/>
          </a:p>
        </p:txBody>
      </p:sp>
      <p:sp>
        <p:nvSpPr>
          <p:cNvPr id="18" name="Text 15">
            <a:extLst>
              <a:ext uri="{FF2B5EF4-FFF2-40B4-BE49-F238E27FC236}">
                <a16:creationId xmlns:a16="http://schemas.microsoft.com/office/drawing/2014/main" id="{BA02D83F-8357-FC6B-DAA9-6E76A14574F3}"/>
              </a:ext>
            </a:extLst>
          </p:cNvPr>
          <p:cNvSpPr/>
          <p:nvPr/>
        </p:nvSpPr>
        <p:spPr>
          <a:xfrm>
            <a:off x="376938" y="2302078"/>
            <a:ext cx="394176"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Class</a:t>
            </a:r>
            <a:endParaRPr lang="en-US" sz="900" dirty="0"/>
          </a:p>
        </p:txBody>
      </p:sp>
      <p:sp>
        <p:nvSpPr>
          <p:cNvPr id="19" name="Text 16">
            <a:extLst>
              <a:ext uri="{FF2B5EF4-FFF2-40B4-BE49-F238E27FC236}">
                <a16:creationId xmlns:a16="http://schemas.microsoft.com/office/drawing/2014/main" id="{60426C1E-5661-1981-ED70-3F1D83475785}"/>
              </a:ext>
            </a:extLst>
          </p:cNvPr>
          <p:cNvSpPr/>
          <p:nvPr/>
        </p:nvSpPr>
        <p:spPr>
          <a:xfrm>
            <a:off x="902054" y="2302078"/>
            <a:ext cx="710808"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Precision</a:t>
            </a:r>
            <a:endParaRPr lang="en-US" sz="900" dirty="0"/>
          </a:p>
        </p:txBody>
      </p:sp>
      <p:sp>
        <p:nvSpPr>
          <p:cNvPr id="20" name="Text 17">
            <a:extLst>
              <a:ext uri="{FF2B5EF4-FFF2-40B4-BE49-F238E27FC236}">
                <a16:creationId xmlns:a16="http://schemas.microsoft.com/office/drawing/2014/main" id="{50E4207A-A69E-363E-6F5F-084E71ED0186}"/>
              </a:ext>
            </a:extLst>
          </p:cNvPr>
          <p:cNvSpPr/>
          <p:nvPr/>
        </p:nvSpPr>
        <p:spPr>
          <a:xfrm>
            <a:off x="1780040" y="2302078"/>
            <a:ext cx="46310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Recall</a:t>
            </a:r>
            <a:endParaRPr lang="en-US" sz="900" dirty="0"/>
          </a:p>
        </p:txBody>
      </p:sp>
      <p:sp>
        <p:nvSpPr>
          <p:cNvPr id="21" name="Text 18">
            <a:extLst>
              <a:ext uri="{FF2B5EF4-FFF2-40B4-BE49-F238E27FC236}">
                <a16:creationId xmlns:a16="http://schemas.microsoft.com/office/drawing/2014/main" id="{E6B20218-B8C1-DAA7-028A-D0EB3643D5CB}"/>
              </a:ext>
            </a:extLst>
          </p:cNvPr>
          <p:cNvSpPr/>
          <p:nvPr/>
        </p:nvSpPr>
        <p:spPr>
          <a:xfrm>
            <a:off x="2494518" y="2302078"/>
            <a:ext cx="654805"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F1-Score</a:t>
            </a:r>
            <a:endParaRPr lang="en-US" sz="900" dirty="0"/>
          </a:p>
        </p:txBody>
      </p:sp>
      <p:sp>
        <p:nvSpPr>
          <p:cNvPr id="22" name="Text 19">
            <a:extLst>
              <a:ext uri="{FF2B5EF4-FFF2-40B4-BE49-F238E27FC236}">
                <a16:creationId xmlns:a16="http://schemas.microsoft.com/office/drawing/2014/main" id="{C8483075-36F8-0EBA-2C9C-39E25E0A70F2}"/>
              </a:ext>
            </a:extLst>
          </p:cNvPr>
          <p:cNvSpPr/>
          <p:nvPr/>
        </p:nvSpPr>
        <p:spPr>
          <a:xfrm>
            <a:off x="3293154" y="2302078"/>
            <a:ext cx="62034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Support</a:t>
            </a:r>
            <a:endParaRPr lang="en-US" sz="900" dirty="0"/>
          </a:p>
        </p:txBody>
      </p:sp>
      <p:sp>
        <p:nvSpPr>
          <p:cNvPr id="23" name="Shape 20">
            <a:extLst>
              <a:ext uri="{FF2B5EF4-FFF2-40B4-BE49-F238E27FC236}">
                <a16:creationId xmlns:a16="http://schemas.microsoft.com/office/drawing/2014/main" id="{0E842FF0-63C2-E3AA-0BFF-3EEE378CAD22}"/>
              </a:ext>
            </a:extLst>
          </p:cNvPr>
          <p:cNvSpPr/>
          <p:nvPr/>
        </p:nvSpPr>
        <p:spPr>
          <a:xfrm>
            <a:off x="309301" y="2529382"/>
            <a:ext cx="3837220" cy="367316"/>
          </a:xfrm>
          <a:prstGeom prst="rect">
            <a:avLst/>
          </a:prstGeom>
          <a:solidFill>
            <a:srgbClr val="FFFACD"/>
          </a:solidFill>
          <a:ln/>
        </p:spPr>
      </p:sp>
      <p:sp>
        <p:nvSpPr>
          <p:cNvPr id="24" name="Shape 21">
            <a:extLst>
              <a:ext uri="{FF2B5EF4-FFF2-40B4-BE49-F238E27FC236}">
                <a16:creationId xmlns:a16="http://schemas.microsoft.com/office/drawing/2014/main" id="{49683EFB-A40C-C584-D2C0-A01CE73F8C89}"/>
              </a:ext>
            </a:extLst>
          </p:cNvPr>
          <p:cNvSpPr/>
          <p:nvPr/>
        </p:nvSpPr>
        <p:spPr>
          <a:xfrm>
            <a:off x="309300" y="2529382"/>
            <a:ext cx="57731" cy="367316"/>
          </a:xfrm>
          <a:prstGeom prst="rect">
            <a:avLst/>
          </a:prstGeom>
          <a:solidFill>
            <a:srgbClr val="F39C12"/>
          </a:solidFill>
          <a:ln/>
        </p:spPr>
      </p:sp>
      <p:sp>
        <p:nvSpPr>
          <p:cNvPr id="25" name="Text 22">
            <a:extLst>
              <a:ext uri="{FF2B5EF4-FFF2-40B4-BE49-F238E27FC236}">
                <a16:creationId xmlns:a16="http://schemas.microsoft.com/office/drawing/2014/main" id="{D72C0D42-A67E-9E08-FF81-810F7976A01C}"/>
              </a:ext>
            </a:extLst>
          </p:cNvPr>
          <p:cNvSpPr/>
          <p:nvPr/>
        </p:nvSpPr>
        <p:spPr>
          <a:xfrm>
            <a:off x="487417" y="2632810"/>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H1</a:t>
            </a:r>
            <a:endParaRPr lang="en-US" sz="1050" dirty="0"/>
          </a:p>
        </p:txBody>
      </p:sp>
      <p:sp>
        <p:nvSpPr>
          <p:cNvPr id="26" name="Text 23">
            <a:extLst>
              <a:ext uri="{FF2B5EF4-FFF2-40B4-BE49-F238E27FC236}">
                <a16:creationId xmlns:a16="http://schemas.microsoft.com/office/drawing/2014/main" id="{E4A6034A-BA27-6A59-4BEF-B1CC6AA70A51}"/>
              </a:ext>
            </a:extLst>
          </p:cNvPr>
          <p:cNvSpPr/>
          <p:nvPr/>
        </p:nvSpPr>
        <p:spPr>
          <a:xfrm>
            <a:off x="1026967"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0.9803</a:t>
            </a:r>
            <a:endParaRPr lang="en-US" sz="1000" dirty="0"/>
          </a:p>
        </p:txBody>
      </p:sp>
      <p:sp>
        <p:nvSpPr>
          <p:cNvPr id="27" name="Text 24">
            <a:extLst>
              <a:ext uri="{FF2B5EF4-FFF2-40B4-BE49-F238E27FC236}">
                <a16:creationId xmlns:a16="http://schemas.microsoft.com/office/drawing/2014/main" id="{392E8041-2C77-23F7-A3DA-0CEA4AC2CA2C}"/>
              </a:ext>
            </a:extLst>
          </p:cNvPr>
          <p:cNvSpPr/>
          <p:nvPr/>
        </p:nvSpPr>
        <p:spPr>
          <a:xfrm>
            <a:off x="1777061"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0.9743</a:t>
            </a:r>
            <a:endParaRPr lang="en-US" sz="1000" dirty="0"/>
          </a:p>
        </p:txBody>
      </p:sp>
      <p:sp>
        <p:nvSpPr>
          <p:cNvPr id="28" name="Text 25">
            <a:extLst>
              <a:ext uri="{FF2B5EF4-FFF2-40B4-BE49-F238E27FC236}">
                <a16:creationId xmlns:a16="http://schemas.microsoft.com/office/drawing/2014/main" id="{635D9DFE-BF5E-5AEE-4DB7-E81FE396D408}"/>
              </a:ext>
            </a:extLst>
          </p:cNvPr>
          <p:cNvSpPr/>
          <p:nvPr/>
        </p:nvSpPr>
        <p:spPr>
          <a:xfrm>
            <a:off x="2527155"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0.9773</a:t>
            </a:r>
            <a:endParaRPr lang="en-US" sz="1000" dirty="0"/>
          </a:p>
        </p:txBody>
      </p:sp>
      <p:sp>
        <p:nvSpPr>
          <p:cNvPr id="29" name="Text 26">
            <a:extLst>
              <a:ext uri="{FF2B5EF4-FFF2-40B4-BE49-F238E27FC236}">
                <a16:creationId xmlns:a16="http://schemas.microsoft.com/office/drawing/2014/main" id="{2C9D2B10-9ABF-861E-3759-8388AA2A8759}"/>
              </a:ext>
            </a:extLst>
          </p:cNvPr>
          <p:cNvSpPr/>
          <p:nvPr/>
        </p:nvSpPr>
        <p:spPr>
          <a:xfrm>
            <a:off x="3364611" y="2636865"/>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155</a:t>
            </a:r>
            <a:endParaRPr lang="en-US" sz="1000" dirty="0"/>
          </a:p>
        </p:txBody>
      </p:sp>
      <p:sp>
        <p:nvSpPr>
          <p:cNvPr id="30" name="Shape 27">
            <a:extLst>
              <a:ext uri="{FF2B5EF4-FFF2-40B4-BE49-F238E27FC236}">
                <a16:creationId xmlns:a16="http://schemas.microsoft.com/office/drawing/2014/main" id="{94AE431D-7E2C-5283-A693-DF93F1C738E3}"/>
              </a:ext>
            </a:extLst>
          </p:cNvPr>
          <p:cNvSpPr/>
          <p:nvPr/>
        </p:nvSpPr>
        <p:spPr>
          <a:xfrm>
            <a:off x="309301" y="2897285"/>
            <a:ext cx="3837220" cy="367316"/>
          </a:xfrm>
          <a:prstGeom prst="rect">
            <a:avLst/>
          </a:prstGeom>
          <a:solidFill>
            <a:srgbClr val="FFFACD"/>
          </a:solidFill>
          <a:ln/>
        </p:spPr>
      </p:sp>
      <p:sp>
        <p:nvSpPr>
          <p:cNvPr id="31" name="Shape 28">
            <a:extLst>
              <a:ext uri="{FF2B5EF4-FFF2-40B4-BE49-F238E27FC236}">
                <a16:creationId xmlns:a16="http://schemas.microsoft.com/office/drawing/2014/main" id="{4928803B-7F15-96D7-B36E-D95AEEEB0C69}"/>
              </a:ext>
            </a:extLst>
          </p:cNvPr>
          <p:cNvSpPr/>
          <p:nvPr/>
        </p:nvSpPr>
        <p:spPr>
          <a:xfrm>
            <a:off x="309300" y="2897285"/>
            <a:ext cx="57731" cy="367316"/>
          </a:xfrm>
          <a:prstGeom prst="rect">
            <a:avLst/>
          </a:prstGeom>
          <a:solidFill>
            <a:srgbClr val="F39C12"/>
          </a:solidFill>
          <a:ln/>
        </p:spPr>
      </p:sp>
      <p:sp>
        <p:nvSpPr>
          <p:cNvPr id="32" name="Text 29">
            <a:extLst>
              <a:ext uri="{FF2B5EF4-FFF2-40B4-BE49-F238E27FC236}">
                <a16:creationId xmlns:a16="http://schemas.microsoft.com/office/drawing/2014/main" id="{7C5DADD3-0A11-B336-5210-76D82F1BB737}"/>
              </a:ext>
            </a:extLst>
          </p:cNvPr>
          <p:cNvSpPr/>
          <p:nvPr/>
        </p:nvSpPr>
        <p:spPr>
          <a:xfrm>
            <a:off x="487417" y="300071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H2</a:t>
            </a:r>
            <a:endParaRPr lang="en-US" sz="1050" dirty="0"/>
          </a:p>
        </p:txBody>
      </p:sp>
      <p:sp>
        <p:nvSpPr>
          <p:cNvPr id="33" name="Text 30">
            <a:extLst>
              <a:ext uri="{FF2B5EF4-FFF2-40B4-BE49-F238E27FC236}">
                <a16:creationId xmlns:a16="http://schemas.microsoft.com/office/drawing/2014/main" id="{4C218657-13E1-94D6-7F47-6425AC59A8E6}"/>
              </a:ext>
            </a:extLst>
          </p:cNvPr>
          <p:cNvSpPr/>
          <p:nvPr/>
        </p:nvSpPr>
        <p:spPr>
          <a:xfrm>
            <a:off x="1026967"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0.9744</a:t>
            </a:r>
            <a:endParaRPr lang="en-US" sz="1000" dirty="0"/>
          </a:p>
        </p:txBody>
      </p:sp>
      <p:sp>
        <p:nvSpPr>
          <p:cNvPr id="34" name="Text 31">
            <a:extLst>
              <a:ext uri="{FF2B5EF4-FFF2-40B4-BE49-F238E27FC236}">
                <a16:creationId xmlns:a16="http://schemas.microsoft.com/office/drawing/2014/main" id="{03B2F1DD-13B0-530C-BA2C-E55245EF137C}"/>
              </a:ext>
            </a:extLst>
          </p:cNvPr>
          <p:cNvSpPr/>
          <p:nvPr/>
        </p:nvSpPr>
        <p:spPr>
          <a:xfrm>
            <a:off x="1777061"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0.9806</a:t>
            </a:r>
            <a:endParaRPr lang="en-US" sz="1000" dirty="0"/>
          </a:p>
        </p:txBody>
      </p:sp>
      <p:sp>
        <p:nvSpPr>
          <p:cNvPr id="35" name="Text 32">
            <a:extLst>
              <a:ext uri="{FF2B5EF4-FFF2-40B4-BE49-F238E27FC236}">
                <a16:creationId xmlns:a16="http://schemas.microsoft.com/office/drawing/2014/main" id="{3B217993-74FB-FCA7-F9A7-0061936C7750}"/>
              </a:ext>
            </a:extLst>
          </p:cNvPr>
          <p:cNvSpPr/>
          <p:nvPr/>
        </p:nvSpPr>
        <p:spPr>
          <a:xfrm>
            <a:off x="2527155"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0.9775</a:t>
            </a:r>
            <a:endParaRPr lang="en-US" sz="1000" dirty="0"/>
          </a:p>
        </p:txBody>
      </p:sp>
      <p:sp>
        <p:nvSpPr>
          <p:cNvPr id="36" name="Text 33">
            <a:extLst>
              <a:ext uri="{FF2B5EF4-FFF2-40B4-BE49-F238E27FC236}">
                <a16:creationId xmlns:a16="http://schemas.microsoft.com/office/drawing/2014/main" id="{749848C3-535D-A27E-3677-5A49E546C765}"/>
              </a:ext>
            </a:extLst>
          </p:cNvPr>
          <p:cNvSpPr/>
          <p:nvPr/>
        </p:nvSpPr>
        <p:spPr>
          <a:xfrm>
            <a:off x="3364611" y="3004768"/>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154</a:t>
            </a:r>
            <a:endParaRPr lang="en-US" sz="1000" dirty="0"/>
          </a:p>
        </p:txBody>
      </p:sp>
      <p:sp>
        <p:nvSpPr>
          <p:cNvPr id="37" name="Shape 34">
            <a:extLst>
              <a:ext uri="{FF2B5EF4-FFF2-40B4-BE49-F238E27FC236}">
                <a16:creationId xmlns:a16="http://schemas.microsoft.com/office/drawing/2014/main" id="{24E0D057-B82E-0F49-5B66-EB2CFAFA5B4E}"/>
              </a:ext>
            </a:extLst>
          </p:cNvPr>
          <p:cNvSpPr/>
          <p:nvPr/>
        </p:nvSpPr>
        <p:spPr>
          <a:xfrm>
            <a:off x="309301" y="3265188"/>
            <a:ext cx="3837220" cy="367316"/>
          </a:xfrm>
          <a:prstGeom prst="rect">
            <a:avLst/>
          </a:prstGeom>
          <a:solidFill>
            <a:srgbClr val="FFFFFF"/>
          </a:solidFill>
          <a:ln/>
        </p:spPr>
      </p:sp>
      <p:sp>
        <p:nvSpPr>
          <p:cNvPr id="38" name="Shape 35">
            <a:extLst>
              <a:ext uri="{FF2B5EF4-FFF2-40B4-BE49-F238E27FC236}">
                <a16:creationId xmlns:a16="http://schemas.microsoft.com/office/drawing/2014/main" id="{1BE7F833-C984-DDCA-8519-585005C2AF3D}"/>
              </a:ext>
            </a:extLst>
          </p:cNvPr>
          <p:cNvSpPr/>
          <p:nvPr/>
        </p:nvSpPr>
        <p:spPr>
          <a:xfrm>
            <a:off x="309300" y="3265188"/>
            <a:ext cx="57731" cy="367316"/>
          </a:xfrm>
          <a:prstGeom prst="rect">
            <a:avLst/>
          </a:prstGeom>
          <a:solidFill>
            <a:srgbClr val="2E5090"/>
          </a:solidFill>
          <a:ln/>
        </p:spPr>
      </p:sp>
      <p:sp>
        <p:nvSpPr>
          <p:cNvPr id="39" name="Text 36">
            <a:extLst>
              <a:ext uri="{FF2B5EF4-FFF2-40B4-BE49-F238E27FC236}">
                <a16:creationId xmlns:a16="http://schemas.microsoft.com/office/drawing/2014/main" id="{C119035C-1832-6960-155C-5E8A5740FDA0}"/>
              </a:ext>
            </a:extLst>
          </p:cNvPr>
          <p:cNvSpPr/>
          <p:nvPr/>
        </p:nvSpPr>
        <p:spPr>
          <a:xfrm>
            <a:off x="487417" y="3368616"/>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H3</a:t>
            </a:r>
            <a:endParaRPr lang="en-US" sz="1050" dirty="0"/>
          </a:p>
        </p:txBody>
      </p:sp>
      <p:sp>
        <p:nvSpPr>
          <p:cNvPr id="40" name="Text 37">
            <a:extLst>
              <a:ext uri="{FF2B5EF4-FFF2-40B4-BE49-F238E27FC236}">
                <a16:creationId xmlns:a16="http://schemas.microsoft.com/office/drawing/2014/main" id="{9C373AAA-1BAF-0A51-C355-6ACC7AD46D14}"/>
              </a:ext>
            </a:extLst>
          </p:cNvPr>
          <p:cNvSpPr/>
          <p:nvPr/>
        </p:nvSpPr>
        <p:spPr>
          <a:xfrm>
            <a:off x="1026967"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1" name="Text 38">
            <a:extLst>
              <a:ext uri="{FF2B5EF4-FFF2-40B4-BE49-F238E27FC236}">
                <a16:creationId xmlns:a16="http://schemas.microsoft.com/office/drawing/2014/main" id="{6B55C2D6-56CF-A595-728F-9DA4891CCB85}"/>
              </a:ext>
            </a:extLst>
          </p:cNvPr>
          <p:cNvSpPr/>
          <p:nvPr/>
        </p:nvSpPr>
        <p:spPr>
          <a:xfrm>
            <a:off x="1777061"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2" name="Text 39">
            <a:extLst>
              <a:ext uri="{FF2B5EF4-FFF2-40B4-BE49-F238E27FC236}">
                <a16:creationId xmlns:a16="http://schemas.microsoft.com/office/drawing/2014/main" id="{784B366F-ECF7-14A8-3D6E-0F203A0F9EA7}"/>
              </a:ext>
            </a:extLst>
          </p:cNvPr>
          <p:cNvSpPr/>
          <p:nvPr/>
        </p:nvSpPr>
        <p:spPr>
          <a:xfrm>
            <a:off x="2527155"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3" name="Text 40">
            <a:extLst>
              <a:ext uri="{FF2B5EF4-FFF2-40B4-BE49-F238E27FC236}">
                <a16:creationId xmlns:a16="http://schemas.microsoft.com/office/drawing/2014/main" id="{D2325D90-42BE-3A59-61AF-9A18B2DD72FD}"/>
              </a:ext>
            </a:extLst>
          </p:cNvPr>
          <p:cNvSpPr/>
          <p:nvPr/>
        </p:nvSpPr>
        <p:spPr>
          <a:xfrm>
            <a:off x="3364611" y="3372671"/>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122</a:t>
            </a:r>
            <a:endParaRPr lang="en-US" sz="1000" dirty="0"/>
          </a:p>
        </p:txBody>
      </p:sp>
      <p:sp>
        <p:nvSpPr>
          <p:cNvPr id="44" name="Shape 41">
            <a:extLst>
              <a:ext uri="{FF2B5EF4-FFF2-40B4-BE49-F238E27FC236}">
                <a16:creationId xmlns:a16="http://schemas.microsoft.com/office/drawing/2014/main" id="{C71B0B08-3646-5B41-2E85-DE5D0D979FCD}"/>
              </a:ext>
            </a:extLst>
          </p:cNvPr>
          <p:cNvSpPr/>
          <p:nvPr/>
        </p:nvSpPr>
        <p:spPr>
          <a:xfrm>
            <a:off x="309301" y="3633091"/>
            <a:ext cx="3837220" cy="367316"/>
          </a:xfrm>
          <a:prstGeom prst="rect">
            <a:avLst/>
          </a:prstGeom>
          <a:solidFill>
            <a:srgbClr val="FFFFFF"/>
          </a:solidFill>
          <a:ln/>
        </p:spPr>
      </p:sp>
      <p:sp>
        <p:nvSpPr>
          <p:cNvPr id="45" name="Shape 42">
            <a:extLst>
              <a:ext uri="{FF2B5EF4-FFF2-40B4-BE49-F238E27FC236}">
                <a16:creationId xmlns:a16="http://schemas.microsoft.com/office/drawing/2014/main" id="{528313AC-AC99-66DD-26BF-CF6371442950}"/>
              </a:ext>
            </a:extLst>
          </p:cNvPr>
          <p:cNvSpPr/>
          <p:nvPr/>
        </p:nvSpPr>
        <p:spPr>
          <a:xfrm>
            <a:off x="309300" y="3633091"/>
            <a:ext cx="57731" cy="367316"/>
          </a:xfrm>
          <a:prstGeom prst="rect">
            <a:avLst/>
          </a:prstGeom>
          <a:solidFill>
            <a:srgbClr val="2E5090"/>
          </a:solidFill>
          <a:ln/>
        </p:spPr>
      </p:sp>
      <p:sp>
        <p:nvSpPr>
          <p:cNvPr id="46" name="Text 43">
            <a:extLst>
              <a:ext uri="{FF2B5EF4-FFF2-40B4-BE49-F238E27FC236}">
                <a16:creationId xmlns:a16="http://schemas.microsoft.com/office/drawing/2014/main" id="{9F8EA96C-9C13-FB37-1C31-94E6AD7DA98C}"/>
              </a:ext>
            </a:extLst>
          </p:cNvPr>
          <p:cNvSpPr/>
          <p:nvPr/>
        </p:nvSpPr>
        <p:spPr>
          <a:xfrm>
            <a:off x="487417" y="3736519"/>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H5</a:t>
            </a:r>
            <a:endParaRPr lang="en-US" sz="1050" dirty="0"/>
          </a:p>
        </p:txBody>
      </p:sp>
      <p:sp>
        <p:nvSpPr>
          <p:cNvPr id="47" name="Text 44">
            <a:extLst>
              <a:ext uri="{FF2B5EF4-FFF2-40B4-BE49-F238E27FC236}">
                <a16:creationId xmlns:a16="http://schemas.microsoft.com/office/drawing/2014/main" id="{C023D512-90BD-8937-1181-5D47D5453763}"/>
              </a:ext>
            </a:extLst>
          </p:cNvPr>
          <p:cNvSpPr/>
          <p:nvPr/>
        </p:nvSpPr>
        <p:spPr>
          <a:xfrm>
            <a:off x="1026967"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8" name="Text 45">
            <a:extLst>
              <a:ext uri="{FF2B5EF4-FFF2-40B4-BE49-F238E27FC236}">
                <a16:creationId xmlns:a16="http://schemas.microsoft.com/office/drawing/2014/main" id="{EEEF70B2-1D36-813B-E8EC-9F3B50939344}"/>
              </a:ext>
            </a:extLst>
          </p:cNvPr>
          <p:cNvSpPr/>
          <p:nvPr/>
        </p:nvSpPr>
        <p:spPr>
          <a:xfrm>
            <a:off x="1777061"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9" name="Text 46">
            <a:extLst>
              <a:ext uri="{FF2B5EF4-FFF2-40B4-BE49-F238E27FC236}">
                <a16:creationId xmlns:a16="http://schemas.microsoft.com/office/drawing/2014/main" id="{ACE430DF-3D4B-D356-6BDA-52681B434A9A}"/>
              </a:ext>
            </a:extLst>
          </p:cNvPr>
          <p:cNvSpPr/>
          <p:nvPr/>
        </p:nvSpPr>
        <p:spPr>
          <a:xfrm>
            <a:off x="2527155"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50" name="Text 47">
            <a:extLst>
              <a:ext uri="{FF2B5EF4-FFF2-40B4-BE49-F238E27FC236}">
                <a16:creationId xmlns:a16="http://schemas.microsoft.com/office/drawing/2014/main" id="{A43ABA0A-C631-741A-1078-6D94EF039C0A}"/>
              </a:ext>
            </a:extLst>
          </p:cNvPr>
          <p:cNvSpPr/>
          <p:nvPr/>
        </p:nvSpPr>
        <p:spPr>
          <a:xfrm>
            <a:off x="3364611" y="3740574"/>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118</a:t>
            </a:r>
            <a:endParaRPr lang="en-US" sz="1000" dirty="0"/>
          </a:p>
        </p:txBody>
      </p:sp>
      <p:sp>
        <p:nvSpPr>
          <p:cNvPr id="51" name="Shape 48">
            <a:extLst>
              <a:ext uri="{FF2B5EF4-FFF2-40B4-BE49-F238E27FC236}">
                <a16:creationId xmlns:a16="http://schemas.microsoft.com/office/drawing/2014/main" id="{913754F8-B85E-9F98-AAC0-BEE88C018555}"/>
              </a:ext>
            </a:extLst>
          </p:cNvPr>
          <p:cNvSpPr/>
          <p:nvPr/>
        </p:nvSpPr>
        <p:spPr>
          <a:xfrm>
            <a:off x="309301" y="4000994"/>
            <a:ext cx="3837220" cy="367316"/>
          </a:xfrm>
          <a:prstGeom prst="rect">
            <a:avLst/>
          </a:prstGeom>
          <a:solidFill>
            <a:srgbClr val="FFFFFF"/>
          </a:solidFill>
          <a:ln/>
        </p:spPr>
      </p:sp>
      <p:sp>
        <p:nvSpPr>
          <p:cNvPr id="52" name="Shape 49">
            <a:extLst>
              <a:ext uri="{FF2B5EF4-FFF2-40B4-BE49-F238E27FC236}">
                <a16:creationId xmlns:a16="http://schemas.microsoft.com/office/drawing/2014/main" id="{EAACA29E-4C34-2B50-888B-A1CD026BEEE5}"/>
              </a:ext>
            </a:extLst>
          </p:cNvPr>
          <p:cNvSpPr/>
          <p:nvPr/>
        </p:nvSpPr>
        <p:spPr>
          <a:xfrm>
            <a:off x="309300" y="4000994"/>
            <a:ext cx="57731" cy="367316"/>
          </a:xfrm>
          <a:prstGeom prst="rect">
            <a:avLst/>
          </a:prstGeom>
          <a:solidFill>
            <a:srgbClr val="2E5090"/>
          </a:solidFill>
          <a:ln/>
        </p:spPr>
      </p:sp>
      <p:sp>
        <p:nvSpPr>
          <p:cNvPr id="53" name="Text 50">
            <a:extLst>
              <a:ext uri="{FF2B5EF4-FFF2-40B4-BE49-F238E27FC236}">
                <a16:creationId xmlns:a16="http://schemas.microsoft.com/office/drawing/2014/main" id="{86D81C75-F68D-C409-DF3D-CCA9E38468B1}"/>
              </a:ext>
            </a:extLst>
          </p:cNvPr>
          <p:cNvSpPr/>
          <p:nvPr/>
        </p:nvSpPr>
        <p:spPr>
          <a:xfrm>
            <a:off x="487417" y="410442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H6</a:t>
            </a:r>
            <a:endParaRPr lang="en-US" sz="1050" dirty="0"/>
          </a:p>
        </p:txBody>
      </p:sp>
      <p:sp>
        <p:nvSpPr>
          <p:cNvPr id="54" name="Text 51">
            <a:extLst>
              <a:ext uri="{FF2B5EF4-FFF2-40B4-BE49-F238E27FC236}">
                <a16:creationId xmlns:a16="http://schemas.microsoft.com/office/drawing/2014/main" id="{8C63CA5D-78F9-4526-B826-3807FCCD6922}"/>
              </a:ext>
            </a:extLst>
          </p:cNvPr>
          <p:cNvSpPr/>
          <p:nvPr/>
        </p:nvSpPr>
        <p:spPr>
          <a:xfrm>
            <a:off x="1026967"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5" name="Text 52">
            <a:extLst>
              <a:ext uri="{FF2B5EF4-FFF2-40B4-BE49-F238E27FC236}">
                <a16:creationId xmlns:a16="http://schemas.microsoft.com/office/drawing/2014/main" id="{0400461C-802D-221F-3704-D2DE2E13F19C}"/>
              </a:ext>
            </a:extLst>
          </p:cNvPr>
          <p:cNvSpPr/>
          <p:nvPr/>
        </p:nvSpPr>
        <p:spPr>
          <a:xfrm>
            <a:off x="1777061"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6" name="Text 53">
            <a:extLst>
              <a:ext uri="{FF2B5EF4-FFF2-40B4-BE49-F238E27FC236}">
                <a16:creationId xmlns:a16="http://schemas.microsoft.com/office/drawing/2014/main" id="{4A58B294-13EB-3163-B886-299FAEB594C5}"/>
              </a:ext>
            </a:extLst>
          </p:cNvPr>
          <p:cNvSpPr/>
          <p:nvPr/>
        </p:nvSpPr>
        <p:spPr>
          <a:xfrm>
            <a:off x="2527155"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7" name="Text 54">
            <a:extLst>
              <a:ext uri="{FF2B5EF4-FFF2-40B4-BE49-F238E27FC236}">
                <a16:creationId xmlns:a16="http://schemas.microsoft.com/office/drawing/2014/main" id="{877144AB-ABD8-5BBE-B3A7-13B6300DA722}"/>
              </a:ext>
            </a:extLst>
          </p:cNvPr>
          <p:cNvSpPr/>
          <p:nvPr/>
        </p:nvSpPr>
        <p:spPr>
          <a:xfrm>
            <a:off x="3364611" y="4108477"/>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127</a:t>
            </a:r>
            <a:endParaRPr lang="en-US" sz="1000" dirty="0"/>
          </a:p>
        </p:txBody>
      </p:sp>
      <p:sp>
        <p:nvSpPr>
          <p:cNvPr id="61" name="Shape 58">
            <a:extLst>
              <a:ext uri="{FF2B5EF4-FFF2-40B4-BE49-F238E27FC236}">
                <a16:creationId xmlns:a16="http://schemas.microsoft.com/office/drawing/2014/main" id="{11EB278D-35CB-589F-92FC-6DCC5DAD8AFE}"/>
              </a:ext>
            </a:extLst>
          </p:cNvPr>
          <p:cNvSpPr/>
          <p:nvPr/>
        </p:nvSpPr>
        <p:spPr>
          <a:xfrm>
            <a:off x="4359309" y="2199844"/>
            <a:ext cx="4614392" cy="2072220"/>
          </a:xfrm>
          <a:prstGeom prst="rect">
            <a:avLst/>
          </a:prstGeom>
          <a:solidFill>
            <a:srgbClr val="E8F4F8"/>
          </a:solidFill>
          <a:ln/>
        </p:spPr>
      </p:sp>
      <p:sp>
        <p:nvSpPr>
          <p:cNvPr id="62" name="Shape 59">
            <a:extLst>
              <a:ext uri="{FF2B5EF4-FFF2-40B4-BE49-F238E27FC236}">
                <a16:creationId xmlns:a16="http://schemas.microsoft.com/office/drawing/2014/main" id="{0EE58086-847B-D648-0741-D9F49B12D598}"/>
              </a:ext>
            </a:extLst>
          </p:cNvPr>
          <p:cNvSpPr/>
          <p:nvPr/>
        </p:nvSpPr>
        <p:spPr>
          <a:xfrm>
            <a:off x="4359308" y="2199844"/>
            <a:ext cx="51844" cy="2072220"/>
          </a:xfrm>
          <a:prstGeom prst="rect">
            <a:avLst/>
          </a:prstGeom>
          <a:solidFill>
            <a:srgbClr val="F39C12"/>
          </a:solidFill>
          <a:ln/>
        </p:spPr>
      </p:sp>
      <p:sp>
        <p:nvSpPr>
          <p:cNvPr id="63" name="Text 60">
            <a:extLst>
              <a:ext uri="{FF2B5EF4-FFF2-40B4-BE49-F238E27FC236}">
                <a16:creationId xmlns:a16="http://schemas.microsoft.com/office/drawing/2014/main" id="{BC1B0836-CBF1-7321-6EBB-66E5015C6BD0}"/>
              </a:ext>
            </a:extLst>
          </p:cNvPr>
          <p:cNvSpPr/>
          <p:nvPr/>
        </p:nvSpPr>
        <p:spPr>
          <a:xfrm>
            <a:off x="4466463" y="2577811"/>
            <a:ext cx="1001947" cy="190825"/>
          </a:xfrm>
          <a:prstGeom prst="rect">
            <a:avLst/>
          </a:prstGeom>
          <a:noFill/>
          <a:ln/>
        </p:spPr>
        <p:txBody>
          <a:bodyPr wrap="squar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Key Insight</a:t>
            </a:r>
            <a:endParaRPr lang="en-US" sz="1200" dirty="0"/>
          </a:p>
        </p:txBody>
      </p:sp>
      <p:sp>
        <p:nvSpPr>
          <p:cNvPr id="64" name="Text 61">
            <a:extLst>
              <a:ext uri="{FF2B5EF4-FFF2-40B4-BE49-F238E27FC236}">
                <a16:creationId xmlns:a16="http://schemas.microsoft.com/office/drawing/2014/main" id="{1A35CA0D-BAC4-EDC2-1669-63DAE7693EA4}"/>
              </a:ext>
            </a:extLst>
          </p:cNvPr>
          <p:cNvSpPr/>
          <p:nvPr/>
        </p:nvSpPr>
        <p:spPr>
          <a:xfrm>
            <a:off x="4466463" y="2853341"/>
            <a:ext cx="4486215" cy="834860"/>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 The </a:t>
            </a:r>
            <a:r>
              <a:rPr lang="en-US" sz="1050" b="1" dirty="0">
                <a:solidFill>
                  <a:srgbClr val="F39C12"/>
                </a:solidFill>
                <a:latin typeface="Noto Sans" pitchFamily="34" charset="0"/>
                <a:ea typeface="Noto Sans" pitchFamily="34" charset="-122"/>
                <a:cs typeface="Noto Sans" pitchFamily="34" charset="-120"/>
              </a:rPr>
              <a:t>0.2% performance gap</a:t>
            </a:r>
            <a:r>
              <a:rPr lang="en-US" sz="1050" b="1" dirty="0"/>
              <a:t> </a:t>
            </a:r>
            <a:r>
              <a:rPr lang="en-US" sz="1050" dirty="0">
                <a:solidFill>
                  <a:srgbClr val="34495E"/>
                </a:solidFill>
                <a:latin typeface="Noto Sans" pitchFamily="34" charset="0"/>
                <a:ea typeface="Noto Sans" pitchFamily="34" charset="-122"/>
                <a:cs typeface="Noto Sans" pitchFamily="34" charset="-120"/>
              </a:rPr>
              <a:t>between H1/H2 (F1: 0.977) and other classes (F1: 0.99+) indicates this is an </a:t>
            </a:r>
            <a:r>
              <a:rPr lang="en-US" sz="1050" b="1" dirty="0">
                <a:solidFill>
                  <a:srgbClr val="F39C12"/>
                </a:solidFill>
                <a:latin typeface="Noto Sans" pitchFamily="34" charset="0"/>
                <a:ea typeface="Noto Sans" pitchFamily="34" charset="-122"/>
                <a:cs typeface="Noto Sans" pitchFamily="34" charset="-120"/>
              </a:rPr>
              <a:t>inherent dataset limitation</a:t>
            </a:r>
            <a:r>
              <a:rPr lang="en-US" sz="1050" b="1" dirty="0"/>
              <a:t> </a:t>
            </a:r>
            <a:r>
              <a:rPr lang="en-US" sz="1050" dirty="0">
                <a:solidFill>
                  <a:srgbClr val="34495E"/>
                </a:solidFill>
                <a:latin typeface="Noto Sans" pitchFamily="34" charset="0"/>
                <a:ea typeface="Noto Sans" pitchFamily="34" charset="-122"/>
                <a:cs typeface="Noto Sans" pitchFamily="34" charset="-120"/>
              </a:rPr>
              <a:t>  rather than a model deficiency. Future improvements require enhanced feature extraction or dataset augmentation strategies specifically targeting these classes. </a:t>
            </a:r>
            <a:endParaRPr lang="en-US" sz="1050" dirty="0"/>
          </a:p>
        </p:txBody>
      </p:sp>
      <p:sp>
        <p:nvSpPr>
          <p:cNvPr id="65" name="Text 62">
            <a:extLst>
              <a:ext uri="{FF2B5EF4-FFF2-40B4-BE49-F238E27FC236}">
                <a16:creationId xmlns:a16="http://schemas.microsoft.com/office/drawing/2014/main" id="{179E4055-E387-BBFF-DD67-D65340D58414}"/>
              </a:ext>
            </a:extLst>
          </p:cNvPr>
          <p:cNvSpPr/>
          <p:nvPr/>
        </p:nvSpPr>
        <p:spPr>
          <a:xfrm>
            <a:off x="5307281" y="2389716"/>
            <a:ext cx="48721" cy="167387"/>
          </a:xfrm>
          <a:prstGeom prst="rect">
            <a:avLst/>
          </a:prstGeom>
          <a:noFill/>
          <a:ln/>
        </p:spPr>
        <p:txBody>
          <a:bodyPr wrap="square" lIns="0" tIns="0" rIns="0" bIns="0" rtlCol="0" anchor="ctr">
            <a:spAutoFit/>
          </a:bodyPr>
          <a:lstStyle/>
          <a:p>
            <a:pPr marL="0" indent="0">
              <a:buNone/>
            </a:pPr>
            <a:endParaRPr lang="en-US" sz="800" dirty="0"/>
          </a:p>
        </p:txBody>
      </p:sp>
      <p:sp>
        <p:nvSpPr>
          <p:cNvPr id="66" name="Text 63">
            <a:extLst>
              <a:ext uri="{FF2B5EF4-FFF2-40B4-BE49-F238E27FC236}">
                <a16:creationId xmlns:a16="http://schemas.microsoft.com/office/drawing/2014/main" id="{ED41A163-7BD1-27FF-F05F-DE7AA041A80F}"/>
              </a:ext>
            </a:extLst>
          </p:cNvPr>
          <p:cNvSpPr/>
          <p:nvPr/>
        </p:nvSpPr>
        <p:spPr>
          <a:xfrm>
            <a:off x="5598386" y="2732573"/>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67" name="Text 64">
            <a:extLst>
              <a:ext uri="{FF2B5EF4-FFF2-40B4-BE49-F238E27FC236}">
                <a16:creationId xmlns:a16="http://schemas.microsoft.com/office/drawing/2014/main" id="{FB237322-FA44-C954-26DF-D12103C9160F}"/>
              </a:ext>
            </a:extLst>
          </p:cNvPr>
          <p:cNvSpPr/>
          <p:nvPr/>
        </p:nvSpPr>
        <p:spPr>
          <a:xfrm>
            <a:off x="4466464" y="2869727"/>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70" name="Text 67">
            <a:extLst>
              <a:ext uri="{FF2B5EF4-FFF2-40B4-BE49-F238E27FC236}">
                <a16:creationId xmlns:a16="http://schemas.microsoft.com/office/drawing/2014/main" id="{F41888F5-AC39-5811-779B-DBF5822DA6B6}"/>
              </a:ext>
            </a:extLst>
          </p:cNvPr>
          <p:cNvSpPr/>
          <p:nvPr/>
        </p:nvSpPr>
        <p:spPr>
          <a:xfrm>
            <a:off x="4466464" y="3006882"/>
            <a:ext cx="51844" cy="265914"/>
          </a:xfrm>
          <a:prstGeom prst="rect">
            <a:avLst/>
          </a:prstGeom>
          <a:noFill/>
          <a:ln/>
        </p:spPr>
        <p:txBody>
          <a:bodyPr wrap="square" lIns="0" tIns="0" rIns="0" bIns="0" rtlCol="0" anchor="ctr">
            <a:spAutoFit/>
          </a:bodyPr>
          <a:lstStyle/>
          <a:p>
            <a:pPr marL="0" indent="0">
              <a:buNone/>
            </a:pPr>
            <a:endParaRPr lang="en-US" sz="800" dirty="0"/>
          </a:p>
        </p:txBody>
      </p:sp>
      <p:pic>
        <p:nvPicPr>
          <p:cNvPr id="4" name="Picture 3">
            <a:extLst>
              <a:ext uri="{FF2B5EF4-FFF2-40B4-BE49-F238E27FC236}">
                <a16:creationId xmlns:a16="http://schemas.microsoft.com/office/drawing/2014/main" id="{F6E4EB24-FC49-724D-BDB0-5B25C8535088}"/>
              </a:ext>
            </a:extLst>
          </p:cNvPr>
          <p:cNvPicPr>
            <a:picLocks noChangeAspect="1"/>
          </p:cNvPicPr>
          <p:nvPr/>
        </p:nvPicPr>
        <p:blipFill>
          <a:blip r:embed="rId4"/>
          <a:stretch>
            <a:fillRect/>
          </a:stretch>
        </p:blipFill>
        <p:spPr>
          <a:xfrm>
            <a:off x="8236222" y="-45986"/>
            <a:ext cx="1067964" cy="1067964"/>
          </a:xfrm>
          <a:prstGeom prst="rect">
            <a:avLst/>
          </a:prstGeom>
        </p:spPr>
      </p:pic>
    </p:spTree>
    <p:extLst>
      <p:ext uri="{BB962C8B-B14F-4D97-AF65-F5344CB8AC3E}">
        <p14:creationId xmlns:p14="http://schemas.microsoft.com/office/powerpoint/2010/main" val="9936925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685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System Architecture Overview</a:t>
            </a:r>
            <a:endParaRPr lang="en-US" sz="2700" dirty="0"/>
          </a:p>
        </p:txBody>
      </p:sp>
      <p:sp>
        <p:nvSpPr>
          <p:cNvPr id="6" name="Shape 3"/>
          <p:cNvSpPr/>
          <p:nvPr/>
        </p:nvSpPr>
        <p:spPr>
          <a:xfrm>
            <a:off x="600075" y="4086225"/>
            <a:ext cx="1919883" cy="892969"/>
          </a:xfrm>
          <a:prstGeom prst="rect">
            <a:avLst/>
          </a:prstGeom>
          <a:solidFill>
            <a:srgbClr val="F8F9FA"/>
          </a:solidFill>
          <a:ln/>
        </p:spPr>
      </p:sp>
      <p:sp>
        <p:nvSpPr>
          <p:cNvPr id="7" name="Shape 4"/>
          <p:cNvSpPr/>
          <p:nvPr/>
        </p:nvSpPr>
        <p:spPr>
          <a:xfrm>
            <a:off x="600075" y="4086225"/>
            <a:ext cx="28575" cy="892969"/>
          </a:xfrm>
          <a:prstGeom prst="rect">
            <a:avLst/>
          </a:prstGeom>
          <a:solidFill>
            <a:srgbClr val="2E5090"/>
          </a:solidFill>
          <a:ln/>
        </p:spPr>
      </p:sp>
      <p:sp>
        <p:nvSpPr>
          <p:cNvPr id="8" name="Text 5"/>
          <p:cNvSpPr/>
          <p:nvPr/>
        </p:nvSpPr>
        <p:spPr>
          <a:xfrm>
            <a:off x="707231"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9" name="Text 6"/>
          <p:cNvSpPr/>
          <p:nvPr/>
        </p:nvSpPr>
        <p:spPr>
          <a:xfrm>
            <a:off x="707231"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Flutter Mobile Application</a:t>
            </a:r>
            <a:endParaRPr lang="en-US" sz="732" dirty="0"/>
          </a:p>
        </p:txBody>
      </p:sp>
      <p:sp>
        <p:nvSpPr>
          <p:cNvPr id="10" name="Text 7"/>
          <p:cNvSpPr/>
          <p:nvPr/>
        </p:nvSpPr>
        <p:spPr>
          <a:xfrm>
            <a:off x="707231"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Frontend / User Interface</a:t>
            </a:r>
            <a:endParaRPr lang="en-US" sz="628" dirty="0"/>
          </a:p>
        </p:txBody>
      </p:sp>
      <p:sp>
        <p:nvSpPr>
          <p:cNvPr id="11" name="Shape 8"/>
          <p:cNvSpPr/>
          <p:nvPr/>
        </p:nvSpPr>
        <p:spPr>
          <a:xfrm>
            <a:off x="2627114" y="4086225"/>
            <a:ext cx="1919883" cy="892969"/>
          </a:xfrm>
          <a:prstGeom prst="rect">
            <a:avLst/>
          </a:prstGeom>
          <a:solidFill>
            <a:srgbClr val="F8F9FA"/>
          </a:solidFill>
          <a:ln/>
        </p:spPr>
      </p:sp>
      <p:sp>
        <p:nvSpPr>
          <p:cNvPr id="12" name="Shape 9"/>
          <p:cNvSpPr/>
          <p:nvPr/>
        </p:nvSpPr>
        <p:spPr>
          <a:xfrm>
            <a:off x="2627114" y="4086225"/>
            <a:ext cx="28575" cy="892969"/>
          </a:xfrm>
          <a:prstGeom prst="rect">
            <a:avLst/>
          </a:prstGeom>
          <a:solidFill>
            <a:srgbClr val="2E5090"/>
          </a:solidFill>
          <a:ln/>
        </p:spPr>
      </p:sp>
      <p:sp>
        <p:nvSpPr>
          <p:cNvPr id="13" name="Text 10"/>
          <p:cNvSpPr/>
          <p:nvPr/>
        </p:nvSpPr>
        <p:spPr>
          <a:xfrm>
            <a:off x="2734270"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4" name="Text 11"/>
          <p:cNvSpPr/>
          <p:nvPr/>
        </p:nvSpPr>
        <p:spPr>
          <a:xfrm>
            <a:off x="2734270"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Flask Middleware Server</a:t>
            </a:r>
            <a:endParaRPr lang="en-US" sz="732" dirty="0"/>
          </a:p>
        </p:txBody>
      </p:sp>
      <p:sp>
        <p:nvSpPr>
          <p:cNvPr id="15" name="Text 12"/>
          <p:cNvSpPr/>
          <p:nvPr/>
        </p:nvSpPr>
        <p:spPr>
          <a:xfrm>
            <a:off x="2734270"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Backend API / Orchestration</a:t>
            </a:r>
            <a:endParaRPr lang="en-US" sz="628" dirty="0"/>
          </a:p>
        </p:txBody>
      </p:sp>
      <p:sp>
        <p:nvSpPr>
          <p:cNvPr id="16" name="Shape 13"/>
          <p:cNvSpPr/>
          <p:nvPr/>
        </p:nvSpPr>
        <p:spPr>
          <a:xfrm>
            <a:off x="4654153" y="4086225"/>
            <a:ext cx="1919883" cy="892969"/>
          </a:xfrm>
          <a:prstGeom prst="rect">
            <a:avLst/>
          </a:prstGeom>
          <a:solidFill>
            <a:srgbClr val="F8F9FA"/>
          </a:solidFill>
          <a:ln/>
        </p:spPr>
      </p:sp>
      <p:sp>
        <p:nvSpPr>
          <p:cNvPr id="17" name="Shape 14"/>
          <p:cNvSpPr/>
          <p:nvPr/>
        </p:nvSpPr>
        <p:spPr>
          <a:xfrm>
            <a:off x="4654153" y="4086225"/>
            <a:ext cx="28575" cy="892969"/>
          </a:xfrm>
          <a:prstGeom prst="rect">
            <a:avLst/>
          </a:prstGeom>
          <a:solidFill>
            <a:srgbClr val="2E5090"/>
          </a:solidFill>
          <a:ln/>
        </p:spPr>
      </p:sp>
      <p:sp>
        <p:nvSpPr>
          <p:cNvPr id="18" name="Text 15"/>
          <p:cNvSpPr/>
          <p:nvPr/>
        </p:nvSpPr>
        <p:spPr>
          <a:xfrm>
            <a:off x="4761309"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9" name="Text 16"/>
          <p:cNvSpPr/>
          <p:nvPr/>
        </p:nvSpPr>
        <p:spPr>
          <a:xfrm>
            <a:off x="4761309"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Hugging Face Cloud Inference</a:t>
            </a:r>
            <a:endParaRPr lang="en-US" sz="732" dirty="0"/>
          </a:p>
        </p:txBody>
      </p:sp>
      <p:sp>
        <p:nvSpPr>
          <p:cNvPr id="20" name="Text 17"/>
          <p:cNvSpPr/>
          <p:nvPr/>
        </p:nvSpPr>
        <p:spPr>
          <a:xfrm>
            <a:off x="4761309"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AI Model / Inference Engine</a:t>
            </a:r>
            <a:endParaRPr lang="en-US" sz="628" dirty="0"/>
          </a:p>
        </p:txBody>
      </p:sp>
      <p:sp>
        <p:nvSpPr>
          <p:cNvPr id="21" name="Shape 18"/>
          <p:cNvSpPr/>
          <p:nvPr/>
        </p:nvSpPr>
        <p:spPr>
          <a:xfrm>
            <a:off x="6681192" y="4086225"/>
            <a:ext cx="1919883" cy="892969"/>
          </a:xfrm>
          <a:prstGeom prst="rect">
            <a:avLst/>
          </a:prstGeom>
          <a:solidFill>
            <a:srgbClr val="F8F9FA"/>
          </a:solidFill>
          <a:ln/>
        </p:spPr>
      </p:sp>
      <p:sp>
        <p:nvSpPr>
          <p:cNvPr id="22" name="Shape 19"/>
          <p:cNvSpPr/>
          <p:nvPr/>
        </p:nvSpPr>
        <p:spPr>
          <a:xfrm>
            <a:off x="6681192" y="4086225"/>
            <a:ext cx="28575" cy="892969"/>
          </a:xfrm>
          <a:prstGeom prst="rect">
            <a:avLst/>
          </a:prstGeom>
          <a:solidFill>
            <a:srgbClr val="2E5090"/>
          </a:solidFill>
          <a:ln/>
        </p:spPr>
      </p:sp>
      <p:sp>
        <p:nvSpPr>
          <p:cNvPr id="23" name="Text 20"/>
          <p:cNvSpPr/>
          <p:nvPr/>
        </p:nvSpPr>
        <p:spPr>
          <a:xfrm>
            <a:off x="6788348"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24" name="Text 21"/>
          <p:cNvSpPr/>
          <p:nvPr/>
        </p:nvSpPr>
        <p:spPr>
          <a:xfrm>
            <a:off x="6788348"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Supabase Backend Services</a:t>
            </a:r>
            <a:endParaRPr lang="en-US" sz="732" dirty="0"/>
          </a:p>
        </p:txBody>
      </p:sp>
      <p:sp>
        <p:nvSpPr>
          <p:cNvPr id="25" name="Text 22"/>
          <p:cNvSpPr/>
          <p:nvPr/>
        </p:nvSpPr>
        <p:spPr>
          <a:xfrm>
            <a:off x="6788348"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Database &amp; Authentication</a:t>
            </a:r>
            <a:endParaRPr lang="en-US" sz="628" dirty="0"/>
          </a:p>
        </p:txBody>
      </p:sp>
      <p:pic>
        <p:nvPicPr>
          <p:cNvPr id="27" name="Picture 26">
            <a:extLst>
              <a:ext uri="{FF2B5EF4-FFF2-40B4-BE49-F238E27FC236}">
                <a16:creationId xmlns:a16="http://schemas.microsoft.com/office/drawing/2014/main" id="{603ED09D-DBB6-5CEE-F028-22A4FA4769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5084" y="879395"/>
            <a:ext cx="4522111" cy="3035808"/>
          </a:xfrm>
          <a:prstGeom prst="rect">
            <a:avLst/>
          </a:prstGeom>
        </p:spPr>
      </p:pic>
      <p:pic>
        <p:nvPicPr>
          <p:cNvPr id="4" name="Picture 3">
            <a:extLst>
              <a:ext uri="{FF2B5EF4-FFF2-40B4-BE49-F238E27FC236}">
                <a16:creationId xmlns:a16="http://schemas.microsoft.com/office/drawing/2014/main" id="{318EFC8A-15BB-8B50-137F-390AECF897E9}"/>
              </a:ext>
            </a:extLst>
          </p:cNvPr>
          <p:cNvPicPr>
            <a:picLocks noChangeAspect="1"/>
          </p:cNvPicPr>
          <p:nvPr/>
        </p:nvPicPr>
        <p:blipFill>
          <a:blip r:embed="rId5"/>
          <a:stretch>
            <a:fillRect/>
          </a:stretch>
        </p:blipFill>
        <p:spPr>
          <a:xfrm>
            <a:off x="7994233" y="-39263"/>
            <a:ext cx="1141859" cy="114185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1"/>
            <a:ext cx="9144000" cy="5090160"/>
          </a:xfrm>
          <a:prstGeom prst="rect">
            <a:avLst/>
          </a:prstGeom>
        </p:spPr>
      </p:pic>
      <p:sp>
        <p:nvSpPr>
          <p:cNvPr id="3" name="Text 0"/>
          <p:cNvSpPr/>
          <p:nvPr/>
        </p:nvSpPr>
        <p:spPr>
          <a:xfrm>
            <a:off x="571500" y="366689"/>
            <a:ext cx="7168629" cy="559640"/>
          </a:xfrm>
          <a:prstGeom prst="rect">
            <a:avLst/>
          </a:prstGeom>
          <a:noFill/>
          <a:ln/>
        </p:spPr>
        <p:txBody>
          <a:bodyPr wrap="none" lIns="0" tIns="0" rIns="0" bIns="127508" rtlCol="0" anchor="ctr">
            <a:spAutoFit/>
          </a:bodyPr>
          <a:lstStyle/>
          <a:p>
            <a:pPr marL="0" indent="0">
              <a:buNone/>
            </a:pPr>
            <a:r>
              <a:rPr lang="en-US" sz="2800" b="1" dirty="0">
                <a:solidFill>
                  <a:srgbClr val="1A3A52"/>
                </a:solidFill>
                <a:latin typeface="Noto Sans" pitchFamily="34" charset="0"/>
                <a:ea typeface="Noto Sans" pitchFamily="34" charset="-122"/>
                <a:cs typeface="Noto Sans" pitchFamily="34" charset="-120"/>
              </a:rPr>
              <a:t>System Components: Detailed Overview</a:t>
            </a:r>
            <a:endParaRPr lang="en-US" sz="2800" dirty="0"/>
          </a:p>
        </p:txBody>
      </p:sp>
      <p:sp>
        <p:nvSpPr>
          <p:cNvPr id="4" name="Shape 1"/>
          <p:cNvSpPr/>
          <p:nvPr/>
        </p:nvSpPr>
        <p:spPr>
          <a:xfrm>
            <a:off x="607219" y="1129004"/>
            <a:ext cx="3936206" cy="1739356"/>
          </a:xfrm>
          <a:prstGeom prst="rect">
            <a:avLst/>
          </a:prstGeom>
          <a:solidFill>
            <a:srgbClr val="F8F9FA"/>
          </a:solidFill>
          <a:ln/>
        </p:spPr>
      </p:sp>
      <p:sp>
        <p:nvSpPr>
          <p:cNvPr id="5" name="Shape 2"/>
          <p:cNvSpPr/>
          <p:nvPr/>
        </p:nvSpPr>
        <p:spPr>
          <a:xfrm>
            <a:off x="571500" y="1121569"/>
            <a:ext cx="45719" cy="1746791"/>
          </a:xfrm>
          <a:prstGeom prst="rect">
            <a:avLst/>
          </a:prstGeom>
          <a:solidFill>
            <a:srgbClr val="2E5090"/>
          </a:solidFill>
          <a:ln/>
        </p:spPr>
      </p:sp>
      <p:sp>
        <p:nvSpPr>
          <p:cNvPr id="6" name="Text 3"/>
          <p:cNvSpPr/>
          <p:nvPr/>
        </p:nvSpPr>
        <p:spPr>
          <a:xfrm>
            <a:off x="700088" y="1271021"/>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1</a:t>
            </a:r>
            <a:endParaRPr lang="en-US" sz="1400" dirty="0"/>
          </a:p>
        </p:txBody>
      </p:sp>
      <p:sp>
        <p:nvSpPr>
          <p:cNvPr id="7" name="Text 4"/>
          <p:cNvSpPr/>
          <p:nvPr/>
        </p:nvSpPr>
        <p:spPr>
          <a:xfrm>
            <a:off x="700088" y="1567904"/>
            <a:ext cx="1671933"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Flutter Mobile Application</a:t>
            </a:r>
            <a:endParaRPr lang="en-US" sz="1000" dirty="0"/>
          </a:p>
        </p:txBody>
      </p:sp>
      <p:sp>
        <p:nvSpPr>
          <p:cNvPr id="8" name="Text 5"/>
          <p:cNvSpPr/>
          <p:nvPr/>
        </p:nvSpPr>
        <p:spPr>
          <a:xfrm>
            <a:off x="700088" y="1776424"/>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Frontend / User Interface</a:t>
            </a:r>
            <a:endParaRPr lang="en-US" sz="1000" dirty="0"/>
          </a:p>
        </p:txBody>
      </p:sp>
      <p:sp>
        <p:nvSpPr>
          <p:cNvPr id="9" name="Text 6"/>
          <p:cNvSpPr/>
          <p:nvPr/>
        </p:nvSpPr>
        <p:spPr>
          <a:xfrm>
            <a:off x="700088" y="2005245"/>
            <a:ext cx="1009892"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Technology Stack</a:t>
            </a:r>
            <a:endParaRPr lang="en-US" sz="900" dirty="0"/>
          </a:p>
        </p:txBody>
      </p:sp>
      <p:sp>
        <p:nvSpPr>
          <p:cNvPr id="10" name="Text 7"/>
          <p:cNvSpPr/>
          <p:nvPr/>
        </p:nvSpPr>
        <p:spPr>
          <a:xfrm>
            <a:off x="785813" y="221338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1" name="Text 8"/>
          <p:cNvSpPr/>
          <p:nvPr/>
        </p:nvSpPr>
        <p:spPr>
          <a:xfrm>
            <a:off x="860933" y="2177133"/>
            <a:ext cx="60433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Language: </a:t>
            </a:r>
            <a:endParaRPr lang="en-US" sz="900" dirty="0"/>
          </a:p>
        </p:txBody>
      </p:sp>
      <p:sp>
        <p:nvSpPr>
          <p:cNvPr id="12" name="Text 9"/>
          <p:cNvSpPr/>
          <p:nvPr/>
        </p:nvSpPr>
        <p:spPr>
          <a:xfrm>
            <a:off x="1468022" y="2199183"/>
            <a:ext cx="391239" cy="138499"/>
          </a:xfrm>
          <a:prstGeom prst="rect">
            <a:avLst/>
          </a:prstGeom>
          <a:noFill/>
          <a:ln/>
        </p:spPr>
        <p:txBody>
          <a:bodyPr wrap="squar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Dart</a:t>
            </a:r>
            <a:endParaRPr lang="en-US" sz="900" dirty="0"/>
          </a:p>
        </p:txBody>
      </p:sp>
      <p:sp>
        <p:nvSpPr>
          <p:cNvPr id="13" name="Text 10"/>
          <p:cNvSpPr/>
          <p:nvPr/>
        </p:nvSpPr>
        <p:spPr>
          <a:xfrm>
            <a:off x="785813" y="2341974"/>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4" name="Text 11"/>
          <p:cNvSpPr/>
          <p:nvPr/>
        </p:nvSpPr>
        <p:spPr>
          <a:xfrm>
            <a:off x="860933" y="2333730"/>
            <a:ext cx="591509"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Platforms: </a:t>
            </a:r>
            <a:endParaRPr lang="en-US" sz="900" dirty="0"/>
          </a:p>
        </p:txBody>
      </p:sp>
      <p:sp>
        <p:nvSpPr>
          <p:cNvPr id="15" name="Text 12"/>
          <p:cNvSpPr/>
          <p:nvPr/>
        </p:nvSpPr>
        <p:spPr>
          <a:xfrm>
            <a:off x="1450604" y="2335322"/>
            <a:ext cx="493725"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 Android</a:t>
            </a:r>
            <a:endParaRPr lang="en-US" sz="900" dirty="0"/>
          </a:p>
        </p:txBody>
      </p:sp>
      <p:sp>
        <p:nvSpPr>
          <p:cNvPr id="16" name="Text 13"/>
          <p:cNvSpPr/>
          <p:nvPr/>
        </p:nvSpPr>
        <p:spPr>
          <a:xfrm>
            <a:off x="785813" y="2470562"/>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17" name="Text 14"/>
          <p:cNvSpPr/>
          <p:nvPr/>
        </p:nvSpPr>
        <p:spPr>
          <a:xfrm>
            <a:off x="860933" y="2469462"/>
            <a:ext cx="67967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Framework: </a:t>
            </a:r>
            <a:endParaRPr lang="en-US" sz="900" dirty="0"/>
          </a:p>
        </p:txBody>
      </p:sp>
      <p:sp>
        <p:nvSpPr>
          <p:cNvPr id="26" name="Shape 23"/>
          <p:cNvSpPr/>
          <p:nvPr/>
        </p:nvSpPr>
        <p:spPr>
          <a:xfrm>
            <a:off x="4622124" y="1109141"/>
            <a:ext cx="3936206" cy="1739356"/>
          </a:xfrm>
          <a:prstGeom prst="rect">
            <a:avLst/>
          </a:prstGeom>
          <a:solidFill>
            <a:srgbClr val="F8F9FA"/>
          </a:solidFill>
          <a:ln/>
        </p:spPr>
      </p:sp>
      <p:sp>
        <p:nvSpPr>
          <p:cNvPr id="27" name="Shape 24"/>
          <p:cNvSpPr/>
          <p:nvPr/>
        </p:nvSpPr>
        <p:spPr>
          <a:xfrm>
            <a:off x="4636294" y="1121569"/>
            <a:ext cx="45719" cy="1739356"/>
          </a:xfrm>
          <a:prstGeom prst="rect">
            <a:avLst/>
          </a:prstGeom>
          <a:solidFill>
            <a:srgbClr val="2E5090"/>
          </a:solidFill>
          <a:ln/>
        </p:spPr>
      </p:sp>
      <p:sp>
        <p:nvSpPr>
          <p:cNvPr id="28" name="Text 25"/>
          <p:cNvSpPr/>
          <p:nvPr/>
        </p:nvSpPr>
        <p:spPr>
          <a:xfrm>
            <a:off x="4764881" y="1271021"/>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2</a:t>
            </a:r>
            <a:endParaRPr lang="en-US" sz="1400" dirty="0"/>
          </a:p>
        </p:txBody>
      </p:sp>
      <p:sp>
        <p:nvSpPr>
          <p:cNvPr id="29" name="Text 26"/>
          <p:cNvSpPr/>
          <p:nvPr/>
        </p:nvSpPr>
        <p:spPr>
          <a:xfrm>
            <a:off x="4764881" y="1567904"/>
            <a:ext cx="1562928"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Flask Middleware Server</a:t>
            </a:r>
            <a:endParaRPr lang="en-US" sz="1000" dirty="0"/>
          </a:p>
        </p:txBody>
      </p:sp>
      <p:sp>
        <p:nvSpPr>
          <p:cNvPr id="30" name="Text 27"/>
          <p:cNvSpPr/>
          <p:nvPr/>
        </p:nvSpPr>
        <p:spPr>
          <a:xfrm>
            <a:off x="4764881" y="1776424"/>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Backend API / Orchestration</a:t>
            </a:r>
            <a:endParaRPr lang="en-US" sz="1000" dirty="0"/>
          </a:p>
        </p:txBody>
      </p:sp>
      <p:sp>
        <p:nvSpPr>
          <p:cNvPr id="31" name="Text 28"/>
          <p:cNvSpPr/>
          <p:nvPr/>
        </p:nvSpPr>
        <p:spPr>
          <a:xfrm>
            <a:off x="4764881" y="2055331"/>
            <a:ext cx="785471" cy="107722"/>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Technology Stack</a:t>
            </a:r>
            <a:endParaRPr lang="en-US" sz="700" dirty="0"/>
          </a:p>
        </p:txBody>
      </p:sp>
      <p:sp>
        <p:nvSpPr>
          <p:cNvPr id="32" name="Text 29"/>
          <p:cNvSpPr/>
          <p:nvPr/>
        </p:nvSpPr>
        <p:spPr>
          <a:xfrm>
            <a:off x="4850606" y="221338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33" name="Text 30"/>
          <p:cNvSpPr/>
          <p:nvPr/>
        </p:nvSpPr>
        <p:spPr>
          <a:xfrm>
            <a:off x="4925727" y="2197999"/>
            <a:ext cx="665247"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Framework</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34" name="Text 31"/>
          <p:cNvSpPr/>
          <p:nvPr/>
        </p:nvSpPr>
        <p:spPr>
          <a:xfrm>
            <a:off x="5610607" y="2192522"/>
            <a:ext cx="298159"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Flask</a:t>
            </a:r>
            <a:endParaRPr lang="en-US" sz="900" dirty="0"/>
          </a:p>
        </p:txBody>
      </p:sp>
      <p:sp>
        <p:nvSpPr>
          <p:cNvPr id="35" name="Text 32"/>
          <p:cNvSpPr/>
          <p:nvPr/>
        </p:nvSpPr>
        <p:spPr>
          <a:xfrm>
            <a:off x="5928399" y="2192522"/>
            <a:ext cx="4969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(Python)</a:t>
            </a:r>
            <a:endParaRPr lang="en-US" sz="900" dirty="0"/>
          </a:p>
        </p:txBody>
      </p:sp>
      <p:sp>
        <p:nvSpPr>
          <p:cNvPr id="36" name="Text 33"/>
          <p:cNvSpPr/>
          <p:nvPr/>
        </p:nvSpPr>
        <p:spPr>
          <a:xfrm>
            <a:off x="4850606" y="240297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37" name="Text 34"/>
          <p:cNvSpPr/>
          <p:nvPr/>
        </p:nvSpPr>
        <p:spPr>
          <a:xfrm>
            <a:off x="4925727" y="2366983"/>
            <a:ext cx="516167"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API</a:t>
            </a:r>
            <a:r>
              <a:rPr lang="en-US" sz="700" dirty="0">
                <a:solidFill>
                  <a:srgbClr val="34495E"/>
                </a:solidFill>
                <a:latin typeface="Noto Sans" pitchFamily="34" charset="0"/>
                <a:ea typeface="Noto Sans" pitchFamily="34" charset="-122"/>
                <a:cs typeface="Noto Sans" pitchFamily="34" charset="-120"/>
              </a:rPr>
              <a:t> </a:t>
            </a:r>
            <a:r>
              <a:rPr lang="en-US" sz="900" dirty="0">
                <a:solidFill>
                  <a:srgbClr val="34495E"/>
                </a:solidFill>
                <a:latin typeface="Noto Sans" pitchFamily="34" charset="0"/>
                <a:ea typeface="Noto Sans" pitchFamily="34" charset="-122"/>
                <a:cs typeface="Noto Sans" pitchFamily="34" charset="-120"/>
              </a:rPr>
              <a:t>Type</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38" name="Text 35"/>
          <p:cNvSpPr/>
          <p:nvPr/>
        </p:nvSpPr>
        <p:spPr>
          <a:xfrm>
            <a:off x="5482562" y="2374531"/>
            <a:ext cx="272510"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REST</a:t>
            </a:r>
            <a:endParaRPr lang="en-US" sz="900" dirty="0"/>
          </a:p>
        </p:txBody>
      </p:sp>
      <p:sp>
        <p:nvSpPr>
          <p:cNvPr id="39" name="Text 36"/>
          <p:cNvSpPr/>
          <p:nvPr/>
        </p:nvSpPr>
        <p:spPr>
          <a:xfrm>
            <a:off x="5768938" y="2365732"/>
            <a:ext cx="57868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endpoints</a:t>
            </a:r>
            <a:endParaRPr lang="en-US" sz="900" dirty="0"/>
          </a:p>
        </p:txBody>
      </p:sp>
      <p:sp>
        <p:nvSpPr>
          <p:cNvPr id="40" name="Text 37"/>
          <p:cNvSpPr/>
          <p:nvPr/>
        </p:nvSpPr>
        <p:spPr>
          <a:xfrm>
            <a:off x="4850606" y="2575641"/>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41" name="Text 38"/>
          <p:cNvSpPr/>
          <p:nvPr/>
        </p:nvSpPr>
        <p:spPr>
          <a:xfrm>
            <a:off x="4921038" y="2543567"/>
            <a:ext cx="6572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Processing: </a:t>
            </a:r>
            <a:endParaRPr lang="en-US" sz="900" dirty="0"/>
          </a:p>
        </p:txBody>
      </p:sp>
      <p:sp>
        <p:nvSpPr>
          <p:cNvPr id="42" name="Text 39"/>
          <p:cNvSpPr/>
          <p:nvPr/>
        </p:nvSpPr>
        <p:spPr>
          <a:xfrm>
            <a:off x="5592292" y="2540278"/>
            <a:ext cx="1027525"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OpenCV &amp; NumPy</a:t>
            </a:r>
            <a:endParaRPr lang="en-US" sz="900" dirty="0"/>
          </a:p>
        </p:txBody>
      </p:sp>
      <p:sp>
        <p:nvSpPr>
          <p:cNvPr id="50" name="Shape 47"/>
          <p:cNvSpPr/>
          <p:nvPr/>
        </p:nvSpPr>
        <p:spPr>
          <a:xfrm>
            <a:off x="571500" y="3017812"/>
            <a:ext cx="3936206" cy="1851589"/>
          </a:xfrm>
          <a:prstGeom prst="rect">
            <a:avLst/>
          </a:prstGeom>
          <a:solidFill>
            <a:srgbClr val="F8F9FA"/>
          </a:solidFill>
          <a:ln/>
        </p:spPr>
      </p:sp>
      <p:sp>
        <p:nvSpPr>
          <p:cNvPr id="51" name="Shape 48"/>
          <p:cNvSpPr/>
          <p:nvPr/>
        </p:nvSpPr>
        <p:spPr>
          <a:xfrm>
            <a:off x="571500" y="3017813"/>
            <a:ext cx="45719" cy="1851588"/>
          </a:xfrm>
          <a:prstGeom prst="rect">
            <a:avLst/>
          </a:prstGeom>
          <a:solidFill>
            <a:srgbClr val="2E5090"/>
          </a:solidFill>
          <a:ln/>
        </p:spPr>
      </p:sp>
      <p:sp>
        <p:nvSpPr>
          <p:cNvPr id="52" name="Text 49"/>
          <p:cNvSpPr/>
          <p:nvPr/>
        </p:nvSpPr>
        <p:spPr>
          <a:xfrm>
            <a:off x="700088" y="3167264"/>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3</a:t>
            </a:r>
            <a:endParaRPr lang="en-US" sz="1400" dirty="0"/>
          </a:p>
        </p:txBody>
      </p:sp>
      <p:sp>
        <p:nvSpPr>
          <p:cNvPr id="53" name="Text 50"/>
          <p:cNvSpPr/>
          <p:nvPr/>
        </p:nvSpPr>
        <p:spPr>
          <a:xfrm>
            <a:off x="700088" y="3464147"/>
            <a:ext cx="1926810"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Hugging Face Cloud Inference</a:t>
            </a:r>
            <a:endParaRPr lang="en-US" sz="1000" dirty="0"/>
          </a:p>
        </p:txBody>
      </p:sp>
      <p:sp>
        <p:nvSpPr>
          <p:cNvPr id="54" name="Text 51"/>
          <p:cNvSpPr/>
          <p:nvPr/>
        </p:nvSpPr>
        <p:spPr>
          <a:xfrm>
            <a:off x="700088" y="3672667"/>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AI Model / Inference Engine</a:t>
            </a:r>
            <a:endParaRPr lang="en-US" sz="1000" dirty="0"/>
          </a:p>
        </p:txBody>
      </p:sp>
      <p:sp>
        <p:nvSpPr>
          <p:cNvPr id="55" name="Text 52"/>
          <p:cNvSpPr/>
          <p:nvPr/>
        </p:nvSpPr>
        <p:spPr>
          <a:xfrm>
            <a:off x="700088" y="3951574"/>
            <a:ext cx="612347" cy="107722"/>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Model Details</a:t>
            </a:r>
            <a:endParaRPr lang="en-US" sz="700" dirty="0"/>
          </a:p>
        </p:txBody>
      </p:sp>
      <p:sp>
        <p:nvSpPr>
          <p:cNvPr id="56" name="Text 53"/>
          <p:cNvSpPr/>
          <p:nvPr/>
        </p:nvSpPr>
        <p:spPr>
          <a:xfrm>
            <a:off x="785813" y="410962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57" name="Text 54"/>
          <p:cNvSpPr/>
          <p:nvPr/>
        </p:nvSpPr>
        <p:spPr>
          <a:xfrm>
            <a:off x="860933" y="4094241"/>
            <a:ext cx="391133"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Model</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58" name="Text 55"/>
          <p:cNvSpPr/>
          <p:nvPr/>
        </p:nvSpPr>
        <p:spPr>
          <a:xfrm>
            <a:off x="1328739" y="4094241"/>
            <a:ext cx="1316066"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SwinV2-Base Ensemble</a:t>
            </a:r>
            <a:endParaRPr lang="en-US" sz="900" dirty="0"/>
          </a:p>
        </p:txBody>
      </p:sp>
      <p:sp>
        <p:nvSpPr>
          <p:cNvPr id="59" name="Text 56"/>
          <p:cNvSpPr/>
          <p:nvPr/>
        </p:nvSpPr>
        <p:spPr>
          <a:xfrm>
            <a:off x="789950" y="427602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60" name="Text 57"/>
          <p:cNvSpPr/>
          <p:nvPr/>
        </p:nvSpPr>
        <p:spPr>
          <a:xfrm>
            <a:off x="860933" y="4252296"/>
            <a:ext cx="549831"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Accuracy: </a:t>
            </a:r>
            <a:endParaRPr lang="en-US" sz="900" dirty="0"/>
          </a:p>
        </p:txBody>
      </p:sp>
      <p:sp>
        <p:nvSpPr>
          <p:cNvPr id="61" name="Text 58"/>
          <p:cNvSpPr/>
          <p:nvPr/>
        </p:nvSpPr>
        <p:spPr>
          <a:xfrm>
            <a:off x="1450604" y="4267685"/>
            <a:ext cx="39433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62" name="Text 59"/>
          <p:cNvSpPr/>
          <p:nvPr/>
        </p:nvSpPr>
        <p:spPr>
          <a:xfrm>
            <a:off x="785813" y="4442425"/>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63" name="Text 60"/>
          <p:cNvSpPr/>
          <p:nvPr/>
        </p:nvSpPr>
        <p:spPr>
          <a:xfrm>
            <a:off x="860933" y="4427037"/>
            <a:ext cx="71814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Deployment</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64" name="Text 61"/>
          <p:cNvSpPr/>
          <p:nvPr/>
        </p:nvSpPr>
        <p:spPr>
          <a:xfrm>
            <a:off x="1620534" y="4427037"/>
            <a:ext cx="1046761"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Hugging Face URL</a:t>
            </a:r>
            <a:endParaRPr lang="en-US" sz="900" dirty="0"/>
          </a:p>
        </p:txBody>
      </p:sp>
      <p:sp>
        <p:nvSpPr>
          <p:cNvPr id="72" name="Shape 69"/>
          <p:cNvSpPr/>
          <p:nvPr/>
        </p:nvSpPr>
        <p:spPr>
          <a:xfrm>
            <a:off x="4636294" y="3017812"/>
            <a:ext cx="3936206" cy="1851589"/>
          </a:xfrm>
          <a:prstGeom prst="rect">
            <a:avLst/>
          </a:prstGeom>
          <a:solidFill>
            <a:srgbClr val="F8F9FA"/>
          </a:solidFill>
          <a:ln/>
        </p:spPr>
      </p:sp>
      <p:sp>
        <p:nvSpPr>
          <p:cNvPr id="73" name="Shape 70"/>
          <p:cNvSpPr/>
          <p:nvPr/>
        </p:nvSpPr>
        <p:spPr>
          <a:xfrm>
            <a:off x="4636294" y="3017812"/>
            <a:ext cx="45719" cy="1851589"/>
          </a:xfrm>
          <a:prstGeom prst="rect">
            <a:avLst/>
          </a:prstGeom>
          <a:solidFill>
            <a:srgbClr val="2E5090"/>
          </a:solidFill>
          <a:ln/>
        </p:spPr>
      </p:sp>
      <p:sp>
        <p:nvSpPr>
          <p:cNvPr id="74" name="Text 71"/>
          <p:cNvSpPr/>
          <p:nvPr/>
        </p:nvSpPr>
        <p:spPr>
          <a:xfrm>
            <a:off x="4764881" y="3167264"/>
            <a:ext cx="99386"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4</a:t>
            </a:r>
            <a:endParaRPr lang="en-US" sz="1400" dirty="0"/>
          </a:p>
        </p:txBody>
      </p:sp>
      <p:sp>
        <p:nvSpPr>
          <p:cNvPr id="75" name="Text 72"/>
          <p:cNvSpPr/>
          <p:nvPr/>
        </p:nvSpPr>
        <p:spPr>
          <a:xfrm>
            <a:off x="4764881" y="3464147"/>
            <a:ext cx="1752083"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Supabase Backend Services</a:t>
            </a:r>
            <a:endParaRPr lang="en-US" sz="1000" dirty="0"/>
          </a:p>
        </p:txBody>
      </p:sp>
      <p:sp>
        <p:nvSpPr>
          <p:cNvPr id="76" name="Text 73"/>
          <p:cNvSpPr/>
          <p:nvPr/>
        </p:nvSpPr>
        <p:spPr>
          <a:xfrm>
            <a:off x="4764881" y="3672667"/>
            <a:ext cx="3679031" cy="222625"/>
          </a:xfrm>
          <a:prstGeom prst="rect">
            <a:avLst/>
          </a:prstGeom>
          <a:noFill/>
          <a:ln/>
        </p:spPr>
        <p:txBody>
          <a:bodyPr wrap="square" lIns="0" tIns="0" rIns="0" bIns="68072"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Database &amp; Authentication</a:t>
            </a:r>
            <a:endParaRPr lang="en-US" sz="1000" dirty="0"/>
          </a:p>
        </p:txBody>
      </p:sp>
      <p:sp>
        <p:nvSpPr>
          <p:cNvPr id="77" name="Text 74"/>
          <p:cNvSpPr/>
          <p:nvPr/>
        </p:nvSpPr>
        <p:spPr>
          <a:xfrm>
            <a:off x="4764881" y="3936186"/>
            <a:ext cx="854401" cy="138499"/>
          </a:xfrm>
          <a:prstGeom prst="rect">
            <a:avLst/>
          </a:prstGeom>
          <a:noFill/>
          <a:ln/>
        </p:spPr>
        <p:txBody>
          <a:bodyPr wrap="none" lIns="0" tIns="0" rIns="0" bIns="0" rtlCol="0" anchor="ctr">
            <a:spAutoFit/>
          </a:bodyPr>
          <a:lstStyle/>
          <a:p>
            <a:pPr marL="0" indent="0">
              <a:buNone/>
            </a:pPr>
            <a:r>
              <a:rPr lang="en-US" sz="700" b="1" dirty="0">
                <a:solidFill>
                  <a:srgbClr val="1A3A52"/>
                </a:solidFill>
                <a:latin typeface="Noto Sans" pitchFamily="34" charset="0"/>
                <a:ea typeface="Noto Sans" pitchFamily="34" charset="-122"/>
                <a:cs typeface="Noto Sans" pitchFamily="34" charset="-120"/>
              </a:rPr>
              <a:t>Technology </a:t>
            </a:r>
            <a:r>
              <a:rPr lang="en-US" sz="900" b="1" dirty="0">
                <a:solidFill>
                  <a:srgbClr val="1A3A52"/>
                </a:solidFill>
                <a:latin typeface="Noto Sans" pitchFamily="34" charset="0"/>
                <a:ea typeface="Noto Sans" pitchFamily="34" charset="-122"/>
                <a:cs typeface="Noto Sans" pitchFamily="34" charset="-120"/>
              </a:rPr>
              <a:t>Stack</a:t>
            </a:r>
            <a:endParaRPr lang="en-US" sz="900" dirty="0"/>
          </a:p>
        </p:txBody>
      </p:sp>
      <p:sp>
        <p:nvSpPr>
          <p:cNvPr id="78" name="Text 75"/>
          <p:cNvSpPr/>
          <p:nvPr/>
        </p:nvSpPr>
        <p:spPr>
          <a:xfrm>
            <a:off x="4850606" y="4109629"/>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79" name="Text 76"/>
          <p:cNvSpPr/>
          <p:nvPr/>
        </p:nvSpPr>
        <p:spPr>
          <a:xfrm>
            <a:off x="4925727" y="4094241"/>
            <a:ext cx="559449"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Database</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80" name="Text 77"/>
          <p:cNvSpPr/>
          <p:nvPr/>
        </p:nvSpPr>
        <p:spPr>
          <a:xfrm>
            <a:off x="5493232" y="4093461"/>
            <a:ext cx="668453"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PostgreSQL</a:t>
            </a:r>
            <a:endParaRPr lang="en-US" sz="900" dirty="0"/>
          </a:p>
        </p:txBody>
      </p:sp>
      <p:sp>
        <p:nvSpPr>
          <p:cNvPr id="81" name="Text 78"/>
          <p:cNvSpPr/>
          <p:nvPr/>
        </p:nvSpPr>
        <p:spPr>
          <a:xfrm>
            <a:off x="4850606" y="4238217"/>
            <a:ext cx="33664" cy="107722"/>
          </a:xfrm>
          <a:prstGeom prst="rect">
            <a:avLst/>
          </a:prstGeom>
          <a:noFill/>
          <a:ln/>
        </p:spPr>
        <p:txBody>
          <a:bodyPr wrap="none" lIns="0" tIns="0" rIns="0" bIns="0" rtlCol="0" anchor="ctr">
            <a:spAutoFit/>
          </a:bodyPr>
          <a:lstStyle/>
          <a:p>
            <a:pPr marL="0" indent="0">
              <a:buNone/>
            </a:pPr>
            <a:r>
              <a:rPr lang="en-US" sz="700" b="1" dirty="0">
                <a:solidFill>
                  <a:srgbClr val="F39C12"/>
                </a:solidFill>
                <a:latin typeface="Noto Sans" pitchFamily="34" charset="0"/>
                <a:ea typeface="Noto Sans" pitchFamily="34" charset="-122"/>
                <a:cs typeface="Noto Sans" pitchFamily="34" charset="-120"/>
              </a:rPr>
              <a:t>•</a:t>
            </a:r>
            <a:endParaRPr lang="en-US" sz="700" dirty="0"/>
          </a:p>
        </p:txBody>
      </p:sp>
      <p:sp>
        <p:nvSpPr>
          <p:cNvPr id="82" name="Text 79"/>
          <p:cNvSpPr/>
          <p:nvPr/>
        </p:nvSpPr>
        <p:spPr>
          <a:xfrm>
            <a:off x="4925727" y="4222829"/>
            <a:ext cx="309380"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Auth</a:t>
            </a:r>
            <a:r>
              <a:rPr lang="en-US" sz="700" dirty="0">
                <a:solidFill>
                  <a:srgbClr val="34495E"/>
                </a:solidFill>
                <a:latin typeface="Noto Sans" pitchFamily="34" charset="0"/>
                <a:ea typeface="Noto Sans" pitchFamily="34" charset="-122"/>
                <a:cs typeface="Noto Sans" pitchFamily="34" charset="-120"/>
              </a:rPr>
              <a:t>: </a:t>
            </a:r>
            <a:endParaRPr lang="en-US" sz="700" dirty="0"/>
          </a:p>
        </p:txBody>
      </p:sp>
      <p:sp>
        <p:nvSpPr>
          <p:cNvPr id="83" name="Text 80"/>
          <p:cNvSpPr/>
          <p:nvPr/>
        </p:nvSpPr>
        <p:spPr>
          <a:xfrm>
            <a:off x="5283452" y="4225689"/>
            <a:ext cx="862416" cy="138499"/>
          </a:xfrm>
          <a:prstGeom prst="rect">
            <a:avLst/>
          </a:prstGeom>
          <a:noFill/>
          <a:ln/>
        </p:spPr>
        <p:txBody>
          <a:bodyPr wrap="none" lIns="0" tIns="0" rIns="0" bIns="0" rtlCol="0" anchor="ctr">
            <a:spAutoFit/>
          </a:bodyPr>
          <a:lstStyle/>
          <a:p>
            <a:pPr marL="0" indent="0">
              <a:buNone/>
            </a:pPr>
            <a:r>
              <a:rPr lang="en-US" sz="900" b="1" dirty="0">
                <a:solidFill>
                  <a:srgbClr val="2E5090"/>
                </a:solidFill>
                <a:latin typeface="Noto Sans" pitchFamily="34" charset="0"/>
                <a:ea typeface="Noto Sans" pitchFamily="34" charset="-122"/>
                <a:cs typeface="Noto Sans" pitchFamily="34" charset="-120"/>
              </a:rPr>
              <a:t>Supabase Auth</a:t>
            </a:r>
            <a:endParaRPr lang="en-US" sz="900" dirty="0"/>
          </a:p>
        </p:txBody>
      </p:sp>
      <p:pic>
        <p:nvPicPr>
          <p:cNvPr id="18" name="Picture 17">
            <a:extLst>
              <a:ext uri="{FF2B5EF4-FFF2-40B4-BE49-F238E27FC236}">
                <a16:creationId xmlns:a16="http://schemas.microsoft.com/office/drawing/2014/main" id="{5970C16F-911F-DFAB-A4C5-6F160695CBB3}"/>
              </a:ext>
            </a:extLst>
          </p:cNvPr>
          <p:cNvPicPr>
            <a:picLocks noChangeAspect="1"/>
          </p:cNvPicPr>
          <p:nvPr/>
        </p:nvPicPr>
        <p:blipFill>
          <a:blip r:embed="rId4"/>
          <a:stretch>
            <a:fillRect/>
          </a:stretch>
        </p:blipFill>
        <p:spPr>
          <a:xfrm>
            <a:off x="7994233" y="-32539"/>
            <a:ext cx="1141859" cy="11418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25338"/>
            <a:ext cx="9144000" cy="516883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Software and Tools Stack</a:t>
            </a:r>
            <a:endParaRPr lang="en-US" sz="2700" dirty="0"/>
          </a:p>
        </p:txBody>
      </p:sp>
      <p:sp>
        <p:nvSpPr>
          <p:cNvPr id="4" name="Shape 1"/>
          <p:cNvSpPr/>
          <p:nvPr/>
        </p:nvSpPr>
        <p:spPr>
          <a:xfrm>
            <a:off x="571500" y="1428750"/>
            <a:ext cx="57150" cy="57150"/>
          </a:xfrm>
          <a:prstGeom prst="rect">
            <a:avLst/>
          </a:prstGeom>
          <a:solidFill>
            <a:srgbClr val="F39C12"/>
          </a:solidFill>
          <a:ln/>
        </p:spPr>
      </p:sp>
      <p:sp>
        <p:nvSpPr>
          <p:cNvPr id="5" name="Text 2"/>
          <p:cNvSpPr/>
          <p:nvPr/>
        </p:nvSpPr>
        <p:spPr>
          <a:xfrm>
            <a:off x="714375" y="1364992"/>
            <a:ext cx="708527"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Frontend</a:t>
            </a:r>
            <a:endParaRPr lang="en-US" sz="1200" dirty="0"/>
          </a:p>
        </p:txBody>
      </p:sp>
      <p:sp>
        <p:nvSpPr>
          <p:cNvPr id="6" name="Shape 3"/>
          <p:cNvSpPr/>
          <p:nvPr/>
        </p:nvSpPr>
        <p:spPr>
          <a:xfrm>
            <a:off x="571500" y="1671638"/>
            <a:ext cx="3875484" cy="14288"/>
          </a:xfrm>
          <a:prstGeom prst="rect">
            <a:avLst/>
          </a:prstGeom>
          <a:solidFill>
            <a:srgbClr val="E8E8E8"/>
          </a:solidFill>
          <a:ln/>
        </p:spPr>
      </p:sp>
      <p:sp>
        <p:nvSpPr>
          <p:cNvPr id="8" name="Text 5"/>
          <p:cNvSpPr/>
          <p:nvPr/>
        </p:nvSpPr>
        <p:spPr>
          <a:xfrm>
            <a:off x="571500" y="2191800"/>
            <a:ext cx="3875484" cy="246221"/>
          </a:xfrm>
          <a:prstGeom prst="rect">
            <a:avLst/>
          </a:prstGeom>
          <a:noFill/>
          <a:ln/>
        </p:spPr>
        <p:txBody>
          <a:bodyPr wrap="squar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 Cross-platform mobile application framework for building responsive, native-quality user interfaces on iOS and Android. </a:t>
            </a:r>
            <a:endParaRPr lang="en-US" sz="800" dirty="0"/>
          </a:p>
        </p:txBody>
      </p:sp>
      <p:sp>
        <p:nvSpPr>
          <p:cNvPr id="9" name="Text 6"/>
          <p:cNvSpPr/>
          <p:nvPr/>
        </p:nvSpPr>
        <p:spPr>
          <a:xfrm>
            <a:off x="571500" y="2487098"/>
            <a:ext cx="894476"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Language: Dart</a:t>
            </a:r>
            <a:endParaRPr lang="en-US" sz="900" dirty="0"/>
          </a:p>
        </p:txBody>
      </p:sp>
      <p:sp>
        <p:nvSpPr>
          <p:cNvPr id="10" name="Shape 7"/>
          <p:cNvSpPr/>
          <p:nvPr/>
        </p:nvSpPr>
        <p:spPr>
          <a:xfrm>
            <a:off x="4697016" y="1428750"/>
            <a:ext cx="57150" cy="57150"/>
          </a:xfrm>
          <a:prstGeom prst="rect">
            <a:avLst/>
          </a:prstGeom>
          <a:solidFill>
            <a:srgbClr val="F39C12"/>
          </a:solidFill>
          <a:ln/>
        </p:spPr>
      </p:sp>
      <p:sp>
        <p:nvSpPr>
          <p:cNvPr id="11" name="Text 8"/>
          <p:cNvSpPr/>
          <p:nvPr/>
        </p:nvSpPr>
        <p:spPr>
          <a:xfrm>
            <a:off x="4839891" y="1364992"/>
            <a:ext cx="662041"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Backend</a:t>
            </a:r>
            <a:endParaRPr lang="en-US" sz="1200" dirty="0"/>
          </a:p>
        </p:txBody>
      </p:sp>
      <p:sp>
        <p:nvSpPr>
          <p:cNvPr id="12" name="Shape 9"/>
          <p:cNvSpPr/>
          <p:nvPr/>
        </p:nvSpPr>
        <p:spPr>
          <a:xfrm>
            <a:off x="4697016" y="1671638"/>
            <a:ext cx="3875484" cy="14288"/>
          </a:xfrm>
          <a:prstGeom prst="rect">
            <a:avLst/>
          </a:prstGeom>
          <a:solidFill>
            <a:srgbClr val="E8E8E8"/>
          </a:solidFill>
          <a:ln/>
        </p:spPr>
      </p:sp>
      <p:sp>
        <p:nvSpPr>
          <p:cNvPr id="14" name="Text 11"/>
          <p:cNvSpPr/>
          <p:nvPr/>
        </p:nvSpPr>
        <p:spPr>
          <a:xfrm>
            <a:off x="4697016" y="2153709"/>
            <a:ext cx="3875484" cy="22775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Lightweight </a:t>
            </a:r>
            <a:r>
              <a:rPr lang="en-US" sz="800" dirty="0">
                <a:solidFill>
                  <a:srgbClr val="34495E"/>
                </a:solidFill>
                <a:latin typeface="Noto Sans" pitchFamily="34" charset="0"/>
                <a:ea typeface="Noto Sans" pitchFamily="34" charset="-122"/>
                <a:cs typeface="Noto Sans" pitchFamily="34" charset="-120"/>
              </a:rPr>
              <a:t>Python</a:t>
            </a:r>
            <a:r>
              <a:rPr lang="en-US" sz="680" dirty="0">
                <a:solidFill>
                  <a:srgbClr val="34495E"/>
                </a:solidFill>
                <a:latin typeface="Noto Sans" pitchFamily="34" charset="0"/>
                <a:ea typeface="Noto Sans" pitchFamily="34" charset="-122"/>
                <a:cs typeface="Noto Sans" pitchFamily="34" charset="-120"/>
              </a:rPr>
              <a:t> web framework for building REST APIs that orchestrate communication between mobile app, cloud inference, and database services. </a:t>
            </a:r>
            <a:endParaRPr lang="en-US" sz="680" dirty="0"/>
          </a:p>
        </p:txBody>
      </p:sp>
      <p:sp>
        <p:nvSpPr>
          <p:cNvPr id="15" name="Text 12"/>
          <p:cNvSpPr/>
          <p:nvPr/>
        </p:nvSpPr>
        <p:spPr>
          <a:xfrm>
            <a:off x="4697016" y="2447467"/>
            <a:ext cx="936154"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Language: Python</a:t>
            </a:r>
            <a:endParaRPr lang="en-US" sz="800" dirty="0"/>
          </a:p>
        </p:txBody>
      </p:sp>
      <p:sp>
        <p:nvSpPr>
          <p:cNvPr id="16" name="Shape 13"/>
          <p:cNvSpPr/>
          <p:nvPr/>
        </p:nvSpPr>
        <p:spPr>
          <a:xfrm>
            <a:off x="571500" y="2872457"/>
            <a:ext cx="57150" cy="57150"/>
          </a:xfrm>
          <a:prstGeom prst="rect">
            <a:avLst/>
          </a:prstGeom>
          <a:solidFill>
            <a:srgbClr val="F39C12"/>
          </a:solidFill>
          <a:ln/>
        </p:spPr>
      </p:sp>
      <p:sp>
        <p:nvSpPr>
          <p:cNvPr id="17" name="Text 14"/>
          <p:cNvSpPr/>
          <p:nvPr/>
        </p:nvSpPr>
        <p:spPr>
          <a:xfrm>
            <a:off x="714375" y="2808699"/>
            <a:ext cx="1253548"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AI/ML Inference</a:t>
            </a:r>
            <a:endParaRPr lang="en-US" sz="1200" dirty="0"/>
          </a:p>
        </p:txBody>
      </p:sp>
      <p:sp>
        <p:nvSpPr>
          <p:cNvPr id="18" name="Shape 15"/>
          <p:cNvSpPr/>
          <p:nvPr/>
        </p:nvSpPr>
        <p:spPr>
          <a:xfrm>
            <a:off x="571500" y="3115345"/>
            <a:ext cx="3875484" cy="14288"/>
          </a:xfrm>
          <a:prstGeom prst="rect">
            <a:avLst/>
          </a:prstGeom>
          <a:solidFill>
            <a:srgbClr val="E8E8E8"/>
          </a:solidFill>
          <a:ln/>
        </p:spPr>
      </p:sp>
      <p:sp>
        <p:nvSpPr>
          <p:cNvPr id="20" name="Text 17"/>
          <p:cNvSpPr/>
          <p:nvPr/>
        </p:nvSpPr>
        <p:spPr>
          <a:xfrm>
            <a:off x="571500" y="3681157"/>
            <a:ext cx="3875484" cy="29713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Cloud-based platform for hosting and serving the SwinV2-Base Ensemble model, providing scalable inference endpoints for real-time predictions. </a:t>
            </a:r>
            <a:endParaRPr lang="en-US" sz="680" dirty="0"/>
          </a:p>
        </p:txBody>
      </p:sp>
      <p:sp>
        <p:nvSpPr>
          <p:cNvPr id="21" name="Text 18"/>
          <p:cNvSpPr/>
          <p:nvPr/>
        </p:nvSpPr>
        <p:spPr>
          <a:xfrm>
            <a:off x="571500" y="4009606"/>
            <a:ext cx="1308050"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Model Hosting: Cloud API</a:t>
            </a:r>
            <a:endParaRPr lang="en-US" sz="800" dirty="0"/>
          </a:p>
        </p:txBody>
      </p:sp>
      <p:sp>
        <p:nvSpPr>
          <p:cNvPr id="22" name="Shape 19"/>
          <p:cNvSpPr/>
          <p:nvPr/>
        </p:nvSpPr>
        <p:spPr>
          <a:xfrm>
            <a:off x="4697016" y="2872457"/>
            <a:ext cx="57150" cy="57150"/>
          </a:xfrm>
          <a:prstGeom prst="rect">
            <a:avLst/>
          </a:prstGeom>
          <a:solidFill>
            <a:srgbClr val="F39C12"/>
          </a:solidFill>
          <a:ln/>
        </p:spPr>
      </p:sp>
      <p:sp>
        <p:nvSpPr>
          <p:cNvPr id="23" name="Text 20"/>
          <p:cNvSpPr/>
          <p:nvPr/>
        </p:nvSpPr>
        <p:spPr>
          <a:xfrm>
            <a:off x="4839891" y="2808699"/>
            <a:ext cx="726161"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Database</a:t>
            </a:r>
            <a:endParaRPr lang="en-US" sz="1200" dirty="0"/>
          </a:p>
        </p:txBody>
      </p:sp>
      <p:sp>
        <p:nvSpPr>
          <p:cNvPr id="24" name="Shape 21"/>
          <p:cNvSpPr/>
          <p:nvPr/>
        </p:nvSpPr>
        <p:spPr>
          <a:xfrm>
            <a:off x="4697016" y="3115345"/>
            <a:ext cx="3875484" cy="14288"/>
          </a:xfrm>
          <a:prstGeom prst="rect">
            <a:avLst/>
          </a:prstGeom>
          <a:solidFill>
            <a:srgbClr val="E8E8E8"/>
          </a:solidFill>
          <a:ln/>
        </p:spPr>
      </p:sp>
      <p:sp>
        <p:nvSpPr>
          <p:cNvPr id="26" name="Text 23"/>
          <p:cNvSpPr/>
          <p:nvPr/>
        </p:nvSpPr>
        <p:spPr>
          <a:xfrm>
            <a:off x="4695079" y="3715847"/>
            <a:ext cx="3875484" cy="227755"/>
          </a:xfrm>
          <a:prstGeom prst="rect">
            <a:avLst/>
          </a:prstGeom>
          <a:noFill/>
          <a:ln/>
        </p:spPr>
        <p:txBody>
          <a:bodyPr wrap="square" lIns="0" tIns="0" rIns="0" bIns="0" rtlCol="0" anchor="ctr">
            <a:spAutoFit/>
          </a:bodyPr>
          <a:lstStyle/>
          <a:p>
            <a:pPr marL="0" indent="0">
              <a:buNone/>
            </a:pPr>
            <a:r>
              <a:rPr lang="en-US" sz="680" dirty="0">
                <a:solidFill>
                  <a:srgbClr val="34495E"/>
                </a:solidFill>
                <a:latin typeface="Noto Sans" pitchFamily="34" charset="0"/>
                <a:ea typeface="Noto Sans" pitchFamily="34" charset="-122"/>
                <a:cs typeface="Noto Sans" pitchFamily="34" charset="-120"/>
              </a:rPr>
              <a:t> Open-source Firebase alternative providing PostgreSQL database, authentication, and real-time data </a:t>
            </a:r>
            <a:r>
              <a:rPr lang="en-US" sz="800" dirty="0">
                <a:solidFill>
                  <a:srgbClr val="34495E"/>
                </a:solidFill>
                <a:latin typeface="Noto Sans" pitchFamily="34" charset="0"/>
                <a:ea typeface="Noto Sans" pitchFamily="34" charset="-122"/>
                <a:cs typeface="Noto Sans" pitchFamily="34" charset="-120"/>
              </a:rPr>
              <a:t>synchronization</a:t>
            </a:r>
            <a:r>
              <a:rPr lang="en-US" sz="680" dirty="0">
                <a:solidFill>
                  <a:srgbClr val="34495E"/>
                </a:solidFill>
                <a:latin typeface="Noto Sans" pitchFamily="34" charset="0"/>
                <a:ea typeface="Noto Sans" pitchFamily="34" charset="-122"/>
                <a:cs typeface="Noto Sans" pitchFamily="34" charset="-120"/>
              </a:rPr>
              <a:t> for storing user data and prediction history. </a:t>
            </a:r>
            <a:endParaRPr lang="en-US" sz="680" dirty="0"/>
          </a:p>
        </p:txBody>
      </p:sp>
      <p:sp>
        <p:nvSpPr>
          <p:cNvPr id="27" name="Text 24"/>
          <p:cNvSpPr/>
          <p:nvPr/>
        </p:nvSpPr>
        <p:spPr>
          <a:xfrm>
            <a:off x="4695079" y="4009606"/>
            <a:ext cx="1139736" cy="123111"/>
          </a:xfrm>
          <a:prstGeom prst="rect">
            <a:avLst/>
          </a:prstGeom>
          <a:noFill/>
          <a:ln/>
        </p:spPr>
        <p:txBody>
          <a:bodyPr wrap="none" lIns="0" tIns="0" rIns="0" bIns="0" rtlCol="0" anchor="ctr">
            <a:spAutoFit/>
          </a:bodyPr>
          <a:lstStyle/>
          <a:p>
            <a:pPr marL="0" indent="0">
              <a:buNone/>
            </a:pPr>
            <a:r>
              <a:rPr lang="en-US" sz="800" b="1" dirty="0">
                <a:solidFill>
                  <a:srgbClr val="F39C12"/>
                </a:solidFill>
                <a:latin typeface="Noto Sans" pitchFamily="34" charset="0"/>
                <a:ea typeface="Noto Sans" pitchFamily="34" charset="-122"/>
                <a:cs typeface="Noto Sans" pitchFamily="34" charset="-120"/>
              </a:rPr>
              <a:t>Database: PostgreSQL</a:t>
            </a:r>
            <a:endParaRPr lang="en-US" sz="800" dirty="0"/>
          </a:p>
        </p:txBody>
      </p:sp>
      <p:pic>
        <p:nvPicPr>
          <p:cNvPr id="30" name="Picture 29">
            <a:extLst>
              <a:ext uri="{FF2B5EF4-FFF2-40B4-BE49-F238E27FC236}">
                <a16:creationId xmlns:a16="http://schemas.microsoft.com/office/drawing/2014/main" id="{A4041E9C-26C4-51A6-BF59-0577EA789063}"/>
              </a:ext>
            </a:extLst>
          </p:cNvPr>
          <p:cNvPicPr>
            <a:picLocks noChangeAspect="1"/>
          </p:cNvPicPr>
          <p:nvPr/>
        </p:nvPicPr>
        <p:blipFill>
          <a:blip r:embed="rId4"/>
          <a:stretch>
            <a:fillRect/>
          </a:stretch>
        </p:blipFill>
        <p:spPr>
          <a:xfrm>
            <a:off x="445898" y="1706995"/>
            <a:ext cx="711317" cy="490378"/>
          </a:xfrm>
          <a:prstGeom prst="rect">
            <a:avLst/>
          </a:prstGeom>
        </p:spPr>
      </p:pic>
      <p:pic>
        <p:nvPicPr>
          <p:cNvPr id="32" name="Picture 31">
            <a:extLst>
              <a:ext uri="{FF2B5EF4-FFF2-40B4-BE49-F238E27FC236}">
                <a16:creationId xmlns:a16="http://schemas.microsoft.com/office/drawing/2014/main" id="{E2BD136D-C344-E46C-116E-C0FBE30D9D0B}"/>
              </a:ext>
            </a:extLst>
          </p:cNvPr>
          <p:cNvPicPr>
            <a:picLocks noChangeAspect="1"/>
          </p:cNvPicPr>
          <p:nvPr/>
        </p:nvPicPr>
        <p:blipFill>
          <a:blip r:embed="rId5"/>
          <a:stretch>
            <a:fillRect/>
          </a:stretch>
        </p:blipFill>
        <p:spPr>
          <a:xfrm>
            <a:off x="1118145" y="1756648"/>
            <a:ext cx="381119" cy="381119"/>
          </a:xfrm>
          <a:prstGeom prst="rect">
            <a:avLst/>
          </a:prstGeom>
        </p:spPr>
      </p:pic>
      <p:pic>
        <p:nvPicPr>
          <p:cNvPr id="36" name="Picture 35">
            <a:extLst>
              <a:ext uri="{FF2B5EF4-FFF2-40B4-BE49-F238E27FC236}">
                <a16:creationId xmlns:a16="http://schemas.microsoft.com/office/drawing/2014/main" id="{C5AA3F75-D41F-B92D-1DDD-DD4A3EC1C0CC}"/>
              </a:ext>
            </a:extLst>
          </p:cNvPr>
          <p:cNvPicPr>
            <a:picLocks noChangeAspect="1"/>
          </p:cNvPicPr>
          <p:nvPr/>
        </p:nvPicPr>
        <p:blipFill>
          <a:blip r:embed="rId6"/>
          <a:stretch>
            <a:fillRect/>
          </a:stretch>
        </p:blipFill>
        <p:spPr>
          <a:xfrm>
            <a:off x="1734182" y="1760374"/>
            <a:ext cx="278507" cy="344687"/>
          </a:xfrm>
          <a:prstGeom prst="rect">
            <a:avLst/>
          </a:prstGeom>
        </p:spPr>
      </p:pic>
      <p:pic>
        <p:nvPicPr>
          <p:cNvPr id="38" name="Picture 37">
            <a:extLst>
              <a:ext uri="{FF2B5EF4-FFF2-40B4-BE49-F238E27FC236}">
                <a16:creationId xmlns:a16="http://schemas.microsoft.com/office/drawing/2014/main" id="{43D24F07-57E8-32ED-201F-EDF8C55AC3FF}"/>
              </a:ext>
            </a:extLst>
          </p:cNvPr>
          <p:cNvPicPr>
            <a:picLocks noChangeAspect="1"/>
          </p:cNvPicPr>
          <p:nvPr/>
        </p:nvPicPr>
        <p:blipFill>
          <a:blip r:embed="rId7"/>
          <a:stretch>
            <a:fillRect/>
          </a:stretch>
        </p:blipFill>
        <p:spPr>
          <a:xfrm>
            <a:off x="406828" y="3082380"/>
            <a:ext cx="711317" cy="711317"/>
          </a:xfrm>
          <a:prstGeom prst="rect">
            <a:avLst/>
          </a:prstGeom>
        </p:spPr>
      </p:pic>
      <p:pic>
        <p:nvPicPr>
          <p:cNvPr id="40" name="Picture 39">
            <a:extLst>
              <a:ext uri="{FF2B5EF4-FFF2-40B4-BE49-F238E27FC236}">
                <a16:creationId xmlns:a16="http://schemas.microsoft.com/office/drawing/2014/main" id="{B41B37E0-AE7E-476A-5E0D-707E005D5A7B}"/>
              </a:ext>
            </a:extLst>
          </p:cNvPr>
          <p:cNvPicPr>
            <a:picLocks noChangeAspect="1"/>
          </p:cNvPicPr>
          <p:nvPr/>
        </p:nvPicPr>
        <p:blipFill>
          <a:blip r:embed="rId8"/>
          <a:stretch>
            <a:fillRect/>
          </a:stretch>
        </p:blipFill>
        <p:spPr>
          <a:xfrm>
            <a:off x="4754166" y="3219656"/>
            <a:ext cx="390061" cy="390061"/>
          </a:xfrm>
          <a:prstGeom prst="rect">
            <a:avLst/>
          </a:prstGeom>
        </p:spPr>
      </p:pic>
      <p:pic>
        <p:nvPicPr>
          <p:cNvPr id="42" name="Picture 41">
            <a:extLst>
              <a:ext uri="{FF2B5EF4-FFF2-40B4-BE49-F238E27FC236}">
                <a16:creationId xmlns:a16="http://schemas.microsoft.com/office/drawing/2014/main" id="{0EAA8923-3AE3-4408-AAB6-EF1498272799}"/>
              </a:ext>
            </a:extLst>
          </p:cNvPr>
          <p:cNvPicPr>
            <a:picLocks noChangeAspect="1"/>
          </p:cNvPicPr>
          <p:nvPr/>
        </p:nvPicPr>
        <p:blipFill>
          <a:blip r:embed="rId9"/>
          <a:stretch>
            <a:fillRect/>
          </a:stretch>
        </p:blipFill>
        <p:spPr>
          <a:xfrm>
            <a:off x="4743084" y="1727890"/>
            <a:ext cx="381120" cy="381120"/>
          </a:xfrm>
          <a:prstGeom prst="rect">
            <a:avLst/>
          </a:prstGeom>
        </p:spPr>
      </p:pic>
      <p:pic>
        <p:nvPicPr>
          <p:cNvPr id="7" name="Picture 6">
            <a:extLst>
              <a:ext uri="{FF2B5EF4-FFF2-40B4-BE49-F238E27FC236}">
                <a16:creationId xmlns:a16="http://schemas.microsoft.com/office/drawing/2014/main" id="{DE3AA173-0F43-76D3-7A8C-436BC9D8E73C}"/>
              </a:ext>
            </a:extLst>
          </p:cNvPr>
          <p:cNvPicPr>
            <a:picLocks noChangeAspect="1"/>
          </p:cNvPicPr>
          <p:nvPr/>
        </p:nvPicPr>
        <p:blipFill>
          <a:blip r:embed="rId10"/>
          <a:stretch>
            <a:fillRect/>
          </a:stretch>
        </p:blipFill>
        <p:spPr>
          <a:xfrm>
            <a:off x="7994233" y="-39263"/>
            <a:ext cx="1141859" cy="114185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302312"/>
            <a:ext cx="5937523" cy="587212"/>
          </a:xfrm>
          <a:prstGeom prst="rect">
            <a:avLst/>
          </a:prstGeom>
          <a:noFill/>
          <a:ln/>
        </p:spPr>
        <p:txBody>
          <a:bodyPr wrap="none" lIns="0" tIns="0" rIns="0" bIns="170053" rtlCol="0" anchor="ctr">
            <a:spAutoFit/>
          </a:bodyPr>
          <a:lstStyle/>
          <a:p>
            <a:r>
              <a:rPr lang="en-US" sz="2700" b="1" dirty="0">
                <a:solidFill>
                  <a:srgbClr val="1A3A52"/>
                </a:solidFill>
                <a:latin typeface="Noto Sans" pitchFamily="34" charset="0"/>
                <a:ea typeface="Noto Sans" pitchFamily="34" charset="-122"/>
                <a:cs typeface="Noto Sans" pitchFamily="34" charset="-120"/>
              </a:rPr>
              <a:t>Agile Software Development Cycle</a:t>
            </a:r>
            <a:endParaRPr lang="en-US" sz="2700" dirty="0"/>
          </a:p>
        </p:txBody>
      </p:sp>
      <p:pic>
        <p:nvPicPr>
          <p:cNvPr id="73" name="Picture 72">
            <a:extLst>
              <a:ext uri="{FF2B5EF4-FFF2-40B4-BE49-F238E27FC236}">
                <a16:creationId xmlns:a16="http://schemas.microsoft.com/office/drawing/2014/main" id="{D53C94F3-BC5F-68E9-1735-DCE8D30A1CF0}"/>
              </a:ext>
            </a:extLst>
          </p:cNvPr>
          <p:cNvPicPr>
            <a:picLocks noChangeAspect="1"/>
          </p:cNvPicPr>
          <p:nvPr/>
        </p:nvPicPr>
        <p:blipFill>
          <a:blip r:embed="rId4"/>
          <a:stretch>
            <a:fillRect/>
          </a:stretch>
        </p:blipFill>
        <p:spPr>
          <a:xfrm>
            <a:off x="2314213" y="811530"/>
            <a:ext cx="4194810" cy="4194810"/>
          </a:xfrm>
          <a:prstGeom prst="rect">
            <a:avLst/>
          </a:prstGeom>
        </p:spPr>
      </p:pic>
      <p:pic>
        <p:nvPicPr>
          <p:cNvPr id="4" name="Picture 3">
            <a:extLst>
              <a:ext uri="{FF2B5EF4-FFF2-40B4-BE49-F238E27FC236}">
                <a16:creationId xmlns:a16="http://schemas.microsoft.com/office/drawing/2014/main" id="{C18F9900-D2A7-405E-AEE9-40A29E776CD9}"/>
              </a:ext>
            </a:extLst>
          </p:cNvPr>
          <p:cNvPicPr>
            <a:picLocks noChangeAspect="1"/>
          </p:cNvPicPr>
          <p:nvPr/>
        </p:nvPicPr>
        <p:blipFill>
          <a:blip r:embed="rId5"/>
          <a:stretch>
            <a:fillRect/>
          </a:stretch>
        </p:blipFill>
        <p:spPr>
          <a:xfrm>
            <a:off x="7994233" y="-25816"/>
            <a:ext cx="1141859" cy="11418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37528-1DD1-85BC-FB89-0FD3DFE4A3F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A13530E-FCE5-45B6-E9F1-6E23A3AEBA8C}"/>
              </a:ext>
            </a:extLst>
          </p:cNvPr>
          <p:cNvPicPr>
            <a:picLocks noChangeAspect="1"/>
          </p:cNvPicPr>
          <p:nvPr/>
        </p:nvPicPr>
        <p:blipFill>
          <a:blip r:embed="rId3"/>
          <a:stretch>
            <a:fillRect/>
          </a:stretch>
        </p:blipFill>
        <p:spPr>
          <a:xfrm>
            <a:off x="0" y="0"/>
            <a:ext cx="9144000" cy="5143500"/>
          </a:xfrm>
          <a:prstGeom prst="rect">
            <a:avLst/>
          </a:prstGeom>
        </p:spPr>
      </p:pic>
      <p:sp>
        <p:nvSpPr>
          <p:cNvPr id="3" name="Text 0">
            <a:extLst>
              <a:ext uri="{FF2B5EF4-FFF2-40B4-BE49-F238E27FC236}">
                <a16:creationId xmlns:a16="http://schemas.microsoft.com/office/drawing/2014/main" id="{8DB5CC09-AB91-0941-936A-A29BBC148DF5}"/>
              </a:ext>
            </a:extLst>
          </p:cNvPr>
          <p:cNvSpPr/>
          <p:nvPr/>
        </p:nvSpPr>
        <p:spPr>
          <a:xfrm>
            <a:off x="571500" y="302312"/>
            <a:ext cx="2654573" cy="587212"/>
          </a:xfrm>
          <a:prstGeom prst="rect">
            <a:avLst/>
          </a:prstGeom>
          <a:noFill/>
          <a:ln/>
        </p:spPr>
        <p:txBody>
          <a:bodyPr wrap="none" lIns="0" tIns="0" rIns="0" bIns="170053" rtlCol="0" anchor="ctr">
            <a:spAutoFit/>
          </a:bodyPr>
          <a:lstStyle/>
          <a:p>
            <a:r>
              <a:rPr lang="en-US" sz="2700" b="1" dirty="0">
                <a:solidFill>
                  <a:srgbClr val="1A3A52"/>
                </a:solidFill>
                <a:latin typeface="Noto Sans" pitchFamily="34" charset="0"/>
                <a:ea typeface="Noto Sans" pitchFamily="34" charset="-122"/>
                <a:cs typeface="Noto Sans" pitchFamily="34" charset="-120"/>
              </a:rPr>
              <a:t>Project Sprints:</a:t>
            </a:r>
            <a:endParaRPr lang="en-US" sz="2700" dirty="0"/>
          </a:p>
        </p:txBody>
      </p:sp>
      <p:sp>
        <p:nvSpPr>
          <p:cNvPr id="36" name="Shape 3">
            <a:extLst>
              <a:ext uri="{FF2B5EF4-FFF2-40B4-BE49-F238E27FC236}">
                <a16:creationId xmlns:a16="http://schemas.microsoft.com/office/drawing/2014/main" id="{6381454B-6B27-0512-A354-1DD55FCE2C33}"/>
              </a:ext>
            </a:extLst>
          </p:cNvPr>
          <p:cNvSpPr/>
          <p:nvPr/>
        </p:nvSpPr>
        <p:spPr>
          <a:xfrm>
            <a:off x="571500" y="1200150"/>
            <a:ext cx="357188" cy="357188"/>
          </a:xfrm>
          <a:prstGeom prst="ellipse">
            <a:avLst/>
          </a:prstGeom>
          <a:solidFill>
            <a:srgbClr val="E67E22"/>
          </a:solidFill>
          <a:ln/>
        </p:spPr>
      </p:sp>
      <p:sp>
        <p:nvSpPr>
          <p:cNvPr id="37" name="Text 4">
            <a:extLst>
              <a:ext uri="{FF2B5EF4-FFF2-40B4-BE49-F238E27FC236}">
                <a16:creationId xmlns:a16="http://schemas.microsoft.com/office/drawing/2014/main" id="{99972173-D33E-341E-7A3E-16F0D4EDE5F5}"/>
              </a:ext>
            </a:extLst>
          </p:cNvPr>
          <p:cNvSpPr/>
          <p:nvPr/>
        </p:nvSpPr>
        <p:spPr>
          <a:xfrm>
            <a:off x="571500" y="12001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1</a:t>
            </a:r>
            <a:endParaRPr lang="en-US" sz="1193" dirty="0"/>
          </a:p>
        </p:txBody>
      </p:sp>
      <p:sp>
        <p:nvSpPr>
          <p:cNvPr id="38" name="Text 5">
            <a:extLst>
              <a:ext uri="{FF2B5EF4-FFF2-40B4-BE49-F238E27FC236}">
                <a16:creationId xmlns:a16="http://schemas.microsoft.com/office/drawing/2014/main" id="{7CBA5745-1E8A-1810-4295-30AD360F91B9}"/>
              </a:ext>
            </a:extLst>
          </p:cNvPr>
          <p:cNvSpPr/>
          <p:nvPr/>
        </p:nvSpPr>
        <p:spPr>
          <a:xfrm>
            <a:off x="1071563" y="1164431"/>
            <a:ext cx="1691169"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Requirements &amp; UI/UX Design</a:t>
            </a:r>
            <a:endParaRPr lang="en-US" sz="1050" dirty="0"/>
          </a:p>
        </p:txBody>
      </p:sp>
      <p:sp>
        <p:nvSpPr>
          <p:cNvPr id="39" name="Text 6">
            <a:extLst>
              <a:ext uri="{FF2B5EF4-FFF2-40B4-BE49-F238E27FC236}">
                <a16:creationId xmlns:a16="http://schemas.microsoft.com/office/drawing/2014/main" id="{342D7BCE-3D24-13AD-6863-4E866B53F85F}"/>
              </a:ext>
            </a:extLst>
          </p:cNvPr>
          <p:cNvSpPr/>
          <p:nvPr/>
        </p:nvSpPr>
        <p:spPr>
          <a:xfrm>
            <a:off x="1071563" y="1428750"/>
            <a:ext cx="3321844" cy="322204"/>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Collected functional and non-functional requirements and defined user flow. Designed initial UI/UX prototypes to establish visual structure.</a:t>
            </a:r>
            <a:endParaRPr lang="en-US" sz="900" dirty="0"/>
          </a:p>
        </p:txBody>
      </p:sp>
      <p:sp>
        <p:nvSpPr>
          <p:cNvPr id="40" name="Shape 7">
            <a:extLst>
              <a:ext uri="{FF2B5EF4-FFF2-40B4-BE49-F238E27FC236}">
                <a16:creationId xmlns:a16="http://schemas.microsoft.com/office/drawing/2014/main" id="{C8909135-60DF-4BF9-04D1-543B5E6B6EE8}"/>
              </a:ext>
            </a:extLst>
          </p:cNvPr>
          <p:cNvSpPr/>
          <p:nvPr/>
        </p:nvSpPr>
        <p:spPr>
          <a:xfrm>
            <a:off x="1071563" y="1996678"/>
            <a:ext cx="971717" cy="253603"/>
          </a:xfrm>
          <a:prstGeom prst="rect">
            <a:avLst/>
          </a:prstGeom>
          <a:solidFill>
            <a:schemeClr val="tx2">
              <a:lumMod val="75000"/>
            </a:schemeClr>
          </a:solidFill>
          <a:ln/>
          <a:effectLst>
            <a:innerShdw blurRad="63500" dist="50800" dir="18900000">
              <a:prstClr val="black">
                <a:alpha val="50000"/>
              </a:prstClr>
            </a:innerShdw>
          </a:effectLst>
        </p:spPr>
      </p:sp>
      <p:sp>
        <p:nvSpPr>
          <p:cNvPr id="41" name="Text 8">
            <a:extLst>
              <a:ext uri="{FF2B5EF4-FFF2-40B4-BE49-F238E27FC236}">
                <a16:creationId xmlns:a16="http://schemas.microsoft.com/office/drawing/2014/main" id="{F796088A-69E4-3D41-EAF8-D84337DA8D4C}"/>
              </a:ext>
            </a:extLst>
          </p:cNvPr>
          <p:cNvSpPr/>
          <p:nvPr/>
        </p:nvSpPr>
        <p:spPr>
          <a:xfrm>
            <a:off x="1071563" y="1996678"/>
            <a:ext cx="971717"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Foundation Phase</a:t>
            </a:r>
            <a:endParaRPr lang="en-US" sz="634" dirty="0"/>
          </a:p>
        </p:txBody>
      </p:sp>
      <p:sp>
        <p:nvSpPr>
          <p:cNvPr id="42" name="Shape 9">
            <a:extLst>
              <a:ext uri="{FF2B5EF4-FFF2-40B4-BE49-F238E27FC236}">
                <a16:creationId xmlns:a16="http://schemas.microsoft.com/office/drawing/2014/main" id="{BA011BC1-B481-F61C-E17E-E42EBAC95331}"/>
              </a:ext>
            </a:extLst>
          </p:cNvPr>
          <p:cNvSpPr/>
          <p:nvPr/>
        </p:nvSpPr>
        <p:spPr>
          <a:xfrm>
            <a:off x="4750594" y="1200150"/>
            <a:ext cx="357188" cy="357188"/>
          </a:xfrm>
          <a:prstGeom prst="ellipse">
            <a:avLst/>
          </a:prstGeom>
          <a:solidFill>
            <a:srgbClr val="E67E22"/>
          </a:solidFill>
          <a:ln/>
        </p:spPr>
      </p:sp>
      <p:sp>
        <p:nvSpPr>
          <p:cNvPr id="43" name="Text 10">
            <a:extLst>
              <a:ext uri="{FF2B5EF4-FFF2-40B4-BE49-F238E27FC236}">
                <a16:creationId xmlns:a16="http://schemas.microsoft.com/office/drawing/2014/main" id="{0389F185-1DE2-4260-DB52-37D2EB609AB6}"/>
              </a:ext>
            </a:extLst>
          </p:cNvPr>
          <p:cNvSpPr/>
          <p:nvPr/>
        </p:nvSpPr>
        <p:spPr>
          <a:xfrm>
            <a:off x="4750594" y="12001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2</a:t>
            </a:r>
            <a:endParaRPr lang="en-US" sz="1193" dirty="0"/>
          </a:p>
        </p:txBody>
      </p:sp>
      <p:sp>
        <p:nvSpPr>
          <p:cNvPr id="44" name="Text 11">
            <a:extLst>
              <a:ext uri="{FF2B5EF4-FFF2-40B4-BE49-F238E27FC236}">
                <a16:creationId xmlns:a16="http://schemas.microsoft.com/office/drawing/2014/main" id="{8CB5792D-B2AE-6578-2AE0-6A4D31D54A82}"/>
              </a:ext>
            </a:extLst>
          </p:cNvPr>
          <p:cNvSpPr/>
          <p:nvPr/>
        </p:nvSpPr>
        <p:spPr>
          <a:xfrm>
            <a:off x="5250656" y="1164431"/>
            <a:ext cx="1420261"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Flutter App Development</a:t>
            </a:r>
            <a:endParaRPr lang="en-US" sz="1050" dirty="0"/>
          </a:p>
        </p:txBody>
      </p:sp>
      <p:sp>
        <p:nvSpPr>
          <p:cNvPr id="45" name="Text 12">
            <a:extLst>
              <a:ext uri="{FF2B5EF4-FFF2-40B4-BE49-F238E27FC236}">
                <a16:creationId xmlns:a16="http://schemas.microsoft.com/office/drawing/2014/main" id="{0E82B3B8-6CFF-76CD-F37F-B5543F15CCCB}"/>
              </a:ext>
            </a:extLst>
          </p:cNvPr>
          <p:cNvSpPr/>
          <p:nvPr/>
        </p:nvSpPr>
        <p:spPr>
          <a:xfrm>
            <a:off x="5250656" y="14287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Converted UI/UX designs into working Flutter interfaces. Built core application screens and prepared front-end structure.</a:t>
            </a:r>
            <a:endParaRPr lang="en-US" sz="900" dirty="0"/>
          </a:p>
        </p:txBody>
      </p:sp>
      <p:sp>
        <p:nvSpPr>
          <p:cNvPr id="46" name="Shape 13">
            <a:extLst>
              <a:ext uri="{FF2B5EF4-FFF2-40B4-BE49-F238E27FC236}">
                <a16:creationId xmlns:a16="http://schemas.microsoft.com/office/drawing/2014/main" id="{0288F7F1-07F7-91F6-8B0D-2E7838C02F45}"/>
              </a:ext>
            </a:extLst>
          </p:cNvPr>
          <p:cNvSpPr/>
          <p:nvPr/>
        </p:nvSpPr>
        <p:spPr>
          <a:xfrm>
            <a:off x="5250656" y="1835944"/>
            <a:ext cx="1198141" cy="253603"/>
          </a:xfrm>
          <a:prstGeom prst="rect">
            <a:avLst/>
          </a:prstGeom>
          <a:solidFill>
            <a:srgbClr val="5DADE2"/>
          </a:solidFill>
          <a:ln/>
        </p:spPr>
      </p:sp>
      <p:sp>
        <p:nvSpPr>
          <p:cNvPr id="47" name="Text 14">
            <a:extLst>
              <a:ext uri="{FF2B5EF4-FFF2-40B4-BE49-F238E27FC236}">
                <a16:creationId xmlns:a16="http://schemas.microsoft.com/office/drawing/2014/main" id="{EA0759DA-487A-A3E9-19B2-3FDBE186A89B}"/>
              </a:ext>
            </a:extLst>
          </p:cNvPr>
          <p:cNvSpPr/>
          <p:nvPr/>
        </p:nvSpPr>
        <p:spPr>
          <a:xfrm>
            <a:off x="5250656" y="1835944"/>
            <a:ext cx="1198141" cy="253603"/>
          </a:xfrm>
          <a:prstGeom prst="rect">
            <a:avLst/>
          </a:prstGeom>
          <a:solidFill>
            <a:schemeClr val="tx2">
              <a:lumMod val="75000"/>
            </a:schemeClr>
          </a:solid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Frontend Development</a:t>
            </a:r>
            <a:endParaRPr lang="en-US" sz="634" dirty="0"/>
          </a:p>
        </p:txBody>
      </p:sp>
      <p:sp>
        <p:nvSpPr>
          <p:cNvPr id="48" name="Shape 15">
            <a:extLst>
              <a:ext uri="{FF2B5EF4-FFF2-40B4-BE49-F238E27FC236}">
                <a16:creationId xmlns:a16="http://schemas.microsoft.com/office/drawing/2014/main" id="{CB44C41B-8F3D-4307-3B72-6C9F13733DE7}"/>
              </a:ext>
            </a:extLst>
          </p:cNvPr>
          <p:cNvSpPr/>
          <p:nvPr/>
        </p:nvSpPr>
        <p:spPr>
          <a:xfrm>
            <a:off x="571500" y="2571750"/>
            <a:ext cx="357188" cy="357188"/>
          </a:xfrm>
          <a:prstGeom prst="ellipse">
            <a:avLst/>
          </a:prstGeom>
          <a:solidFill>
            <a:srgbClr val="E67E22"/>
          </a:solidFill>
          <a:ln/>
        </p:spPr>
      </p:sp>
      <p:sp>
        <p:nvSpPr>
          <p:cNvPr id="49" name="Text 16">
            <a:extLst>
              <a:ext uri="{FF2B5EF4-FFF2-40B4-BE49-F238E27FC236}">
                <a16:creationId xmlns:a16="http://schemas.microsoft.com/office/drawing/2014/main" id="{3ABFFDE1-6652-B8BC-3CE3-A47F11979D89}"/>
              </a:ext>
            </a:extLst>
          </p:cNvPr>
          <p:cNvSpPr/>
          <p:nvPr/>
        </p:nvSpPr>
        <p:spPr>
          <a:xfrm>
            <a:off x="571500" y="25717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3</a:t>
            </a:r>
            <a:endParaRPr lang="en-US" sz="1193" dirty="0"/>
          </a:p>
        </p:txBody>
      </p:sp>
      <p:sp>
        <p:nvSpPr>
          <p:cNvPr id="50" name="Text 17">
            <a:extLst>
              <a:ext uri="{FF2B5EF4-FFF2-40B4-BE49-F238E27FC236}">
                <a16:creationId xmlns:a16="http://schemas.microsoft.com/office/drawing/2014/main" id="{98848770-53FC-C534-6C87-BDD02FF94D01}"/>
              </a:ext>
            </a:extLst>
          </p:cNvPr>
          <p:cNvSpPr/>
          <p:nvPr/>
        </p:nvSpPr>
        <p:spPr>
          <a:xfrm>
            <a:off x="1071563" y="2536031"/>
            <a:ext cx="1187826"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Supabase Integration</a:t>
            </a:r>
            <a:endParaRPr lang="en-US" sz="1050" dirty="0"/>
          </a:p>
        </p:txBody>
      </p:sp>
      <p:sp>
        <p:nvSpPr>
          <p:cNvPr id="51" name="Text 18">
            <a:extLst>
              <a:ext uri="{FF2B5EF4-FFF2-40B4-BE49-F238E27FC236}">
                <a16:creationId xmlns:a16="http://schemas.microsoft.com/office/drawing/2014/main" id="{C9C5862D-D40C-22C4-F0D8-5C8916C55B6E}"/>
              </a:ext>
            </a:extLst>
          </p:cNvPr>
          <p:cNvSpPr/>
          <p:nvPr/>
        </p:nvSpPr>
        <p:spPr>
          <a:xfrm>
            <a:off x="1071563" y="28003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Integrated app with Supabase for authentication and database services. Enabled user login, data storage, and retrieval.</a:t>
            </a:r>
            <a:endParaRPr lang="en-US" sz="900" dirty="0"/>
          </a:p>
        </p:txBody>
      </p:sp>
      <p:sp>
        <p:nvSpPr>
          <p:cNvPr id="52" name="Shape 19">
            <a:extLst>
              <a:ext uri="{FF2B5EF4-FFF2-40B4-BE49-F238E27FC236}">
                <a16:creationId xmlns:a16="http://schemas.microsoft.com/office/drawing/2014/main" id="{80BB7B40-951F-EEED-0DC2-4BA4D3A8FF09}"/>
              </a:ext>
            </a:extLst>
          </p:cNvPr>
          <p:cNvSpPr/>
          <p:nvPr/>
        </p:nvSpPr>
        <p:spPr>
          <a:xfrm>
            <a:off x="1071563" y="3207544"/>
            <a:ext cx="937813" cy="253603"/>
          </a:xfrm>
          <a:prstGeom prst="rect">
            <a:avLst/>
          </a:prstGeom>
          <a:solidFill>
            <a:schemeClr val="tx2">
              <a:lumMod val="75000"/>
            </a:schemeClr>
          </a:solidFill>
          <a:ln/>
          <a:effectLst>
            <a:innerShdw blurRad="63500" dist="50800" dir="18900000">
              <a:prstClr val="black">
                <a:alpha val="50000"/>
              </a:prstClr>
            </a:innerShdw>
          </a:effectLst>
        </p:spPr>
      </p:sp>
      <p:sp>
        <p:nvSpPr>
          <p:cNvPr id="53" name="Text 20">
            <a:extLst>
              <a:ext uri="{FF2B5EF4-FFF2-40B4-BE49-F238E27FC236}">
                <a16:creationId xmlns:a16="http://schemas.microsoft.com/office/drawing/2014/main" id="{16A05359-AE26-F955-DA41-B8306B94FB52}"/>
              </a:ext>
            </a:extLst>
          </p:cNvPr>
          <p:cNvSpPr/>
          <p:nvPr/>
        </p:nvSpPr>
        <p:spPr>
          <a:xfrm>
            <a:off x="1071563" y="3207544"/>
            <a:ext cx="937813"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Backend Services</a:t>
            </a:r>
            <a:endParaRPr lang="en-US" sz="634" dirty="0"/>
          </a:p>
        </p:txBody>
      </p:sp>
      <p:sp>
        <p:nvSpPr>
          <p:cNvPr id="54" name="Shape 21">
            <a:extLst>
              <a:ext uri="{FF2B5EF4-FFF2-40B4-BE49-F238E27FC236}">
                <a16:creationId xmlns:a16="http://schemas.microsoft.com/office/drawing/2014/main" id="{69FBF231-0124-7962-2E7B-1D3D139FE2FC}"/>
              </a:ext>
            </a:extLst>
          </p:cNvPr>
          <p:cNvSpPr/>
          <p:nvPr/>
        </p:nvSpPr>
        <p:spPr>
          <a:xfrm>
            <a:off x="4750594" y="2571750"/>
            <a:ext cx="357188" cy="357188"/>
          </a:xfrm>
          <a:prstGeom prst="ellipse">
            <a:avLst/>
          </a:prstGeom>
          <a:solidFill>
            <a:srgbClr val="E67E22"/>
          </a:solidFill>
          <a:ln/>
        </p:spPr>
      </p:sp>
      <p:sp>
        <p:nvSpPr>
          <p:cNvPr id="55" name="Text 22">
            <a:extLst>
              <a:ext uri="{FF2B5EF4-FFF2-40B4-BE49-F238E27FC236}">
                <a16:creationId xmlns:a16="http://schemas.microsoft.com/office/drawing/2014/main" id="{90616932-2BA0-F849-7ED0-B5B08E6EDD9C}"/>
              </a:ext>
            </a:extLst>
          </p:cNvPr>
          <p:cNvSpPr/>
          <p:nvPr/>
        </p:nvSpPr>
        <p:spPr>
          <a:xfrm>
            <a:off x="4750594" y="2571750"/>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4</a:t>
            </a:r>
            <a:endParaRPr lang="en-US" sz="1193" dirty="0"/>
          </a:p>
        </p:txBody>
      </p:sp>
      <p:sp>
        <p:nvSpPr>
          <p:cNvPr id="56" name="Text 23">
            <a:extLst>
              <a:ext uri="{FF2B5EF4-FFF2-40B4-BE49-F238E27FC236}">
                <a16:creationId xmlns:a16="http://schemas.microsoft.com/office/drawing/2014/main" id="{472536FD-9C28-4A54-C5DC-873734372035}"/>
              </a:ext>
            </a:extLst>
          </p:cNvPr>
          <p:cNvSpPr/>
          <p:nvPr/>
        </p:nvSpPr>
        <p:spPr>
          <a:xfrm>
            <a:off x="5250656" y="2536031"/>
            <a:ext cx="2172069"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AI Model Deployment on Hugging Face</a:t>
            </a:r>
            <a:endParaRPr lang="en-US" sz="1050" dirty="0"/>
          </a:p>
        </p:txBody>
      </p:sp>
      <p:sp>
        <p:nvSpPr>
          <p:cNvPr id="57" name="Text 24">
            <a:extLst>
              <a:ext uri="{FF2B5EF4-FFF2-40B4-BE49-F238E27FC236}">
                <a16:creationId xmlns:a16="http://schemas.microsoft.com/office/drawing/2014/main" id="{EF19986D-35E4-F11E-4A5B-DE08B6FE9CAB}"/>
              </a:ext>
            </a:extLst>
          </p:cNvPr>
          <p:cNvSpPr/>
          <p:nvPr/>
        </p:nvSpPr>
        <p:spPr>
          <a:xfrm>
            <a:off x="5250656" y="2800350"/>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Deployed trained SwinV2 Ensemble model to Hugging Face as cloud inference service. Configured and tested Inference API.</a:t>
            </a:r>
            <a:endParaRPr lang="en-US" sz="900" dirty="0"/>
          </a:p>
        </p:txBody>
      </p:sp>
      <p:sp>
        <p:nvSpPr>
          <p:cNvPr id="58" name="Shape 25">
            <a:extLst>
              <a:ext uri="{FF2B5EF4-FFF2-40B4-BE49-F238E27FC236}">
                <a16:creationId xmlns:a16="http://schemas.microsoft.com/office/drawing/2014/main" id="{446BA698-76F6-D7FC-EC00-7ECF8B93DBDA}"/>
              </a:ext>
            </a:extLst>
          </p:cNvPr>
          <p:cNvSpPr/>
          <p:nvPr/>
        </p:nvSpPr>
        <p:spPr>
          <a:xfrm>
            <a:off x="5250656" y="3207544"/>
            <a:ext cx="793682" cy="253603"/>
          </a:xfrm>
          <a:prstGeom prst="rect">
            <a:avLst/>
          </a:prstGeom>
          <a:solidFill>
            <a:schemeClr val="tx2">
              <a:lumMod val="75000"/>
            </a:schemeClr>
          </a:solidFill>
          <a:ln/>
        </p:spPr>
      </p:sp>
      <p:sp>
        <p:nvSpPr>
          <p:cNvPr id="59" name="Text 26">
            <a:extLst>
              <a:ext uri="{FF2B5EF4-FFF2-40B4-BE49-F238E27FC236}">
                <a16:creationId xmlns:a16="http://schemas.microsoft.com/office/drawing/2014/main" id="{B9527CC2-5B1F-6EFE-EC13-E0A1A625BE4F}"/>
              </a:ext>
            </a:extLst>
          </p:cNvPr>
          <p:cNvSpPr/>
          <p:nvPr/>
        </p:nvSpPr>
        <p:spPr>
          <a:xfrm>
            <a:off x="5250656" y="3207544"/>
            <a:ext cx="793682" cy="253603"/>
          </a:xfrm>
          <a:prstGeom prst="rect">
            <a:avLst/>
          </a:prstGeom>
          <a:no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AI Integration</a:t>
            </a:r>
            <a:endParaRPr lang="en-US" sz="634" dirty="0"/>
          </a:p>
        </p:txBody>
      </p:sp>
      <p:sp>
        <p:nvSpPr>
          <p:cNvPr id="60" name="Shape 27">
            <a:extLst>
              <a:ext uri="{FF2B5EF4-FFF2-40B4-BE49-F238E27FC236}">
                <a16:creationId xmlns:a16="http://schemas.microsoft.com/office/drawing/2014/main" id="{AA16D36A-9C28-D4DD-6008-D3FBF95F1ADA}"/>
              </a:ext>
            </a:extLst>
          </p:cNvPr>
          <p:cNvSpPr/>
          <p:nvPr/>
        </p:nvSpPr>
        <p:spPr>
          <a:xfrm>
            <a:off x="571500" y="3782616"/>
            <a:ext cx="357188" cy="357188"/>
          </a:xfrm>
          <a:prstGeom prst="ellipse">
            <a:avLst/>
          </a:prstGeom>
          <a:solidFill>
            <a:srgbClr val="E67E22"/>
          </a:solidFill>
          <a:ln/>
        </p:spPr>
      </p:sp>
      <p:sp>
        <p:nvSpPr>
          <p:cNvPr id="61" name="Text 28">
            <a:extLst>
              <a:ext uri="{FF2B5EF4-FFF2-40B4-BE49-F238E27FC236}">
                <a16:creationId xmlns:a16="http://schemas.microsoft.com/office/drawing/2014/main" id="{77A7C7EF-E747-2232-B2F9-CFF6C490B22A}"/>
              </a:ext>
            </a:extLst>
          </p:cNvPr>
          <p:cNvSpPr/>
          <p:nvPr/>
        </p:nvSpPr>
        <p:spPr>
          <a:xfrm>
            <a:off x="571500" y="3782616"/>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5</a:t>
            </a:r>
            <a:endParaRPr lang="en-US" sz="1193" dirty="0"/>
          </a:p>
        </p:txBody>
      </p:sp>
      <p:sp>
        <p:nvSpPr>
          <p:cNvPr id="62" name="Text 29">
            <a:extLst>
              <a:ext uri="{FF2B5EF4-FFF2-40B4-BE49-F238E27FC236}">
                <a16:creationId xmlns:a16="http://schemas.microsoft.com/office/drawing/2014/main" id="{C4110B31-157F-9BE9-DF34-DD8EB8CB74A0}"/>
              </a:ext>
            </a:extLst>
          </p:cNvPr>
          <p:cNvSpPr/>
          <p:nvPr/>
        </p:nvSpPr>
        <p:spPr>
          <a:xfrm>
            <a:off x="1071563" y="3746897"/>
            <a:ext cx="2204130"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Flask Middleware &amp; System Integration</a:t>
            </a:r>
            <a:endParaRPr lang="en-US" sz="1050" dirty="0"/>
          </a:p>
        </p:txBody>
      </p:sp>
      <p:sp>
        <p:nvSpPr>
          <p:cNvPr id="63" name="Text 30">
            <a:extLst>
              <a:ext uri="{FF2B5EF4-FFF2-40B4-BE49-F238E27FC236}">
                <a16:creationId xmlns:a16="http://schemas.microsoft.com/office/drawing/2014/main" id="{09A21321-17CA-D2EA-55A6-E484A638086E}"/>
              </a:ext>
            </a:extLst>
          </p:cNvPr>
          <p:cNvSpPr/>
          <p:nvPr/>
        </p:nvSpPr>
        <p:spPr>
          <a:xfrm>
            <a:off x="1071563" y="4011216"/>
            <a:ext cx="3321844" cy="321469"/>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Developed Flask backend to connect Flutter, Supabase, and AI model. Implemented API endpoints and image preprocessing.</a:t>
            </a:r>
            <a:endParaRPr lang="en-US" sz="900" dirty="0"/>
          </a:p>
        </p:txBody>
      </p:sp>
      <p:sp>
        <p:nvSpPr>
          <p:cNvPr id="64" name="Shape 31">
            <a:extLst>
              <a:ext uri="{FF2B5EF4-FFF2-40B4-BE49-F238E27FC236}">
                <a16:creationId xmlns:a16="http://schemas.microsoft.com/office/drawing/2014/main" id="{E2860AEF-6798-4B4B-047C-A0E5948D6BC4}"/>
              </a:ext>
            </a:extLst>
          </p:cNvPr>
          <p:cNvSpPr/>
          <p:nvPr/>
        </p:nvSpPr>
        <p:spPr>
          <a:xfrm>
            <a:off x="1071563" y="4418409"/>
            <a:ext cx="1021863" cy="253603"/>
          </a:xfrm>
          <a:prstGeom prst="rect">
            <a:avLst/>
          </a:prstGeom>
          <a:solidFill>
            <a:schemeClr val="tx2">
              <a:lumMod val="75000"/>
            </a:schemeClr>
          </a:solidFill>
          <a:ln/>
          <a:effectLst>
            <a:innerShdw blurRad="63500" dist="50800" dir="18900000">
              <a:prstClr val="black">
                <a:alpha val="50000"/>
              </a:prstClr>
            </a:innerShdw>
          </a:effectLst>
        </p:spPr>
      </p:sp>
      <p:sp>
        <p:nvSpPr>
          <p:cNvPr id="65" name="Text 32">
            <a:extLst>
              <a:ext uri="{FF2B5EF4-FFF2-40B4-BE49-F238E27FC236}">
                <a16:creationId xmlns:a16="http://schemas.microsoft.com/office/drawing/2014/main" id="{B698A45A-DE30-8FAF-4625-625B34B51828}"/>
              </a:ext>
            </a:extLst>
          </p:cNvPr>
          <p:cNvSpPr/>
          <p:nvPr/>
        </p:nvSpPr>
        <p:spPr>
          <a:xfrm>
            <a:off x="1071563" y="4418409"/>
            <a:ext cx="1021863" cy="253603"/>
          </a:xfrm>
          <a:prstGeom prst="rect">
            <a:avLst/>
          </a:prstGeom>
          <a:noFill/>
          <a:ln/>
        </p:spPr>
        <p:txBody>
          <a:bodyPr wrap="square" lIns="102108" tIns="68072" rIns="102108" bIns="68072" rtlCol="0" anchor="t">
            <a:spAutoFit/>
          </a:bodyPr>
          <a:lstStyle/>
          <a:p>
            <a:pPr marL="0" indent="0" algn="l">
              <a:lnSpc>
                <a:spcPts val="1100"/>
              </a:lnSpc>
              <a:buNone/>
            </a:pPr>
            <a:r>
              <a:rPr lang="en-US" sz="634" b="1" dirty="0">
                <a:solidFill>
                  <a:srgbClr val="FFFFFF"/>
                </a:solidFill>
              </a:rPr>
              <a:t>System Integration</a:t>
            </a:r>
            <a:endParaRPr lang="en-US" sz="634" dirty="0"/>
          </a:p>
        </p:txBody>
      </p:sp>
      <p:sp>
        <p:nvSpPr>
          <p:cNvPr id="66" name="Shape 33">
            <a:extLst>
              <a:ext uri="{FF2B5EF4-FFF2-40B4-BE49-F238E27FC236}">
                <a16:creationId xmlns:a16="http://schemas.microsoft.com/office/drawing/2014/main" id="{C1DEE395-C64E-1C10-9345-BB81749FB406}"/>
              </a:ext>
            </a:extLst>
          </p:cNvPr>
          <p:cNvSpPr/>
          <p:nvPr/>
        </p:nvSpPr>
        <p:spPr>
          <a:xfrm>
            <a:off x="4750594" y="3782616"/>
            <a:ext cx="357188" cy="357188"/>
          </a:xfrm>
          <a:prstGeom prst="ellipse">
            <a:avLst/>
          </a:prstGeom>
          <a:solidFill>
            <a:srgbClr val="E67E22"/>
          </a:solidFill>
          <a:ln/>
        </p:spPr>
      </p:sp>
      <p:sp>
        <p:nvSpPr>
          <p:cNvPr id="67" name="Text 34">
            <a:extLst>
              <a:ext uri="{FF2B5EF4-FFF2-40B4-BE49-F238E27FC236}">
                <a16:creationId xmlns:a16="http://schemas.microsoft.com/office/drawing/2014/main" id="{511CA1D0-0245-D379-B678-041C5FC0E62E}"/>
              </a:ext>
            </a:extLst>
          </p:cNvPr>
          <p:cNvSpPr/>
          <p:nvPr/>
        </p:nvSpPr>
        <p:spPr>
          <a:xfrm>
            <a:off x="4750594" y="3782616"/>
            <a:ext cx="357188" cy="357188"/>
          </a:xfrm>
          <a:prstGeom prst="rect">
            <a:avLst/>
          </a:prstGeom>
          <a:noFill/>
          <a:ln/>
        </p:spPr>
        <p:txBody>
          <a:bodyPr wrap="none" lIns="0" tIns="0" rIns="0" bIns="0" rtlCol="0" anchor="ctr">
            <a:spAutoFit/>
          </a:bodyPr>
          <a:lstStyle/>
          <a:p>
            <a:pPr marL="0" indent="0" algn="ctr">
              <a:lnSpc>
                <a:spcPts val="2000"/>
              </a:lnSpc>
              <a:buNone/>
            </a:pPr>
            <a:r>
              <a:rPr lang="en-US" sz="1193" b="1" dirty="0">
                <a:solidFill>
                  <a:srgbClr val="FFFFFF"/>
                </a:solidFill>
              </a:rPr>
              <a:t>6</a:t>
            </a:r>
            <a:endParaRPr lang="en-US" sz="1193" dirty="0"/>
          </a:p>
        </p:txBody>
      </p:sp>
      <p:sp>
        <p:nvSpPr>
          <p:cNvPr id="68" name="Text 35">
            <a:extLst>
              <a:ext uri="{FF2B5EF4-FFF2-40B4-BE49-F238E27FC236}">
                <a16:creationId xmlns:a16="http://schemas.microsoft.com/office/drawing/2014/main" id="{BA55B7B3-A82D-1E34-0512-E01650F9D622}"/>
              </a:ext>
            </a:extLst>
          </p:cNvPr>
          <p:cNvSpPr/>
          <p:nvPr/>
        </p:nvSpPr>
        <p:spPr>
          <a:xfrm>
            <a:off x="5250656" y="3746897"/>
            <a:ext cx="2343590"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2C3E50"/>
                </a:solidFill>
              </a:rPr>
              <a:t>Testing, Optimization &amp; Final Deployment</a:t>
            </a:r>
            <a:endParaRPr lang="en-US" sz="1050" dirty="0"/>
          </a:p>
        </p:txBody>
      </p:sp>
      <p:sp>
        <p:nvSpPr>
          <p:cNvPr id="69" name="Text 36">
            <a:extLst>
              <a:ext uri="{FF2B5EF4-FFF2-40B4-BE49-F238E27FC236}">
                <a16:creationId xmlns:a16="http://schemas.microsoft.com/office/drawing/2014/main" id="{8EB9674E-6391-F76B-FC98-89820031D31F}"/>
              </a:ext>
            </a:extLst>
          </p:cNvPr>
          <p:cNvSpPr/>
          <p:nvPr/>
        </p:nvSpPr>
        <p:spPr>
          <a:xfrm>
            <a:off x="5250656" y="4011216"/>
            <a:ext cx="3321844" cy="322204"/>
          </a:xfrm>
          <a:prstGeom prst="rect">
            <a:avLst/>
          </a:prstGeom>
          <a:noFill/>
          <a:ln/>
        </p:spPr>
        <p:txBody>
          <a:bodyPr wrap="square" lIns="0" tIns="0" rIns="0" bIns="0" rtlCol="0" anchor="t">
            <a:spAutoFit/>
          </a:bodyPr>
          <a:lstStyle/>
          <a:p>
            <a:pPr marL="0" indent="0" algn="l">
              <a:lnSpc>
                <a:spcPts val="1300"/>
              </a:lnSpc>
              <a:buNone/>
            </a:pPr>
            <a:r>
              <a:rPr lang="en-US" sz="900" dirty="0">
                <a:solidFill>
                  <a:srgbClr val="2C3E50"/>
                </a:solidFill>
              </a:rPr>
              <a:t>Performed full end-to-end testing and optimized system performance. Prepared final release, documentation, and presentation.</a:t>
            </a:r>
            <a:endParaRPr lang="en-US" sz="900" dirty="0"/>
          </a:p>
        </p:txBody>
      </p:sp>
      <p:sp>
        <p:nvSpPr>
          <p:cNvPr id="70" name="Shape 37">
            <a:extLst>
              <a:ext uri="{FF2B5EF4-FFF2-40B4-BE49-F238E27FC236}">
                <a16:creationId xmlns:a16="http://schemas.microsoft.com/office/drawing/2014/main" id="{ACE02F26-A7E8-D60A-F66C-272C9B28C457}"/>
              </a:ext>
            </a:extLst>
          </p:cNvPr>
          <p:cNvSpPr/>
          <p:nvPr/>
        </p:nvSpPr>
        <p:spPr>
          <a:xfrm>
            <a:off x="5250656" y="4579144"/>
            <a:ext cx="804007" cy="253603"/>
          </a:xfrm>
          <a:prstGeom prst="rect">
            <a:avLst/>
          </a:prstGeom>
          <a:solidFill>
            <a:schemeClr val="tx2">
              <a:lumMod val="75000"/>
            </a:schemeClr>
          </a:solidFill>
          <a:ln/>
        </p:spPr>
      </p:sp>
      <p:sp>
        <p:nvSpPr>
          <p:cNvPr id="71" name="Text 38">
            <a:extLst>
              <a:ext uri="{FF2B5EF4-FFF2-40B4-BE49-F238E27FC236}">
                <a16:creationId xmlns:a16="http://schemas.microsoft.com/office/drawing/2014/main" id="{552ED37D-A0FA-5CA3-FA7E-3D28189435ED}"/>
              </a:ext>
            </a:extLst>
          </p:cNvPr>
          <p:cNvSpPr/>
          <p:nvPr/>
        </p:nvSpPr>
        <p:spPr>
          <a:xfrm>
            <a:off x="5250656" y="4579144"/>
            <a:ext cx="804007" cy="253603"/>
          </a:xfrm>
          <a:prstGeom prst="rect">
            <a:avLst/>
          </a:prstGeom>
          <a:noFill/>
          <a:ln/>
          <a:effectLst>
            <a:innerShdw blurRad="63500" dist="50800" dir="18900000">
              <a:prstClr val="black">
                <a:alpha val="50000"/>
              </a:prstClr>
            </a:innerShdw>
          </a:effectLst>
        </p:spPr>
        <p:txBody>
          <a:bodyPr wrap="square" lIns="102108" tIns="68072" rIns="102108" bIns="68072" rtlCol="0" anchor="t">
            <a:spAutoFit/>
          </a:bodyPr>
          <a:lstStyle/>
          <a:p>
            <a:pPr marL="0" indent="0" algn="l">
              <a:lnSpc>
                <a:spcPts val="1100"/>
              </a:lnSpc>
              <a:buNone/>
            </a:pPr>
            <a:r>
              <a:rPr lang="en-US" sz="634" b="1" dirty="0">
                <a:solidFill>
                  <a:srgbClr val="FFFFFF"/>
                </a:solidFill>
              </a:rPr>
              <a:t>Release Phase</a:t>
            </a:r>
            <a:endParaRPr lang="en-US" sz="634" dirty="0"/>
          </a:p>
        </p:txBody>
      </p:sp>
      <p:pic>
        <p:nvPicPr>
          <p:cNvPr id="4" name="Picture 3">
            <a:extLst>
              <a:ext uri="{FF2B5EF4-FFF2-40B4-BE49-F238E27FC236}">
                <a16:creationId xmlns:a16="http://schemas.microsoft.com/office/drawing/2014/main" id="{F68A082B-8B1E-9CB0-2B32-3DF163D2C206}"/>
              </a:ext>
            </a:extLst>
          </p:cNvPr>
          <p:cNvPicPr>
            <a:picLocks noChangeAspect="1"/>
          </p:cNvPicPr>
          <p:nvPr/>
        </p:nvPicPr>
        <p:blipFill>
          <a:blip r:embed="rId4"/>
          <a:stretch>
            <a:fillRect/>
          </a:stretch>
        </p:blipFill>
        <p:spPr>
          <a:xfrm>
            <a:off x="7994233" y="-32539"/>
            <a:ext cx="1141859" cy="1141859"/>
          </a:xfrm>
          <a:prstGeom prst="rect">
            <a:avLst/>
          </a:prstGeom>
        </p:spPr>
      </p:pic>
    </p:spTree>
    <p:extLst>
      <p:ext uri="{BB962C8B-B14F-4D97-AF65-F5344CB8AC3E}">
        <p14:creationId xmlns:p14="http://schemas.microsoft.com/office/powerpoint/2010/main" val="28241984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8100"/>
            <a:ext cx="9144000" cy="5013960"/>
          </a:xfrm>
          <a:prstGeom prst="rect">
            <a:avLst/>
          </a:prstGeom>
        </p:spPr>
      </p:pic>
      <p:sp>
        <p:nvSpPr>
          <p:cNvPr id="3" name="Text 0"/>
          <p:cNvSpPr/>
          <p:nvPr/>
        </p:nvSpPr>
        <p:spPr>
          <a:xfrm>
            <a:off x="600075" y="223084"/>
            <a:ext cx="6445675" cy="587212"/>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Future Work and Recommendations: </a:t>
            </a:r>
            <a:endParaRPr lang="en-US" sz="2700" dirty="0"/>
          </a:p>
        </p:txBody>
      </p:sp>
      <p:sp>
        <p:nvSpPr>
          <p:cNvPr id="7" name="Shape 4"/>
          <p:cNvSpPr/>
          <p:nvPr/>
        </p:nvSpPr>
        <p:spPr>
          <a:xfrm>
            <a:off x="554356" y="1062463"/>
            <a:ext cx="3926563" cy="1567871"/>
          </a:xfrm>
          <a:prstGeom prst="rect">
            <a:avLst/>
          </a:prstGeom>
          <a:solidFill>
            <a:srgbClr val="F8F9FA"/>
          </a:solidFill>
          <a:ln/>
        </p:spPr>
      </p:sp>
      <p:sp>
        <p:nvSpPr>
          <p:cNvPr id="8" name="Shape 5"/>
          <p:cNvSpPr/>
          <p:nvPr/>
        </p:nvSpPr>
        <p:spPr>
          <a:xfrm>
            <a:off x="552572" y="1062463"/>
            <a:ext cx="45719" cy="1567871"/>
          </a:xfrm>
          <a:prstGeom prst="rect">
            <a:avLst/>
          </a:prstGeom>
          <a:solidFill>
            <a:srgbClr val="2E5090"/>
          </a:solidFill>
          <a:ln/>
        </p:spPr>
      </p:sp>
      <p:sp>
        <p:nvSpPr>
          <p:cNvPr id="9" name="Text 6"/>
          <p:cNvSpPr/>
          <p:nvPr/>
        </p:nvSpPr>
        <p:spPr>
          <a:xfrm>
            <a:off x="748310" y="886176"/>
            <a:ext cx="65" cy="242374"/>
          </a:xfrm>
          <a:prstGeom prst="rect">
            <a:avLst/>
          </a:prstGeom>
          <a:noFill/>
          <a:ln/>
        </p:spPr>
        <p:txBody>
          <a:bodyPr wrap="none" lIns="0" tIns="0" rIns="0" bIns="0" rtlCol="0" anchor="ctr">
            <a:spAutoFit/>
          </a:bodyPr>
          <a:lstStyle/>
          <a:p>
            <a:pPr marL="0" indent="0">
              <a:buNone/>
            </a:pPr>
            <a:endParaRPr lang="en-US" sz="1575" dirty="0"/>
          </a:p>
        </p:txBody>
      </p:sp>
      <p:sp>
        <p:nvSpPr>
          <p:cNvPr id="15" name="Shape 12"/>
          <p:cNvSpPr/>
          <p:nvPr/>
        </p:nvSpPr>
        <p:spPr>
          <a:xfrm>
            <a:off x="4716663" y="1062463"/>
            <a:ext cx="3854053" cy="1567871"/>
          </a:xfrm>
          <a:prstGeom prst="rect">
            <a:avLst/>
          </a:prstGeom>
          <a:solidFill>
            <a:srgbClr val="F8F9FA"/>
          </a:solidFill>
          <a:ln/>
        </p:spPr>
      </p:sp>
      <p:sp>
        <p:nvSpPr>
          <p:cNvPr id="16" name="Shape 13"/>
          <p:cNvSpPr/>
          <p:nvPr/>
        </p:nvSpPr>
        <p:spPr>
          <a:xfrm>
            <a:off x="4642369" y="1062463"/>
            <a:ext cx="45719" cy="1567871"/>
          </a:xfrm>
          <a:prstGeom prst="rect">
            <a:avLst/>
          </a:prstGeom>
          <a:solidFill>
            <a:srgbClr val="2E5090"/>
          </a:solidFill>
          <a:ln/>
        </p:spPr>
      </p:sp>
      <p:sp>
        <p:nvSpPr>
          <p:cNvPr id="23" name="Text 20"/>
          <p:cNvSpPr/>
          <p:nvPr/>
        </p:nvSpPr>
        <p:spPr>
          <a:xfrm>
            <a:off x="748375" y="4447228"/>
            <a:ext cx="8001000" cy="253603"/>
          </a:xfrm>
          <a:prstGeom prst="rect">
            <a:avLst/>
          </a:prstGeom>
          <a:noFill/>
          <a:ln/>
        </p:spPr>
        <p:txBody>
          <a:bodyPr wrap="square" lIns="0" tIns="1275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Clinical Validation in real-world healthcare settings and Explainable AI (XAI) integration with implementation roadmap </a:t>
            </a:r>
            <a:endParaRPr lang="en-US" sz="680" dirty="0"/>
          </a:p>
        </p:txBody>
      </p:sp>
      <p:pic>
        <p:nvPicPr>
          <p:cNvPr id="25" name="Image 1" descr="preencoded.png">
            <a:extLst>
              <a:ext uri="{FF2B5EF4-FFF2-40B4-BE49-F238E27FC236}">
                <a16:creationId xmlns:a16="http://schemas.microsoft.com/office/drawing/2014/main" id="{EE8BAC1B-4FC0-D0AD-2F79-A907CFAD0781}"/>
              </a:ext>
            </a:extLst>
          </p:cNvPr>
          <p:cNvPicPr>
            <a:picLocks noChangeAspect="1"/>
          </p:cNvPicPr>
          <p:nvPr/>
        </p:nvPicPr>
        <p:blipFill>
          <a:blip r:embed="rId4"/>
          <a:stretch>
            <a:fillRect/>
          </a:stretch>
        </p:blipFill>
        <p:spPr>
          <a:xfrm>
            <a:off x="748309" y="1272509"/>
            <a:ext cx="171450" cy="171450"/>
          </a:xfrm>
          <a:prstGeom prst="rect">
            <a:avLst/>
          </a:prstGeom>
          <a:ln>
            <a:noFill/>
          </a:ln>
        </p:spPr>
      </p:pic>
      <p:sp>
        <p:nvSpPr>
          <p:cNvPr id="26" name="Text 2">
            <a:extLst>
              <a:ext uri="{FF2B5EF4-FFF2-40B4-BE49-F238E27FC236}">
                <a16:creationId xmlns:a16="http://schemas.microsoft.com/office/drawing/2014/main" id="{EEDFB812-5AC9-9C59-4EAF-C46F0AE88B39}"/>
              </a:ext>
            </a:extLst>
          </p:cNvPr>
          <p:cNvSpPr/>
          <p:nvPr/>
        </p:nvSpPr>
        <p:spPr>
          <a:xfrm>
            <a:off x="1026915" y="1208215"/>
            <a:ext cx="3361134" cy="523670"/>
          </a:xfrm>
          <a:prstGeom prst="rect">
            <a:avLst/>
          </a:prstGeom>
          <a:noFill/>
          <a:ln/>
        </p:spPr>
        <p:txBody>
          <a:bodyPr wrap="square" lIns="0" tIns="0" rIns="0" bIns="0" rtlCol="0" anchor="t">
            <a:spAutoFit/>
          </a:bodyPr>
          <a:lstStyle/>
          <a:p>
            <a:pPr marL="0" indent="0" algn="l">
              <a:lnSpc>
                <a:spcPts val="1400"/>
              </a:lnSpc>
              <a:buNone/>
            </a:pPr>
            <a:r>
              <a:rPr lang="en-US" sz="1000" b="1" dirty="0">
                <a:solidFill>
                  <a:srgbClr val="3D2817"/>
                </a:solidFill>
                <a:latin typeface="Noto Sans" pitchFamily="34" charset="0"/>
                <a:ea typeface="Noto Sans" pitchFamily="34" charset="-122"/>
                <a:cs typeface="Noto Sans" pitchFamily="34" charset="-120"/>
              </a:rPr>
              <a:t>Improved Distinction:</a:t>
            </a:r>
            <a:r>
              <a:rPr lang="en-US" sz="1000" dirty="0">
                <a:solidFill>
                  <a:srgbClr val="3D2817"/>
                </a:solidFill>
                <a:latin typeface="Noto Sans" pitchFamily="34" charset="0"/>
                <a:ea typeface="Noto Sans" pitchFamily="34" charset="-122"/>
                <a:cs typeface="Noto Sans" pitchFamily="34" charset="-120"/>
              </a:rPr>
              <a:t> Develop advanced techniques (multi-task learning) to enhance precise differentiation between H1 and H2 categories.</a:t>
            </a:r>
            <a:endParaRPr lang="en-US" sz="1000" dirty="0"/>
          </a:p>
        </p:txBody>
      </p:sp>
      <p:pic>
        <p:nvPicPr>
          <p:cNvPr id="27" name="Image 2" descr="preencoded.png">
            <a:extLst>
              <a:ext uri="{FF2B5EF4-FFF2-40B4-BE49-F238E27FC236}">
                <a16:creationId xmlns:a16="http://schemas.microsoft.com/office/drawing/2014/main" id="{236704F7-396D-1251-F11A-07B2EB92F4C2}"/>
              </a:ext>
            </a:extLst>
          </p:cNvPr>
          <p:cNvPicPr>
            <a:picLocks noChangeAspect="1"/>
          </p:cNvPicPr>
          <p:nvPr/>
        </p:nvPicPr>
        <p:blipFill>
          <a:blip r:embed="rId5"/>
          <a:stretch>
            <a:fillRect/>
          </a:stretch>
        </p:blipFill>
        <p:spPr>
          <a:xfrm>
            <a:off x="4873826" y="1272509"/>
            <a:ext cx="214313" cy="171450"/>
          </a:xfrm>
          <a:prstGeom prst="rect">
            <a:avLst/>
          </a:prstGeom>
        </p:spPr>
      </p:pic>
      <p:sp>
        <p:nvSpPr>
          <p:cNvPr id="28" name="Text 3">
            <a:extLst>
              <a:ext uri="{FF2B5EF4-FFF2-40B4-BE49-F238E27FC236}">
                <a16:creationId xmlns:a16="http://schemas.microsoft.com/office/drawing/2014/main" id="{88FF34AD-5D75-27CC-439E-1B3E25297B88}"/>
              </a:ext>
            </a:extLst>
          </p:cNvPr>
          <p:cNvSpPr/>
          <p:nvPr/>
        </p:nvSpPr>
        <p:spPr>
          <a:xfrm>
            <a:off x="5195295" y="1208215"/>
            <a:ext cx="3318272" cy="529056"/>
          </a:xfrm>
          <a:prstGeom prst="rect">
            <a:avLst/>
          </a:prstGeom>
          <a:noFill/>
          <a:ln/>
        </p:spPr>
        <p:txBody>
          <a:bodyPr wrap="square" lIns="0" tIns="0" rIns="0" bIns="0" rtlCol="0" anchor="t">
            <a:spAutoFit/>
          </a:bodyPr>
          <a:lstStyle/>
          <a:p>
            <a:pPr marL="0" indent="0" algn="l">
              <a:lnSpc>
                <a:spcPts val="1400"/>
              </a:lnSpc>
              <a:buNone/>
            </a:pPr>
            <a:r>
              <a:rPr lang="en-US" sz="1050" b="1" dirty="0">
                <a:solidFill>
                  <a:srgbClr val="3D2817"/>
                </a:solidFill>
                <a:latin typeface="Noto Sans" pitchFamily="34" charset="0"/>
                <a:ea typeface="Noto Sans" pitchFamily="34" charset="-122"/>
                <a:cs typeface="Noto Sans" pitchFamily="34" charset="-120"/>
              </a:rPr>
              <a:t>Clinical Validation:</a:t>
            </a:r>
            <a:r>
              <a:rPr lang="en-US" sz="1050" dirty="0">
                <a:solidFill>
                  <a:srgbClr val="3D2817"/>
                </a:solidFill>
                <a:latin typeface="Noto Sans" pitchFamily="34" charset="0"/>
                <a:ea typeface="Noto Sans" pitchFamily="34" charset="-122"/>
                <a:cs typeface="Noto Sans" pitchFamily="34" charset="-120"/>
              </a:rPr>
              <a:t> Conduct large-scale validation studies in real clinical environments with hospitals and medical institutions.</a:t>
            </a:r>
            <a:endParaRPr lang="en-US" sz="1050" dirty="0"/>
          </a:p>
        </p:txBody>
      </p:sp>
      <p:sp>
        <p:nvSpPr>
          <p:cNvPr id="22" name="Shape 5">
            <a:extLst>
              <a:ext uri="{FF2B5EF4-FFF2-40B4-BE49-F238E27FC236}">
                <a16:creationId xmlns:a16="http://schemas.microsoft.com/office/drawing/2014/main" id="{CB1A8F14-6A25-B3EF-3824-69AA5AD21FA2}"/>
              </a:ext>
            </a:extLst>
          </p:cNvPr>
          <p:cNvSpPr/>
          <p:nvPr/>
        </p:nvSpPr>
        <p:spPr>
          <a:xfrm>
            <a:off x="4448363" y="1062463"/>
            <a:ext cx="45719" cy="1567871"/>
          </a:xfrm>
          <a:prstGeom prst="rect">
            <a:avLst/>
          </a:prstGeom>
          <a:solidFill>
            <a:srgbClr val="2E5090"/>
          </a:solidFill>
          <a:ln/>
        </p:spPr>
      </p:sp>
      <p:sp>
        <p:nvSpPr>
          <p:cNvPr id="24" name="Shape 13">
            <a:extLst>
              <a:ext uri="{FF2B5EF4-FFF2-40B4-BE49-F238E27FC236}">
                <a16:creationId xmlns:a16="http://schemas.microsoft.com/office/drawing/2014/main" id="{28D19EFF-9241-9525-C99F-D3329A27823B}"/>
              </a:ext>
            </a:extLst>
          </p:cNvPr>
          <p:cNvSpPr/>
          <p:nvPr/>
        </p:nvSpPr>
        <p:spPr>
          <a:xfrm>
            <a:off x="8580004" y="1062463"/>
            <a:ext cx="45719" cy="1567871"/>
          </a:xfrm>
          <a:prstGeom prst="rect">
            <a:avLst/>
          </a:prstGeom>
          <a:solidFill>
            <a:srgbClr val="2E5090"/>
          </a:solidFill>
          <a:ln/>
        </p:spPr>
      </p:sp>
      <p:sp>
        <p:nvSpPr>
          <p:cNvPr id="46" name="Shape 9">
            <a:extLst>
              <a:ext uri="{FF2B5EF4-FFF2-40B4-BE49-F238E27FC236}">
                <a16:creationId xmlns:a16="http://schemas.microsoft.com/office/drawing/2014/main" id="{E8D46B62-E1BA-A5CC-7D83-97AD68E6E799}"/>
              </a:ext>
            </a:extLst>
          </p:cNvPr>
          <p:cNvSpPr/>
          <p:nvPr/>
        </p:nvSpPr>
        <p:spPr>
          <a:xfrm>
            <a:off x="574353" y="2904364"/>
            <a:ext cx="7994443" cy="1311548"/>
          </a:xfrm>
          <a:prstGeom prst="rect">
            <a:avLst/>
          </a:prstGeom>
          <a:solidFill>
            <a:srgbClr val="F8F9FA"/>
          </a:solidFill>
          <a:ln/>
        </p:spPr>
        <p:txBody>
          <a:bodyPr/>
          <a:lstStyle/>
          <a:p>
            <a:endParaRPr lang="ar-SA"/>
          </a:p>
        </p:txBody>
      </p:sp>
      <p:sp>
        <p:nvSpPr>
          <p:cNvPr id="47" name="Shape 10">
            <a:extLst>
              <a:ext uri="{FF2B5EF4-FFF2-40B4-BE49-F238E27FC236}">
                <a16:creationId xmlns:a16="http://schemas.microsoft.com/office/drawing/2014/main" id="{00CC20EC-0115-8E3E-DC71-0537D5C0C155}"/>
              </a:ext>
            </a:extLst>
          </p:cNvPr>
          <p:cNvSpPr/>
          <p:nvPr/>
        </p:nvSpPr>
        <p:spPr>
          <a:xfrm>
            <a:off x="554356" y="2887362"/>
            <a:ext cx="47285" cy="1311548"/>
          </a:xfrm>
          <a:prstGeom prst="rect">
            <a:avLst/>
          </a:prstGeom>
          <a:solidFill>
            <a:srgbClr val="2E5090"/>
          </a:solidFill>
          <a:ln/>
        </p:spPr>
        <p:txBody>
          <a:bodyPr/>
          <a:lstStyle/>
          <a:p>
            <a:endParaRPr lang="ar-SA"/>
          </a:p>
        </p:txBody>
      </p:sp>
      <p:sp>
        <p:nvSpPr>
          <p:cNvPr id="48" name="Text 12">
            <a:extLst>
              <a:ext uri="{FF2B5EF4-FFF2-40B4-BE49-F238E27FC236}">
                <a16:creationId xmlns:a16="http://schemas.microsoft.com/office/drawing/2014/main" id="{C06BDDDE-D20C-B9B6-91C6-60CEAE2FC34F}"/>
              </a:ext>
            </a:extLst>
          </p:cNvPr>
          <p:cNvSpPr/>
          <p:nvPr/>
        </p:nvSpPr>
        <p:spPr>
          <a:xfrm>
            <a:off x="1082188" y="3087530"/>
            <a:ext cx="7155031" cy="421206"/>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dirty="0">
                <a:solidFill>
                  <a:srgbClr val="3D2817"/>
                </a:solidFill>
                <a:latin typeface="Noto Sans" pitchFamily="34" charset="0"/>
                <a:ea typeface="Noto Sans" pitchFamily="34" charset="-122"/>
                <a:cs typeface="Noto Sans" pitchFamily="34" charset="-120"/>
              </a:rPr>
              <a:t>Explainable AI (XAI</a:t>
            </a:r>
            <a:r>
              <a:rPr lang="en-US" sz="837" b="1" dirty="0">
                <a:solidFill>
                  <a:srgbClr val="1A3A52"/>
                </a:solidFill>
                <a:latin typeface="Noto Sans" pitchFamily="34" charset="0"/>
                <a:ea typeface="Noto Sans" pitchFamily="34" charset="-122"/>
                <a:cs typeface="Noto Sans" pitchFamily="34" charset="-120"/>
              </a:rPr>
              <a:t>): </a:t>
            </a:r>
            <a:r>
              <a:rPr lang="en-US" sz="800" dirty="0">
                <a:solidFill>
                  <a:srgbClr val="34495E"/>
                </a:solidFill>
                <a:latin typeface="Noto Sans" pitchFamily="34" charset="0"/>
                <a:ea typeface="Noto Sans" pitchFamily="34" charset="-122"/>
                <a:cs typeface="Noto Sans" pitchFamily="34" charset="-120"/>
              </a:rPr>
              <a:t> </a:t>
            </a:r>
            <a:r>
              <a:rPr lang="en-US" sz="900" dirty="0">
                <a:solidFill>
                  <a:srgbClr val="3D2817"/>
                </a:solidFill>
                <a:latin typeface="Noto Sans" pitchFamily="34" charset="0"/>
                <a:ea typeface="Noto Sans" pitchFamily="34" charset="-122"/>
                <a:cs typeface="Noto Sans" pitchFamily="34" charset="-120"/>
              </a:rPr>
              <a:t>Integrate interpretability techniques (Grad-CAM, SHAP, attention visualization) to provide visual explanations of model predictions. Enhance clinician trust and enable better understanding of classification decisions</a:t>
            </a:r>
            <a:r>
              <a:rPr lang="en-US" sz="800" dirty="0">
                <a:solidFill>
                  <a:srgbClr val="34495E"/>
                </a:solidFill>
                <a:latin typeface="Noto Sans" pitchFamily="34" charset="0"/>
                <a:ea typeface="Noto Sans" pitchFamily="34" charset="-122"/>
                <a:cs typeface="Noto Sans" pitchFamily="34" charset="-120"/>
              </a:rPr>
              <a:t>. </a:t>
            </a:r>
            <a:endParaRPr lang="en-US" sz="800" dirty="0"/>
          </a:p>
          <a:p>
            <a:pPr marL="0" indent="0">
              <a:buNone/>
            </a:pPr>
            <a:endParaRPr lang="en-US" sz="837" dirty="0"/>
          </a:p>
        </p:txBody>
      </p:sp>
      <p:sp>
        <p:nvSpPr>
          <p:cNvPr id="49" name="Text 13">
            <a:extLst>
              <a:ext uri="{FF2B5EF4-FFF2-40B4-BE49-F238E27FC236}">
                <a16:creationId xmlns:a16="http://schemas.microsoft.com/office/drawing/2014/main" id="{F0B74F19-8156-20CC-7892-94754F831ADB}"/>
              </a:ext>
            </a:extLst>
          </p:cNvPr>
          <p:cNvSpPr/>
          <p:nvPr/>
        </p:nvSpPr>
        <p:spPr>
          <a:xfrm>
            <a:off x="2368880" y="3370237"/>
            <a:ext cx="3552825" cy="13849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900" dirty="0"/>
          </a:p>
        </p:txBody>
      </p:sp>
      <p:pic>
        <p:nvPicPr>
          <p:cNvPr id="50" name="Image 1" descr="preencoded.png">
            <a:extLst>
              <a:ext uri="{FF2B5EF4-FFF2-40B4-BE49-F238E27FC236}">
                <a16:creationId xmlns:a16="http://schemas.microsoft.com/office/drawing/2014/main" id="{9B0876B9-D81F-97BD-85BE-C78294C9B80D}"/>
              </a:ext>
            </a:extLst>
          </p:cNvPr>
          <p:cNvPicPr>
            <a:picLocks noChangeAspect="1"/>
          </p:cNvPicPr>
          <p:nvPr/>
        </p:nvPicPr>
        <p:blipFill>
          <a:blip r:embed="rId4"/>
          <a:stretch>
            <a:fillRect/>
          </a:stretch>
        </p:blipFill>
        <p:spPr>
          <a:xfrm>
            <a:off x="814789" y="3107595"/>
            <a:ext cx="171450" cy="171450"/>
          </a:xfrm>
          <a:prstGeom prst="rect">
            <a:avLst/>
          </a:prstGeom>
          <a:ln>
            <a:noFill/>
          </a:ln>
        </p:spPr>
      </p:pic>
      <p:sp>
        <p:nvSpPr>
          <p:cNvPr id="51" name="Shape 10">
            <a:extLst>
              <a:ext uri="{FF2B5EF4-FFF2-40B4-BE49-F238E27FC236}">
                <a16:creationId xmlns:a16="http://schemas.microsoft.com/office/drawing/2014/main" id="{15D6C2C4-ED7A-57CA-C861-7004B12C8C75}"/>
              </a:ext>
            </a:extLst>
          </p:cNvPr>
          <p:cNvSpPr/>
          <p:nvPr/>
        </p:nvSpPr>
        <p:spPr>
          <a:xfrm>
            <a:off x="8568797" y="2891062"/>
            <a:ext cx="47285" cy="1311548"/>
          </a:xfrm>
          <a:prstGeom prst="rect">
            <a:avLst/>
          </a:prstGeom>
          <a:solidFill>
            <a:srgbClr val="2E5090"/>
          </a:solidFill>
          <a:ln/>
        </p:spPr>
        <p:txBody>
          <a:bodyPr/>
          <a:lstStyle/>
          <a:p>
            <a:endParaRPr lang="ar-SA"/>
          </a:p>
        </p:txBody>
      </p:sp>
      <p:pic>
        <p:nvPicPr>
          <p:cNvPr id="4" name="Picture 3">
            <a:extLst>
              <a:ext uri="{FF2B5EF4-FFF2-40B4-BE49-F238E27FC236}">
                <a16:creationId xmlns:a16="http://schemas.microsoft.com/office/drawing/2014/main" id="{9F629BAA-D229-942B-ABCC-7914B72399A6}"/>
              </a:ext>
            </a:extLst>
          </p:cNvPr>
          <p:cNvPicPr>
            <a:picLocks noChangeAspect="1"/>
          </p:cNvPicPr>
          <p:nvPr/>
        </p:nvPicPr>
        <p:blipFill>
          <a:blip r:embed="rId6"/>
          <a:stretch>
            <a:fillRect/>
          </a:stretch>
        </p:blipFill>
        <p:spPr>
          <a:xfrm>
            <a:off x="7994233" y="-39263"/>
            <a:ext cx="1141859" cy="114185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47" name="Image 0" descr="preencoded.png">
            <a:extLst>
              <a:ext uri="{FF2B5EF4-FFF2-40B4-BE49-F238E27FC236}">
                <a16:creationId xmlns:a16="http://schemas.microsoft.com/office/drawing/2014/main" id="{69DF5FE5-1F40-7609-85B2-1798A39E8136}"/>
              </a:ext>
            </a:extLst>
          </p:cNvPr>
          <p:cNvPicPr>
            <a:picLocks noChangeAspect="1"/>
          </p:cNvPicPr>
          <p:nvPr/>
        </p:nvPicPr>
        <p:blipFill>
          <a:blip r:embed="rId3"/>
          <a:stretch>
            <a:fillRect/>
          </a:stretch>
        </p:blipFill>
        <p:spPr>
          <a:xfrm>
            <a:off x="-53578" y="-25003"/>
            <a:ext cx="9197578" cy="5168503"/>
          </a:xfrm>
          <a:prstGeom prst="rect">
            <a:avLst/>
          </a:prstGeom>
        </p:spPr>
      </p:pic>
      <p:sp>
        <p:nvSpPr>
          <p:cNvPr id="48" name="Shape 1">
            <a:extLst>
              <a:ext uri="{FF2B5EF4-FFF2-40B4-BE49-F238E27FC236}">
                <a16:creationId xmlns:a16="http://schemas.microsoft.com/office/drawing/2014/main" id="{1D62C007-C0B9-E2E7-B6A0-95F17C051129}"/>
              </a:ext>
            </a:extLst>
          </p:cNvPr>
          <p:cNvSpPr/>
          <p:nvPr/>
        </p:nvSpPr>
        <p:spPr>
          <a:xfrm>
            <a:off x="571500" y="878681"/>
            <a:ext cx="8001000" cy="21431"/>
          </a:xfrm>
          <a:prstGeom prst="rect">
            <a:avLst/>
          </a:prstGeom>
          <a:solidFill>
            <a:srgbClr val="E67E22"/>
          </a:solidFill>
          <a:ln/>
        </p:spPr>
      </p:sp>
      <p:sp>
        <p:nvSpPr>
          <p:cNvPr id="49" name="Text 2">
            <a:extLst>
              <a:ext uri="{FF2B5EF4-FFF2-40B4-BE49-F238E27FC236}">
                <a16:creationId xmlns:a16="http://schemas.microsoft.com/office/drawing/2014/main" id="{0B64E6A9-D9CE-01EA-E86E-0B3E940B2901}"/>
              </a:ext>
            </a:extLst>
          </p:cNvPr>
          <p:cNvSpPr/>
          <p:nvPr/>
        </p:nvSpPr>
        <p:spPr>
          <a:xfrm>
            <a:off x="571500" y="428625"/>
            <a:ext cx="5851923" cy="456151"/>
          </a:xfrm>
          <a:prstGeom prst="rect">
            <a:avLst/>
          </a:prstGeom>
          <a:noFill/>
          <a:ln/>
        </p:spPr>
        <p:txBody>
          <a:bodyPr wrap="none" lIns="0" tIns="0" rIns="0" bIns="127508" rtlCol="0" anchor="t">
            <a:spAutoFit/>
          </a:bodyPr>
          <a:lstStyle/>
          <a:p>
            <a:pPr marL="0" indent="0" algn="l">
              <a:lnSpc>
                <a:spcPts val="2700"/>
              </a:lnSpc>
              <a:buNone/>
            </a:pPr>
            <a:r>
              <a:rPr lang="en-US" sz="2000" b="1" dirty="0">
                <a:solidFill>
                  <a:srgbClr val="2C3E50"/>
                </a:solidFill>
              </a:rPr>
              <a:t>Project Conclusion: Intelligent Fungal Detection System</a:t>
            </a:r>
            <a:endParaRPr lang="en-US" sz="2000" dirty="0"/>
          </a:p>
        </p:txBody>
      </p:sp>
      <p:sp>
        <p:nvSpPr>
          <p:cNvPr id="50" name="Shape 3">
            <a:extLst>
              <a:ext uri="{FF2B5EF4-FFF2-40B4-BE49-F238E27FC236}">
                <a16:creationId xmlns:a16="http://schemas.microsoft.com/office/drawing/2014/main" id="{EC65D630-3027-CD83-D549-0950032E3305}"/>
              </a:ext>
            </a:extLst>
          </p:cNvPr>
          <p:cNvSpPr/>
          <p:nvPr/>
        </p:nvSpPr>
        <p:spPr>
          <a:xfrm>
            <a:off x="544711" y="1221581"/>
            <a:ext cx="8001000" cy="842963"/>
          </a:xfrm>
          <a:prstGeom prst="rect">
            <a:avLst/>
          </a:prstGeom>
          <a:solidFill>
            <a:schemeClr val="tx2">
              <a:lumMod val="75000"/>
            </a:schemeClr>
          </a:solidFill>
          <a:ln/>
        </p:spPr>
      </p:sp>
      <p:pic>
        <p:nvPicPr>
          <p:cNvPr id="51" name="Image 1" descr="preencoded.png">
            <a:extLst>
              <a:ext uri="{FF2B5EF4-FFF2-40B4-BE49-F238E27FC236}">
                <a16:creationId xmlns:a16="http://schemas.microsoft.com/office/drawing/2014/main" id="{063B411F-E8C1-7814-7EC5-E3589B1BE993}"/>
              </a:ext>
            </a:extLst>
          </p:cNvPr>
          <p:cNvPicPr>
            <a:picLocks noChangeAspect="1"/>
          </p:cNvPicPr>
          <p:nvPr/>
        </p:nvPicPr>
        <p:blipFill>
          <a:blip r:embed="rId4"/>
          <a:stretch>
            <a:fillRect/>
          </a:stretch>
        </p:blipFill>
        <p:spPr>
          <a:xfrm>
            <a:off x="723305" y="1503759"/>
            <a:ext cx="321469" cy="285750"/>
          </a:xfrm>
          <a:prstGeom prst="rect">
            <a:avLst/>
          </a:prstGeom>
        </p:spPr>
      </p:pic>
      <p:sp>
        <p:nvSpPr>
          <p:cNvPr id="52" name="Text 4">
            <a:extLst>
              <a:ext uri="{FF2B5EF4-FFF2-40B4-BE49-F238E27FC236}">
                <a16:creationId xmlns:a16="http://schemas.microsoft.com/office/drawing/2014/main" id="{2059F709-D398-9917-C063-69FEAEEDB44E}"/>
              </a:ext>
            </a:extLst>
          </p:cNvPr>
          <p:cNvSpPr/>
          <p:nvPr/>
        </p:nvSpPr>
        <p:spPr>
          <a:xfrm>
            <a:off x="1187649" y="1400174"/>
            <a:ext cx="1363450" cy="291747"/>
          </a:xfrm>
          <a:prstGeom prst="rect">
            <a:avLst/>
          </a:prstGeom>
          <a:noFill/>
          <a:ln/>
        </p:spPr>
        <p:txBody>
          <a:bodyPr wrap="none" lIns="0" tIns="0" rIns="0" bIns="0" rtlCol="0" anchor="t">
            <a:spAutoFit/>
          </a:bodyPr>
          <a:lstStyle/>
          <a:p>
            <a:pPr marL="0" indent="0" algn="l">
              <a:lnSpc>
                <a:spcPts val="2400"/>
              </a:lnSpc>
              <a:buNone/>
            </a:pPr>
            <a:r>
              <a:rPr lang="en-US" b="1" dirty="0">
                <a:solidFill>
                  <a:srgbClr val="FFFFFF"/>
                </a:solidFill>
              </a:rPr>
              <a:t>98.61</a:t>
            </a:r>
            <a:r>
              <a:rPr lang="en-US" sz="1397" b="1" dirty="0">
                <a:solidFill>
                  <a:srgbClr val="FFFFFF"/>
                </a:solidFill>
              </a:rPr>
              <a:t>% Accuracy</a:t>
            </a:r>
            <a:endParaRPr lang="en-US" sz="1397" dirty="0"/>
          </a:p>
        </p:txBody>
      </p:sp>
      <p:sp>
        <p:nvSpPr>
          <p:cNvPr id="53" name="Text 5">
            <a:extLst>
              <a:ext uri="{FF2B5EF4-FFF2-40B4-BE49-F238E27FC236}">
                <a16:creationId xmlns:a16="http://schemas.microsoft.com/office/drawing/2014/main" id="{6EEE3FAD-01C2-B9EC-E0FB-794301CBEAD2}"/>
              </a:ext>
            </a:extLst>
          </p:cNvPr>
          <p:cNvSpPr/>
          <p:nvPr/>
        </p:nvSpPr>
        <p:spPr>
          <a:xfrm>
            <a:off x="1187649" y="1735931"/>
            <a:ext cx="4587794" cy="153888"/>
          </a:xfrm>
          <a:prstGeom prst="rect">
            <a:avLst/>
          </a:prstGeom>
          <a:noFill/>
          <a:ln/>
        </p:spPr>
        <p:txBody>
          <a:bodyPr wrap="none" lIns="0" tIns="0" rIns="0" bIns="0" rtlCol="0" anchor="t">
            <a:spAutoFit/>
          </a:bodyPr>
          <a:lstStyle/>
          <a:p>
            <a:pPr marL="0" indent="0" algn="l">
              <a:lnSpc>
                <a:spcPts val="1200"/>
              </a:lnSpc>
              <a:buNone/>
            </a:pPr>
            <a:r>
              <a:rPr lang="en-US" sz="1000" dirty="0">
                <a:solidFill>
                  <a:srgbClr val="FFFFFF">
                    <a:alpha val="95000"/>
                  </a:srgbClr>
                </a:solidFill>
              </a:rPr>
              <a:t>SwinV2-Base</a:t>
            </a:r>
            <a:r>
              <a:rPr lang="en-US" sz="780" dirty="0">
                <a:solidFill>
                  <a:srgbClr val="FFFFFF">
                    <a:alpha val="95000"/>
                  </a:srgbClr>
                </a:solidFill>
              </a:rPr>
              <a:t> Ensemble model demonstrates strong reliability and consistent performance in fungal detection</a:t>
            </a:r>
            <a:endParaRPr lang="en-US" sz="780" dirty="0"/>
          </a:p>
        </p:txBody>
      </p:sp>
      <p:pic>
        <p:nvPicPr>
          <p:cNvPr id="54" name="Image 2" descr="preencoded.png">
            <a:extLst>
              <a:ext uri="{FF2B5EF4-FFF2-40B4-BE49-F238E27FC236}">
                <a16:creationId xmlns:a16="http://schemas.microsoft.com/office/drawing/2014/main" id="{55B4109C-EC95-F61C-B531-A0E9C0BCD23D}"/>
              </a:ext>
            </a:extLst>
          </p:cNvPr>
          <p:cNvPicPr>
            <a:picLocks noChangeAspect="1"/>
          </p:cNvPicPr>
          <p:nvPr/>
        </p:nvPicPr>
        <p:blipFill>
          <a:blip r:embed="rId5"/>
          <a:stretch>
            <a:fillRect/>
          </a:stretch>
        </p:blipFill>
        <p:spPr>
          <a:xfrm>
            <a:off x="517922" y="2454697"/>
            <a:ext cx="232172" cy="185737"/>
          </a:xfrm>
          <a:prstGeom prst="rect">
            <a:avLst/>
          </a:prstGeom>
        </p:spPr>
      </p:pic>
      <p:sp>
        <p:nvSpPr>
          <p:cNvPr id="55" name="Text 6">
            <a:extLst>
              <a:ext uri="{FF2B5EF4-FFF2-40B4-BE49-F238E27FC236}">
                <a16:creationId xmlns:a16="http://schemas.microsoft.com/office/drawing/2014/main" id="{C4938041-D93F-24AD-869B-B6DA2048299B}"/>
              </a:ext>
            </a:extLst>
          </p:cNvPr>
          <p:cNvSpPr/>
          <p:nvPr/>
        </p:nvSpPr>
        <p:spPr>
          <a:xfrm>
            <a:off x="821531" y="2472556"/>
            <a:ext cx="2915863" cy="198388"/>
          </a:xfrm>
          <a:prstGeom prst="rect">
            <a:avLst/>
          </a:prstGeom>
          <a:noFill/>
          <a:ln/>
        </p:spPr>
        <p:txBody>
          <a:bodyPr wrap="none" lIns="0" tIns="0" rIns="0" bIns="0" rtlCol="0" anchor="t">
            <a:spAutoFit/>
          </a:bodyPr>
          <a:lstStyle/>
          <a:p>
            <a:pPr marL="0" indent="0" algn="l">
              <a:lnSpc>
                <a:spcPts val="1500"/>
              </a:lnSpc>
              <a:buNone/>
            </a:pPr>
            <a:r>
              <a:rPr lang="en-US" sz="1600" b="1" dirty="0">
                <a:solidFill>
                  <a:srgbClr val="2C3E50"/>
                </a:solidFill>
              </a:rPr>
              <a:t>System Architecture &amp; Integration</a:t>
            </a:r>
            <a:endParaRPr lang="en-US" sz="1600" dirty="0"/>
          </a:p>
        </p:txBody>
      </p:sp>
      <p:sp>
        <p:nvSpPr>
          <p:cNvPr id="56" name="Text 7">
            <a:extLst>
              <a:ext uri="{FF2B5EF4-FFF2-40B4-BE49-F238E27FC236}">
                <a16:creationId xmlns:a16="http://schemas.microsoft.com/office/drawing/2014/main" id="{4B51B877-5B88-617B-5553-E8FC2EEFCB25}"/>
              </a:ext>
            </a:extLst>
          </p:cNvPr>
          <p:cNvSpPr/>
          <p:nvPr/>
        </p:nvSpPr>
        <p:spPr>
          <a:xfrm>
            <a:off x="571500" y="2761878"/>
            <a:ext cx="8001000" cy="351443"/>
          </a:xfrm>
          <a:prstGeom prst="rect">
            <a:avLst/>
          </a:prstGeom>
          <a:noFill/>
          <a:ln/>
        </p:spPr>
        <p:txBody>
          <a:bodyPr wrap="square" lIns="0" tIns="0" rIns="0" bIns="0" rtlCol="0" anchor="t">
            <a:spAutoFit/>
          </a:bodyPr>
          <a:lstStyle/>
          <a:p>
            <a:pPr marL="0" indent="0" algn="l">
              <a:lnSpc>
                <a:spcPts val="1400"/>
              </a:lnSpc>
              <a:buNone/>
            </a:pPr>
            <a:r>
              <a:rPr lang="en-US" sz="1100" dirty="0">
                <a:solidFill>
                  <a:srgbClr val="2C3E50"/>
                </a:solidFill>
              </a:rPr>
              <a:t>The model has been successfully integrated into an </a:t>
            </a:r>
            <a:r>
              <a:rPr lang="en-US" sz="1100" b="1" dirty="0">
                <a:solidFill>
                  <a:srgbClr val="E67E22"/>
                </a:solidFill>
              </a:rPr>
              <a:t>easy-to-use mobile application</a:t>
            </a:r>
            <a:r>
              <a:rPr lang="en-US" sz="1100" dirty="0">
                <a:solidFill>
                  <a:srgbClr val="2C3E50"/>
                </a:solidFill>
              </a:rPr>
              <a:t>, supported by a flexible cloud-based architecture using </a:t>
            </a:r>
            <a:r>
              <a:rPr lang="en-US" sz="1100" b="1" dirty="0">
                <a:solidFill>
                  <a:srgbClr val="E67E22"/>
                </a:solidFill>
              </a:rPr>
              <a:t>Hugging Face, Flask, and Supabase</a:t>
            </a:r>
            <a:r>
              <a:rPr lang="en-US" sz="1100" dirty="0">
                <a:solidFill>
                  <a:srgbClr val="2C3E50"/>
                </a:solidFill>
              </a:rPr>
              <a:t>, making the system scalable and practical for real medical environments.</a:t>
            </a:r>
            <a:endParaRPr lang="en-US" sz="1100" dirty="0"/>
          </a:p>
        </p:txBody>
      </p:sp>
      <p:sp>
        <p:nvSpPr>
          <p:cNvPr id="57" name="Shape 8">
            <a:extLst>
              <a:ext uri="{FF2B5EF4-FFF2-40B4-BE49-F238E27FC236}">
                <a16:creationId xmlns:a16="http://schemas.microsoft.com/office/drawing/2014/main" id="{9751B64D-338B-02BF-34F9-C55C0F9AAF87}"/>
              </a:ext>
            </a:extLst>
          </p:cNvPr>
          <p:cNvSpPr/>
          <p:nvPr/>
        </p:nvSpPr>
        <p:spPr>
          <a:xfrm>
            <a:off x="571500" y="3362902"/>
            <a:ext cx="781069" cy="225028"/>
          </a:xfrm>
          <a:prstGeom prst="rect">
            <a:avLst/>
          </a:prstGeom>
          <a:solidFill>
            <a:srgbClr val="E67E22"/>
          </a:solidFill>
          <a:ln/>
        </p:spPr>
      </p:sp>
      <p:sp>
        <p:nvSpPr>
          <p:cNvPr id="58" name="Text 9">
            <a:extLst>
              <a:ext uri="{FF2B5EF4-FFF2-40B4-BE49-F238E27FC236}">
                <a16:creationId xmlns:a16="http://schemas.microsoft.com/office/drawing/2014/main" id="{160A520A-1A4D-9612-7897-B988ED5FE09C}"/>
              </a:ext>
            </a:extLst>
          </p:cNvPr>
          <p:cNvSpPr/>
          <p:nvPr/>
        </p:nvSpPr>
        <p:spPr>
          <a:xfrm>
            <a:off x="571500" y="3362902"/>
            <a:ext cx="781069"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Hugging Face</a:t>
            </a:r>
            <a:endParaRPr lang="en-US" sz="900" dirty="0"/>
          </a:p>
        </p:txBody>
      </p:sp>
      <p:sp>
        <p:nvSpPr>
          <p:cNvPr id="59" name="Shape 10">
            <a:extLst>
              <a:ext uri="{FF2B5EF4-FFF2-40B4-BE49-F238E27FC236}">
                <a16:creationId xmlns:a16="http://schemas.microsoft.com/office/drawing/2014/main" id="{72026295-1F18-B705-3C88-EDB0BD47A70C}"/>
              </a:ext>
            </a:extLst>
          </p:cNvPr>
          <p:cNvSpPr/>
          <p:nvPr/>
        </p:nvSpPr>
        <p:spPr>
          <a:xfrm>
            <a:off x="1459725" y="3362902"/>
            <a:ext cx="395920" cy="225028"/>
          </a:xfrm>
          <a:prstGeom prst="rect">
            <a:avLst/>
          </a:prstGeom>
          <a:solidFill>
            <a:srgbClr val="E67E22"/>
          </a:solidFill>
          <a:ln/>
        </p:spPr>
      </p:sp>
      <p:sp>
        <p:nvSpPr>
          <p:cNvPr id="60" name="Text 11">
            <a:extLst>
              <a:ext uri="{FF2B5EF4-FFF2-40B4-BE49-F238E27FC236}">
                <a16:creationId xmlns:a16="http://schemas.microsoft.com/office/drawing/2014/main" id="{E19F91EF-A16E-71B5-DAA7-3CA9695AFE85}"/>
              </a:ext>
            </a:extLst>
          </p:cNvPr>
          <p:cNvSpPr/>
          <p:nvPr/>
        </p:nvSpPr>
        <p:spPr>
          <a:xfrm>
            <a:off x="1459725" y="3362902"/>
            <a:ext cx="395920"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Flask</a:t>
            </a:r>
            <a:endParaRPr lang="en-US" sz="900" dirty="0"/>
          </a:p>
        </p:txBody>
      </p:sp>
      <p:sp>
        <p:nvSpPr>
          <p:cNvPr id="61" name="Shape 12">
            <a:extLst>
              <a:ext uri="{FF2B5EF4-FFF2-40B4-BE49-F238E27FC236}">
                <a16:creationId xmlns:a16="http://schemas.microsoft.com/office/drawing/2014/main" id="{BE834417-77DE-F3FD-E2C8-FC23310E80F8}"/>
              </a:ext>
            </a:extLst>
          </p:cNvPr>
          <p:cNvSpPr/>
          <p:nvPr/>
        </p:nvSpPr>
        <p:spPr>
          <a:xfrm>
            <a:off x="1962801" y="3362902"/>
            <a:ext cx="600884" cy="225028"/>
          </a:xfrm>
          <a:prstGeom prst="rect">
            <a:avLst/>
          </a:prstGeom>
          <a:solidFill>
            <a:srgbClr val="E67E22"/>
          </a:solidFill>
          <a:ln/>
        </p:spPr>
      </p:sp>
      <p:sp>
        <p:nvSpPr>
          <p:cNvPr id="62" name="Text 13">
            <a:extLst>
              <a:ext uri="{FF2B5EF4-FFF2-40B4-BE49-F238E27FC236}">
                <a16:creationId xmlns:a16="http://schemas.microsoft.com/office/drawing/2014/main" id="{D19E61ED-C3C1-883A-CAB3-9FA769998A93}"/>
              </a:ext>
            </a:extLst>
          </p:cNvPr>
          <p:cNvSpPr/>
          <p:nvPr/>
        </p:nvSpPr>
        <p:spPr>
          <a:xfrm>
            <a:off x="1962801" y="3362902"/>
            <a:ext cx="600884"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Supabase</a:t>
            </a:r>
            <a:endParaRPr lang="en-US" sz="900" dirty="0"/>
          </a:p>
        </p:txBody>
      </p:sp>
      <p:sp>
        <p:nvSpPr>
          <p:cNvPr id="63" name="Shape 14">
            <a:extLst>
              <a:ext uri="{FF2B5EF4-FFF2-40B4-BE49-F238E27FC236}">
                <a16:creationId xmlns:a16="http://schemas.microsoft.com/office/drawing/2014/main" id="{ECBDF7B0-1123-9A2B-C6CD-D823924433E8}"/>
              </a:ext>
            </a:extLst>
          </p:cNvPr>
          <p:cNvSpPr/>
          <p:nvPr/>
        </p:nvSpPr>
        <p:spPr>
          <a:xfrm>
            <a:off x="2670842" y="3362902"/>
            <a:ext cx="995214" cy="225028"/>
          </a:xfrm>
          <a:prstGeom prst="rect">
            <a:avLst/>
          </a:prstGeom>
          <a:solidFill>
            <a:srgbClr val="E67E22"/>
          </a:solidFill>
          <a:ln/>
        </p:spPr>
      </p:sp>
      <p:sp>
        <p:nvSpPr>
          <p:cNvPr id="64" name="Text 15">
            <a:extLst>
              <a:ext uri="{FF2B5EF4-FFF2-40B4-BE49-F238E27FC236}">
                <a16:creationId xmlns:a16="http://schemas.microsoft.com/office/drawing/2014/main" id="{F488F51B-5391-F6AB-4F21-FE1150B234FE}"/>
              </a:ext>
            </a:extLst>
          </p:cNvPr>
          <p:cNvSpPr/>
          <p:nvPr/>
        </p:nvSpPr>
        <p:spPr>
          <a:xfrm>
            <a:off x="2670842" y="3362902"/>
            <a:ext cx="995214" cy="380425"/>
          </a:xfrm>
          <a:prstGeom prst="rect">
            <a:avLst/>
          </a:prstGeom>
          <a:noFill/>
          <a:ln/>
        </p:spPr>
        <p:txBody>
          <a:bodyPr wrap="square" lIns="102108" tIns="51054" rIns="102108" bIns="51054" rtlCol="0" anchor="t">
            <a:spAutoFit/>
          </a:bodyPr>
          <a:lstStyle/>
          <a:p>
            <a:pPr marL="0" indent="0" algn="l">
              <a:lnSpc>
                <a:spcPts val="1100"/>
              </a:lnSpc>
              <a:buNone/>
            </a:pPr>
            <a:r>
              <a:rPr lang="en-US" sz="900" b="1" dirty="0">
                <a:solidFill>
                  <a:srgbClr val="FFFFFF"/>
                </a:solidFill>
              </a:rPr>
              <a:t>Flutter Mobile App</a:t>
            </a:r>
            <a:endParaRPr lang="en-US" sz="900" dirty="0"/>
          </a:p>
        </p:txBody>
      </p:sp>
      <p:pic>
        <p:nvPicPr>
          <p:cNvPr id="65" name="Image 3" descr="preencoded.png">
            <a:extLst>
              <a:ext uri="{FF2B5EF4-FFF2-40B4-BE49-F238E27FC236}">
                <a16:creationId xmlns:a16="http://schemas.microsoft.com/office/drawing/2014/main" id="{7171958E-5214-EFCA-72BB-B0943D5AF074}"/>
              </a:ext>
            </a:extLst>
          </p:cNvPr>
          <p:cNvPicPr>
            <a:picLocks noChangeAspect="1"/>
          </p:cNvPicPr>
          <p:nvPr/>
        </p:nvPicPr>
        <p:blipFill>
          <a:blip r:embed="rId6"/>
          <a:stretch>
            <a:fillRect/>
          </a:stretch>
        </p:blipFill>
        <p:spPr>
          <a:xfrm>
            <a:off x="464344" y="3992145"/>
            <a:ext cx="223186" cy="198388"/>
          </a:xfrm>
          <a:prstGeom prst="rect">
            <a:avLst/>
          </a:prstGeom>
        </p:spPr>
      </p:pic>
      <p:sp>
        <p:nvSpPr>
          <p:cNvPr id="66" name="Text 16">
            <a:extLst>
              <a:ext uri="{FF2B5EF4-FFF2-40B4-BE49-F238E27FC236}">
                <a16:creationId xmlns:a16="http://schemas.microsoft.com/office/drawing/2014/main" id="{EA77E309-7589-4F1E-6BFD-452517169B25}"/>
              </a:ext>
            </a:extLst>
          </p:cNvPr>
          <p:cNvSpPr/>
          <p:nvPr/>
        </p:nvSpPr>
        <p:spPr>
          <a:xfrm>
            <a:off x="750094" y="3992145"/>
            <a:ext cx="3171574" cy="198388"/>
          </a:xfrm>
          <a:prstGeom prst="rect">
            <a:avLst/>
          </a:prstGeom>
          <a:noFill/>
          <a:ln/>
        </p:spPr>
        <p:txBody>
          <a:bodyPr wrap="none" lIns="0" tIns="0" rIns="0" bIns="0" rtlCol="0" anchor="t">
            <a:spAutoFit/>
          </a:bodyPr>
          <a:lstStyle/>
          <a:p>
            <a:pPr marL="0" indent="0" algn="l">
              <a:lnSpc>
                <a:spcPts val="1500"/>
              </a:lnSpc>
              <a:buNone/>
            </a:pPr>
            <a:r>
              <a:rPr lang="en-US" sz="1600" b="1" dirty="0">
                <a:solidFill>
                  <a:srgbClr val="2C3E50"/>
                </a:solidFill>
              </a:rPr>
              <a:t>Healthcare Impact &amp; Future Potential</a:t>
            </a:r>
          </a:p>
        </p:txBody>
      </p:sp>
      <p:sp>
        <p:nvSpPr>
          <p:cNvPr id="67" name="Text 17">
            <a:extLst>
              <a:ext uri="{FF2B5EF4-FFF2-40B4-BE49-F238E27FC236}">
                <a16:creationId xmlns:a16="http://schemas.microsoft.com/office/drawing/2014/main" id="{4D2CD1DC-3342-6004-64E6-FC10112B1CFF}"/>
              </a:ext>
            </a:extLst>
          </p:cNvPr>
          <p:cNvSpPr/>
          <p:nvPr/>
        </p:nvSpPr>
        <p:spPr>
          <a:xfrm>
            <a:off x="517922" y="4281467"/>
            <a:ext cx="8001000" cy="349711"/>
          </a:xfrm>
          <a:prstGeom prst="rect">
            <a:avLst/>
          </a:prstGeom>
          <a:noFill/>
          <a:ln/>
        </p:spPr>
        <p:txBody>
          <a:bodyPr wrap="square" lIns="0" tIns="0" rIns="0" bIns="0" rtlCol="0" anchor="t">
            <a:spAutoFit/>
          </a:bodyPr>
          <a:lstStyle/>
          <a:p>
            <a:pPr marL="0" indent="0" algn="l">
              <a:lnSpc>
                <a:spcPts val="1400"/>
              </a:lnSpc>
              <a:buNone/>
            </a:pPr>
            <a:r>
              <a:rPr lang="en-US" sz="1050" dirty="0">
                <a:solidFill>
                  <a:srgbClr val="2C3E50"/>
                </a:solidFill>
              </a:rPr>
              <a:t>The project showcases how </a:t>
            </a:r>
            <a:r>
              <a:rPr lang="en-US" sz="1050" b="1" dirty="0">
                <a:solidFill>
                  <a:srgbClr val="E67E22"/>
                </a:solidFill>
              </a:rPr>
              <a:t>advanced AI technologies can be effectively applied to medical diagnosis</a:t>
            </a:r>
            <a:r>
              <a:rPr lang="en-US" sz="1050" dirty="0">
                <a:solidFill>
                  <a:srgbClr val="2C3E50"/>
                </a:solidFill>
              </a:rPr>
              <a:t>, providing faster and more accurate support for healthcare professionals. This intelligent system enables early detection and timely intervention in fungal infections.</a:t>
            </a:r>
            <a:endParaRPr lang="en-US" sz="1050" dirty="0"/>
          </a:p>
        </p:txBody>
      </p:sp>
      <p:pic>
        <p:nvPicPr>
          <p:cNvPr id="2" name="Picture 1">
            <a:extLst>
              <a:ext uri="{FF2B5EF4-FFF2-40B4-BE49-F238E27FC236}">
                <a16:creationId xmlns:a16="http://schemas.microsoft.com/office/drawing/2014/main" id="{D4913C27-6DFC-7EA6-0499-8F3CB8B32375}"/>
              </a:ext>
            </a:extLst>
          </p:cNvPr>
          <p:cNvPicPr>
            <a:picLocks noChangeAspect="1"/>
          </p:cNvPicPr>
          <p:nvPr/>
        </p:nvPicPr>
        <p:blipFill>
          <a:blip r:embed="rId7"/>
          <a:stretch>
            <a:fillRect/>
          </a:stretch>
        </p:blipFill>
        <p:spPr>
          <a:xfrm>
            <a:off x="8220000" y="-46683"/>
            <a:ext cx="1141859" cy="1141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11061</TotalTime>
  <Words>3193</Words>
  <Application>Microsoft Office PowerPoint</Application>
  <PresentationFormat>On-screen Show (16:9)</PresentationFormat>
  <Paragraphs>645</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Noto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Hothifa Mahdi</cp:lastModifiedBy>
  <cp:revision>25</cp:revision>
  <dcterms:created xsi:type="dcterms:W3CDTF">2025-10-26T02:15:07Z</dcterms:created>
  <dcterms:modified xsi:type="dcterms:W3CDTF">2025-11-17T14:37:22Z</dcterms:modified>
</cp:coreProperties>
</file>