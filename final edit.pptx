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90" r:id="rId3"/>
    <p:sldId id="291" r:id="rId4"/>
    <p:sldId id="259" r:id="rId5"/>
    <p:sldId id="260" r:id="rId6"/>
    <p:sldId id="261" r:id="rId7"/>
    <p:sldId id="282" r:id="rId8"/>
    <p:sldId id="283" r:id="rId9"/>
    <p:sldId id="293" r:id="rId10"/>
    <p:sldId id="262" r:id="rId11"/>
    <p:sldId id="284" r:id="rId12"/>
    <p:sldId id="287" r:id="rId13"/>
    <p:sldId id="285" r:id="rId14"/>
    <p:sldId id="286" r:id="rId15"/>
    <p:sldId id="263" r:id="rId16"/>
    <p:sldId id="264" r:id="rId17"/>
    <p:sldId id="265" r:id="rId18"/>
    <p:sldId id="266" r:id="rId19"/>
    <p:sldId id="267" r:id="rId20"/>
    <p:sldId id="268" r:id="rId21"/>
    <p:sldId id="269" r:id="rId22"/>
    <p:sldId id="270" r:id="rId23"/>
    <p:sldId id="271" r:id="rId24"/>
    <p:sldId id="272" r:id="rId25"/>
    <p:sldId id="273" r:id="rId26"/>
    <p:sldId id="288" r:id="rId27"/>
    <p:sldId id="274" r:id="rId28"/>
    <p:sldId id="292" r:id="rId29"/>
    <p:sldId id="277" r:id="rId30"/>
    <p:sldId id="280" r:id="rId31"/>
    <p:sldId id="278"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thifa Mahdi" initials="HM" lastIdx="1" clrIdx="0">
    <p:extLst>
      <p:ext uri="{19B8F6BF-5375-455C-9EA6-DF929625EA0E}">
        <p15:presenceInfo xmlns:p15="http://schemas.microsoft.com/office/powerpoint/2012/main" userId="5a9532218c6ebc1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EFE"/>
    <a:srgbClr val="FCDAD8"/>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510" autoAdjust="0"/>
    <p:restoredTop sz="94610"/>
  </p:normalViewPr>
  <p:slideViewPr>
    <p:cSldViewPr snapToGrid="0" snapToObjects="1">
      <p:cViewPr varScale="1">
        <p:scale>
          <a:sx n="114" d="100"/>
          <a:sy n="114" d="100"/>
        </p:scale>
        <p:origin x="523"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771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66073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126339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84193-DC4D-8274-4339-3F914DC92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13EA9-C205-D8E0-2EE1-148AC295B8A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58FD8C7-01F1-8F46-5C6A-2281E17B57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382125-00C4-8879-5C0E-28E4AC3EABD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0513732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77635-3FC1-8C30-EB88-6A29049748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679C65-3134-37D7-E3CA-19570C350BB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D3A0AD-C2B7-162A-2F21-37F4E272CD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EDA315-E619-7D91-AFF3-2E169ABDEAB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052357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87A40-7499-0A4C-28F9-39CB2241EF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30950-A7C2-9C8B-278F-6D98001F26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C5EA65-1877-C274-BF36-4D075D6009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BFC7B6-CD9D-AEE8-C3D9-AF01328F70D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931547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79291-8631-5994-0D16-7741169442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CF686-38B5-E634-FFBD-439566418AE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FD6C88-BE56-C7F1-6A75-DE490AEF20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BFFFB7-BD6D-BE87-C676-E32183772E5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111447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951B5-8BC4-77D9-1BB5-5CACE1E56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39075-DE3E-D9E6-2B0B-807C4F234E5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3D68605-F098-3EF3-2962-B18C316DD8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DE604F-7976-4296-D9AA-645BECA9B8A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62002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7E873-31D0-D24E-6670-AC01B7776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215BA7-94CD-E84A-2F9A-7DC197592FA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C9B772-179D-34B3-A2C7-99C21DAC7D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BD91E-EE38-AC63-BD63-DE5FCC701AC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0234988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png"/><Relationship Id="rId5" Type="http://schemas.microsoft.com/office/2007/relationships/hdphoto" Target="../media/hdphoto1.wdp"/><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27.png"/><Relationship Id="rId7" Type="http://schemas.openxmlformats.org/officeDocument/2006/relationships/image" Target="../media/image30.png"/><Relationship Id="rId12"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microsoft.com/office/2007/relationships/hdphoto" Target="../media/hdphoto2.wdp"/><Relationship Id="rId11" Type="http://schemas.microsoft.com/office/2007/relationships/hdphoto" Target="../media/hdphoto4.wdp"/><Relationship Id="rId5" Type="http://schemas.openxmlformats.org/officeDocument/2006/relationships/image" Target="../media/image29.png"/><Relationship Id="rId10" Type="http://schemas.openxmlformats.org/officeDocument/2006/relationships/image" Target="../media/image32.png"/><Relationship Id="rId4" Type="http://schemas.openxmlformats.org/officeDocument/2006/relationships/image" Target="../media/image28.png"/><Relationship Id="rId9" Type="http://schemas.openxmlformats.org/officeDocument/2006/relationships/image" Target="../media/image31.png"/></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4.jp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36.png"/><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14" y="-3017"/>
            <a:ext cx="9144000" cy="5909109"/>
          </a:xfrm>
          <a:prstGeom prst="rect">
            <a:avLst/>
          </a:prstGeom>
        </p:spPr>
      </p:pic>
      <p:sp>
        <p:nvSpPr>
          <p:cNvPr id="3" name="Text 0"/>
          <p:cNvSpPr/>
          <p:nvPr/>
        </p:nvSpPr>
        <p:spPr>
          <a:xfrm>
            <a:off x="928688" y="444773"/>
            <a:ext cx="8001000" cy="1097235"/>
          </a:xfrm>
          <a:prstGeom prst="rect">
            <a:avLst/>
          </a:prstGeom>
          <a:noFill/>
          <a:ln/>
        </p:spPr>
        <p:txBody>
          <a:bodyPr wrap="square" lIns="0" tIns="0" rIns="0" bIns="0" rtlCol="0" anchor="ctr">
            <a:spAutoFit/>
          </a:bodyPr>
          <a:lstStyle/>
          <a:p>
            <a:pPr marL="0" indent="0" algn="ctr">
              <a:buNone/>
            </a:pPr>
            <a:r>
              <a:rPr lang="en-US" sz="3600" b="1" dirty="0">
                <a:solidFill>
                  <a:srgbClr val="FFFFFF"/>
                </a:solidFill>
                <a:latin typeface="Noto Sans" pitchFamily="34" charset="0"/>
                <a:ea typeface="Noto Sans" pitchFamily="34" charset="-122"/>
                <a:cs typeface="Noto Sans" pitchFamily="34" charset="-120"/>
              </a:rPr>
              <a:t>AI-Based System for 5 Categories Fungus Detection</a:t>
            </a:r>
            <a:endParaRPr lang="en-US" sz="3600" dirty="0"/>
          </a:p>
        </p:txBody>
      </p:sp>
      <p:sp>
        <p:nvSpPr>
          <p:cNvPr id="4" name="Shape 1"/>
          <p:cNvSpPr/>
          <p:nvPr/>
        </p:nvSpPr>
        <p:spPr>
          <a:xfrm>
            <a:off x="4214813" y="1740173"/>
            <a:ext cx="714375" cy="21431"/>
          </a:xfrm>
          <a:prstGeom prst="rect">
            <a:avLst/>
          </a:prstGeom>
          <a:solidFill>
            <a:srgbClr val="F39C12"/>
          </a:solidFill>
          <a:ln/>
        </p:spPr>
        <p:txBody>
          <a:bodyPr/>
          <a:lstStyle/>
          <a:p>
            <a:endParaRPr lang="en-US"/>
          </a:p>
        </p:txBody>
      </p:sp>
      <p:sp>
        <p:nvSpPr>
          <p:cNvPr id="5" name="Text 2"/>
          <p:cNvSpPr/>
          <p:nvPr/>
        </p:nvSpPr>
        <p:spPr>
          <a:xfrm>
            <a:off x="571500" y="2157435"/>
            <a:ext cx="8001000" cy="276999"/>
          </a:xfrm>
          <a:prstGeom prst="rect">
            <a:avLst/>
          </a:prstGeom>
          <a:noFill/>
          <a:ln/>
        </p:spPr>
        <p:txBody>
          <a:bodyPr wrap="square" lIns="0" tIns="0" rIns="0" bIns="0" rtlCol="0" anchor="ctr">
            <a:spAutoFit/>
          </a:bodyPr>
          <a:lstStyle/>
          <a:p>
            <a:pPr marL="0" indent="0" algn="ctr">
              <a:buNone/>
            </a:pPr>
            <a:r>
              <a:rPr lang="en-US" sz="1800" b="1" dirty="0">
                <a:solidFill>
                  <a:srgbClr val="F39C12"/>
                </a:solidFill>
                <a:latin typeface="Noto Sans" pitchFamily="34" charset="0"/>
                <a:ea typeface="Noto Sans" pitchFamily="34" charset="-122"/>
                <a:cs typeface="Noto Sans" pitchFamily="34" charset="-120"/>
              </a:rPr>
              <a:t>A 4-Phase Experimental Journey to a High-Accuracy Deployed Model</a:t>
            </a:r>
            <a:endParaRPr lang="en-US" sz="1800" dirty="0"/>
          </a:p>
        </p:txBody>
      </p:sp>
      <p:sp>
        <p:nvSpPr>
          <p:cNvPr id="6" name="Text 3"/>
          <p:cNvSpPr/>
          <p:nvPr/>
        </p:nvSpPr>
        <p:spPr>
          <a:xfrm>
            <a:off x="4460592" y="3022581"/>
            <a:ext cx="222818" cy="215444"/>
          </a:xfrm>
          <a:prstGeom prst="rect">
            <a:avLst/>
          </a:prstGeom>
          <a:noFill/>
          <a:ln/>
        </p:spPr>
        <p:txBody>
          <a:bodyPr wrap="none" lIns="0" tIns="0" rIns="0" bIns="0" rtlCol="0" anchor="ctr">
            <a:spAutoFit/>
          </a:bodyPr>
          <a:lstStyle/>
          <a:p>
            <a:pPr marL="0" indent="0" algn="ctr">
              <a:buNone/>
            </a:pPr>
            <a:r>
              <a:rPr lang="en-US" sz="1400" b="1" dirty="0">
                <a:solidFill>
                  <a:srgbClr val="F39C12"/>
                </a:solidFill>
                <a:latin typeface="Noto Sans" pitchFamily="34" charset="0"/>
                <a:ea typeface="Noto Sans" pitchFamily="34" charset="-122"/>
                <a:cs typeface="Noto Sans" pitchFamily="34" charset="-120"/>
              </a:rPr>
              <a:t>By</a:t>
            </a:r>
            <a:endParaRPr lang="en-US" sz="1400" dirty="0"/>
          </a:p>
        </p:txBody>
      </p:sp>
      <p:sp>
        <p:nvSpPr>
          <p:cNvPr id="7" name="Text 4"/>
          <p:cNvSpPr/>
          <p:nvPr/>
        </p:nvSpPr>
        <p:spPr>
          <a:xfrm>
            <a:off x="3978889" y="3282436"/>
            <a:ext cx="1186223" cy="215444"/>
          </a:xfrm>
          <a:prstGeom prst="rect">
            <a:avLst/>
          </a:prstGeom>
          <a:noFill/>
          <a:ln/>
        </p:spPr>
        <p:txBody>
          <a:bodyPr wrap="none" lIns="0" tIns="0" rIns="0" bIns="0" rtlCol="0" anchor="ctr">
            <a:spAutoFit/>
          </a:bodyPr>
          <a:lstStyle/>
          <a:p>
            <a:pPr marL="0" indent="0" algn="ctr">
              <a:buNone/>
            </a:pPr>
            <a:r>
              <a:rPr lang="en-US" sz="1400" dirty="0">
                <a:solidFill>
                  <a:srgbClr val="E8E8E8"/>
                </a:solidFill>
                <a:latin typeface="Noto Sans" pitchFamily="34" charset="0"/>
                <a:ea typeface="Noto Sans" pitchFamily="34" charset="-122"/>
                <a:cs typeface="Noto Sans" pitchFamily="34" charset="-120"/>
              </a:rPr>
              <a:t> Hothifa Sadiq</a:t>
            </a:r>
            <a:endParaRPr lang="en-US" sz="1400" dirty="0"/>
          </a:p>
        </p:txBody>
      </p:sp>
      <p:sp>
        <p:nvSpPr>
          <p:cNvPr id="8" name="Text 5"/>
          <p:cNvSpPr/>
          <p:nvPr/>
        </p:nvSpPr>
        <p:spPr>
          <a:xfrm>
            <a:off x="3951639" y="3488153"/>
            <a:ext cx="1240725" cy="215444"/>
          </a:xfrm>
          <a:prstGeom prst="rect">
            <a:avLst/>
          </a:prstGeom>
          <a:noFill/>
          <a:ln/>
        </p:spPr>
        <p:txBody>
          <a:bodyPr wrap="none" lIns="0" tIns="0" rIns="0" bIns="0" rtlCol="0" anchor="ctr">
            <a:spAutoFit/>
          </a:bodyPr>
          <a:lstStyle/>
          <a:p>
            <a:pPr marL="0" indent="0" algn="ctr">
              <a:buNone/>
            </a:pPr>
            <a:r>
              <a:rPr lang="en-US" sz="1400" dirty="0">
                <a:solidFill>
                  <a:srgbClr val="E8E8E8"/>
                </a:solidFill>
                <a:latin typeface="Noto Sans" pitchFamily="34" charset="0"/>
                <a:ea typeface="Noto Sans" pitchFamily="34" charset="-122"/>
                <a:cs typeface="Noto Sans" pitchFamily="34" charset="-120"/>
              </a:rPr>
              <a:t> Ahmed Essam</a:t>
            </a:r>
            <a:endParaRPr lang="en-US" sz="1400" dirty="0"/>
          </a:p>
        </p:txBody>
      </p:sp>
      <p:sp>
        <p:nvSpPr>
          <p:cNvPr id="9" name="Text 6"/>
          <p:cNvSpPr/>
          <p:nvPr/>
        </p:nvSpPr>
        <p:spPr>
          <a:xfrm>
            <a:off x="4005340" y="3693871"/>
            <a:ext cx="1133324" cy="215444"/>
          </a:xfrm>
          <a:prstGeom prst="rect">
            <a:avLst/>
          </a:prstGeom>
          <a:noFill/>
          <a:ln/>
        </p:spPr>
        <p:txBody>
          <a:bodyPr wrap="none" lIns="0" tIns="0" rIns="0" bIns="0" rtlCol="0" anchor="ctr">
            <a:spAutoFit/>
          </a:bodyPr>
          <a:lstStyle/>
          <a:p>
            <a:pPr marL="0" indent="0" algn="ctr">
              <a:buNone/>
            </a:pPr>
            <a:r>
              <a:rPr lang="en-US" sz="1400" dirty="0">
                <a:solidFill>
                  <a:srgbClr val="E8E8E8"/>
                </a:solidFill>
                <a:latin typeface="Noto Sans" pitchFamily="34" charset="0"/>
                <a:ea typeface="Noto Sans" pitchFamily="34" charset="-122"/>
                <a:cs typeface="Noto Sans" pitchFamily="34" charset="-120"/>
              </a:rPr>
              <a:t> Suhail Kamel</a:t>
            </a:r>
            <a:endParaRPr lang="en-US" sz="1400" dirty="0"/>
          </a:p>
        </p:txBody>
      </p:sp>
      <p:sp>
        <p:nvSpPr>
          <p:cNvPr id="10" name="Text 7"/>
          <p:cNvSpPr/>
          <p:nvPr/>
        </p:nvSpPr>
        <p:spPr>
          <a:xfrm>
            <a:off x="3699166" y="3899589"/>
            <a:ext cx="1745671" cy="215444"/>
          </a:xfrm>
          <a:prstGeom prst="rect">
            <a:avLst/>
          </a:prstGeom>
          <a:noFill/>
          <a:ln/>
        </p:spPr>
        <p:txBody>
          <a:bodyPr wrap="none" lIns="0" tIns="0" rIns="0" bIns="0" rtlCol="0" anchor="ctr">
            <a:spAutoFit/>
          </a:bodyPr>
          <a:lstStyle/>
          <a:p>
            <a:pPr marL="0" indent="0" algn="ctr">
              <a:buNone/>
            </a:pPr>
            <a:r>
              <a:rPr lang="en-US" sz="1400" dirty="0">
                <a:solidFill>
                  <a:srgbClr val="E8E8E8"/>
                </a:solidFill>
                <a:latin typeface="Noto Sans" pitchFamily="34" charset="0"/>
                <a:ea typeface="Noto Sans" pitchFamily="34" charset="-122"/>
                <a:cs typeface="Noto Sans" pitchFamily="34" charset="-120"/>
              </a:rPr>
              <a:t> Yaseen Al-Hammadi</a:t>
            </a:r>
            <a:endParaRPr lang="en-US" sz="1400" dirty="0"/>
          </a:p>
        </p:txBody>
      </p:sp>
      <p:sp>
        <p:nvSpPr>
          <p:cNvPr id="11" name="Text 8"/>
          <p:cNvSpPr/>
          <p:nvPr/>
        </p:nvSpPr>
        <p:spPr>
          <a:xfrm>
            <a:off x="4075857" y="4105306"/>
            <a:ext cx="992259" cy="215444"/>
          </a:xfrm>
          <a:prstGeom prst="rect">
            <a:avLst/>
          </a:prstGeom>
          <a:noFill/>
          <a:ln/>
        </p:spPr>
        <p:txBody>
          <a:bodyPr wrap="none" lIns="0" tIns="0" rIns="0" bIns="0" rtlCol="0" anchor="ctr">
            <a:spAutoFit/>
          </a:bodyPr>
          <a:lstStyle/>
          <a:p>
            <a:pPr marL="0" indent="0" algn="ctr">
              <a:buNone/>
            </a:pPr>
            <a:r>
              <a:rPr lang="en-US" sz="1400" dirty="0">
                <a:solidFill>
                  <a:srgbClr val="E8E8E8"/>
                </a:solidFill>
                <a:latin typeface="Noto Sans" pitchFamily="34" charset="0"/>
                <a:ea typeface="Noto Sans" pitchFamily="34" charset="-122"/>
                <a:cs typeface="Noto Sans" pitchFamily="34" charset="-120"/>
              </a:rPr>
              <a:t> Khalil Hadi </a:t>
            </a:r>
            <a:endParaRPr lang="en-US" sz="1400" dirty="0"/>
          </a:p>
        </p:txBody>
      </p:sp>
      <p:sp>
        <p:nvSpPr>
          <p:cNvPr id="12" name="Text 9"/>
          <p:cNvSpPr/>
          <p:nvPr/>
        </p:nvSpPr>
        <p:spPr>
          <a:xfrm>
            <a:off x="3457913" y="4579807"/>
            <a:ext cx="2228175" cy="215444"/>
          </a:xfrm>
          <a:prstGeom prst="rect">
            <a:avLst/>
          </a:prstGeom>
          <a:noFill/>
          <a:ln/>
        </p:spPr>
        <p:txBody>
          <a:bodyPr wrap="none" lIns="0" tIns="0" rIns="0" bIns="0" rtlCol="0" anchor="ctr">
            <a:spAutoFit/>
          </a:bodyPr>
          <a:lstStyle/>
          <a:p>
            <a:pPr marL="0" indent="0" algn="ctr">
              <a:buNone/>
            </a:pPr>
            <a:r>
              <a:rPr lang="en-US" sz="1400" b="1" dirty="0">
                <a:solidFill>
                  <a:srgbClr val="F39C12"/>
                </a:solidFill>
                <a:latin typeface="Noto Sans" pitchFamily="34" charset="0"/>
                <a:ea typeface="Noto Sans" pitchFamily="34" charset="-122"/>
                <a:cs typeface="Noto Sans" pitchFamily="34" charset="-120"/>
              </a:rPr>
              <a:t>Under the Supervision of</a:t>
            </a:r>
            <a:endParaRPr lang="en-US" sz="1400" dirty="0"/>
          </a:p>
        </p:txBody>
      </p:sp>
      <p:sp>
        <p:nvSpPr>
          <p:cNvPr id="13" name="Text 10"/>
          <p:cNvSpPr/>
          <p:nvPr/>
        </p:nvSpPr>
        <p:spPr>
          <a:xfrm>
            <a:off x="3779316" y="4808407"/>
            <a:ext cx="1585370" cy="215444"/>
          </a:xfrm>
          <a:prstGeom prst="rect">
            <a:avLst/>
          </a:prstGeom>
          <a:noFill/>
          <a:ln/>
        </p:spPr>
        <p:txBody>
          <a:bodyPr wrap="none" lIns="0" tIns="0" rIns="0" bIns="0" rtlCol="0" anchor="ctr">
            <a:spAutoFit/>
          </a:bodyPr>
          <a:lstStyle/>
          <a:p>
            <a:pPr marL="0" indent="0" algn="ctr">
              <a:buNone/>
            </a:pPr>
            <a:r>
              <a:rPr lang="en-US" sz="1400" dirty="0">
                <a:solidFill>
                  <a:srgbClr val="E8E8E8"/>
                </a:solidFill>
                <a:latin typeface="Noto Sans" pitchFamily="34" charset="0"/>
                <a:ea typeface="Noto Sans" pitchFamily="34" charset="-122"/>
                <a:cs typeface="Noto Sans" pitchFamily="34" charset="-120"/>
              </a:rPr>
              <a:t>Dr. Ayman Al-Sabri</a:t>
            </a:r>
            <a:endParaRPr lang="en-US" sz="1400" dirty="0"/>
          </a:p>
        </p:txBody>
      </p:sp>
      <p:sp>
        <p:nvSpPr>
          <p:cNvPr id="14" name="Text 11"/>
          <p:cNvSpPr/>
          <p:nvPr/>
        </p:nvSpPr>
        <p:spPr>
          <a:xfrm>
            <a:off x="4344373" y="5260934"/>
            <a:ext cx="455254" cy="246221"/>
          </a:xfrm>
          <a:prstGeom prst="rect">
            <a:avLst/>
          </a:prstGeom>
          <a:noFill/>
          <a:ln/>
        </p:spPr>
        <p:txBody>
          <a:bodyPr wrap="none" lIns="0" tIns="0" rIns="0" bIns="0" rtlCol="0" anchor="ctr">
            <a:spAutoFit/>
          </a:bodyPr>
          <a:lstStyle/>
          <a:p>
            <a:pPr marL="0" indent="0" algn="ctr">
              <a:buNone/>
            </a:pPr>
            <a:r>
              <a:rPr lang="en-US" sz="1600" b="1" dirty="0">
                <a:solidFill>
                  <a:srgbClr val="F39C12"/>
                </a:solidFill>
                <a:latin typeface="Noto Sans" pitchFamily="34" charset="0"/>
                <a:ea typeface="Noto Sans" pitchFamily="34" charset="-122"/>
                <a:cs typeface="Noto Sans" pitchFamily="34" charset="-120"/>
              </a:rPr>
              <a:t>2026</a:t>
            </a:r>
            <a:endParaRPr lang="en-US" sz="1600" dirty="0"/>
          </a:p>
        </p:txBody>
      </p:sp>
      <p:pic>
        <p:nvPicPr>
          <p:cNvPr id="16" name="Picture 15">
            <a:extLst>
              <a:ext uri="{FF2B5EF4-FFF2-40B4-BE49-F238E27FC236}">
                <a16:creationId xmlns:a16="http://schemas.microsoft.com/office/drawing/2014/main" id="{097ACD8F-F50C-6B5D-377B-7270F7276F3F}"/>
              </a:ext>
            </a:extLst>
          </p:cNvPr>
          <p:cNvPicPr>
            <a:picLocks noChangeAspect="1"/>
          </p:cNvPicPr>
          <p:nvPr/>
        </p:nvPicPr>
        <p:blipFill>
          <a:blip r:embed="rId4"/>
          <a:stretch>
            <a:fillRect/>
          </a:stretch>
        </p:blipFill>
        <p:spPr>
          <a:xfrm>
            <a:off x="214312" y="489719"/>
            <a:ext cx="992260" cy="9922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Table of Contents</a:t>
            </a:r>
            <a:endParaRPr lang="en-US" sz="2700" dirty="0"/>
          </a:p>
        </p:txBody>
      </p:sp>
      <p:sp>
        <p:nvSpPr>
          <p:cNvPr id="4" name="Text 1"/>
          <p:cNvSpPr/>
          <p:nvPr/>
        </p:nvSpPr>
        <p:spPr>
          <a:xfrm>
            <a:off x="571500" y="1451253"/>
            <a:ext cx="339837" cy="369332"/>
          </a:xfrm>
          <a:prstGeom prst="rect">
            <a:avLst/>
          </a:prstGeom>
          <a:noFill/>
          <a:ln/>
        </p:spPr>
        <p:txBody>
          <a:bodyPr wrap="none" lIns="0" tIns="0" rIns="0" bIns="0" rtlCol="0" anchor="ctr">
            <a:spAutoFit/>
          </a:bodyPr>
          <a:lstStyle/>
          <a:p>
            <a:pPr marL="0" indent="0">
              <a:buNone/>
            </a:pPr>
            <a:r>
              <a:rPr lang="en-US" sz="2400" b="1" dirty="0">
                <a:solidFill>
                  <a:srgbClr val="F39C12"/>
                </a:solidFill>
                <a:latin typeface="Noto Sans" pitchFamily="34" charset="0"/>
                <a:ea typeface="Noto Sans" pitchFamily="34" charset="-122"/>
                <a:cs typeface="Noto Sans" pitchFamily="34" charset="-120"/>
              </a:rPr>
              <a:t>01</a:t>
            </a:r>
            <a:endParaRPr lang="en-US" sz="2400" dirty="0"/>
          </a:p>
        </p:txBody>
      </p:sp>
      <p:sp>
        <p:nvSpPr>
          <p:cNvPr id="5" name="Text 2"/>
          <p:cNvSpPr/>
          <p:nvPr/>
        </p:nvSpPr>
        <p:spPr>
          <a:xfrm>
            <a:off x="1071563" y="1503136"/>
            <a:ext cx="1473160" cy="276999"/>
          </a:xfrm>
          <a:prstGeom prst="rect">
            <a:avLst/>
          </a:prstGeom>
          <a:noFill/>
          <a:ln/>
        </p:spPr>
        <p:txBody>
          <a:bodyPr wrap="none" lIns="0" tIns="0" rIns="0" bIns="0" rtlCol="0" anchor="ctr">
            <a:spAutoFit/>
          </a:bodyPr>
          <a:lstStyle/>
          <a:p>
            <a:pPr marL="0" indent="0">
              <a:buNone/>
            </a:pPr>
            <a:r>
              <a:rPr lang="en-US" b="1" dirty="0">
                <a:solidFill>
                  <a:srgbClr val="1A3A52"/>
                </a:solidFill>
                <a:latin typeface="Noto Sans" pitchFamily="34" charset="0"/>
                <a:ea typeface="Noto Sans" pitchFamily="34" charset="-122"/>
                <a:cs typeface="Noto Sans" pitchFamily="34" charset="-120"/>
              </a:rPr>
              <a:t>Introduction</a:t>
            </a:r>
            <a:endParaRPr lang="en-US" dirty="0"/>
          </a:p>
        </p:txBody>
      </p:sp>
      <p:sp>
        <p:nvSpPr>
          <p:cNvPr id="7" name="Text 4"/>
          <p:cNvSpPr/>
          <p:nvPr/>
        </p:nvSpPr>
        <p:spPr>
          <a:xfrm>
            <a:off x="4714875" y="1451253"/>
            <a:ext cx="339837" cy="369332"/>
          </a:xfrm>
          <a:prstGeom prst="rect">
            <a:avLst/>
          </a:prstGeom>
          <a:noFill/>
          <a:ln/>
        </p:spPr>
        <p:txBody>
          <a:bodyPr wrap="none" lIns="0" tIns="0" rIns="0" bIns="0" rtlCol="0" anchor="ctr">
            <a:spAutoFit/>
          </a:bodyPr>
          <a:lstStyle/>
          <a:p>
            <a:pPr marL="0" indent="0">
              <a:buNone/>
            </a:pPr>
            <a:r>
              <a:rPr lang="en-US" sz="2400" b="1" dirty="0">
                <a:solidFill>
                  <a:srgbClr val="F39C12"/>
                </a:solidFill>
                <a:latin typeface="Noto Sans" pitchFamily="34" charset="0"/>
                <a:ea typeface="Noto Sans" pitchFamily="34" charset="-122"/>
                <a:cs typeface="Noto Sans" pitchFamily="34" charset="-120"/>
              </a:rPr>
              <a:t>02</a:t>
            </a:r>
            <a:endParaRPr lang="en-US" sz="2400" dirty="0"/>
          </a:p>
        </p:txBody>
      </p:sp>
      <p:sp>
        <p:nvSpPr>
          <p:cNvPr id="8" name="Text 5"/>
          <p:cNvSpPr/>
          <p:nvPr/>
        </p:nvSpPr>
        <p:spPr>
          <a:xfrm>
            <a:off x="5214938" y="1495516"/>
            <a:ext cx="2643352" cy="276999"/>
          </a:xfrm>
          <a:prstGeom prst="rect">
            <a:avLst/>
          </a:prstGeom>
          <a:noFill/>
          <a:ln/>
        </p:spPr>
        <p:txBody>
          <a:bodyPr wrap="none" lIns="0" tIns="0" rIns="0" bIns="0" rtlCol="0" anchor="ctr">
            <a:spAutoFit/>
          </a:bodyPr>
          <a:lstStyle/>
          <a:p>
            <a:pPr marL="0" indent="0">
              <a:buNone/>
            </a:pPr>
            <a:r>
              <a:rPr lang="en-US" b="1" dirty="0">
                <a:solidFill>
                  <a:srgbClr val="1A3A52"/>
                </a:solidFill>
                <a:latin typeface="Noto Sans" pitchFamily="34" charset="0"/>
                <a:ea typeface="Noto Sans" pitchFamily="34" charset="-122"/>
                <a:cs typeface="Noto Sans" pitchFamily="34" charset="-120"/>
              </a:rPr>
              <a:t>Research Methodology</a:t>
            </a:r>
            <a:endParaRPr lang="en-US" dirty="0"/>
          </a:p>
        </p:txBody>
      </p:sp>
      <p:sp>
        <p:nvSpPr>
          <p:cNvPr id="10" name="Text 7"/>
          <p:cNvSpPr/>
          <p:nvPr/>
        </p:nvSpPr>
        <p:spPr>
          <a:xfrm>
            <a:off x="571500" y="2637115"/>
            <a:ext cx="339837" cy="369332"/>
          </a:xfrm>
          <a:prstGeom prst="rect">
            <a:avLst/>
          </a:prstGeom>
          <a:noFill/>
          <a:ln/>
        </p:spPr>
        <p:txBody>
          <a:bodyPr wrap="none" lIns="0" tIns="0" rIns="0" bIns="0" rtlCol="0" anchor="ctr">
            <a:spAutoFit/>
          </a:bodyPr>
          <a:lstStyle/>
          <a:p>
            <a:pPr marL="0" indent="0">
              <a:buNone/>
            </a:pPr>
            <a:r>
              <a:rPr lang="en-US" sz="2400" b="1" dirty="0">
                <a:solidFill>
                  <a:srgbClr val="F39C12"/>
                </a:solidFill>
                <a:latin typeface="Noto Sans" pitchFamily="34" charset="0"/>
                <a:ea typeface="Noto Sans" pitchFamily="34" charset="-122"/>
                <a:cs typeface="Noto Sans" pitchFamily="34" charset="-120"/>
              </a:rPr>
              <a:t>03</a:t>
            </a:r>
            <a:endParaRPr lang="en-US" sz="2400" dirty="0"/>
          </a:p>
        </p:txBody>
      </p:sp>
      <p:sp>
        <p:nvSpPr>
          <p:cNvPr id="11" name="Text 8"/>
          <p:cNvSpPr/>
          <p:nvPr/>
        </p:nvSpPr>
        <p:spPr>
          <a:xfrm>
            <a:off x="1071563" y="2688998"/>
            <a:ext cx="3262111" cy="276999"/>
          </a:xfrm>
          <a:prstGeom prst="rect">
            <a:avLst/>
          </a:prstGeom>
          <a:noFill/>
          <a:ln/>
        </p:spPr>
        <p:txBody>
          <a:bodyPr wrap="none" lIns="0" tIns="0" rIns="0" bIns="0" rtlCol="0" anchor="ctr">
            <a:spAutoFit/>
          </a:bodyPr>
          <a:lstStyle/>
          <a:p>
            <a:pPr marL="0" indent="0">
              <a:buNone/>
            </a:pPr>
            <a:r>
              <a:rPr lang="en-US" b="1" dirty="0">
                <a:solidFill>
                  <a:srgbClr val="1A3A52"/>
                </a:solidFill>
                <a:latin typeface="Noto Sans" pitchFamily="34" charset="0"/>
                <a:ea typeface="Noto Sans" pitchFamily="34" charset="-122"/>
                <a:cs typeface="Noto Sans" pitchFamily="34" charset="-120"/>
              </a:rPr>
              <a:t>Model Training &amp; Evaluation</a:t>
            </a:r>
            <a:endParaRPr lang="en-US" dirty="0"/>
          </a:p>
        </p:txBody>
      </p:sp>
      <p:sp>
        <p:nvSpPr>
          <p:cNvPr id="13" name="Text 10"/>
          <p:cNvSpPr/>
          <p:nvPr/>
        </p:nvSpPr>
        <p:spPr>
          <a:xfrm>
            <a:off x="4714875" y="2637115"/>
            <a:ext cx="339837" cy="369332"/>
          </a:xfrm>
          <a:prstGeom prst="rect">
            <a:avLst/>
          </a:prstGeom>
          <a:noFill/>
          <a:ln/>
        </p:spPr>
        <p:txBody>
          <a:bodyPr wrap="none" lIns="0" tIns="0" rIns="0" bIns="0" rtlCol="0" anchor="ctr">
            <a:spAutoFit/>
          </a:bodyPr>
          <a:lstStyle/>
          <a:p>
            <a:pPr marL="0" indent="0">
              <a:buNone/>
            </a:pPr>
            <a:r>
              <a:rPr lang="en-US" sz="2400" b="1" dirty="0">
                <a:solidFill>
                  <a:srgbClr val="F39C12"/>
                </a:solidFill>
                <a:latin typeface="Noto Sans" pitchFamily="34" charset="0"/>
                <a:ea typeface="Noto Sans" pitchFamily="34" charset="-122"/>
                <a:cs typeface="Noto Sans" pitchFamily="34" charset="-120"/>
              </a:rPr>
              <a:t>04</a:t>
            </a:r>
            <a:endParaRPr lang="en-US" sz="2400" dirty="0"/>
          </a:p>
        </p:txBody>
      </p:sp>
      <p:sp>
        <p:nvSpPr>
          <p:cNvPr id="14" name="Text 11"/>
          <p:cNvSpPr/>
          <p:nvPr/>
        </p:nvSpPr>
        <p:spPr>
          <a:xfrm>
            <a:off x="5214938" y="2688998"/>
            <a:ext cx="2786019" cy="276999"/>
          </a:xfrm>
          <a:prstGeom prst="rect">
            <a:avLst/>
          </a:prstGeom>
          <a:noFill/>
          <a:ln/>
        </p:spPr>
        <p:txBody>
          <a:bodyPr wrap="none" lIns="0" tIns="0" rIns="0" bIns="0" rtlCol="0" anchor="ctr">
            <a:spAutoFit/>
          </a:bodyPr>
          <a:lstStyle/>
          <a:p>
            <a:pPr marL="0" indent="0">
              <a:buNone/>
            </a:pPr>
            <a:r>
              <a:rPr lang="en-US" b="1" dirty="0">
                <a:solidFill>
                  <a:srgbClr val="1A3A52"/>
                </a:solidFill>
                <a:latin typeface="Noto Sans" pitchFamily="34" charset="0"/>
                <a:ea typeface="Noto Sans" pitchFamily="34" charset="-122"/>
                <a:cs typeface="Noto Sans" pitchFamily="34" charset="-120"/>
              </a:rPr>
              <a:t>System Implementation</a:t>
            </a:r>
            <a:endParaRPr lang="en-US" dirty="0"/>
          </a:p>
        </p:txBody>
      </p:sp>
      <p:sp>
        <p:nvSpPr>
          <p:cNvPr id="16" name="Text 13"/>
          <p:cNvSpPr/>
          <p:nvPr/>
        </p:nvSpPr>
        <p:spPr>
          <a:xfrm>
            <a:off x="571500" y="3822978"/>
            <a:ext cx="339837" cy="369332"/>
          </a:xfrm>
          <a:prstGeom prst="rect">
            <a:avLst/>
          </a:prstGeom>
          <a:noFill/>
          <a:ln/>
        </p:spPr>
        <p:txBody>
          <a:bodyPr wrap="none" lIns="0" tIns="0" rIns="0" bIns="0" rtlCol="0" anchor="ctr">
            <a:spAutoFit/>
          </a:bodyPr>
          <a:lstStyle/>
          <a:p>
            <a:pPr marL="0" indent="0">
              <a:buNone/>
            </a:pPr>
            <a:r>
              <a:rPr lang="en-US" sz="2400" b="1" dirty="0">
                <a:solidFill>
                  <a:srgbClr val="F39C12"/>
                </a:solidFill>
                <a:latin typeface="Noto Sans" pitchFamily="34" charset="0"/>
                <a:ea typeface="Noto Sans" pitchFamily="34" charset="-122"/>
                <a:cs typeface="Noto Sans" pitchFamily="34" charset="-120"/>
              </a:rPr>
              <a:t>05</a:t>
            </a:r>
            <a:endParaRPr lang="en-US" sz="2400" dirty="0"/>
          </a:p>
        </p:txBody>
      </p:sp>
      <p:sp>
        <p:nvSpPr>
          <p:cNvPr id="17" name="Text 14"/>
          <p:cNvSpPr/>
          <p:nvPr/>
        </p:nvSpPr>
        <p:spPr>
          <a:xfrm>
            <a:off x="1071563" y="3874861"/>
            <a:ext cx="3000821" cy="276999"/>
          </a:xfrm>
          <a:prstGeom prst="rect">
            <a:avLst/>
          </a:prstGeom>
          <a:noFill/>
          <a:ln/>
        </p:spPr>
        <p:txBody>
          <a:bodyPr wrap="none" lIns="0" tIns="0" rIns="0" bIns="0" rtlCol="0" anchor="ctr">
            <a:spAutoFit/>
          </a:bodyPr>
          <a:lstStyle/>
          <a:p>
            <a:pPr marL="0" indent="0">
              <a:buNone/>
            </a:pPr>
            <a:r>
              <a:rPr lang="en-US" b="1" dirty="0">
                <a:solidFill>
                  <a:srgbClr val="1A3A52"/>
                </a:solidFill>
                <a:latin typeface="Noto Sans" pitchFamily="34" charset="0"/>
                <a:ea typeface="Noto Sans" pitchFamily="34" charset="-122"/>
                <a:cs typeface="Noto Sans" pitchFamily="34" charset="-120"/>
              </a:rPr>
              <a:t>Conclusion &amp; Future Work</a:t>
            </a:r>
            <a:endParaRPr lang="en-US" dirty="0"/>
          </a:p>
        </p:txBody>
      </p:sp>
      <p:pic>
        <p:nvPicPr>
          <p:cNvPr id="6" name="Picture 5">
            <a:extLst>
              <a:ext uri="{FF2B5EF4-FFF2-40B4-BE49-F238E27FC236}">
                <a16:creationId xmlns:a16="http://schemas.microsoft.com/office/drawing/2014/main" id="{85653A15-C452-B77E-3CAE-15907AE95B63}"/>
              </a:ext>
            </a:extLst>
          </p:cNvPr>
          <p:cNvPicPr>
            <a:picLocks noChangeAspect="1"/>
          </p:cNvPicPr>
          <p:nvPr/>
        </p:nvPicPr>
        <p:blipFill>
          <a:blip r:embed="rId4"/>
          <a:stretch>
            <a:fillRect/>
          </a:stretch>
        </p:blipFill>
        <p:spPr>
          <a:xfrm>
            <a:off x="7994233" y="-59435"/>
            <a:ext cx="1141859" cy="114185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26355"/>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01 Introduction</a:t>
            </a:r>
            <a:endParaRPr lang="en-US" sz="2700" dirty="0"/>
          </a:p>
        </p:txBody>
      </p:sp>
      <p:sp>
        <p:nvSpPr>
          <p:cNvPr id="4" name="Text 1"/>
          <p:cNvSpPr/>
          <p:nvPr/>
        </p:nvSpPr>
        <p:spPr>
          <a:xfrm>
            <a:off x="571500" y="1502456"/>
            <a:ext cx="1090042" cy="215444"/>
          </a:xfrm>
          <a:prstGeom prst="rect">
            <a:avLst/>
          </a:prstGeom>
          <a:noFill/>
          <a:ln/>
        </p:spPr>
        <p:txBody>
          <a:bodyPr wrap="none" lIns="0" tIns="0" rIns="0" bIns="0" rtlCol="0" anchor="ctr">
            <a:spAutoFit/>
          </a:bodyPr>
          <a:lstStyle/>
          <a:p>
            <a:pPr marL="0" indent="0">
              <a:buNone/>
            </a:pPr>
            <a:r>
              <a:rPr lang="en-US" sz="1400" b="1" dirty="0">
                <a:solidFill>
                  <a:srgbClr val="F39C12"/>
                </a:solidFill>
                <a:latin typeface="Noto Sans" pitchFamily="34" charset="0"/>
                <a:ea typeface="Noto Sans" pitchFamily="34" charset="-122"/>
                <a:cs typeface="Noto Sans" pitchFamily="34" charset="-120"/>
              </a:rPr>
              <a:t>Background</a:t>
            </a:r>
            <a:endParaRPr lang="en-US" sz="1400" dirty="0"/>
          </a:p>
        </p:txBody>
      </p:sp>
      <p:sp>
        <p:nvSpPr>
          <p:cNvPr id="5" name="Text 2"/>
          <p:cNvSpPr/>
          <p:nvPr/>
        </p:nvSpPr>
        <p:spPr>
          <a:xfrm>
            <a:off x="571501" y="1883576"/>
            <a:ext cx="7779124" cy="323165"/>
          </a:xfrm>
          <a:prstGeom prst="rect">
            <a:avLst/>
          </a:prstGeom>
          <a:noFill/>
          <a:ln/>
        </p:spPr>
        <p:txBody>
          <a:bodyPr wrap="square" lIns="0" tIns="0" rIns="0" bIns="0" rtlCol="0" anchor="ctr">
            <a:spAutoFit/>
          </a:bodyPr>
          <a:lstStyle/>
          <a:p>
            <a:r>
              <a:rPr lang="en-US" sz="1050" b="1" dirty="0">
                <a:solidFill>
                  <a:schemeClr val="accent1">
                    <a:lumMod val="75000"/>
                  </a:schemeClr>
                </a:solidFill>
                <a:latin typeface="Noto Sans" panose="020B0502040504020204" pitchFamily="34" charset="0"/>
                <a:ea typeface="Noto Sans" panose="020B0502040504020204" pitchFamily="34" charset="0"/>
                <a:cs typeface="Noto Sans" panose="020B0502040504020204" pitchFamily="34" charset="0"/>
              </a:rPr>
              <a:t>Fungal infections </a:t>
            </a:r>
            <a:r>
              <a:rPr lang="en-US" sz="1050" dirty="0">
                <a:solidFill>
                  <a:srgbClr val="34495E"/>
                </a:solidFill>
                <a:latin typeface="Noto Sans" panose="020B0502040504020204" pitchFamily="34" charset="0"/>
                <a:ea typeface="Noto Sans" panose="020B0502040504020204" pitchFamily="34" charset="0"/>
                <a:cs typeface="Noto Sans" panose="020B0502040504020204" pitchFamily="34" charset="0"/>
              </a:rPr>
              <a:t>are a significant global health challenge. The traditional, conventional methods for diagnosing them are often slow and, unfortunately, can be inaccurate</a:t>
            </a:r>
            <a:r>
              <a:rPr lang="en-US" sz="1050" dirty="0">
                <a:latin typeface="Noto Sans" panose="020B0502040504020204" pitchFamily="34" charset="0"/>
                <a:ea typeface="Noto Sans" panose="020B0502040504020204" pitchFamily="34" charset="0"/>
                <a:cs typeface="Noto Sans" panose="020B0502040504020204" pitchFamily="34" charset="0"/>
              </a:rPr>
              <a:t>.</a:t>
            </a:r>
          </a:p>
        </p:txBody>
      </p:sp>
      <p:sp>
        <p:nvSpPr>
          <p:cNvPr id="16" name="Text 13"/>
          <p:cNvSpPr/>
          <p:nvPr/>
        </p:nvSpPr>
        <p:spPr>
          <a:xfrm>
            <a:off x="571500" y="3121165"/>
            <a:ext cx="1227900" cy="215444"/>
          </a:xfrm>
          <a:prstGeom prst="rect">
            <a:avLst/>
          </a:prstGeom>
          <a:noFill/>
          <a:ln/>
        </p:spPr>
        <p:txBody>
          <a:bodyPr wrap="none" lIns="0" tIns="0" rIns="0" bIns="0" rtlCol="0" anchor="ctr">
            <a:spAutoFit/>
          </a:bodyPr>
          <a:lstStyle/>
          <a:p>
            <a:pPr marL="0" indent="0">
              <a:buNone/>
            </a:pPr>
            <a:r>
              <a:rPr lang="en-US" sz="1400" b="1" dirty="0">
                <a:solidFill>
                  <a:srgbClr val="F39C12"/>
                </a:solidFill>
                <a:latin typeface="Noto Sans" pitchFamily="34" charset="0"/>
                <a:ea typeface="Noto Sans" pitchFamily="34" charset="-122"/>
                <a:cs typeface="Noto Sans" pitchFamily="34" charset="-120"/>
              </a:rPr>
              <a:t>Project Vision</a:t>
            </a:r>
            <a:endParaRPr lang="en-US" sz="1400" dirty="0"/>
          </a:p>
        </p:txBody>
      </p:sp>
      <p:sp>
        <p:nvSpPr>
          <p:cNvPr id="17" name="Text 14"/>
          <p:cNvSpPr/>
          <p:nvPr/>
        </p:nvSpPr>
        <p:spPr>
          <a:xfrm>
            <a:off x="571500" y="3494434"/>
            <a:ext cx="2744341"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This project aims to design and develop an </a:t>
            </a:r>
            <a:endParaRPr lang="en-US" sz="1050" dirty="0"/>
          </a:p>
        </p:txBody>
      </p:sp>
      <p:sp>
        <p:nvSpPr>
          <p:cNvPr id="18" name="Text 15"/>
          <p:cNvSpPr/>
          <p:nvPr/>
        </p:nvSpPr>
        <p:spPr>
          <a:xfrm>
            <a:off x="3303372" y="3494434"/>
            <a:ext cx="3201197" cy="161583"/>
          </a:xfrm>
          <a:prstGeom prst="rect">
            <a:avLst/>
          </a:prstGeom>
          <a:noFill/>
          <a:ln/>
        </p:spPr>
        <p:txBody>
          <a:bodyPr wrap="none" lIns="0" tIns="0" rIns="0" bIns="0" rtlCol="0" anchor="ctr">
            <a:spAutoFit/>
          </a:bodyPr>
          <a:lstStyle/>
          <a:p>
            <a:pPr marL="0" indent="0">
              <a:buNone/>
            </a:pPr>
            <a:r>
              <a:rPr lang="en-US" sz="1050" b="1" dirty="0">
                <a:solidFill>
                  <a:srgbClr val="2E5090"/>
                </a:solidFill>
                <a:latin typeface="Noto Sans" pitchFamily="34" charset="0"/>
                <a:ea typeface="Noto Sans" pitchFamily="34" charset="-122"/>
                <a:cs typeface="Noto Sans" pitchFamily="34" charset="-120"/>
              </a:rPr>
              <a:t>AI-based system for detecting fungal infections</a:t>
            </a:r>
            <a:endParaRPr lang="en-US" sz="1050" dirty="0"/>
          </a:p>
        </p:txBody>
      </p:sp>
      <p:sp>
        <p:nvSpPr>
          <p:cNvPr id="19" name="Text 16"/>
          <p:cNvSpPr/>
          <p:nvPr/>
        </p:nvSpPr>
        <p:spPr>
          <a:xfrm>
            <a:off x="6509435" y="3494434"/>
            <a:ext cx="2063065"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through the analysis of medical </a:t>
            </a:r>
            <a:endParaRPr lang="en-US" sz="1050" dirty="0"/>
          </a:p>
        </p:txBody>
      </p:sp>
      <p:sp>
        <p:nvSpPr>
          <p:cNvPr id="20" name="Text 17"/>
          <p:cNvSpPr/>
          <p:nvPr/>
        </p:nvSpPr>
        <p:spPr>
          <a:xfrm>
            <a:off x="571500" y="3725880"/>
            <a:ext cx="8056693"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images. By integrating the AI inference model with a Flutter-based mobile application and Flask middleware server, the system </a:t>
            </a:r>
            <a:endParaRPr lang="en-US" sz="1050" dirty="0"/>
          </a:p>
        </p:txBody>
      </p:sp>
      <p:sp>
        <p:nvSpPr>
          <p:cNvPr id="21" name="Text 18"/>
          <p:cNvSpPr/>
          <p:nvPr/>
        </p:nvSpPr>
        <p:spPr>
          <a:xfrm>
            <a:off x="571500" y="3957326"/>
            <a:ext cx="777457"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provides an </a:t>
            </a:r>
            <a:endParaRPr lang="en-US" sz="1050" dirty="0"/>
          </a:p>
        </p:txBody>
      </p:sp>
      <p:sp>
        <p:nvSpPr>
          <p:cNvPr id="22" name="Text 19"/>
          <p:cNvSpPr/>
          <p:nvPr/>
        </p:nvSpPr>
        <p:spPr>
          <a:xfrm>
            <a:off x="1375105" y="3957326"/>
            <a:ext cx="2418932" cy="161583"/>
          </a:xfrm>
          <a:prstGeom prst="rect">
            <a:avLst/>
          </a:prstGeom>
          <a:noFill/>
          <a:ln/>
        </p:spPr>
        <p:txBody>
          <a:bodyPr wrap="none" lIns="0" tIns="0" rIns="0" bIns="0" rtlCol="0" anchor="ctr">
            <a:spAutoFit/>
          </a:bodyPr>
          <a:lstStyle/>
          <a:p>
            <a:pPr marL="0" indent="0">
              <a:buNone/>
            </a:pPr>
            <a:r>
              <a:rPr lang="en-US" sz="1050" b="1" dirty="0">
                <a:solidFill>
                  <a:srgbClr val="2E5090"/>
                </a:solidFill>
                <a:latin typeface="Noto Sans" pitchFamily="34" charset="0"/>
                <a:ea typeface="Noto Sans" pitchFamily="34" charset="-122"/>
                <a:cs typeface="Noto Sans" pitchFamily="34" charset="-120"/>
              </a:rPr>
              <a:t>accessible, real-time diagnostic tool</a:t>
            </a:r>
            <a:endParaRPr lang="en-US" sz="1050" dirty="0"/>
          </a:p>
        </p:txBody>
      </p:sp>
      <p:sp>
        <p:nvSpPr>
          <p:cNvPr id="23" name="Text 20"/>
          <p:cNvSpPr/>
          <p:nvPr/>
        </p:nvSpPr>
        <p:spPr>
          <a:xfrm>
            <a:off x="3824360" y="3957326"/>
            <a:ext cx="1880323"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for healthcare professionals. </a:t>
            </a:r>
            <a:endParaRPr lang="en-US" sz="1050" dirty="0"/>
          </a:p>
        </p:txBody>
      </p:sp>
      <p:pic>
        <p:nvPicPr>
          <p:cNvPr id="10" name="Picture 9">
            <a:extLst>
              <a:ext uri="{FF2B5EF4-FFF2-40B4-BE49-F238E27FC236}">
                <a16:creationId xmlns:a16="http://schemas.microsoft.com/office/drawing/2014/main" id="{B1DBB107-884C-09A8-1782-7A6E7C9B31DC}"/>
              </a:ext>
            </a:extLst>
          </p:cNvPr>
          <p:cNvPicPr>
            <a:picLocks noChangeAspect="1"/>
          </p:cNvPicPr>
          <p:nvPr/>
        </p:nvPicPr>
        <p:blipFill>
          <a:blip r:embed="rId4"/>
          <a:stretch>
            <a:fillRect/>
          </a:stretch>
        </p:blipFill>
        <p:spPr>
          <a:xfrm>
            <a:off x="7994233" y="-45987"/>
            <a:ext cx="1141859" cy="1141859"/>
          </a:xfrm>
          <a:prstGeom prst="rect">
            <a:avLst/>
          </a:prstGeom>
        </p:spPr>
      </p:pic>
      <p:sp>
        <p:nvSpPr>
          <p:cNvPr id="11" name="Text 2">
            <a:extLst>
              <a:ext uri="{FF2B5EF4-FFF2-40B4-BE49-F238E27FC236}">
                <a16:creationId xmlns:a16="http://schemas.microsoft.com/office/drawing/2014/main" id="{7A1353CB-9D0D-F760-92CB-698EAE1E8580}"/>
              </a:ext>
            </a:extLst>
          </p:cNvPr>
          <p:cNvSpPr/>
          <p:nvPr/>
        </p:nvSpPr>
        <p:spPr>
          <a:xfrm>
            <a:off x="571501" y="2366504"/>
            <a:ext cx="7692824" cy="323165"/>
          </a:xfrm>
          <a:prstGeom prst="rect">
            <a:avLst/>
          </a:prstGeom>
          <a:noFill/>
          <a:ln/>
        </p:spPr>
        <p:txBody>
          <a:bodyPr wrap="square" lIns="0" tIns="0" rIns="0" bIns="0" rtlCol="0" anchor="ctr">
            <a:spAutoFit/>
          </a:bodyPr>
          <a:lstStyle/>
          <a:p>
            <a:r>
              <a:rPr lang="en-US" sz="1050" dirty="0">
                <a:solidFill>
                  <a:srgbClr val="34495E"/>
                </a:solidFill>
                <a:latin typeface="Noto Sans" pitchFamily="34" charset="0"/>
                <a:ea typeface="Noto Sans" pitchFamily="34" charset="-122"/>
                <a:cs typeface="Noto Sans" pitchFamily="34" charset="-120"/>
              </a:rPr>
              <a:t>A delayed or inaccurate diagnosis isn't just an inconvenience; it can lead to serious complications and make treatment much more difficult. This highlights an urgent need for more modern and effective solutions.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24227"/>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Motivation &amp; Problem Statement</a:t>
            </a:r>
            <a:endParaRPr lang="en-US" sz="2700" dirty="0"/>
          </a:p>
        </p:txBody>
      </p:sp>
      <p:sp>
        <p:nvSpPr>
          <p:cNvPr id="4" name="Text 1"/>
          <p:cNvSpPr/>
          <p:nvPr/>
        </p:nvSpPr>
        <p:spPr>
          <a:xfrm>
            <a:off x="571500" y="1361688"/>
            <a:ext cx="1269578" cy="276999"/>
          </a:xfrm>
          <a:prstGeom prst="rect">
            <a:avLst/>
          </a:prstGeom>
          <a:noFill/>
          <a:ln/>
        </p:spPr>
        <p:txBody>
          <a:bodyPr wrap="none" lIns="0" tIns="0" rIns="0" bIns="0" rtlCol="0" anchor="ctr">
            <a:spAutoFit/>
          </a:bodyPr>
          <a:lstStyle/>
          <a:p>
            <a:pPr marL="0" indent="0">
              <a:buNone/>
            </a:pPr>
            <a:r>
              <a:rPr lang="en-US" b="1" dirty="0">
                <a:solidFill>
                  <a:srgbClr val="2E5090"/>
                </a:solidFill>
                <a:latin typeface="Noto Sans" pitchFamily="34" charset="0"/>
                <a:ea typeface="Noto Sans" pitchFamily="34" charset="-122"/>
                <a:cs typeface="Noto Sans" pitchFamily="34" charset="-120"/>
              </a:rPr>
              <a:t>Motivation</a:t>
            </a:r>
            <a:endParaRPr lang="en-US" dirty="0"/>
          </a:p>
        </p:txBody>
      </p:sp>
      <p:sp>
        <p:nvSpPr>
          <p:cNvPr id="5" name="Text 2"/>
          <p:cNvSpPr/>
          <p:nvPr/>
        </p:nvSpPr>
        <p:spPr>
          <a:xfrm>
            <a:off x="571500" y="1823730"/>
            <a:ext cx="1627048"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Global Health Challenge</a:t>
            </a:r>
            <a:endParaRPr lang="en-US" sz="1050" dirty="0"/>
          </a:p>
        </p:txBody>
      </p:sp>
      <p:sp>
        <p:nvSpPr>
          <p:cNvPr id="6" name="Text 3"/>
          <p:cNvSpPr/>
          <p:nvPr/>
        </p:nvSpPr>
        <p:spPr>
          <a:xfrm>
            <a:off x="571500" y="2072813"/>
            <a:ext cx="3821906" cy="307777"/>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Fungal infections affect millions worldwide and are often difficult to diagnose accurately using conventional methods.</a:t>
            </a:r>
            <a:endParaRPr lang="en-US" sz="1000" dirty="0"/>
          </a:p>
        </p:txBody>
      </p:sp>
      <p:sp>
        <p:nvSpPr>
          <p:cNvPr id="7" name="Text 4"/>
          <p:cNvSpPr/>
          <p:nvPr/>
        </p:nvSpPr>
        <p:spPr>
          <a:xfrm>
            <a:off x="571500" y="2568103"/>
            <a:ext cx="1197444"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Diagnostic Delays</a:t>
            </a:r>
            <a:endParaRPr lang="en-US" sz="1050" dirty="0"/>
          </a:p>
        </p:txBody>
      </p:sp>
      <p:sp>
        <p:nvSpPr>
          <p:cNvPr id="8" name="Text 5"/>
          <p:cNvSpPr/>
          <p:nvPr/>
        </p:nvSpPr>
        <p:spPr>
          <a:xfrm>
            <a:off x="571500" y="2831326"/>
            <a:ext cx="3821906" cy="461665"/>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Traditional diagnostic methods require specialized laboratory tests and considerable time, leading to delayed treatment and increased complications.</a:t>
            </a:r>
            <a:endParaRPr lang="en-US" sz="1000" dirty="0"/>
          </a:p>
        </p:txBody>
      </p:sp>
      <p:sp>
        <p:nvSpPr>
          <p:cNvPr id="9" name="Text 6"/>
          <p:cNvSpPr/>
          <p:nvPr/>
        </p:nvSpPr>
        <p:spPr>
          <a:xfrm>
            <a:off x="571500" y="3494642"/>
            <a:ext cx="1112484"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AI Advancement</a:t>
            </a:r>
            <a:endParaRPr lang="en-US" sz="1050" dirty="0"/>
          </a:p>
        </p:txBody>
      </p:sp>
      <p:sp>
        <p:nvSpPr>
          <p:cNvPr id="10" name="Text 7"/>
          <p:cNvSpPr/>
          <p:nvPr/>
        </p:nvSpPr>
        <p:spPr>
          <a:xfrm>
            <a:off x="571500" y="3666781"/>
            <a:ext cx="3821906" cy="461665"/>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Deep learning has demonstrated exceptional capability in medical image analysis, enabling rapid and accurate disease detection.</a:t>
            </a:r>
            <a:endParaRPr lang="en-US" sz="1000" dirty="0"/>
          </a:p>
        </p:txBody>
      </p:sp>
      <p:sp>
        <p:nvSpPr>
          <p:cNvPr id="11" name="Text 8"/>
          <p:cNvSpPr/>
          <p:nvPr/>
        </p:nvSpPr>
        <p:spPr>
          <a:xfrm>
            <a:off x="571500" y="4239015"/>
            <a:ext cx="1131720"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Accessibility Gap</a:t>
            </a:r>
            <a:endParaRPr lang="en-US" sz="1050" dirty="0"/>
          </a:p>
        </p:txBody>
      </p:sp>
      <p:sp>
        <p:nvSpPr>
          <p:cNvPr id="12" name="Text 9"/>
          <p:cNvSpPr/>
          <p:nvPr/>
        </p:nvSpPr>
        <p:spPr>
          <a:xfrm>
            <a:off x="571500" y="4488098"/>
            <a:ext cx="3821906" cy="307777"/>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Many regions lack access to specialized dermatologists, making an accessible AI diagnostic tool essential for healthcare equity.</a:t>
            </a:r>
            <a:endParaRPr lang="en-US" sz="1000" dirty="0"/>
          </a:p>
        </p:txBody>
      </p:sp>
      <p:sp>
        <p:nvSpPr>
          <p:cNvPr id="13" name="Text 10"/>
          <p:cNvSpPr/>
          <p:nvPr/>
        </p:nvSpPr>
        <p:spPr>
          <a:xfrm>
            <a:off x="4750594" y="1452771"/>
            <a:ext cx="2249014" cy="276999"/>
          </a:xfrm>
          <a:prstGeom prst="rect">
            <a:avLst/>
          </a:prstGeom>
          <a:noFill/>
          <a:ln/>
        </p:spPr>
        <p:txBody>
          <a:bodyPr wrap="none" lIns="0" tIns="0" rIns="0" bIns="0" rtlCol="0" anchor="ctr">
            <a:spAutoFit/>
          </a:bodyPr>
          <a:lstStyle/>
          <a:p>
            <a:pPr marL="0" indent="0">
              <a:buNone/>
            </a:pPr>
            <a:r>
              <a:rPr lang="en-US" b="1" dirty="0">
                <a:solidFill>
                  <a:srgbClr val="2E5090"/>
                </a:solidFill>
                <a:latin typeface="Noto Sans" pitchFamily="34" charset="0"/>
                <a:ea typeface="Noto Sans" pitchFamily="34" charset="-122"/>
                <a:cs typeface="Noto Sans" pitchFamily="34" charset="-120"/>
              </a:rPr>
              <a:t>Problem Statement</a:t>
            </a:r>
            <a:endParaRPr lang="en-US" dirty="0"/>
          </a:p>
        </p:txBody>
      </p:sp>
      <p:sp>
        <p:nvSpPr>
          <p:cNvPr id="14" name="Text 11"/>
          <p:cNvSpPr/>
          <p:nvPr/>
        </p:nvSpPr>
        <p:spPr>
          <a:xfrm>
            <a:off x="4750594" y="1914813"/>
            <a:ext cx="1420261"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Inaccurate Diagnosis</a:t>
            </a:r>
            <a:endParaRPr lang="en-US" sz="1050" dirty="0"/>
          </a:p>
        </p:txBody>
      </p:sp>
      <p:sp>
        <p:nvSpPr>
          <p:cNvPr id="15" name="Text 12"/>
          <p:cNvSpPr/>
          <p:nvPr/>
        </p:nvSpPr>
        <p:spPr>
          <a:xfrm>
            <a:off x="4750594" y="2163895"/>
            <a:ext cx="3821906" cy="307777"/>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Traditional methods often lead to inaccurate results due to human error or limitations in available medical resources.</a:t>
            </a:r>
            <a:endParaRPr lang="en-US" sz="1000" dirty="0"/>
          </a:p>
        </p:txBody>
      </p:sp>
      <p:sp>
        <p:nvSpPr>
          <p:cNvPr id="16" name="Text 13"/>
          <p:cNvSpPr/>
          <p:nvPr/>
        </p:nvSpPr>
        <p:spPr>
          <a:xfrm>
            <a:off x="4750594" y="2659186"/>
            <a:ext cx="1147750"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Time Constraints</a:t>
            </a:r>
            <a:endParaRPr lang="en-US" sz="1050" dirty="0"/>
          </a:p>
        </p:txBody>
      </p:sp>
      <p:sp>
        <p:nvSpPr>
          <p:cNvPr id="17" name="Text 14"/>
          <p:cNvSpPr/>
          <p:nvPr/>
        </p:nvSpPr>
        <p:spPr>
          <a:xfrm>
            <a:off x="4750594" y="2908269"/>
            <a:ext cx="3821906" cy="307777"/>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Patients may not receive immediate or precise diagnoses, which delays treatment and increases risk of complications.</a:t>
            </a:r>
            <a:endParaRPr lang="en-US" sz="1000" dirty="0"/>
          </a:p>
        </p:txBody>
      </p:sp>
      <p:sp>
        <p:nvSpPr>
          <p:cNvPr id="18" name="Text 15"/>
          <p:cNvSpPr/>
          <p:nvPr/>
        </p:nvSpPr>
        <p:spPr>
          <a:xfrm>
            <a:off x="4750594" y="3403559"/>
            <a:ext cx="1420261"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Resource Limitations</a:t>
            </a:r>
            <a:endParaRPr lang="en-US" sz="1050" dirty="0"/>
          </a:p>
        </p:txBody>
      </p:sp>
      <p:sp>
        <p:nvSpPr>
          <p:cNvPr id="19" name="Text 16"/>
          <p:cNvSpPr/>
          <p:nvPr/>
        </p:nvSpPr>
        <p:spPr>
          <a:xfrm>
            <a:off x="4750594" y="3652642"/>
            <a:ext cx="3821906" cy="307777"/>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Limited access to specialized diagnostic equipment and expertise in many healthcare settings worldwide.</a:t>
            </a:r>
            <a:endParaRPr lang="en-US" sz="1000" dirty="0"/>
          </a:p>
        </p:txBody>
      </p:sp>
      <p:sp>
        <p:nvSpPr>
          <p:cNvPr id="20" name="Text 17"/>
          <p:cNvSpPr/>
          <p:nvPr/>
        </p:nvSpPr>
        <p:spPr>
          <a:xfrm>
            <a:off x="4750594" y="4147932"/>
            <a:ext cx="947375"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Solution Need</a:t>
            </a:r>
            <a:endParaRPr lang="en-US" sz="1050" dirty="0"/>
          </a:p>
        </p:txBody>
      </p:sp>
      <p:sp>
        <p:nvSpPr>
          <p:cNvPr id="21" name="Text 18"/>
          <p:cNvSpPr/>
          <p:nvPr/>
        </p:nvSpPr>
        <p:spPr>
          <a:xfrm>
            <a:off x="4750594" y="4320071"/>
            <a:ext cx="3821906" cy="461665"/>
          </a:xfrm>
          <a:prstGeom prst="rect">
            <a:avLst/>
          </a:prstGeom>
          <a:noFill/>
          <a:ln/>
        </p:spPr>
        <p:txBody>
          <a:bodyPr wrap="square" lIns="0" tIns="0" rIns="0" bIns="0" rtlCol="0" anchor="ctr">
            <a:spAutoFit/>
          </a:bodyPr>
          <a:lstStyle/>
          <a:p>
            <a:pPr marL="0" indent="0">
              <a:buNone/>
            </a:pPr>
            <a:r>
              <a:rPr lang="en-US" sz="1000" dirty="0">
                <a:solidFill>
                  <a:srgbClr val="555555"/>
                </a:solidFill>
                <a:latin typeface="Noto Sans" pitchFamily="34" charset="0"/>
                <a:ea typeface="Noto Sans" pitchFamily="34" charset="-122"/>
                <a:cs typeface="Noto Sans" pitchFamily="34" charset="-120"/>
              </a:rPr>
              <a:t>There is an urgent need for advanced tools that can assist medical professionals in identifying fungal infections quickly and reliably.</a:t>
            </a:r>
            <a:endParaRPr lang="en-US" sz="1000" dirty="0"/>
          </a:p>
        </p:txBody>
      </p:sp>
      <p:pic>
        <p:nvPicPr>
          <p:cNvPr id="22" name="Picture 21">
            <a:extLst>
              <a:ext uri="{FF2B5EF4-FFF2-40B4-BE49-F238E27FC236}">
                <a16:creationId xmlns:a16="http://schemas.microsoft.com/office/drawing/2014/main" id="{C8233022-401F-2AB9-A219-A26BA22EAACC}"/>
              </a:ext>
            </a:extLst>
          </p:cNvPr>
          <p:cNvPicPr>
            <a:picLocks noChangeAspect="1"/>
          </p:cNvPicPr>
          <p:nvPr/>
        </p:nvPicPr>
        <p:blipFill>
          <a:blip r:embed="rId4"/>
          <a:stretch>
            <a:fillRect/>
          </a:stretch>
        </p:blipFill>
        <p:spPr>
          <a:xfrm>
            <a:off x="7994233" y="-39263"/>
            <a:ext cx="1141859" cy="11418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7742"/>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Project Objectives</a:t>
            </a:r>
            <a:endParaRPr lang="en-US" sz="2700" dirty="0"/>
          </a:p>
        </p:txBody>
      </p:sp>
      <p:sp>
        <p:nvSpPr>
          <p:cNvPr id="4" name="Shape 1"/>
          <p:cNvSpPr/>
          <p:nvPr/>
        </p:nvSpPr>
        <p:spPr>
          <a:xfrm>
            <a:off x="571500" y="1371600"/>
            <a:ext cx="8001000" cy="990079"/>
          </a:xfrm>
          <a:prstGeom prst="rect">
            <a:avLst/>
          </a:prstGeom>
          <a:solidFill>
            <a:srgbClr val="F5F9FC"/>
          </a:solidFill>
          <a:ln/>
        </p:spPr>
        <p:txBody>
          <a:bodyPr/>
          <a:lstStyle/>
          <a:p>
            <a:endParaRPr lang="en-US"/>
          </a:p>
        </p:txBody>
      </p:sp>
      <p:sp>
        <p:nvSpPr>
          <p:cNvPr id="5" name="Shape 2"/>
          <p:cNvSpPr/>
          <p:nvPr/>
        </p:nvSpPr>
        <p:spPr>
          <a:xfrm>
            <a:off x="571500" y="1371600"/>
            <a:ext cx="35719" cy="990079"/>
          </a:xfrm>
          <a:prstGeom prst="rect">
            <a:avLst/>
          </a:prstGeom>
          <a:solidFill>
            <a:srgbClr val="2E5090"/>
          </a:solidFill>
          <a:ln/>
        </p:spPr>
        <p:txBody>
          <a:bodyPr/>
          <a:lstStyle/>
          <a:p>
            <a:endParaRPr lang="en-US"/>
          </a:p>
        </p:txBody>
      </p:sp>
      <p:sp>
        <p:nvSpPr>
          <p:cNvPr id="6" name="Text 3"/>
          <p:cNvSpPr/>
          <p:nvPr/>
        </p:nvSpPr>
        <p:spPr>
          <a:xfrm>
            <a:off x="785813" y="1517483"/>
            <a:ext cx="1351524" cy="215444"/>
          </a:xfrm>
          <a:prstGeom prst="rect">
            <a:avLst/>
          </a:prstGeom>
          <a:noFill/>
          <a:ln/>
        </p:spPr>
        <p:txBody>
          <a:bodyPr wrap="none" lIns="0" tIns="0" rIns="0" bIns="0" rtlCol="0" anchor="ctr">
            <a:spAutoFit/>
          </a:bodyPr>
          <a:lstStyle/>
          <a:p>
            <a:pPr marL="0" indent="0">
              <a:buNone/>
            </a:pPr>
            <a:r>
              <a:rPr lang="en-US" sz="1400" b="1" kern="0" spc="1" dirty="0">
                <a:solidFill>
                  <a:srgbClr val="F39C12"/>
                </a:solidFill>
                <a:latin typeface="Noto Sans" pitchFamily="34" charset="0"/>
                <a:ea typeface="Noto Sans" pitchFamily="34" charset="-122"/>
                <a:cs typeface="Noto Sans" pitchFamily="34" charset="-120"/>
              </a:rPr>
              <a:t>Main Objective</a:t>
            </a:r>
            <a:endParaRPr lang="en-US" sz="1400" dirty="0"/>
          </a:p>
        </p:txBody>
      </p:sp>
      <p:sp>
        <p:nvSpPr>
          <p:cNvPr id="7" name="Text 4"/>
          <p:cNvSpPr/>
          <p:nvPr/>
        </p:nvSpPr>
        <p:spPr>
          <a:xfrm>
            <a:off x="785813" y="1815785"/>
            <a:ext cx="7572375" cy="323165"/>
          </a:xfrm>
          <a:prstGeom prst="rect">
            <a:avLst/>
          </a:prstGeom>
          <a:noFill/>
          <a:ln/>
        </p:spPr>
        <p:txBody>
          <a:bodyPr wrap="squar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 Design and develop an intelligent, cloud-enabled system that can accurately detect and analyze fungal infections in the human body using Artificial Intelligence (AI) techniques. </a:t>
            </a:r>
            <a:endParaRPr lang="en-US" sz="1050" dirty="0"/>
          </a:p>
        </p:txBody>
      </p:sp>
      <p:sp>
        <p:nvSpPr>
          <p:cNvPr id="8" name="Text 5"/>
          <p:cNvSpPr/>
          <p:nvPr/>
        </p:nvSpPr>
        <p:spPr>
          <a:xfrm>
            <a:off x="571500" y="2625433"/>
            <a:ext cx="1672766" cy="215444"/>
          </a:xfrm>
          <a:prstGeom prst="rect">
            <a:avLst/>
          </a:prstGeom>
          <a:noFill/>
          <a:ln/>
        </p:spPr>
        <p:txBody>
          <a:bodyPr wrap="none" lIns="0" tIns="0" rIns="0" bIns="0" rtlCol="0" anchor="ctr">
            <a:spAutoFit/>
          </a:bodyPr>
          <a:lstStyle/>
          <a:p>
            <a:pPr marL="0" indent="0">
              <a:buNone/>
            </a:pPr>
            <a:r>
              <a:rPr lang="en-US" sz="1400" b="1" kern="0" spc="1" dirty="0">
                <a:solidFill>
                  <a:srgbClr val="F39C12"/>
                </a:solidFill>
                <a:latin typeface="Noto Sans" pitchFamily="34" charset="0"/>
                <a:ea typeface="Noto Sans" pitchFamily="34" charset="-122"/>
                <a:cs typeface="Noto Sans" pitchFamily="34" charset="-120"/>
              </a:rPr>
              <a:t>Specific Objectives</a:t>
            </a:r>
            <a:endParaRPr lang="en-US" sz="1400" dirty="0"/>
          </a:p>
        </p:txBody>
      </p:sp>
      <p:sp>
        <p:nvSpPr>
          <p:cNvPr id="9" name="Text 6"/>
          <p:cNvSpPr/>
          <p:nvPr/>
        </p:nvSpPr>
        <p:spPr>
          <a:xfrm>
            <a:off x="571500" y="2961754"/>
            <a:ext cx="250031" cy="514350"/>
          </a:xfrm>
          <a:prstGeom prst="rect">
            <a:avLst/>
          </a:prstGeom>
          <a:noFill/>
          <a:ln/>
        </p:spPr>
        <p:txBody>
          <a:bodyPr wrap="square" lIns="0" tIns="0" rIns="0" bIns="0" rtlCol="0" anchor="ctr">
            <a:spAutoFit/>
          </a:bodyPr>
          <a:lstStyle/>
          <a:p>
            <a:pPr marL="0" indent="0" algn="ctr">
              <a:buNone/>
            </a:pPr>
            <a:r>
              <a:rPr lang="en-US" sz="1350" b="1" dirty="0">
                <a:solidFill>
                  <a:srgbClr val="F39C12"/>
                </a:solidFill>
                <a:latin typeface="Noto Sans" pitchFamily="34" charset="0"/>
                <a:ea typeface="Noto Sans" pitchFamily="34" charset="-122"/>
                <a:cs typeface="Noto Sans" pitchFamily="34" charset="-120"/>
              </a:rPr>
              <a:t>1</a:t>
            </a:r>
            <a:endParaRPr lang="en-US" sz="1350" dirty="0"/>
          </a:p>
        </p:txBody>
      </p:sp>
      <p:sp>
        <p:nvSpPr>
          <p:cNvPr id="10" name="Text 7"/>
          <p:cNvSpPr/>
          <p:nvPr/>
        </p:nvSpPr>
        <p:spPr>
          <a:xfrm>
            <a:off x="928688" y="2976556"/>
            <a:ext cx="3554016" cy="484748"/>
          </a:xfrm>
          <a:prstGeom prst="rect">
            <a:avLst/>
          </a:prstGeom>
          <a:noFill/>
          <a:ln/>
        </p:spPr>
        <p:txBody>
          <a:bodyPr wrap="squar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Collect and preprocess medical image datasets related to fungal infections, ensuring data quality and balance across five distinct classes (H1, H2, H3, H5, H6). </a:t>
            </a:r>
            <a:endParaRPr lang="en-US" sz="1050" dirty="0"/>
          </a:p>
        </p:txBody>
      </p:sp>
      <p:sp>
        <p:nvSpPr>
          <p:cNvPr id="11" name="Text 8"/>
          <p:cNvSpPr/>
          <p:nvPr/>
        </p:nvSpPr>
        <p:spPr>
          <a:xfrm>
            <a:off x="4661297" y="2961754"/>
            <a:ext cx="250031" cy="514350"/>
          </a:xfrm>
          <a:prstGeom prst="rect">
            <a:avLst/>
          </a:prstGeom>
          <a:noFill/>
          <a:ln/>
        </p:spPr>
        <p:txBody>
          <a:bodyPr wrap="square" lIns="0" tIns="0" rIns="0" bIns="0" rtlCol="0" anchor="ctr">
            <a:spAutoFit/>
          </a:bodyPr>
          <a:lstStyle/>
          <a:p>
            <a:pPr marL="0" indent="0" algn="ctr">
              <a:buNone/>
            </a:pPr>
            <a:r>
              <a:rPr lang="en-US" sz="1350" b="1" dirty="0">
                <a:solidFill>
                  <a:srgbClr val="F39C12"/>
                </a:solidFill>
                <a:latin typeface="Noto Sans" pitchFamily="34" charset="0"/>
                <a:ea typeface="Noto Sans" pitchFamily="34" charset="-122"/>
                <a:cs typeface="Noto Sans" pitchFamily="34" charset="-120"/>
              </a:rPr>
              <a:t>2</a:t>
            </a:r>
            <a:endParaRPr lang="en-US" sz="1350" dirty="0"/>
          </a:p>
        </p:txBody>
      </p:sp>
      <p:sp>
        <p:nvSpPr>
          <p:cNvPr id="12" name="Text 9"/>
          <p:cNvSpPr/>
          <p:nvPr/>
        </p:nvSpPr>
        <p:spPr>
          <a:xfrm>
            <a:off x="5018484" y="2976556"/>
            <a:ext cx="3554016" cy="484748"/>
          </a:xfrm>
          <a:prstGeom prst="rect">
            <a:avLst/>
          </a:prstGeom>
          <a:noFill/>
          <a:ln/>
        </p:spPr>
        <p:txBody>
          <a:bodyPr wrap="squar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Evaluate and select the optimal deep learning model through rigorous experimentation with multiple CNN architectures and advanced techniques. </a:t>
            </a:r>
            <a:endParaRPr lang="en-US" sz="1050" dirty="0"/>
          </a:p>
        </p:txBody>
      </p:sp>
      <p:sp>
        <p:nvSpPr>
          <p:cNvPr id="13" name="Text 10"/>
          <p:cNvSpPr/>
          <p:nvPr/>
        </p:nvSpPr>
        <p:spPr>
          <a:xfrm>
            <a:off x="571500" y="3654698"/>
            <a:ext cx="250031" cy="342900"/>
          </a:xfrm>
          <a:prstGeom prst="rect">
            <a:avLst/>
          </a:prstGeom>
          <a:noFill/>
          <a:ln/>
        </p:spPr>
        <p:txBody>
          <a:bodyPr wrap="none" lIns="0" tIns="0" rIns="0" bIns="0" rtlCol="0" anchor="ctr">
            <a:spAutoFit/>
          </a:bodyPr>
          <a:lstStyle/>
          <a:p>
            <a:pPr marL="0" indent="0" algn="ctr">
              <a:buNone/>
            </a:pPr>
            <a:r>
              <a:rPr lang="en-US" sz="1350" b="1" dirty="0">
                <a:solidFill>
                  <a:srgbClr val="F39C12"/>
                </a:solidFill>
                <a:latin typeface="Noto Sans" pitchFamily="34" charset="0"/>
                <a:ea typeface="Noto Sans" pitchFamily="34" charset="-122"/>
                <a:cs typeface="Noto Sans" pitchFamily="34" charset="-120"/>
              </a:rPr>
              <a:t>3</a:t>
            </a:r>
            <a:endParaRPr lang="en-US" sz="1350" dirty="0"/>
          </a:p>
        </p:txBody>
      </p:sp>
      <p:sp>
        <p:nvSpPr>
          <p:cNvPr id="14" name="Text 11"/>
          <p:cNvSpPr/>
          <p:nvPr/>
        </p:nvSpPr>
        <p:spPr>
          <a:xfrm>
            <a:off x="928688" y="3583775"/>
            <a:ext cx="3554016" cy="484748"/>
          </a:xfrm>
          <a:prstGeom prst="rect">
            <a:avLst/>
          </a:prstGeom>
          <a:noFill/>
          <a:ln/>
        </p:spPr>
        <p:txBody>
          <a:bodyPr wrap="squar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Integrate cloud-based deep learning inference through the Hugging Face URL for accurate, scalable fungal image classification. </a:t>
            </a:r>
            <a:endParaRPr lang="en-US" sz="1050" dirty="0"/>
          </a:p>
        </p:txBody>
      </p:sp>
      <p:sp>
        <p:nvSpPr>
          <p:cNvPr id="15" name="Text 12"/>
          <p:cNvSpPr/>
          <p:nvPr/>
        </p:nvSpPr>
        <p:spPr>
          <a:xfrm>
            <a:off x="4661297" y="3654698"/>
            <a:ext cx="250031" cy="342900"/>
          </a:xfrm>
          <a:prstGeom prst="rect">
            <a:avLst/>
          </a:prstGeom>
          <a:noFill/>
          <a:ln/>
        </p:spPr>
        <p:txBody>
          <a:bodyPr wrap="none" lIns="0" tIns="0" rIns="0" bIns="0" rtlCol="0" anchor="ctr">
            <a:spAutoFit/>
          </a:bodyPr>
          <a:lstStyle/>
          <a:p>
            <a:pPr marL="0" indent="0" algn="ctr">
              <a:buNone/>
            </a:pPr>
            <a:r>
              <a:rPr lang="en-US" sz="1350" b="1" dirty="0">
                <a:solidFill>
                  <a:srgbClr val="F39C12"/>
                </a:solidFill>
                <a:latin typeface="Noto Sans" pitchFamily="34" charset="0"/>
                <a:ea typeface="Noto Sans" pitchFamily="34" charset="-122"/>
                <a:cs typeface="Noto Sans" pitchFamily="34" charset="-120"/>
              </a:rPr>
              <a:t>4</a:t>
            </a:r>
            <a:endParaRPr lang="en-US" sz="1350" dirty="0"/>
          </a:p>
        </p:txBody>
      </p:sp>
      <p:sp>
        <p:nvSpPr>
          <p:cNvPr id="16" name="Text 13"/>
          <p:cNvSpPr/>
          <p:nvPr/>
        </p:nvSpPr>
        <p:spPr>
          <a:xfrm>
            <a:off x="5018484" y="3583774"/>
            <a:ext cx="3554016" cy="484748"/>
          </a:xfrm>
          <a:prstGeom prst="rect">
            <a:avLst/>
          </a:prstGeom>
          <a:noFill/>
          <a:ln/>
        </p:spPr>
        <p:txBody>
          <a:bodyPr wrap="squar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Design a Flutter-based mobile application that allows users and healthcare professionals to upload and analyze images easily. </a:t>
            </a:r>
            <a:endParaRPr lang="en-US" sz="1050" dirty="0"/>
          </a:p>
        </p:txBody>
      </p:sp>
      <p:sp>
        <p:nvSpPr>
          <p:cNvPr id="17" name="Text 14"/>
          <p:cNvSpPr/>
          <p:nvPr/>
        </p:nvSpPr>
        <p:spPr>
          <a:xfrm>
            <a:off x="571500" y="4176192"/>
            <a:ext cx="250031" cy="514350"/>
          </a:xfrm>
          <a:prstGeom prst="rect">
            <a:avLst/>
          </a:prstGeom>
          <a:noFill/>
          <a:ln/>
        </p:spPr>
        <p:txBody>
          <a:bodyPr wrap="square" lIns="0" tIns="0" rIns="0" bIns="0" rtlCol="0" anchor="ctr">
            <a:spAutoFit/>
          </a:bodyPr>
          <a:lstStyle/>
          <a:p>
            <a:pPr marL="0" indent="0" algn="ctr">
              <a:buNone/>
            </a:pPr>
            <a:r>
              <a:rPr lang="en-US" sz="1350" b="1" dirty="0">
                <a:solidFill>
                  <a:srgbClr val="F39C12"/>
                </a:solidFill>
                <a:latin typeface="Noto Sans" pitchFamily="34" charset="0"/>
                <a:ea typeface="Noto Sans" pitchFamily="34" charset="-122"/>
                <a:cs typeface="Noto Sans" pitchFamily="34" charset="-120"/>
              </a:rPr>
              <a:t>5</a:t>
            </a:r>
            <a:endParaRPr lang="en-US" sz="1350" dirty="0"/>
          </a:p>
        </p:txBody>
      </p:sp>
      <p:sp>
        <p:nvSpPr>
          <p:cNvPr id="18" name="Text 15"/>
          <p:cNvSpPr/>
          <p:nvPr/>
        </p:nvSpPr>
        <p:spPr>
          <a:xfrm>
            <a:off x="928688" y="4190994"/>
            <a:ext cx="3554016" cy="484748"/>
          </a:xfrm>
          <a:prstGeom prst="rect">
            <a:avLst/>
          </a:prstGeom>
          <a:noFill/>
          <a:ln/>
        </p:spPr>
        <p:txBody>
          <a:bodyPr wrap="squar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Implement a Flask middleware server to manage API communication, image preprocessing, and orchestration between mobile app and cloud AI. </a:t>
            </a:r>
            <a:endParaRPr lang="en-US" sz="1050" dirty="0"/>
          </a:p>
        </p:txBody>
      </p:sp>
      <p:sp>
        <p:nvSpPr>
          <p:cNvPr id="19" name="Text 16"/>
          <p:cNvSpPr/>
          <p:nvPr/>
        </p:nvSpPr>
        <p:spPr>
          <a:xfrm>
            <a:off x="4661297" y="4176192"/>
            <a:ext cx="250031" cy="514350"/>
          </a:xfrm>
          <a:prstGeom prst="rect">
            <a:avLst/>
          </a:prstGeom>
          <a:noFill/>
          <a:ln/>
        </p:spPr>
        <p:txBody>
          <a:bodyPr wrap="square" lIns="0" tIns="0" rIns="0" bIns="0" rtlCol="0" anchor="ctr">
            <a:spAutoFit/>
          </a:bodyPr>
          <a:lstStyle/>
          <a:p>
            <a:pPr marL="0" indent="0" algn="ctr">
              <a:buNone/>
            </a:pPr>
            <a:r>
              <a:rPr lang="en-US" sz="1350" b="1" dirty="0">
                <a:solidFill>
                  <a:srgbClr val="F39C12"/>
                </a:solidFill>
                <a:latin typeface="Noto Sans" pitchFamily="34" charset="0"/>
                <a:ea typeface="Noto Sans" pitchFamily="34" charset="-122"/>
                <a:cs typeface="Noto Sans" pitchFamily="34" charset="-120"/>
              </a:rPr>
              <a:t>6</a:t>
            </a:r>
            <a:endParaRPr lang="en-US" sz="1350" dirty="0"/>
          </a:p>
        </p:txBody>
      </p:sp>
      <p:sp>
        <p:nvSpPr>
          <p:cNvPr id="20" name="Text 17"/>
          <p:cNvSpPr/>
          <p:nvPr/>
        </p:nvSpPr>
        <p:spPr>
          <a:xfrm>
            <a:off x="5018484" y="4190994"/>
            <a:ext cx="3554016" cy="484748"/>
          </a:xfrm>
          <a:prstGeom prst="rect">
            <a:avLst/>
          </a:prstGeom>
          <a:noFill/>
          <a:ln/>
        </p:spPr>
        <p:txBody>
          <a:bodyPr wrap="squar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Evaluate system performance in terms of response time, scalability, diagnostic accuracy, and user experience in real-world scenarios. </a:t>
            </a:r>
            <a:endParaRPr lang="en-US" sz="1050" dirty="0"/>
          </a:p>
        </p:txBody>
      </p:sp>
      <p:pic>
        <p:nvPicPr>
          <p:cNvPr id="21" name="Picture 20">
            <a:extLst>
              <a:ext uri="{FF2B5EF4-FFF2-40B4-BE49-F238E27FC236}">
                <a16:creationId xmlns:a16="http://schemas.microsoft.com/office/drawing/2014/main" id="{6F00538F-A92A-E439-DB57-E4D16DBC5ED9}"/>
              </a:ext>
            </a:extLst>
          </p:cNvPr>
          <p:cNvPicPr>
            <a:picLocks noChangeAspect="1"/>
          </p:cNvPicPr>
          <p:nvPr/>
        </p:nvPicPr>
        <p:blipFill>
          <a:blip r:embed="rId4"/>
          <a:stretch>
            <a:fillRect/>
          </a:stretch>
        </p:blipFill>
        <p:spPr>
          <a:xfrm>
            <a:off x="7994233" y="-45987"/>
            <a:ext cx="1141859" cy="114185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235743"/>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Scope of Study</a:t>
            </a:r>
            <a:endParaRPr lang="en-US" sz="2700" dirty="0"/>
          </a:p>
        </p:txBody>
      </p:sp>
      <p:sp>
        <p:nvSpPr>
          <p:cNvPr id="4" name="Shape 1"/>
          <p:cNvSpPr/>
          <p:nvPr/>
        </p:nvSpPr>
        <p:spPr>
          <a:xfrm>
            <a:off x="571500" y="873918"/>
            <a:ext cx="8001000" cy="385763"/>
          </a:xfrm>
          <a:prstGeom prst="rect">
            <a:avLst/>
          </a:prstGeom>
          <a:solidFill>
            <a:srgbClr val="2E5090"/>
          </a:solidFill>
          <a:ln/>
        </p:spPr>
        <p:txBody>
          <a:bodyPr/>
          <a:lstStyle/>
          <a:p>
            <a:endParaRPr lang="en-US"/>
          </a:p>
        </p:txBody>
      </p:sp>
      <p:sp>
        <p:nvSpPr>
          <p:cNvPr id="5" name="Text 2"/>
          <p:cNvSpPr/>
          <p:nvPr/>
        </p:nvSpPr>
        <p:spPr>
          <a:xfrm>
            <a:off x="571500" y="855973"/>
            <a:ext cx="8001000" cy="421654"/>
          </a:xfrm>
          <a:prstGeom prst="rect">
            <a:avLst/>
          </a:prstGeom>
          <a:noFill/>
          <a:ln/>
        </p:spPr>
        <p:txBody>
          <a:bodyPr wrap="square" lIns="136017" tIns="102108" rIns="136017" bIns="102108" rtlCol="0" anchor="ctr">
            <a:spAutoFit/>
          </a:bodyPr>
          <a:lstStyle/>
          <a:p>
            <a:pPr marL="0" indent="0">
              <a:buNone/>
            </a:pPr>
            <a:r>
              <a:rPr lang="en-US" sz="1400" b="1" dirty="0">
                <a:solidFill>
                  <a:srgbClr val="FFFFFF"/>
                </a:solidFill>
                <a:latin typeface="Noto Sans" pitchFamily="34" charset="0"/>
                <a:ea typeface="Noto Sans" pitchFamily="34" charset="-122"/>
                <a:cs typeface="Noto Sans" pitchFamily="34" charset="-120"/>
              </a:rPr>
              <a:t>Primary Focus</a:t>
            </a:r>
            <a:endParaRPr lang="en-US" sz="1400" dirty="0"/>
          </a:p>
        </p:txBody>
      </p:sp>
      <p:sp>
        <p:nvSpPr>
          <p:cNvPr id="6" name="Text 3"/>
          <p:cNvSpPr/>
          <p:nvPr/>
        </p:nvSpPr>
        <p:spPr>
          <a:xfrm>
            <a:off x="571500" y="1356423"/>
            <a:ext cx="8001000" cy="484748"/>
          </a:xfrm>
          <a:prstGeom prst="rect">
            <a:avLst/>
          </a:prstGeom>
          <a:noFill/>
          <a:ln/>
        </p:spPr>
        <p:txBody>
          <a:bodyPr wrap="square" lIns="0" tIns="0" rIns="0" bIns="0" rtlCol="0" anchor="ctr">
            <a:spAutoFit/>
          </a:bodyPr>
          <a:lstStyle/>
          <a:p>
            <a:r>
              <a:rPr lang="en-US" sz="1050" dirty="0">
                <a:solidFill>
                  <a:srgbClr val="34495E"/>
                </a:solidFill>
                <a:latin typeface="Noto Sans" pitchFamily="34" charset="0"/>
                <a:ea typeface="Noto Sans" pitchFamily="34" charset="-122"/>
                <a:cs typeface="Noto Sans" pitchFamily="34" charset="-120"/>
              </a:rPr>
              <a:t>This study focuses on applying </a:t>
            </a:r>
            <a:r>
              <a:rPr lang="en-US" sz="1050" b="1" dirty="0">
                <a:solidFill>
                  <a:srgbClr val="2E5090"/>
                </a:solidFill>
                <a:latin typeface="Noto Sans" pitchFamily="34" charset="0"/>
                <a:ea typeface="Noto Sans" pitchFamily="34" charset="-122"/>
                <a:cs typeface="Noto Sans" pitchFamily="34" charset="-120"/>
              </a:rPr>
              <a:t>Artificial Intelligence and cloud computing</a:t>
            </a:r>
            <a:r>
              <a:rPr lang="en-US" sz="1050" b="1" dirty="0"/>
              <a:t> </a:t>
            </a:r>
            <a:r>
              <a:rPr lang="en-US" sz="1050" dirty="0">
                <a:solidFill>
                  <a:srgbClr val="34495E"/>
                </a:solidFill>
                <a:latin typeface="Noto Sans" pitchFamily="34" charset="0"/>
                <a:ea typeface="Noto Sans" pitchFamily="34" charset="-122"/>
                <a:cs typeface="Noto Sans" pitchFamily="34" charset="-120"/>
              </a:rPr>
              <a:t>in medical image analysis for fungal infection </a:t>
            </a:r>
          </a:p>
          <a:p>
            <a:r>
              <a:rPr lang="en-US" sz="1050" dirty="0">
                <a:solidFill>
                  <a:srgbClr val="34495E"/>
                </a:solidFill>
                <a:latin typeface="Noto Sans" pitchFamily="34" charset="0"/>
                <a:ea typeface="Noto Sans" pitchFamily="34" charset="-122"/>
                <a:cs typeface="Noto Sans" pitchFamily="34" charset="-120"/>
              </a:rPr>
              <a:t>detection. The project emphasizes scalability, cost-efficiency, and accessibility through cloud-based inference and mobile technology.</a:t>
            </a:r>
            <a:endParaRPr lang="en-US" sz="1050" dirty="0"/>
          </a:p>
        </p:txBody>
      </p:sp>
      <p:sp>
        <p:nvSpPr>
          <p:cNvPr id="10" name="Shape 7"/>
          <p:cNvSpPr/>
          <p:nvPr/>
        </p:nvSpPr>
        <p:spPr>
          <a:xfrm>
            <a:off x="571500" y="1921147"/>
            <a:ext cx="3857625" cy="385763"/>
          </a:xfrm>
          <a:prstGeom prst="rect">
            <a:avLst/>
          </a:prstGeom>
          <a:solidFill>
            <a:srgbClr val="2E5090"/>
          </a:solidFill>
          <a:ln/>
        </p:spPr>
        <p:txBody>
          <a:bodyPr/>
          <a:lstStyle/>
          <a:p>
            <a:endParaRPr lang="en-US"/>
          </a:p>
        </p:txBody>
      </p:sp>
      <p:sp>
        <p:nvSpPr>
          <p:cNvPr id="11" name="Text 8"/>
          <p:cNvSpPr/>
          <p:nvPr/>
        </p:nvSpPr>
        <p:spPr>
          <a:xfrm>
            <a:off x="571500" y="1887813"/>
            <a:ext cx="3857625" cy="452432"/>
          </a:xfrm>
          <a:prstGeom prst="rect">
            <a:avLst/>
          </a:prstGeom>
          <a:noFill/>
          <a:ln/>
        </p:spPr>
        <p:txBody>
          <a:bodyPr wrap="square" lIns="136017" tIns="102108" rIns="136017" bIns="102108" rtlCol="0" anchor="ctr">
            <a:spAutoFit/>
          </a:bodyPr>
          <a:lstStyle/>
          <a:p>
            <a:pPr marL="0" indent="0">
              <a:buNone/>
            </a:pPr>
            <a:r>
              <a:rPr lang="en-US" sz="1600" b="1" dirty="0">
                <a:solidFill>
                  <a:srgbClr val="FFFFFF"/>
                </a:solidFill>
                <a:latin typeface="Noto Sans" pitchFamily="34" charset="0"/>
                <a:ea typeface="Noto Sans" pitchFamily="34" charset="-122"/>
                <a:cs typeface="Noto Sans" pitchFamily="34" charset="-120"/>
              </a:rPr>
              <a:t>Inclusions</a:t>
            </a:r>
            <a:endParaRPr lang="en-US" sz="1600" dirty="0"/>
          </a:p>
        </p:txBody>
      </p:sp>
      <p:sp>
        <p:nvSpPr>
          <p:cNvPr id="12" name="Text 9"/>
          <p:cNvSpPr/>
          <p:nvPr/>
        </p:nvSpPr>
        <p:spPr>
          <a:xfrm>
            <a:off x="571500" y="2456579"/>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13" name="Text 10"/>
          <p:cNvSpPr/>
          <p:nvPr/>
        </p:nvSpPr>
        <p:spPr>
          <a:xfrm>
            <a:off x="800100" y="2463372"/>
            <a:ext cx="3629025" cy="338554"/>
          </a:xfrm>
          <a:prstGeom prst="rect">
            <a:avLst/>
          </a:prstGeom>
          <a:noFill/>
          <a:ln/>
        </p:spPr>
        <p:txBody>
          <a:bodyPr wrap="squar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Dataset preparation and preprocessing (5 fungal classes: H1, H2, H3, H5, H6)</a:t>
            </a:r>
            <a:endParaRPr lang="en-US" sz="1100" dirty="0"/>
          </a:p>
        </p:txBody>
      </p:sp>
      <p:sp>
        <p:nvSpPr>
          <p:cNvPr id="14" name="Text 11"/>
          <p:cNvSpPr/>
          <p:nvPr/>
        </p:nvSpPr>
        <p:spPr>
          <a:xfrm>
            <a:off x="571500" y="2908030"/>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15" name="Text 12"/>
          <p:cNvSpPr/>
          <p:nvPr/>
        </p:nvSpPr>
        <p:spPr>
          <a:xfrm>
            <a:off x="800100" y="2908030"/>
            <a:ext cx="3306996"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Evaluation of multiple deep learning architectures</a:t>
            </a:r>
            <a:endParaRPr lang="en-US" sz="1100" dirty="0"/>
          </a:p>
        </p:txBody>
      </p:sp>
      <p:sp>
        <p:nvSpPr>
          <p:cNvPr id="16" name="Text 13"/>
          <p:cNvSpPr/>
          <p:nvPr/>
        </p:nvSpPr>
        <p:spPr>
          <a:xfrm>
            <a:off x="571500" y="3176618"/>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17" name="Text 14"/>
          <p:cNvSpPr/>
          <p:nvPr/>
        </p:nvSpPr>
        <p:spPr>
          <a:xfrm>
            <a:off x="800100" y="3176618"/>
            <a:ext cx="3021661"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Model integration via Hugging Face cloud API</a:t>
            </a:r>
            <a:endParaRPr lang="en-US" sz="1100" dirty="0"/>
          </a:p>
        </p:txBody>
      </p:sp>
      <p:sp>
        <p:nvSpPr>
          <p:cNvPr id="18" name="Text 15"/>
          <p:cNvSpPr/>
          <p:nvPr/>
        </p:nvSpPr>
        <p:spPr>
          <a:xfrm>
            <a:off x="571500" y="3445207"/>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19" name="Text 16"/>
          <p:cNvSpPr/>
          <p:nvPr/>
        </p:nvSpPr>
        <p:spPr>
          <a:xfrm>
            <a:off x="800100" y="3445207"/>
            <a:ext cx="3060133"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Flutter-based mobile application development</a:t>
            </a:r>
            <a:endParaRPr lang="en-US" sz="1100" dirty="0"/>
          </a:p>
        </p:txBody>
      </p:sp>
      <p:sp>
        <p:nvSpPr>
          <p:cNvPr id="20" name="Text 17"/>
          <p:cNvSpPr/>
          <p:nvPr/>
        </p:nvSpPr>
        <p:spPr>
          <a:xfrm>
            <a:off x="571500" y="3713795"/>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21" name="Text 18"/>
          <p:cNvSpPr/>
          <p:nvPr/>
        </p:nvSpPr>
        <p:spPr>
          <a:xfrm>
            <a:off x="800100" y="3713795"/>
            <a:ext cx="2702663"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Flask middleware server implementation</a:t>
            </a:r>
            <a:endParaRPr lang="en-US" sz="1100" dirty="0"/>
          </a:p>
        </p:txBody>
      </p:sp>
      <p:sp>
        <p:nvSpPr>
          <p:cNvPr id="22" name="Text 19"/>
          <p:cNvSpPr/>
          <p:nvPr/>
        </p:nvSpPr>
        <p:spPr>
          <a:xfrm>
            <a:off x="571500" y="3982383"/>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23" name="Text 20"/>
          <p:cNvSpPr/>
          <p:nvPr/>
        </p:nvSpPr>
        <p:spPr>
          <a:xfrm>
            <a:off x="800100" y="3982383"/>
            <a:ext cx="3079369"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System performance and scalability evaluation</a:t>
            </a:r>
            <a:endParaRPr lang="en-US" sz="1100" dirty="0"/>
          </a:p>
        </p:txBody>
      </p:sp>
      <p:sp>
        <p:nvSpPr>
          <p:cNvPr id="24" name="Shape 21"/>
          <p:cNvSpPr/>
          <p:nvPr/>
        </p:nvSpPr>
        <p:spPr>
          <a:xfrm>
            <a:off x="4714875" y="1921147"/>
            <a:ext cx="3857625" cy="385763"/>
          </a:xfrm>
          <a:prstGeom prst="rect">
            <a:avLst/>
          </a:prstGeom>
          <a:solidFill>
            <a:srgbClr val="2E5090"/>
          </a:solidFill>
          <a:ln/>
        </p:spPr>
        <p:txBody>
          <a:bodyPr/>
          <a:lstStyle/>
          <a:p>
            <a:endParaRPr lang="en-US"/>
          </a:p>
        </p:txBody>
      </p:sp>
      <p:sp>
        <p:nvSpPr>
          <p:cNvPr id="25" name="Text 22"/>
          <p:cNvSpPr/>
          <p:nvPr/>
        </p:nvSpPr>
        <p:spPr>
          <a:xfrm>
            <a:off x="4714875" y="1903202"/>
            <a:ext cx="3857625" cy="421654"/>
          </a:xfrm>
          <a:prstGeom prst="rect">
            <a:avLst/>
          </a:prstGeom>
          <a:noFill/>
          <a:ln/>
        </p:spPr>
        <p:txBody>
          <a:bodyPr wrap="square" lIns="136017" tIns="102108" rIns="136017" bIns="102108" rtlCol="0" anchor="ctr">
            <a:spAutoFit/>
          </a:bodyPr>
          <a:lstStyle/>
          <a:p>
            <a:pPr marL="0" indent="0">
              <a:buNone/>
            </a:pPr>
            <a:r>
              <a:rPr lang="en-US" sz="1400" b="1" dirty="0">
                <a:solidFill>
                  <a:srgbClr val="FFFFFF"/>
                </a:solidFill>
                <a:latin typeface="Noto Sans" pitchFamily="34" charset="0"/>
                <a:ea typeface="Noto Sans" pitchFamily="34" charset="-122"/>
                <a:cs typeface="Noto Sans" pitchFamily="34" charset="-120"/>
              </a:rPr>
              <a:t>Exclusions &amp; Limitations</a:t>
            </a:r>
            <a:endParaRPr lang="en-US" sz="1400" dirty="0"/>
          </a:p>
        </p:txBody>
      </p:sp>
      <p:sp>
        <p:nvSpPr>
          <p:cNvPr id="26" name="Text 23"/>
          <p:cNvSpPr/>
          <p:nvPr/>
        </p:nvSpPr>
        <p:spPr>
          <a:xfrm>
            <a:off x="4714875" y="2456579"/>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27" name="Text 24"/>
          <p:cNvSpPr/>
          <p:nvPr/>
        </p:nvSpPr>
        <p:spPr>
          <a:xfrm>
            <a:off x="4943475" y="2456579"/>
            <a:ext cx="2955937"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The system provides diagnostic support only</a:t>
            </a:r>
            <a:endParaRPr lang="en-US" sz="1100" dirty="0"/>
          </a:p>
        </p:txBody>
      </p:sp>
      <p:sp>
        <p:nvSpPr>
          <p:cNvPr id="28" name="Text 25"/>
          <p:cNvSpPr/>
          <p:nvPr/>
        </p:nvSpPr>
        <p:spPr>
          <a:xfrm>
            <a:off x="4714875" y="2725167"/>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29" name="Text 26"/>
          <p:cNvSpPr/>
          <p:nvPr/>
        </p:nvSpPr>
        <p:spPr>
          <a:xfrm>
            <a:off x="4943475" y="2725167"/>
            <a:ext cx="3520194"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Not a replacement for professional medical expertise</a:t>
            </a:r>
            <a:endParaRPr lang="en-US" sz="1100" dirty="0"/>
          </a:p>
        </p:txBody>
      </p:sp>
      <p:sp>
        <p:nvSpPr>
          <p:cNvPr id="30" name="Text 27"/>
          <p:cNvSpPr/>
          <p:nvPr/>
        </p:nvSpPr>
        <p:spPr>
          <a:xfrm>
            <a:off x="4714875" y="2993755"/>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31" name="Text 28"/>
          <p:cNvSpPr/>
          <p:nvPr/>
        </p:nvSpPr>
        <p:spPr>
          <a:xfrm>
            <a:off x="4943475" y="2993755"/>
            <a:ext cx="2981585"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Does not prescribe treatment or medications</a:t>
            </a:r>
            <a:endParaRPr lang="en-US" sz="1100" dirty="0"/>
          </a:p>
        </p:txBody>
      </p:sp>
      <p:sp>
        <p:nvSpPr>
          <p:cNvPr id="32" name="Text 29"/>
          <p:cNvSpPr/>
          <p:nvPr/>
        </p:nvSpPr>
        <p:spPr>
          <a:xfrm>
            <a:off x="4714875" y="3262343"/>
            <a:ext cx="52900"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a:t>
            </a:r>
            <a:endParaRPr lang="en-US" sz="1100" dirty="0"/>
          </a:p>
        </p:txBody>
      </p:sp>
      <p:sp>
        <p:nvSpPr>
          <p:cNvPr id="33" name="Text 30"/>
          <p:cNvSpPr/>
          <p:nvPr/>
        </p:nvSpPr>
        <p:spPr>
          <a:xfrm>
            <a:off x="4943475" y="3262343"/>
            <a:ext cx="3645229" cy="169277"/>
          </a:xfrm>
          <a:prstGeom prst="rect">
            <a:avLst/>
          </a:prstGeom>
          <a:noFill/>
          <a:ln/>
        </p:spPr>
        <p:txBody>
          <a:bodyPr wrap="none" lIns="0" tIns="0" rIns="0" bIns="0" rtlCol="0" anchor="ctr">
            <a:spAutoFit/>
          </a:bodyPr>
          <a:lstStyle/>
          <a:p>
            <a:pPr marL="0" indent="0">
              <a:buNone/>
            </a:pPr>
            <a:r>
              <a:rPr lang="en-US" sz="1100" dirty="0">
                <a:solidFill>
                  <a:srgbClr val="34495E"/>
                </a:solidFill>
                <a:latin typeface="Noto Sans" pitchFamily="34" charset="0"/>
                <a:ea typeface="Noto Sans" pitchFamily="34" charset="-122"/>
                <a:cs typeface="Noto Sans" pitchFamily="34" charset="-120"/>
              </a:rPr>
              <a:t>Requires stable internet connection for cloud inference</a:t>
            </a:r>
            <a:endParaRPr lang="en-US" sz="1100" dirty="0"/>
          </a:p>
        </p:txBody>
      </p:sp>
      <p:pic>
        <p:nvPicPr>
          <p:cNvPr id="7" name="Picture 6">
            <a:extLst>
              <a:ext uri="{FF2B5EF4-FFF2-40B4-BE49-F238E27FC236}">
                <a16:creationId xmlns:a16="http://schemas.microsoft.com/office/drawing/2014/main" id="{4E5443C7-33CD-22EF-97D6-3B4223060D13}"/>
              </a:ext>
            </a:extLst>
          </p:cNvPr>
          <p:cNvPicPr>
            <a:picLocks noChangeAspect="1"/>
          </p:cNvPicPr>
          <p:nvPr/>
        </p:nvPicPr>
        <p:blipFill>
          <a:blip r:embed="rId4"/>
          <a:stretch>
            <a:fillRect/>
          </a:stretch>
        </p:blipFill>
        <p:spPr>
          <a:xfrm>
            <a:off x="8322754" y="-59434"/>
            <a:ext cx="980978" cy="9809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86425"/>
          </a:xfrm>
          <a:prstGeom prst="rect">
            <a:avLst/>
          </a:prstGeom>
        </p:spPr>
      </p:pic>
      <p:sp>
        <p:nvSpPr>
          <p:cNvPr id="3" name="Text 0"/>
          <p:cNvSpPr/>
          <p:nvPr/>
        </p:nvSpPr>
        <p:spPr>
          <a:xfrm>
            <a:off x="564162" y="60659"/>
            <a:ext cx="8001000" cy="1200150"/>
          </a:xfrm>
          <a:prstGeom prst="rect">
            <a:avLst/>
          </a:prstGeom>
          <a:noFill/>
          <a:ln/>
        </p:spPr>
        <p:txBody>
          <a:bodyPr wrap="squar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Literature Review: State-of-the-Art Fungi Classification</a:t>
            </a:r>
            <a:endParaRPr lang="en-US" sz="2700" dirty="0"/>
          </a:p>
        </p:txBody>
      </p:sp>
      <p:sp>
        <p:nvSpPr>
          <p:cNvPr id="4" name="Shape 1"/>
          <p:cNvSpPr/>
          <p:nvPr/>
        </p:nvSpPr>
        <p:spPr>
          <a:xfrm>
            <a:off x="571500" y="1348038"/>
            <a:ext cx="8001000" cy="578644"/>
          </a:xfrm>
          <a:prstGeom prst="rect">
            <a:avLst/>
          </a:prstGeom>
          <a:solidFill>
            <a:srgbClr val="F0F7FC"/>
          </a:solidFill>
          <a:ln/>
        </p:spPr>
        <p:txBody>
          <a:bodyPr/>
          <a:lstStyle/>
          <a:p>
            <a:endParaRPr lang="en-US"/>
          </a:p>
        </p:txBody>
      </p:sp>
      <p:sp>
        <p:nvSpPr>
          <p:cNvPr id="5" name="Shape 2"/>
          <p:cNvSpPr/>
          <p:nvPr/>
        </p:nvSpPr>
        <p:spPr>
          <a:xfrm>
            <a:off x="571500" y="1348038"/>
            <a:ext cx="28575" cy="578644"/>
          </a:xfrm>
          <a:prstGeom prst="rect">
            <a:avLst/>
          </a:prstGeom>
          <a:solidFill>
            <a:srgbClr val="2E5090"/>
          </a:solidFill>
          <a:ln/>
        </p:spPr>
        <p:txBody>
          <a:bodyPr/>
          <a:lstStyle/>
          <a:p>
            <a:endParaRPr lang="en-US"/>
          </a:p>
        </p:txBody>
      </p:sp>
      <p:sp>
        <p:nvSpPr>
          <p:cNvPr id="6" name="Text 3"/>
          <p:cNvSpPr/>
          <p:nvPr/>
        </p:nvSpPr>
        <p:spPr>
          <a:xfrm>
            <a:off x="571500" y="1300858"/>
            <a:ext cx="8001000" cy="673005"/>
          </a:xfrm>
          <a:prstGeom prst="rect">
            <a:avLst/>
          </a:prstGeom>
          <a:noFill/>
          <a:ln/>
        </p:spPr>
        <p:txBody>
          <a:bodyPr wrap="square" lIns="170053" tIns="127508" rIns="170053" bIns="127508"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Recent advances in deep learning have significantly improved fungal classification accuracy. The following table presents a comprehensive review of state-of-the-art research in this field, demonstrating the rapid progression of accuracy metrics and the effectiveness of advanced architectures. </a:t>
            </a:r>
            <a:endParaRPr lang="en-US" sz="900" dirty="0"/>
          </a:p>
        </p:txBody>
      </p:sp>
      <p:sp>
        <p:nvSpPr>
          <p:cNvPr id="7" name="Shape 4"/>
          <p:cNvSpPr/>
          <p:nvPr/>
        </p:nvSpPr>
        <p:spPr>
          <a:xfrm>
            <a:off x="585788" y="2108847"/>
            <a:ext cx="428625" cy="317897"/>
          </a:xfrm>
          <a:prstGeom prst="rect">
            <a:avLst/>
          </a:prstGeom>
          <a:solidFill>
            <a:srgbClr val="2E5090"/>
          </a:solidFill>
          <a:ln w="99">
            <a:solidFill>
              <a:srgbClr val="1A3A52"/>
            </a:solidFill>
            <a:prstDash val="solid"/>
          </a:ln>
        </p:spPr>
        <p:txBody>
          <a:bodyPr/>
          <a:lstStyle/>
          <a:p>
            <a:endParaRPr lang="en-US"/>
          </a:p>
        </p:txBody>
      </p:sp>
      <p:sp>
        <p:nvSpPr>
          <p:cNvPr id="8" name="Text 5"/>
          <p:cNvSpPr/>
          <p:nvPr/>
        </p:nvSpPr>
        <p:spPr>
          <a:xfrm>
            <a:off x="585788" y="2095441"/>
            <a:ext cx="500061"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Rank</a:t>
            </a:r>
            <a:endParaRPr lang="en-US" sz="900" dirty="0"/>
          </a:p>
        </p:txBody>
      </p:sp>
      <p:sp>
        <p:nvSpPr>
          <p:cNvPr id="9" name="Shape 6"/>
          <p:cNvSpPr/>
          <p:nvPr/>
        </p:nvSpPr>
        <p:spPr>
          <a:xfrm>
            <a:off x="1014413" y="2108847"/>
            <a:ext cx="2728606" cy="317897"/>
          </a:xfrm>
          <a:prstGeom prst="rect">
            <a:avLst/>
          </a:prstGeom>
          <a:solidFill>
            <a:srgbClr val="2E5090"/>
          </a:solidFill>
          <a:ln w="99">
            <a:solidFill>
              <a:srgbClr val="1A3A52"/>
            </a:solidFill>
            <a:prstDash val="solid"/>
          </a:ln>
        </p:spPr>
        <p:txBody>
          <a:bodyPr/>
          <a:lstStyle/>
          <a:p>
            <a:endParaRPr lang="en-US"/>
          </a:p>
        </p:txBody>
      </p:sp>
      <p:sp>
        <p:nvSpPr>
          <p:cNvPr id="10" name="Text 7"/>
          <p:cNvSpPr/>
          <p:nvPr/>
        </p:nvSpPr>
        <p:spPr>
          <a:xfrm>
            <a:off x="1014413" y="2095441"/>
            <a:ext cx="2728606"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Research / Model</a:t>
            </a:r>
            <a:endParaRPr lang="en-US" sz="900" dirty="0"/>
          </a:p>
        </p:txBody>
      </p:sp>
      <p:sp>
        <p:nvSpPr>
          <p:cNvPr id="11" name="Shape 8"/>
          <p:cNvSpPr/>
          <p:nvPr/>
        </p:nvSpPr>
        <p:spPr>
          <a:xfrm>
            <a:off x="3743018" y="2108847"/>
            <a:ext cx="2968535" cy="317897"/>
          </a:xfrm>
          <a:prstGeom prst="rect">
            <a:avLst/>
          </a:prstGeom>
          <a:solidFill>
            <a:srgbClr val="2E5090"/>
          </a:solidFill>
          <a:ln w="99">
            <a:solidFill>
              <a:srgbClr val="1A3A52"/>
            </a:solidFill>
            <a:prstDash val="solid"/>
          </a:ln>
        </p:spPr>
        <p:txBody>
          <a:bodyPr/>
          <a:lstStyle/>
          <a:p>
            <a:endParaRPr lang="en-US"/>
          </a:p>
        </p:txBody>
      </p:sp>
      <p:sp>
        <p:nvSpPr>
          <p:cNvPr id="12" name="Text 9"/>
          <p:cNvSpPr/>
          <p:nvPr/>
        </p:nvSpPr>
        <p:spPr>
          <a:xfrm>
            <a:off x="3743018" y="2095441"/>
            <a:ext cx="2968535"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Architecture / Approach</a:t>
            </a:r>
            <a:endParaRPr lang="en-US" sz="900" dirty="0"/>
          </a:p>
        </p:txBody>
      </p:sp>
      <p:sp>
        <p:nvSpPr>
          <p:cNvPr id="13" name="Shape 10"/>
          <p:cNvSpPr/>
          <p:nvPr/>
        </p:nvSpPr>
        <p:spPr>
          <a:xfrm>
            <a:off x="6711553" y="2108847"/>
            <a:ext cx="1000125" cy="317897"/>
          </a:xfrm>
          <a:prstGeom prst="rect">
            <a:avLst/>
          </a:prstGeom>
          <a:solidFill>
            <a:srgbClr val="2E5090"/>
          </a:solidFill>
          <a:ln w="99">
            <a:solidFill>
              <a:srgbClr val="1A3A52"/>
            </a:solidFill>
            <a:prstDash val="solid"/>
          </a:ln>
        </p:spPr>
        <p:txBody>
          <a:bodyPr/>
          <a:lstStyle/>
          <a:p>
            <a:endParaRPr lang="en-US"/>
          </a:p>
        </p:txBody>
      </p:sp>
      <p:sp>
        <p:nvSpPr>
          <p:cNvPr id="14" name="Text 11"/>
          <p:cNvSpPr/>
          <p:nvPr/>
        </p:nvSpPr>
        <p:spPr>
          <a:xfrm>
            <a:off x="6711553" y="2026192"/>
            <a:ext cx="1000125" cy="483209"/>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Test Accuracy (%)</a:t>
            </a:r>
            <a:endParaRPr lang="en-US" sz="900" dirty="0"/>
          </a:p>
        </p:txBody>
      </p:sp>
      <p:sp>
        <p:nvSpPr>
          <p:cNvPr id="15" name="Shape 12"/>
          <p:cNvSpPr/>
          <p:nvPr/>
        </p:nvSpPr>
        <p:spPr>
          <a:xfrm>
            <a:off x="7711678" y="2108847"/>
            <a:ext cx="857250" cy="317897"/>
          </a:xfrm>
          <a:prstGeom prst="rect">
            <a:avLst/>
          </a:prstGeom>
          <a:solidFill>
            <a:srgbClr val="2E5090"/>
          </a:solidFill>
          <a:ln w="99">
            <a:solidFill>
              <a:srgbClr val="1A3A52"/>
            </a:solidFill>
            <a:prstDash val="solid"/>
          </a:ln>
        </p:spPr>
        <p:txBody>
          <a:bodyPr/>
          <a:lstStyle/>
          <a:p>
            <a:endParaRPr lang="en-US"/>
          </a:p>
        </p:txBody>
      </p:sp>
      <p:sp>
        <p:nvSpPr>
          <p:cNvPr id="16" name="Text 13"/>
          <p:cNvSpPr/>
          <p:nvPr/>
        </p:nvSpPr>
        <p:spPr>
          <a:xfrm>
            <a:off x="7711678" y="2026192"/>
            <a:ext cx="857250" cy="483209"/>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Year / Status</a:t>
            </a:r>
            <a:endParaRPr lang="en-US" sz="900" dirty="0"/>
          </a:p>
        </p:txBody>
      </p:sp>
      <p:sp>
        <p:nvSpPr>
          <p:cNvPr id="17" name="Shape 14"/>
          <p:cNvSpPr/>
          <p:nvPr/>
        </p:nvSpPr>
        <p:spPr>
          <a:xfrm>
            <a:off x="585788" y="2419601"/>
            <a:ext cx="7983141" cy="314325"/>
          </a:xfrm>
          <a:prstGeom prst="rect">
            <a:avLst/>
          </a:prstGeom>
          <a:solidFill>
            <a:srgbClr val="FFF3E0"/>
          </a:solidFill>
          <a:ln/>
        </p:spPr>
        <p:txBody>
          <a:bodyPr/>
          <a:lstStyle/>
          <a:p>
            <a:endParaRPr lang="en-US"/>
          </a:p>
        </p:txBody>
      </p:sp>
      <p:sp>
        <p:nvSpPr>
          <p:cNvPr id="18" name="Shape 15"/>
          <p:cNvSpPr/>
          <p:nvPr/>
        </p:nvSpPr>
        <p:spPr>
          <a:xfrm>
            <a:off x="585788" y="2419601"/>
            <a:ext cx="28575" cy="314325"/>
          </a:xfrm>
          <a:prstGeom prst="rect">
            <a:avLst/>
          </a:prstGeom>
          <a:solidFill>
            <a:srgbClr val="F39C12"/>
          </a:solidFill>
          <a:ln/>
        </p:spPr>
        <p:txBody>
          <a:bodyPr/>
          <a:lstStyle/>
          <a:p>
            <a:endParaRPr lang="en-US"/>
          </a:p>
        </p:txBody>
      </p:sp>
      <p:sp>
        <p:nvSpPr>
          <p:cNvPr id="19" name="Text 16"/>
          <p:cNvSpPr/>
          <p:nvPr/>
        </p:nvSpPr>
        <p:spPr>
          <a:xfrm>
            <a:off x="575072" y="2413001"/>
            <a:ext cx="4286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1</a:t>
            </a:r>
            <a:endParaRPr lang="en-US" sz="900" dirty="0"/>
          </a:p>
        </p:txBody>
      </p:sp>
      <p:sp>
        <p:nvSpPr>
          <p:cNvPr id="20" name="Text 17"/>
          <p:cNvSpPr/>
          <p:nvPr/>
        </p:nvSpPr>
        <p:spPr>
          <a:xfrm>
            <a:off x="1085850" y="2506620"/>
            <a:ext cx="2043829"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Our Project: SwinV2-Base Ensemble</a:t>
            </a:r>
            <a:endParaRPr lang="en-US" sz="900" dirty="0"/>
          </a:p>
        </p:txBody>
      </p:sp>
      <p:sp>
        <p:nvSpPr>
          <p:cNvPr id="21" name="Text 18"/>
          <p:cNvSpPr/>
          <p:nvPr/>
        </p:nvSpPr>
        <p:spPr>
          <a:xfrm>
            <a:off x="3737437" y="2413001"/>
            <a:ext cx="2974116"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Transformer Ensemble (5-fold CV)</a:t>
            </a:r>
            <a:endParaRPr lang="en-US" sz="900" dirty="0"/>
          </a:p>
        </p:txBody>
      </p:sp>
      <p:sp>
        <p:nvSpPr>
          <p:cNvPr id="22" name="Text 19"/>
          <p:cNvSpPr/>
          <p:nvPr/>
        </p:nvSpPr>
        <p:spPr>
          <a:xfrm>
            <a:off x="7066543" y="2507513"/>
            <a:ext cx="290144" cy="138499"/>
          </a:xfrm>
          <a:prstGeom prst="rect">
            <a:avLst/>
          </a:prstGeom>
          <a:noFill/>
          <a:ln/>
        </p:spPr>
        <p:txBody>
          <a:bodyPr wrap="none" lIns="0" tIns="0" rIns="0" bIns="0" rtlCol="0" anchor="ctr">
            <a:spAutoFit/>
          </a:bodyPr>
          <a:lstStyle/>
          <a:p>
            <a:pPr marL="0" indent="0" algn="ctr">
              <a:buNone/>
            </a:pPr>
            <a:r>
              <a:rPr lang="en-US" sz="900" b="1" dirty="0">
                <a:solidFill>
                  <a:srgbClr val="F39C12"/>
                </a:solidFill>
                <a:latin typeface="Noto Sans" pitchFamily="34" charset="0"/>
                <a:ea typeface="Noto Sans" pitchFamily="34" charset="-122"/>
                <a:cs typeface="Noto Sans" pitchFamily="34" charset="-120"/>
              </a:rPr>
              <a:t>98.61</a:t>
            </a:r>
            <a:endParaRPr lang="en-US" sz="900" dirty="0"/>
          </a:p>
        </p:txBody>
      </p:sp>
      <p:sp>
        <p:nvSpPr>
          <p:cNvPr id="23" name="Text 20"/>
          <p:cNvSpPr/>
          <p:nvPr/>
        </p:nvSpPr>
        <p:spPr>
          <a:xfrm>
            <a:off x="7711678" y="2343751"/>
            <a:ext cx="857250" cy="466025"/>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2026 (Current)</a:t>
            </a:r>
            <a:endParaRPr lang="en-US" sz="900" dirty="0"/>
          </a:p>
        </p:txBody>
      </p:sp>
      <p:sp>
        <p:nvSpPr>
          <p:cNvPr id="24" name="Shape 21"/>
          <p:cNvSpPr/>
          <p:nvPr/>
        </p:nvSpPr>
        <p:spPr>
          <a:xfrm>
            <a:off x="575072" y="2733926"/>
            <a:ext cx="7993856" cy="314325"/>
          </a:xfrm>
          <a:prstGeom prst="rect">
            <a:avLst/>
          </a:prstGeom>
          <a:solidFill>
            <a:srgbClr val="FFFFFF"/>
          </a:solidFill>
          <a:ln/>
        </p:spPr>
        <p:txBody>
          <a:bodyPr/>
          <a:lstStyle/>
          <a:p>
            <a:endParaRPr lang="en-US"/>
          </a:p>
        </p:txBody>
      </p:sp>
      <p:sp>
        <p:nvSpPr>
          <p:cNvPr id="25" name="Text 22"/>
          <p:cNvSpPr/>
          <p:nvPr/>
        </p:nvSpPr>
        <p:spPr>
          <a:xfrm>
            <a:off x="575072" y="2727326"/>
            <a:ext cx="4286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2</a:t>
            </a:r>
            <a:endParaRPr lang="en-US" sz="900" dirty="0"/>
          </a:p>
        </p:txBody>
      </p:sp>
      <p:sp>
        <p:nvSpPr>
          <p:cNvPr id="26" name="Text 23"/>
          <p:cNvSpPr/>
          <p:nvPr/>
        </p:nvSpPr>
        <p:spPr>
          <a:xfrm>
            <a:off x="1003697" y="2727326"/>
            <a:ext cx="2733740" cy="327526"/>
          </a:xfrm>
          <a:prstGeom prst="rect">
            <a:avLst/>
          </a:prstGeom>
          <a:noFill/>
          <a:ln/>
        </p:spPr>
        <p:txBody>
          <a:bodyPr wrap="square" lIns="93599" tIns="93599" rIns="93599" bIns="93599" rtlCol="0" anchor="ctr">
            <a:spAutoFit/>
          </a:bodyPr>
          <a:lstStyle/>
          <a:p>
            <a:pPr marL="0" indent="0">
              <a:buNone/>
            </a:pPr>
            <a:r>
              <a:rPr lang="en-US" sz="900" b="1" dirty="0">
                <a:solidFill>
                  <a:srgbClr val="34495E"/>
                </a:solidFill>
                <a:latin typeface="Noto Sans" pitchFamily="34" charset="0"/>
                <a:ea typeface="Noto Sans" pitchFamily="34" charset="-122"/>
                <a:cs typeface="Noto Sans" pitchFamily="34" charset="-120"/>
              </a:rPr>
              <a:t>Swin Transformer</a:t>
            </a:r>
            <a:endParaRPr lang="en-US" sz="900" dirty="0"/>
          </a:p>
        </p:txBody>
      </p:sp>
      <p:sp>
        <p:nvSpPr>
          <p:cNvPr id="27" name="Text 24"/>
          <p:cNvSpPr/>
          <p:nvPr/>
        </p:nvSpPr>
        <p:spPr>
          <a:xfrm>
            <a:off x="3737437" y="2727326"/>
            <a:ext cx="2974116"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Vision Transformer with Shifted Windows</a:t>
            </a:r>
            <a:endParaRPr lang="en-US" sz="900" dirty="0"/>
          </a:p>
        </p:txBody>
      </p:sp>
      <p:sp>
        <p:nvSpPr>
          <p:cNvPr id="28" name="Text 25"/>
          <p:cNvSpPr/>
          <p:nvPr/>
        </p:nvSpPr>
        <p:spPr>
          <a:xfrm>
            <a:off x="6711553" y="2727326"/>
            <a:ext cx="10001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98.36</a:t>
            </a:r>
            <a:endParaRPr lang="en-US" sz="900" dirty="0"/>
          </a:p>
        </p:txBody>
      </p:sp>
      <p:sp>
        <p:nvSpPr>
          <p:cNvPr id="29" name="Text 26"/>
          <p:cNvSpPr/>
          <p:nvPr/>
        </p:nvSpPr>
        <p:spPr>
          <a:xfrm>
            <a:off x="7711678" y="2727326"/>
            <a:ext cx="857250"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2024</a:t>
            </a:r>
            <a:endParaRPr lang="en-US" sz="900" dirty="0"/>
          </a:p>
        </p:txBody>
      </p:sp>
      <p:sp>
        <p:nvSpPr>
          <p:cNvPr id="30" name="Shape 27"/>
          <p:cNvSpPr/>
          <p:nvPr/>
        </p:nvSpPr>
        <p:spPr>
          <a:xfrm>
            <a:off x="575072" y="3048251"/>
            <a:ext cx="7993856" cy="314325"/>
          </a:xfrm>
          <a:prstGeom prst="rect">
            <a:avLst/>
          </a:prstGeom>
          <a:solidFill>
            <a:srgbClr val="F8F9FA"/>
          </a:solidFill>
          <a:ln/>
        </p:spPr>
        <p:txBody>
          <a:bodyPr/>
          <a:lstStyle/>
          <a:p>
            <a:endParaRPr lang="en-US"/>
          </a:p>
        </p:txBody>
      </p:sp>
      <p:sp>
        <p:nvSpPr>
          <p:cNvPr id="31" name="Text 28"/>
          <p:cNvSpPr/>
          <p:nvPr/>
        </p:nvSpPr>
        <p:spPr>
          <a:xfrm>
            <a:off x="575072" y="3041651"/>
            <a:ext cx="4286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3</a:t>
            </a:r>
            <a:endParaRPr lang="en-US" sz="900" dirty="0"/>
          </a:p>
        </p:txBody>
      </p:sp>
      <p:sp>
        <p:nvSpPr>
          <p:cNvPr id="32" name="Text 29"/>
          <p:cNvSpPr/>
          <p:nvPr/>
        </p:nvSpPr>
        <p:spPr>
          <a:xfrm>
            <a:off x="1003697" y="3041651"/>
            <a:ext cx="2733740" cy="327526"/>
          </a:xfrm>
          <a:prstGeom prst="rect">
            <a:avLst/>
          </a:prstGeom>
          <a:noFill/>
          <a:ln/>
        </p:spPr>
        <p:txBody>
          <a:bodyPr wrap="square" lIns="93599" tIns="93599" rIns="93599" bIns="93599" rtlCol="0" anchor="ctr">
            <a:spAutoFit/>
          </a:bodyPr>
          <a:lstStyle/>
          <a:p>
            <a:pPr marL="0" indent="0">
              <a:buNone/>
            </a:pPr>
            <a:r>
              <a:rPr lang="en-US" sz="900" b="1" dirty="0">
                <a:solidFill>
                  <a:srgbClr val="34495E"/>
                </a:solidFill>
                <a:latin typeface="Noto Sans" pitchFamily="34" charset="0"/>
                <a:ea typeface="Noto Sans" pitchFamily="34" charset="-122"/>
                <a:cs typeface="Noto Sans" pitchFamily="34" charset="-120"/>
              </a:rPr>
              <a:t>VGG19DeFungi</a:t>
            </a:r>
            <a:endParaRPr lang="en-US" sz="900" dirty="0"/>
          </a:p>
        </p:txBody>
      </p:sp>
      <p:sp>
        <p:nvSpPr>
          <p:cNvPr id="33" name="Text 30"/>
          <p:cNvSpPr/>
          <p:nvPr/>
        </p:nvSpPr>
        <p:spPr>
          <a:xfrm>
            <a:off x="3737437" y="3041651"/>
            <a:ext cx="2974116"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VGG19 with Custom Augmentation</a:t>
            </a:r>
            <a:endParaRPr lang="en-US" sz="900" dirty="0"/>
          </a:p>
        </p:txBody>
      </p:sp>
      <p:sp>
        <p:nvSpPr>
          <p:cNvPr id="34" name="Text 31"/>
          <p:cNvSpPr/>
          <p:nvPr/>
        </p:nvSpPr>
        <p:spPr>
          <a:xfrm>
            <a:off x="6711553" y="3041651"/>
            <a:ext cx="10001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97.00</a:t>
            </a:r>
            <a:endParaRPr lang="en-US" sz="900" dirty="0"/>
          </a:p>
        </p:txBody>
      </p:sp>
      <p:sp>
        <p:nvSpPr>
          <p:cNvPr id="35" name="Text 32"/>
          <p:cNvSpPr/>
          <p:nvPr/>
        </p:nvSpPr>
        <p:spPr>
          <a:xfrm>
            <a:off x="7711678" y="3041651"/>
            <a:ext cx="857250"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2023</a:t>
            </a:r>
            <a:endParaRPr lang="en-US" sz="900" dirty="0"/>
          </a:p>
        </p:txBody>
      </p:sp>
      <p:sp>
        <p:nvSpPr>
          <p:cNvPr id="36" name="Shape 33"/>
          <p:cNvSpPr/>
          <p:nvPr/>
        </p:nvSpPr>
        <p:spPr>
          <a:xfrm>
            <a:off x="575072" y="3362576"/>
            <a:ext cx="7993856" cy="314325"/>
          </a:xfrm>
          <a:prstGeom prst="rect">
            <a:avLst/>
          </a:prstGeom>
          <a:solidFill>
            <a:srgbClr val="FFFFFF"/>
          </a:solidFill>
          <a:ln/>
        </p:spPr>
        <p:txBody>
          <a:bodyPr/>
          <a:lstStyle/>
          <a:p>
            <a:endParaRPr lang="en-US"/>
          </a:p>
        </p:txBody>
      </p:sp>
      <p:sp>
        <p:nvSpPr>
          <p:cNvPr id="37" name="Text 34"/>
          <p:cNvSpPr/>
          <p:nvPr/>
        </p:nvSpPr>
        <p:spPr>
          <a:xfrm>
            <a:off x="575072" y="3355976"/>
            <a:ext cx="4286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4</a:t>
            </a:r>
            <a:endParaRPr lang="en-US" sz="900" dirty="0"/>
          </a:p>
        </p:txBody>
      </p:sp>
      <p:sp>
        <p:nvSpPr>
          <p:cNvPr id="38" name="Text 35"/>
          <p:cNvSpPr/>
          <p:nvPr/>
        </p:nvSpPr>
        <p:spPr>
          <a:xfrm>
            <a:off x="1003697" y="3355976"/>
            <a:ext cx="2733740" cy="327526"/>
          </a:xfrm>
          <a:prstGeom prst="rect">
            <a:avLst/>
          </a:prstGeom>
          <a:noFill/>
          <a:ln/>
        </p:spPr>
        <p:txBody>
          <a:bodyPr wrap="square" lIns="93599" tIns="93599" rIns="93599" bIns="93599" rtlCol="0" anchor="ctr">
            <a:spAutoFit/>
          </a:bodyPr>
          <a:lstStyle/>
          <a:p>
            <a:pPr marL="0" indent="0">
              <a:buNone/>
            </a:pPr>
            <a:r>
              <a:rPr lang="en-US" sz="900" b="1" dirty="0">
                <a:solidFill>
                  <a:srgbClr val="34495E"/>
                </a:solidFill>
                <a:latin typeface="Noto Sans" pitchFamily="34" charset="0"/>
                <a:ea typeface="Noto Sans" pitchFamily="34" charset="-122"/>
                <a:cs typeface="Noto Sans" pitchFamily="34" charset="-120"/>
              </a:rPr>
              <a:t>VGG16 with Augmentation</a:t>
            </a:r>
            <a:endParaRPr lang="en-US" sz="900" dirty="0"/>
          </a:p>
        </p:txBody>
      </p:sp>
      <p:sp>
        <p:nvSpPr>
          <p:cNvPr id="39" name="Text 36"/>
          <p:cNvSpPr/>
          <p:nvPr/>
        </p:nvSpPr>
        <p:spPr>
          <a:xfrm>
            <a:off x="3737437" y="3355976"/>
            <a:ext cx="2974116"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VGG16 with Advanced Preprocessing</a:t>
            </a:r>
            <a:endParaRPr lang="en-US" sz="900" dirty="0"/>
          </a:p>
        </p:txBody>
      </p:sp>
      <p:sp>
        <p:nvSpPr>
          <p:cNvPr id="40" name="Text 37"/>
          <p:cNvSpPr/>
          <p:nvPr/>
        </p:nvSpPr>
        <p:spPr>
          <a:xfrm>
            <a:off x="6711553" y="3355976"/>
            <a:ext cx="10001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97.19</a:t>
            </a:r>
            <a:endParaRPr lang="en-US" sz="900" dirty="0"/>
          </a:p>
        </p:txBody>
      </p:sp>
      <p:sp>
        <p:nvSpPr>
          <p:cNvPr id="41" name="Text 38"/>
          <p:cNvSpPr/>
          <p:nvPr/>
        </p:nvSpPr>
        <p:spPr>
          <a:xfrm>
            <a:off x="7711678" y="3355976"/>
            <a:ext cx="857250"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2022</a:t>
            </a:r>
            <a:endParaRPr lang="en-US" sz="900" dirty="0"/>
          </a:p>
        </p:txBody>
      </p:sp>
      <p:sp>
        <p:nvSpPr>
          <p:cNvPr id="42" name="Shape 39"/>
          <p:cNvSpPr/>
          <p:nvPr/>
        </p:nvSpPr>
        <p:spPr>
          <a:xfrm>
            <a:off x="575072" y="3676901"/>
            <a:ext cx="7993856" cy="314325"/>
          </a:xfrm>
          <a:prstGeom prst="rect">
            <a:avLst/>
          </a:prstGeom>
          <a:solidFill>
            <a:srgbClr val="F8F9FA"/>
          </a:solidFill>
          <a:ln/>
        </p:spPr>
        <p:txBody>
          <a:bodyPr/>
          <a:lstStyle/>
          <a:p>
            <a:endParaRPr lang="en-US"/>
          </a:p>
        </p:txBody>
      </p:sp>
      <p:sp>
        <p:nvSpPr>
          <p:cNvPr id="43" name="Text 40"/>
          <p:cNvSpPr/>
          <p:nvPr/>
        </p:nvSpPr>
        <p:spPr>
          <a:xfrm>
            <a:off x="575072" y="3670301"/>
            <a:ext cx="4286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5</a:t>
            </a:r>
            <a:endParaRPr lang="en-US" sz="900" dirty="0"/>
          </a:p>
        </p:txBody>
      </p:sp>
      <p:sp>
        <p:nvSpPr>
          <p:cNvPr id="44" name="Text 41"/>
          <p:cNvSpPr/>
          <p:nvPr/>
        </p:nvSpPr>
        <p:spPr>
          <a:xfrm>
            <a:off x="1003697" y="3670301"/>
            <a:ext cx="2733740" cy="327526"/>
          </a:xfrm>
          <a:prstGeom prst="rect">
            <a:avLst/>
          </a:prstGeom>
          <a:noFill/>
          <a:ln/>
        </p:spPr>
        <p:txBody>
          <a:bodyPr wrap="square" lIns="93599" tIns="93599" rIns="93599" bIns="93599" rtlCol="0" anchor="ctr">
            <a:spAutoFit/>
          </a:bodyPr>
          <a:lstStyle/>
          <a:p>
            <a:pPr marL="0" indent="0">
              <a:buNone/>
            </a:pPr>
            <a:r>
              <a:rPr lang="en-US" sz="900" b="1" dirty="0">
                <a:solidFill>
                  <a:srgbClr val="34495E"/>
                </a:solidFill>
                <a:latin typeface="Noto Sans" pitchFamily="34" charset="0"/>
                <a:ea typeface="Noto Sans" pitchFamily="34" charset="-122"/>
                <a:cs typeface="Noto Sans" pitchFamily="34" charset="-120"/>
              </a:rPr>
              <a:t>MeFunX</a:t>
            </a:r>
            <a:endParaRPr lang="en-US" sz="900" dirty="0"/>
          </a:p>
        </p:txBody>
      </p:sp>
      <p:sp>
        <p:nvSpPr>
          <p:cNvPr id="45" name="Text 42"/>
          <p:cNvSpPr/>
          <p:nvPr/>
        </p:nvSpPr>
        <p:spPr>
          <a:xfrm>
            <a:off x="3737437" y="3670301"/>
            <a:ext cx="2974116"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Multi-Scale Feature Extraction</a:t>
            </a:r>
            <a:endParaRPr lang="en-US" sz="900" dirty="0"/>
          </a:p>
        </p:txBody>
      </p:sp>
      <p:sp>
        <p:nvSpPr>
          <p:cNvPr id="46" name="Text 43"/>
          <p:cNvSpPr/>
          <p:nvPr/>
        </p:nvSpPr>
        <p:spPr>
          <a:xfrm>
            <a:off x="6711553" y="3670301"/>
            <a:ext cx="10001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92.49</a:t>
            </a:r>
            <a:endParaRPr lang="en-US" sz="900" dirty="0"/>
          </a:p>
        </p:txBody>
      </p:sp>
      <p:sp>
        <p:nvSpPr>
          <p:cNvPr id="47" name="Text 44"/>
          <p:cNvSpPr/>
          <p:nvPr/>
        </p:nvSpPr>
        <p:spPr>
          <a:xfrm>
            <a:off x="7711678" y="3670301"/>
            <a:ext cx="857250"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2021</a:t>
            </a:r>
            <a:endParaRPr lang="en-US" sz="900" dirty="0"/>
          </a:p>
        </p:txBody>
      </p:sp>
      <p:sp>
        <p:nvSpPr>
          <p:cNvPr id="48" name="Shape 45"/>
          <p:cNvSpPr/>
          <p:nvPr/>
        </p:nvSpPr>
        <p:spPr>
          <a:xfrm>
            <a:off x="575072" y="3991226"/>
            <a:ext cx="7993856" cy="314325"/>
          </a:xfrm>
          <a:prstGeom prst="rect">
            <a:avLst/>
          </a:prstGeom>
          <a:solidFill>
            <a:srgbClr val="FFFFFF"/>
          </a:solidFill>
          <a:ln/>
        </p:spPr>
        <p:txBody>
          <a:bodyPr/>
          <a:lstStyle/>
          <a:p>
            <a:endParaRPr lang="en-US"/>
          </a:p>
        </p:txBody>
      </p:sp>
      <p:sp>
        <p:nvSpPr>
          <p:cNvPr id="49" name="Text 46"/>
          <p:cNvSpPr/>
          <p:nvPr/>
        </p:nvSpPr>
        <p:spPr>
          <a:xfrm>
            <a:off x="575072" y="3984626"/>
            <a:ext cx="4286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6</a:t>
            </a:r>
            <a:endParaRPr lang="en-US" sz="900" dirty="0"/>
          </a:p>
        </p:txBody>
      </p:sp>
      <p:sp>
        <p:nvSpPr>
          <p:cNvPr id="50" name="Text 47"/>
          <p:cNvSpPr/>
          <p:nvPr/>
        </p:nvSpPr>
        <p:spPr>
          <a:xfrm>
            <a:off x="1003697" y="3984626"/>
            <a:ext cx="2733740" cy="327526"/>
          </a:xfrm>
          <a:prstGeom prst="rect">
            <a:avLst/>
          </a:prstGeom>
          <a:noFill/>
          <a:ln/>
        </p:spPr>
        <p:txBody>
          <a:bodyPr wrap="square" lIns="93599" tIns="93599" rIns="93599" bIns="93599" rtlCol="0" anchor="ctr">
            <a:spAutoFit/>
          </a:bodyPr>
          <a:lstStyle/>
          <a:p>
            <a:pPr marL="0" indent="0">
              <a:buNone/>
            </a:pPr>
            <a:r>
              <a:rPr lang="en-US" sz="900" b="1" dirty="0">
                <a:solidFill>
                  <a:srgbClr val="34495E"/>
                </a:solidFill>
                <a:latin typeface="Noto Sans" pitchFamily="34" charset="0"/>
                <a:ea typeface="Noto Sans" pitchFamily="34" charset="-122"/>
                <a:cs typeface="Noto Sans" pitchFamily="34" charset="-120"/>
              </a:rPr>
              <a:t>Vision Transformer (ViT)</a:t>
            </a:r>
            <a:endParaRPr lang="en-US" sz="900" dirty="0"/>
          </a:p>
        </p:txBody>
      </p:sp>
      <p:sp>
        <p:nvSpPr>
          <p:cNvPr id="51" name="Text 48"/>
          <p:cNvSpPr/>
          <p:nvPr/>
        </p:nvSpPr>
        <p:spPr>
          <a:xfrm>
            <a:off x="3737437" y="3984626"/>
            <a:ext cx="2974116"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Pure Transformer Architecture</a:t>
            </a:r>
            <a:endParaRPr lang="en-US" sz="900" dirty="0"/>
          </a:p>
        </p:txBody>
      </p:sp>
      <p:sp>
        <p:nvSpPr>
          <p:cNvPr id="52" name="Text 49"/>
          <p:cNvSpPr/>
          <p:nvPr/>
        </p:nvSpPr>
        <p:spPr>
          <a:xfrm>
            <a:off x="6711553" y="3984626"/>
            <a:ext cx="1000125" cy="327526"/>
          </a:xfrm>
          <a:prstGeom prst="rect">
            <a:avLst/>
          </a:prstGeom>
          <a:noFill/>
          <a:ln/>
        </p:spPr>
        <p:txBody>
          <a:bodyPr wrap="square" lIns="93599" tIns="93599" rIns="93599" bIns="93599" rtlCol="0" anchor="ctr">
            <a:spAutoFit/>
          </a:bodyPr>
          <a:lstStyle/>
          <a:p>
            <a:pPr marL="0" indent="0" algn="ctr">
              <a:buNone/>
            </a:pPr>
            <a:r>
              <a:rPr lang="en-US" sz="900" b="1" dirty="0">
                <a:solidFill>
                  <a:srgbClr val="34495E"/>
                </a:solidFill>
                <a:latin typeface="Noto Sans" pitchFamily="34" charset="0"/>
                <a:ea typeface="Noto Sans" pitchFamily="34" charset="-122"/>
                <a:cs typeface="Noto Sans" pitchFamily="34" charset="-120"/>
              </a:rPr>
              <a:t>90.13</a:t>
            </a:r>
            <a:endParaRPr lang="en-US" sz="900" dirty="0"/>
          </a:p>
        </p:txBody>
      </p:sp>
      <p:sp>
        <p:nvSpPr>
          <p:cNvPr id="53" name="Text 50"/>
          <p:cNvSpPr/>
          <p:nvPr/>
        </p:nvSpPr>
        <p:spPr>
          <a:xfrm>
            <a:off x="7711678" y="3984626"/>
            <a:ext cx="857250" cy="327526"/>
          </a:xfrm>
          <a:prstGeom prst="rect">
            <a:avLst/>
          </a:prstGeom>
          <a:noFill/>
          <a:ln/>
        </p:spPr>
        <p:txBody>
          <a:bodyPr wrap="square" lIns="93599" tIns="93599" rIns="93599" bIns="93599"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2020</a:t>
            </a:r>
            <a:endParaRPr lang="en-US" sz="900" dirty="0"/>
          </a:p>
        </p:txBody>
      </p:sp>
      <p:sp>
        <p:nvSpPr>
          <p:cNvPr id="54" name="Text 51"/>
          <p:cNvSpPr/>
          <p:nvPr/>
        </p:nvSpPr>
        <p:spPr>
          <a:xfrm>
            <a:off x="575072" y="4497190"/>
            <a:ext cx="8001000" cy="232172"/>
          </a:xfrm>
          <a:prstGeom prst="rect">
            <a:avLst/>
          </a:prstGeom>
          <a:noFill/>
          <a:ln/>
        </p:spPr>
        <p:txBody>
          <a:bodyPr wrap="square" lIns="0" tIns="102108" rIns="0" bIns="0" rtlCol="0" anchor="ctr">
            <a:spAutoFit/>
          </a:bodyPr>
          <a:lstStyle/>
          <a:p>
            <a:pPr marL="0" indent="0" algn="ctr">
              <a:buNone/>
            </a:pPr>
            <a:r>
              <a:rPr lang="en-US" sz="680" i="1" dirty="0">
                <a:solidFill>
                  <a:srgbClr val="2E5090"/>
                </a:solidFill>
                <a:latin typeface="Noto Sans" pitchFamily="34" charset="0"/>
                <a:ea typeface="Noto Sans" pitchFamily="34" charset="-122"/>
                <a:cs typeface="Noto Sans" pitchFamily="34" charset="-120"/>
              </a:rPr>
              <a:t> → Next: Key insights on Transformer dominance, our achievement, rapid advancement, and augmentation impact </a:t>
            </a:r>
            <a:endParaRPr lang="en-US" sz="680" dirty="0"/>
          </a:p>
        </p:txBody>
      </p:sp>
      <p:pic>
        <p:nvPicPr>
          <p:cNvPr id="55" name="Picture 54">
            <a:extLst>
              <a:ext uri="{FF2B5EF4-FFF2-40B4-BE49-F238E27FC236}">
                <a16:creationId xmlns:a16="http://schemas.microsoft.com/office/drawing/2014/main" id="{FB1000AE-2845-E8DD-5756-D09730E5A283}"/>
              </a:ext>
            </a:extLst>
          </p:cNvPr>
          <p:cNvPicPr>
            <a:picLocks noChangeAspect="1"/>
          </p:cNvPicPr>
          <p:nvPr/>
        </p:nvPicPr>
        <p:blipFill>
          <a:blip r:embed="rId4"/>
          <a:stretch>
            <a:fillRect/>
          </a:stretch>
        </p:blipFill>
        <p:spPr>
          <a:xfrm>
            <a:off x="7994233" y="-52711"/>
            <a:ext cx="1141859" cy="1141859"/>
          </a:xfrm>
          <a:prstGeom prst="rect">
            <a:avLst/>
          </a:prstGeom>
        </p:spPr>
      </p:pic>
    </p:spTree>
    <p:extLst>
      <p:ext uri="{BB962C8B-B14F-4D97-AF65-F5344CB8AC3E}">
        <p14:creationId xmlns:p14="http://schemas.microsoft.com/office/powerpoint/2010/main" val="105352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560561" y="304684"/>
            <a:ext cx="1463542" cy="587212"/>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Dataset:</a:t>
            </a:r>
            <a:endParaRPr lang="en-US" sz="2700" dirty="0"/>
          </a:p>
        </p:txBody>
      </p:sp>
      <p:sp>
        <p:nvSpPr>
          <p:cNvPr id="4" name="Shape 1"/>
          <p:cNvSpPr/>
          <p:nvPr/>
        </p:nvSpPr>
        <p:spPr>
          <a:xfrm>
            <a:off x="395808" y="1296431"/>
            <a:ext cx="3436604" cy="3061639"/>
          </a:xfrm>
          <a:prstGeom prst="rect">
            <a:avLst/>
          </a:prstGeom>
          <a:solidFill>
            <a:srgbClr val="F8F9FA"/>
          </a:solidFill>
          <a:ln/>
        </p:spPr>
        <p:txBody>
          <a:bodyPr/>
          <a:lstStyle/>
          <a:p>
            <a:endParaRPr lang="en-US"/>
          </a:p>
        </p:txBody>
      </p:sp>
      <p:sp>
        <p:nvSpPr>
          <p:cNvPr id="5" name="Shape 2"/>
          <p:cNvSpPr/>
          <p:nvPr/>
        </p:nvSpPr>
        <p:spPr>
          <a:xfrm>
            <a:off x="395808" y="1296431"/>
            <a:ext cx="45719" cy="3061640"/>
          </a:xfrm>
          <a:prstGeom prst="rect">
            <a:avLst/>
          </a:prstGeom>
          <a:solidFill>
            <a:srgbClr val="2E5090"/>
          </a:solidFill>
          <a:ln/>
        </p:spPr>
        <p:txBody>
          <a:bodyPr/>
          <a:lstStyle/>
          <a:p>
            <a:endParaRPr lang="en-US"/>
          </a:p>
        </p:txBody>
      </p:sp>
      <p:sp>
        <p:nvSpPr>
          <p:cNvPr id="7" name="Text 4"/>
          <p:cNvSpPr/>
          <p:nvPr/>
        </p:nvSpPr>
        <p:spPr>
          <a:xfrm>
            <a:off x="538683" y="1381023"/>
            <a:ext cx="1433085" cy="215444"/>
          </a:xfrm>
          <a:prstGeom prst="rect">
            <a:avLst/>
          </a:prstGeom>
          <a:noFill/>
          <a:ln/>
        </p:spPr>
        <p:txBody>
          <a:bodyPr wrap="none" lIns="0" tIns="0" rIns="0" bIns="0" rtlCol="0" anchor="ctr">
            <a:spAutoFit/>
          </a:bodyPr>
          <a:lstStyle/>
          <a:p>
            <a:pPr marL="0" indent="0">
              <a:buNone/>
            </a:pPr>
            <a:r>
              <a:rPr lang="en-US" sz="1400" b="1" dirty="0">
                <a:solidFill>
                  <a:srgbClr val="1A3A52"/>
                </a:solidFill>
                <a:latin typeface="Noto Sans" pitchFamily="34" charset="0"/>
                <a:ea typeface="Noto Sans" pitchFamily="34" charset="-122"/>
                <a:cs typeface="Noto Sans" pitchFamily="34" charset="-120"/>
              </a:rPr>
              <a:t>Dataset Details:</a:t>
            </a:r>
            <a:endParaRPr lang="en-US" sz="1400" dirty="0"/>
          </a:p>
        </p:txBody>
      </p:sp>
      <p:sp>
        <p:nvSpPr>
          <p:cNvPr id="8" name="Text 5"/>
          <p:cNvSpPr/>
          <p:nvPr/>
        </p:nvSpPr>
        <p:spPr>
          <a:xfrm>
            <a:off x="538683" y="1731067"/>
            <a:ext cx="3293729" cy="2501198"/>
          </a:xfrm>
          <a:prstGeom prst="rect">
            <a:avLst/>
          </a:prstGeom>
          <a:noFill/>
          <a:ln/>
        </p:spPr>
        <p:txBody>
          <a:bodyPr wrap="square" lIns="0" tIns="0" rIns="0" bIns="0" rtlCol="0" anchor="ctr">
            <a:spAutoFit/>
          </a:bodyPr>
          <a:lstStyle/>
          <a:p>
            <a:pPr marL="0" indent="0">
              <a:lnSpc>
                <a:spcPct val="150000"/>
              </a:lnSpc>
              <a:buNone/>
            </a:pPr>
            <a:r>
              <a:rPr lang="en-US" sz="1100" b="1" dirty="0">
                <a:solidFill>
                  <a:schemeClr val="accent2"/>
                </a:solidFill>
                <a:latin typeface="Noto Sans" pitchFamily="34" charset="0"/>
                <a:ea typeface="Noto Sans" pitchFamily="34" charset="-122"/>
                <a:cs typeface="Noto Sans" pitchFamily="34" charset="-120"/>
              </a:rPr>
              <a:t>Name:</a:t>
            </a:r>
            <a:r>
              <a:rPr lang="en-US" sz="1100" b="1" dirty="0">
                <a:solidFill>
                  <a:srgbClr val="2E5090"/>
                </a:solidFill>
                <a:latin typeface="Noto Sans" pitchFamily="34" charset="0"/>
                <a:ea typeface="Noto Sans" pitchFamily="34" charset="-122"/>
                <a:cs typeface="Noto Sans" pitchFamily="34" charset="-120"/>
              </a:rPr>
              <a:t> DeFungi Dataset</a:t>
            </a:r>
          </a:p>
          <a:p>
            <a:pPr marL="0" indent="0">
              <a:lnSpc>
                <a:spcPct val="150000"/>
              </a:lnSpc>
              <a:buNone/>
            </a:pPr>
            <a:r>
              <a:rPr lang="en-US" sz="1100" b="1" dirty="0">
                <a:solidFill>
                  <a:schemeClr val="accent2"/>
                </a:solidFill>
                <a:latin typeface="Noto Sans" pitchFamily="34" charset="0"/>
                <a:ea typeface="Noto Sans" pitchFamily="34" charset="-122"/>
                <a:cs typeface="Noto Sans" pitchFamily="34" charset="-120"/>
              </a:rPr>
              <a:t>Source:</a:t>
            </a:r>
            <a:r>
              <a:rPr lang="en-US" sz="1100" b="1" dirty="0">
                <a:solidFill>
                  <a:srgbClr val="2E5090"/>
                </a:solidFill>
                <a:latin typeface="Noto Sans" pitchFamily="34" charset="0"/>
                <a:ea typeface="Noto Sans" pitchFamily="34" charset="-122"/>
                <a:cs typeface="Noto Sans" pitchFamily="34" charset="-120"/>
              </a:rPr>
              <a:t> UCI Machine Learning Repository </a:t>
            </a:r>
          </a:p>
          <a:p>
            <a:pPr marL="0" indent="0">
              <a:lnSpc>
                <a:spcPct val="150000"/>
              </a:lnSpc>
              <a:buNone/>
            </a:pPr>
            <a:r>
              <a:rPr lang="en-US" sz="1100" b="1" dirty="0">
                <a:solidFill>
                  <a:schemeClr val="accent2"/>
                </a:solidFill>
                <a:latin typeface="Noto Sans" pitchFamily="34" charset="0"/>
                <a:ea typeface="Noto Sans" pitchFamily="34" charset="-122"/>
                <a:cs typeface="Noto Sans" pitchFamily="34" charset="-120"/>
              </a:rPr>
              <a:t>Total Images:</a:t>
            </a:r>
            <a:r>
              <a:rPr lang="en-US" sz="1100" b="1" dirty="0">
                <a:solidFill>
                  <a:srgbClr val="2E5090"/>
                </a:solidFill>
                <a:latin typeface="Noto Sans" pitchFamily="34" charset="0"/>
                <a:ea typeface="Noto Sans" pitchFamily="34" charset="-122"/>
                <a:cs typeface="Noto Sans" pitchFamily="34" charset="-120"/>
              </a:rPr>
              <a:t> </a:t>
            </a:r>
            <a:r>
              <a:rPr lang="en-US" sz="1100" b="1" dirty="0">
                <a:solidFill>
                  <a:schemeClr val="accent1">
                    <a:lumMod val="75000"/>
                  </a:schemeClr>
                </a:solidFill>
                <a:latin typeface="Noto Sans" pitchFamily="34" charset="0"/>
                <a:ea typeface="Noto Sans" pitchFamily="34" charset="-122"/>
                <a:cs typeface="Noto Sans" pitchFamily="34" charset="-120"/>
              </a:rPr>
              <a:t>9,114</a:t>
            </a:r>
          </a:p>
          <a:p>
            <a:pPr marL="0" indent="0">
              <a:lnSpc>
                <a:spcPct val="150000"/>
              </a:lnSpc>
              <a:buNone/>
            </a:pPr>
            <a:r>
              <a:rPr lang="en-US" sz="1100" b="1" dirty="0">
                <a:solidFill>
                  <a:schemeClr val="accent2"/>
                </a:solidFill>
                <a:latin typeface="Noto Sans" pitchFamily="34" charset="0"/>
                <a:ea typeface="Noto Sans" pitchFamily="34" charset="-122"/>
                <a:cs typeface="Noto Sans" pitchFamily="34" charset="-120"/>
              </a:rPr>
              <a:t>Classes:</a:t>
            </a:r>
            <a:r>
              <a:rPr lang="en-US" sz="1100" b="1" dirty="0">
                <a:solidFill>
                  <a:srgbClr val="2E5090"/>
                </a:solidFill>
                <a:latin typeface="Noto Sans" pitchFamily="34" charset="0"/>
                <a:ea typeface="Noto Sans" pitchFamily="34" charset="-122"/>
                <a:cs typeface="Noto Sans" pitchFamily="34" charset="-120"/>
              </a:rPr>
              <a:t> </a:t>
            </a:r>
          </a:p>
          <a:p>
            <a:pPr marL="0" indent="0">
              <a:lnSpc>
                <a:spcPct val="150000"/>
              </a:lnSpc>
              <a:buNone/>
            </a:pPr>
            <a:r>
              <a:rPr lang="en-US" sz="1050" i="1" dirty="0">
                <a:solidFill>
                  <a:srgbClr val="2E5090"/>
                </a:solidFill>
                <a:latin typeface="Noto Sans" pitchFamily="34" charset="0"/>
                <a:ea typeface="Noto Sans" pitchFamily="34" charset="-122"/>
                <a:cs typeface="Noto Sans" pitchFamily="34" charset="-120"/>
              </a:rPr>
              <a:t>5 distinct categories, manually labeled by experts</a:t>
            </a:r>
          </a:p>
          <a:p>
            <a:pPr marL="628650" lvl="1" indent="-171450">
              <a:lnSpc>
                <a:spcPct val="150000"/>
              </a:lnSpc>
              <a:buFont typeface="Arial" panose="020B0604020202020204" pitchFamily="34" charset="0"/>
              <a:buChar char="•"/>
            </a:pPr>
            <a:r>
              <a:rPr lang="en-US" sz="1100" b="1" dirty="0"/>
              <a:t>H1</a:t>
            </a:r>
            <a:r>
              <a:rPr lang="en-US" sz="1100" dirty="0"/>
              <a:t>: </a:t>
            </a:r>
            <a:r>
              <a:rPr lang="en-US" sz="1050" dirty="0">
                <a:solidFill>
                  <a:srgbClr val="2E5090"/>
                </a:solidFill>
                <a:latin typeface="Noto Sans" pitchFamily="34" charset="0"/>
                <a:ea typeface="Noto Sans" pitchFamily="34" charset="-122"/>
                <a:cs typeface="Noto Sans" pitchFamily="34" charset="-120"/>
              </a:rPr>
              <a:t>Candida albicans</a:t>
            </a:r>
          </a:p>
          <a:p>
            <a:pPr marL="628650" lvl="1" indent="-171450">
              <a:lnSpc>
                <a:spcPct val="150000"/>
              </a:lnSpc>
              <a:buFont typeface="Arial" panose="020B0604020202020204" pitchFamily="34" charset="0"/>
              <a:buChar char="•"/>
            </a:pPr>
            <a:r>
              <a:rPr lang="en-US" sz="1100" b="1" dirty="0"/>
              <a:t>H2:</a:t>
            </a:r>
            <a:r>
              <a:rPr lang="en-US" sz="1100" dirty="0"/>
              <a:t> </a:t>
            </a:r>
            <a:r>
              <a:rPr lang="en-US" sz="1050" dirty="0">
                <a:solidFill>
                  <a:srgbClr val="2E5090"/>
                </a:solidFill>
                <a:latin typeface="Noto Sans" pitchFamily="34" charset="0"/>
                <a:ea typeface="Noto Sans" pitchFamily="34" charset="-122"/>
                <a:cs typeface="Noto Sans" pitchFamily="34" charset="-120"/>
              </a:rPr>
              <a:t>Aspergillus Niger </a:t>
            </a:r>
          </a:p>
          <a:p>
            <a:pPr marL="628650" lvl="1" indent="-171450">
              <a:lnSpc>
                <a:spcPct val="150000"/>
              </a:lnSpc>
              <a:buFont typeface="Arial" panose="020B0604020202020204" pitchFamily="34" charset="0"/>
              <a:buChar char="•"/>
            </a:pPr>
            <a:r>
              <a:rPr lang="en-US" sz="1100" b="1" dirty="0"/>
              <a:t>H3</a:t>
            </a:r>
            <a:r>
              <a:rPr lang="en-US" sz="1100" dirty="0"/>
              <a:t>: </a:t>
            </a:r>
            <a:r>
              <a:rPr lang="en-US" sz="1050" dirty="0">
                <a:solidFill>
                  <a:srgbClr val="2E5090"/>
                </a:solidFill>
                <a:latin typeface="Noto Sans" pitchFamily="34" charset="0"/>
                <a:ea typeface="Noto Sans" pitchFamily="34" charset="-122"/>
                <a:cs typeface="Noto Sans" pitchFamily="34" charset="-120"/>
              </a:rPr>
              <a:t>Trichophyton rubrum </a:t>
            </a:r>
          </a:p>
          <a:p>
            <a:pPr marL="628650" lvl="1" indent="-171450">
              <a:lnSpc>
                <a:spcPct val="150000"/>
              </a:lnSpc>
              <a:buFont typeface="Arial" panose="020B0604020202020204" pitchFamily="34" charset="0"/>
              <a:buChar char="•"/>
            </a:pPr>
            <a:r>
              <a:rPr lang="en-US" sz="1100" b="1" dirty="0"/>
              <a:t>H5</a:t>
            </a:r>
            <a:r>
              <a:rPr lang="en-US" sz="1100" dirty="0"/>
              <a:t>: </a:t>
            </a:r>
            <a:r>
              <a:rPr lang="en-US" sz="1050" dirty="0">
                <a:solidFill>
                  <a:srgbClr val="2E5090"/>
                </a:solidFill>
                <a:latin typeface="Noto Sans" pitchFamily="34" charset="0"/>
                <a:ea typeface="Noto Sans" pitchFamily="34" charset="-122"/>
                <a:cs typeface="Noto Sans" pitchFamily="34" charset="-120"/>
              </a:rPr>
              <a:t>Trichophyton mentagrophytes </a:t>
            </a:r>
          </a:p>
          <a:p>
            <a:pPr marL="628650" lvl="1" indent="-171450">
              <a:lnSpc>
                <a:spcPct val="150000"/>
              </a:lnSpc>
              <a:buFont typeface="Arial" panose="020B0604020202020204" pitchFamily="34" charset="0"/>
              <a:buChar char="•"/>
            </a:pPr>
            <a:r>
              <a:rPr lang="en-US" sz="1100" b="1" dirty="0"/>
              <a:t>H6</a:t>
            </a:r>
            <a:r>
              <a:rPr lang="en-US" sz="1100" dirty="0"/>
              <a:t>: </a:t>
            </a:r>
            <a:r>
              <a:rPr lang="en-US" sz="1050" dirty="0">
                <a:solidFill>
                  <a:srgbClr val="2E5090"/>
                </a:solidFill>
                <a:latin typeface="Noto Sans" pitchFamily="34" charset="0"/>
                <a:ea typeface="Noto Sans" pitchFamily="34" charset="-122"/>
                <a:cs typeface="Noto Sans" pitchFamily="34" charset="-120"/>
              </a:rPr>
              <a:t>Epidermophyton floccosum</a:t>
            </a:r>
          </a:p>
        </p:txBody>
      </p:sp>
      <p:pic>
        <p:nvPicPr>
          <p:cNvPr id="43" name="Picture 42">
            <a:extLst>
              <a:ext uri="{FF2B5EF4-FFF2-40B4-BE49-F238E27FC236}">
                <a16:creationId xmlns:a16="http://schemas.microsoft.com/office/drawing/2014/main" id="{FEB1FF4E-7FE7-2616-3EA4-AB11F61E706E}"/>
              </a:ext>
            </a:extLst>
          </p:cNvPr>
          <p:cNvPicPr>
            <a:picLocks noChangeAspect="1"/>
          </p:cNvPicPr>
          <p:nvPr/>
        </p:nvPicPr>
        <p:blipFill>
          <a:blip r:embed="rId3"/>
          <a:stretch>
            <a:fillRect/>
          </a:stretch>
        </p:blipFill>
        <p:spPr>
          <a:xfrm>
            <a:off x="7994233" y="-52711"/>
            <a:ext cx="1141859" cy="1141859"/>
          </a:xfrm>
          <a:prstGeom prst="rect">
            <a:avLst/>
          </a:prstGeom>
        </p:spPr>
      </p:pic>
      <p:pic>
        <p:nvPicPr>
          <p:cNvPr id="45" name="Picture 44">
            <a:extLst>
              <a:ext uri="{FF2B5EF4-FFF2-40B4-BE49-F238E27FC236}">
                <a16:creationId xmlns:a16="http://schemas.microsoft.com/office/drawing/2014/main" id="{6CCF6A49-DB6E-5C5D-E1BD-E212683EFEB9}"/>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524" b="89286" l="9649" r="92544">
                        <a14:foregroundMark x1="49561" y1="36905" x2="52632" y2="28571"/>
                        <a14:foregroundMark x1="48246" y1="29762" x2="50877" y2="35714"/>
                        <a14:foregroundMark x1="64912" y1="32143" x2="64912" y2="32143"/>
                        <a14:foregroundMark x1="60526" y1="34524" x2="60526" y2="34524"/>
                        <a14:foregroundMark x1="57018" y1="34524" x2="57018" y2="34524"/>
                        <a14:foregroundMark x1="64035" y1="29762" x2="64035" y2="29762"/>
                        <a14:foregroundMark x1="69737" y1="35714" x2="69737" y2="35714"/>
                        <a14:foregroundMark x1="70614" y1="34524" x2="70614" y2="34524"/>
                        <a14:foregroundMark x1="50877" y1="36905" x2="50877" y2="36905"/>
                        <a14:foregroundMark x1="52193" y1="30952" x2="68860" y2="29762"/>
                        <a14:foregroundMark x1="47807" y1="33333" x2="70175" y2="26190"/>
                        <a14:foregroundMark x1="50000" y1="28571" x2="73684" y2="34524"/>
                        <a14:foregroundMark x1="48246" y1="53571" x2="86842" y2="48810"/>
                        <a14:foregroundMark x1="86842" y1="48810" x2="92544" y2="48810"/>
                        <a14:foregroundMark x1="47807" y1="72619" x2="74561" y2="79762"/>
                        <a14:foregroundMark x1="74561" y1="79762" x2="54825" y2="82143"/>
                        <a14:foregroundMark x1="79825" y1="47619" x2="75000" y2="48810"/>
                        <a14:foregroundMark x1="90789" y1="60714" x2="73684" y2="65476"/>
                        <a14:foregroundMark x1="92105" y1="51190" x2="85526" y2="50000"/>
                        <a14:foregroundMark x1="50877" y1="77381" x2="46930" y2="72619"/>
                      </a14:backgroundRemoval>
                    </a14:imgEffect>
                  </a14:imgLayer>
                </a14:imgProps>
              </a:ext>
            </a:extLst>
          </a:blip>
          <a:stretch>
            <a:fillRect/>
          </a:stretch>
        </p:blipFill>
        <p:spPr>
          <a:xfrm>
            <a:off x="4116328" y="186526"/>
            <a:ext cx="2449973" cy="902622"/>
          </a:xfrm>
          <a:prstGeom prst="rect">
            <a:avLst/>
          </a:prstGeom>
        </p:spPr>
      </p:pic>
      <p:pic>
        <p:nvPicPr>
          <p:cNvPr id="47" name="Picture 46">
            <a:extLst>
              <a:ext uri="{FF2B5EF4-FFF2-40B4-BE49-F238E27FC236}">
                <a16:creationId xmlns:a16="http://schemas.microsoft.com/office/drawing/2014/main" id="{03A3E8E6-028F-386D-A5D9-9A9739E721B0}"/>
              </a:ext>
            </a:extLst>
          </p:cNvPr>
          <p:cNvPicPr>
            <a:picLocks noChangeAspect="1"/>
          </p:cNvPicPr>
          <p:nvPr/>
        </p:nvPicPr>
        <p:blipFill>
          <a:blip r:embed="rId6"/>
          <a:stretch>
            <a:fillRect/>
          </a:stretch>
        </p:blipFill>
        <p:spPr>
          <a:xfrm>
            <a:off x="3606679" y="337676"/>
            <a:ext cx="543001" cy="628738"/>
          </a:xfrm>
          <a:prstGeom prst="rect">
            <a:avLst/>
          </a:prstGeom>
        </p:spPr>
      </p:pic>
      <p:pic>
        <p:nvPicPr>
          <p:cNvPr id="50" name="Picture 49">
            <a:extLst>
              <a:ext uri="{FF2B5EF4-FFF2-40B4-BE49-F238E27FC236}">
                <a16:creationId xmlns:a16="http://schemas.microsoft.com/office/drawing/2014/main" id="{5D909FC1-F479-EB85-E5F8-6F56E29A9BFA}"/>
              </a:ext>
            </a:extLst>
          </p:cNvPr>
          <p:cNvPicPr>
            <a:picLocks noChangeAspect="1"/>
          </p:cNvPicPr>
          <p:nvPr/>
        </p:nvPicPr>
        <p:blipFill>
          <a:blip r:embed="rId7"/>
          <a:stretch>
            <a:fillRect/>
          </a:stretch>
        </p:blipFill>
        <p:spPr>
          <a:xfrm>
            <a:off x="4049806" y="1089148"/>
            <a:ext cx="4876800" cy="3657600"/>
          </a:xfrm>
          <a:prstGeom prst="rect">
            <a:avLst/>
          </a:prstGeom>
        </p:spPr>
      </p:pic>
    </p:spTree>
    <p:extLst>
      <p:ext uri="{BB962C8B-B14F-4D97-AF65-F5344CB8AC3E}">
        <p14:creationId xmlns:p14="http://schemas.microsoft.com/office/powerpoint/2010/main" val="2810925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291B1-80D1-5A28-D83A-15459C2083A9}"/>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252D66D9-4445-6EAD-5B92-17F667FAAC06}"/>
              </a:ext>
            </a:extLst>
          </p:cNvPr>
          <p:cNvSpPr/>
          <p:nvPr/>
        </p:nvSpPr>
        <p:spPr>
          <a:xfrm>
            <a:off x="560561" y="304684"/>
            <a:ext cx="3084178" cy="587212"/>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Dataset Samples:</a:t>
            </a:r>
            <a:endParaRPr lang="en-US" sz="2700" dirty="0"/>
          </a:p>
        </p:txBody>
      </p:sp>
      <p:sp>
        <p:nvSpPr>
          <p:cNvPr id="8" name="Text 5">
            <a:extLst>
              <a:ext uri="{FF2B5EF4-FFF2-40B4-BE49-F238E27FC236}">
                <a16:creationId xmlns:a16="http://schemas.microsoft.com/office/drawing/2014/main" id="{E57C4CEE-EC57-BB34-AC3D-3CD52C109015}"/>
              </a:ext>
            </a:extLst>
          </p:cNvPr>
          <p:cNvSpPr/>
          <p:nvPr/>
        </p:nvSpPr>
        <p:spPr>
          <a:xfrm>
            <a:off x="88206" y="1183901"/>
            <a:ext cx="3293729" cy="1243354"/>
          </a:xfrm>
          <a:prstGeom prst="rect">
            <a:avLst/>
          </a:prstGeom>
          <a:noFill/>
          <a:ln/>
        </p:spPr>
        <p:txBody>
          <a:bodyPr wrap="square" lIns="0" tIns="0" rIns="0" bIns="0" rtlCol="0" anchor="ctr">
            <a:spAutoFit/>
          </a:bodyPr>
          <a:lstStyle/>
          <a:p>
            <a:pPr marL="628650" lvl="1" indent="-171450">
              <a:lnSpc>
                <a:spcPct val="150000"/>
              </a:lnSpc>
              <a:buFont typeface="Arial" panose="020B0604020202020204" pitchFamily="34" charset="0"/>
              <a:buChar char="•"/>
            </a:pPr>
            <a:r>
              <a:rPr lang="en-US" sz="1100" b="1" dirty="0"/>
              <a:t>H1</a:t>
            </a:r>
            <a:r>
              <a:rPr lang="en-US" sz="1100" dirty="0"/>
              <a:t>: </a:t>
            </a:r>
            <a:r>
              <a:rPr lang="en-US" sz="1050" dirty="0">
                <a:solidFill>
                  <a:srgbClr val="2E5090"/>
                </a:solidFill>
                <a:latin typeface="Noto Sans" pitchFamily="34" charset="0"/>
                <a:ea typeface="Noto Sans" pitchFamily="34" charset="-122"/>
                <a:cs typeface="Noto Sans" pitchFamily="34" charset="-120"/>
              </a:rPr>
              <a:t>Candida albicans</a:t>
            </a:r>
          </a:p>
          <a:p>
            <a:pPr marL="628650" lvl="1" indent="-171450">
              <a:lnSpc>
                <a:spcPct val="150000"/>
              </a:lnSpc>
              <a:buFont typeface="Arial" panose="020B0604020202020204" pitchFamily="34" charset="0"/>
              <a:buChar char="•"/>
            </a:pPr>
            <a:r>
              <a:rPr lang="en-US" sz="1100" b="1" dirty="0"/>
              <a:t>H2:</a:t>
            </a:r>
            <a:r>
              <a:rPr lang="en-US" sz="1100" dirty="0"/>
              <a:t> </a:t>
            </a:r>
            <a:r>
              <a:rPr lang="en-US" sz="1050" dirty="0">
                <a:solidFill>
                  <a:srgbClr val="2E5090"/>
                </a:solidFill>
                <a:latin typeface="Noto Sans" pitchFamily="34" charset="0"/>
                <a:ea typeface="Noto Sans" pitchFamily="34" charset="-122"/>
                <a:cs typeface="Noto Sans" pitchFamily="34" charset="-120"/>
              </a:rPr>
              <a:t>Aspergillus Niger </a:t>
            </a:r>
          </a:p>
          <a:p>
            <a:pPr marL="628650" lvl="1" indent="-171450">
              <a:lnSpc>
                <a:spcPct val="150000"/>
              </a:lnSpc>
              <a:buFont typeface="Arial" panose="020B0604020202020204" pitchFamily="34" charset="0"/>
              <a:buChar char="•"/>
            </a:pPr>
            <a:r>
              <a:rPr lang="en-US" sz="1100" b="1" dirty="0"/>
              <a:t>H3</a:t>
            </a:r>
            <a:r>
              <a:rPr lang="en-US" sz="1100" dirty="0"/>
              <a:t>: </a:t>
            </a:r>
            <a:r>
              <a:rPr lang="en-US" sz="1050" dirty="0">
                <a:solidFill>
                  <a:srgbClr val="2E5090"/>
                </a:solidFill>
                <a:latin typeface="Noto Sans" pitchFamily="34" charset="0"/>
                <a:ea typeface="Noto Sans" pitchFamily="34" charset="-122"/>
                <a:cs typeface="Noto Sans" pitchFamily="34" charset="-120"/>
              </a:rPr>
              <a:t>Trichophyton rubrum </a:t>
            </a:r>
          </a:p>
          <a:p>
            <a:pPr marL="628650" lvl="1" indent="-171450">
              <a:lnSpc>
                <a:spcPct val="150000"/>
              </a:lnSpc>
              <a:buFont typeface="Arial" panose="020B0604020202020204" pitchFamily="34" charset="0"/>
              <a:buChar char="•"/>
            </a:pPr>
            <a:r>
              <a:rPr lang="en-US" sz="1100" b="1" dirty="0"/>
              <a:t>H5</a:t>
            </a:r>
            <a:r>
              <a:rPr lang="en-US" sz="1100" dirty="0"/>
              <a:t>: </a:t>
            </a:r>
            <a:r>
              <a:rPr lang="en-US" sz="1050" dirty="0">
                <a:solidFill>
                  <a:srgbClr val="2E5090"/>
                </a:solidFill>
                <a:latin typeface="Noto Sans" pitchFamily="34" charset="0"/>
                <a:ea typeface="Noto Sans" pitchFamily="34" charset="-122"/>
                <a:cs typeface="Noto Sans" pitchFamily="34" charset="-120"/>
              </a:rPr>
              <a:t>Trichophyton mentagrophytes </a:t>
            </a:r>
          </a:p>
          <a:p>
            <a:pPr marL="628650" lvl="1" indent="-171450">
              <a:lnSpc>
                <a:spcPct val="150000"/>
              </a:lnSpc>
              <a:buFont typeface="Arial" panose="020B0604020202020204" pitchFamily="34" charset="0"/>
              <a:buChar char="•"/>
            </a:pPr>
            <a:r>
              <a:rPr lang="en-US" sz="1100" b="1" dirty="0"/>
              <a:t>H6</a:t>
            </a:r>
            <a:r>
              <a:rPr lang="en-US" sz="1100" dirty="0"/>
              <a:t>: </a:t>
            </a:r>
            <a:r>
              <a:rPr lang="en-US" sz="1050" dirty="0">
                <a:solidFill>
                  <a:srgbClr val="2E5090"/>
                </a:solidFill>
                <a:latin typeface="Noto Sans" pitchFamily="34" charset="0"/>
                <a:ea typeface="Noto Sans" pitchFamily="34" charset="-122"/>
                <a:cs typeface="Noto Sans" pitchFamily="34" charset="-120"/>
              </a:rPr>
              <a:t>Epidermophyton floccosum</a:t>
            </a:r>
          </a:p>
        </p:txBody>
      </p:sp>
      <p:pic>
        <p:nvPicPr>
          <p:cNvPr id="43" name="Picture 42">
            <a:extLst>
              <a:ext uri="{FF2B5EF4-FFF2-40B4-BE49-F238E27FC236}">
                <a16:creationId xmlns:a16="http://schemas.microsoft.com/office/drawing/2014/main" id="{6AB2A274-2687-842B-F776-C56B9D8DF4BC}"/>
              </a:ext>
            </a:extLst>
          </p:cNvPr>
          <p:cNvPicPr>
            <a:picLocks noChangeAspect="1"/>
          </p:cNvPicPr>
          <p:nvPr/>
        </p:nvPicPr>
        <p:blipFill>
          <a:blip r:embed="rId3"/>
          <a:stretch>
            <a:fillRect/>
          </a:stretch>
        </p:blipFill>
        <p:spPr>
          <a:xfrm>
            <a:off x="7994233" y="-52711"/>
            <a:ext cx="1141859" cy="1141859"/>
          </a:xfrm>
          <a:prstGeom prst="rect">
            <a:avLst/>
          </a:prstGeom>
        </p:spPr>
      </p:pic>
      <p:pic>
        <p:nvPicPr>
          <p:cNvPr id="45" name="Picture 44">
            <a:extLst>
              <a:ext uri="{FF2B5EF4-FFF2-40B4-BE49-F238E27FC236}">
                <a16:creationId xmlns:a16="http://schemas.microsoft.com/office/drawing/2014/main" id="{EEBBA69E-54D5-5585-A993-6F60F979EB9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9524" b="89286" l="9649" r="92544">
                        <a14:foregroundMark x1="49561" y1="36905" x2="52632" y2="28571"/>
                        <a14:foregroundMark x1="48246" y1="29762" x2="50877" y2="35714"/>
                        <a14:foregroundMark x1="64912" y1="32143" x2="64912" y2="32143"/>
                        <a14:foregroundMark x1="60526" y1="34524" x2="60526" y2="34524"/>
                        <a14:foregroundMark x1="57018" y1="34524" x2="57018" y2="34524"/>
                        <a14:foregroundMark x1="64035" y1="29762" x2="64035" y2="29762"/>
                        <a14:foregroundMark x1="69737" y1="35714" x2="69737" y2="35714"/>
                        <a14:foregroundMark x1="70614" y1="34524" x2="70614" y2="34524"/>
                        <a14:foregroundMark x1="50877" y1="36905" x2="50877" y2="36905"/>
                        <a14:foregroundMark x1="52193" y1="30952" x2="68860" y2="29762"/>
                        <a14:foregroundMark x1="47807" y1="33333" x2="70175" y2="26190"/>
                        <a14:foregroundMark x1="50000" y1="28571" x2="73684" y2="34524"/>
                        <a14:foregroundMark x1="48246" y1="53571" x2="86842" y2="48810"/>
                        <a14:foregroundMark x1="86842" y1="48810" x2="92544" y2="48810"/>
                        <a14:foregroundMark x1="47807" y1="72619" x2="74561" y2="79762"/>
                        <a14:foregroundMark x1="74561" y1="79762" x2="54825" y2="82143"/>
                        <a14:foregroundMark x1="79825" y1="47619" x2="75000" y2="48810"/>
                        <a14:foregroundMark x1="90789" y1="60714" x2="73684" y2="65476"/>
                        <a14:foregroundMark x1="92105" y1="51190" x2="85526" y2="50000"/>
                        <a14:foregroundMark x1="50877" y1="77381" x2="46930" y2="72619"/>
                      </a14:backgroundRemoval>
                    </a14:imgEffect>
                  </a14:imgLayer>
                </a14:imgProps>
              </a:ext>
            </a:extLst>
          </a:blip>
          <a:stretch>
            <a:fillRect/>
          </a:stretch>
        </p:blipFill>
        <p:spPr>
          <a:xfrm>
            <a:off x="4116328" y="186526"/>
            <a:ext cx="2449973" cy="902622"/>
          </a:xfrm>
          <a:prstGeom prst="rect">
            <a:avLst/>
          </a:prstGeom>
        </p:spPr>
      </p:pic>
      <p:pic>
        <p:nvPicPr>
          <p:cNvPr id="47" name="Picture 46">
            <a:extLst>
              <a:ext uri="{FF2B5EF4-FFF2-40B4-BE49-F238E27FC236}">
                <a16:creationId xmlns:a16="http://schemas.microsoft.com/office/drawing/2014/main" id="{D04F64F1-BC6F-EEBE-08B0-15E731280D9B}"/>
              </a:ext>
            </a:extLst>
          </p:cNvPr>
          <p:cNvPicPr>
            <a:picLocks noChangeAspect="1"/>
          </p:cNvPicPr>
          <p:nvPr/>
        </p:nvPicPr>
        <p:blipFill>
          <a:blip r:embed="rId6"/>
          <a:stretch>
            <a:fillRect/>
          </a:stretch>
        </p:blipFill>
        <p:spPr>
          <a:xfrm>
            <a:off x="3606679" y="337676"/>
            <a:ext cx="543001" cy="628738"/>
          </a:xfrm>
          <a:prstGeom prst="rect">
            <a:avLst/>
          </a:prstGeom>
        </p:spPr>
      </p:pic>
    </p:spTree>
    <p:extLst>
      <p:ext uri="{BB962C8B-B14F-4D97-AF65-F5344CB8AC3E}">
        <p14:creationId xmlns:p14="http://schemas.microsoft.com/office/powerpoint/2010/main" val="350249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40651"/>
          </a:xfrm>
          <a:prstGeom prst="rect">
            <a:avLst/>
          </a:prstGeom>
        </p:spPr>
      </p:pic>
      <p:sp>
        <p:nvSpPr>
          <p:cNvPr id="3" name="Text 0"/>
          <p:cNvSpPr/>
          <p:nvPr/>
        </p:nvSpPr>
        <p:spPr>
          <a:xfrm>
            <a:off x="571500" y="857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Research Methodology: 4-Phase Approach</a:t>
            </a:r>
            <a:endParaRPr lang="en-US" sz="2700" dirty="0"/>
          </a:p>
        </p:txBody>
      </p:sp>
      <p:pic>
        <p:nvPicPr>
          <p:cNvPr id="14" name="Picture 13">
            <a:extLst>
              <a:ext uri="{FF2B5EF4-FFF2-40B4-BE49-F238E27FC236}">
                <a16:creationId xmlns:a16="http://schemas.microsoft.com/office/drawing/2014/main" id="{07AE7A38-DCEA-5654-05EA-5150078D079A}"/>
              </a:ext>
            </a:extLst>
          </p:cNvPr>
          <p:cNvPicPr>
            <a:picLocks noChangeAspect="1"/>
          </p:cNvPicPr>
          <p:nvPr/>
        </p:nvPicPr>
        <p:blipFill>
          <a:blip r:embed="rId4"/>
          <a:srcRect t="-1" b="-1838"/>
          <a:stretch>
            <a:fillRect/>
          </a:stretch>
        </p:blipFill>
        <p:spPr>
          <a:xfrm>
            <a:off x="2562635" y="608798"/>
            <a:ext cx="4018730" cy="4680151"/>
          </a:xfrm>
          <a:prstGeom prst="rect">
            <a:avLst/>
          </a:prstGeom>
        </p:spPr>
      </p:pic>
      <p:pic>
        <p:nvPicPr>
          <p:cNvPr id="4" name="Picture 3">
            <a:extLst>
              <a:ext uri="{FF2B5EF4-FFF2-40B4-BE49-F238E27FC236}">
                <a16:creationId xmlns:a16="http://schemas.microsoft.com/office/drawing/2014/main" id="{6A83A4C4-2550-6B87-1C88-640FEE2D5D44}"/>
              </a:ext>
            </a:extLst>
          </p:cNvPr>
          <p:cNvPicPr>
            <a:picLocks noChangeAspect="1"/>
          </p:cNvPicPr>
          <p:nvPr/>
        </p:nvPicPr>
        <p:blipFill>
          <a:blip r:embed="rId5"/>
          <a:stretch>
            <a:fillRect/>
          </a:stretch>
        </p:blipFill>
        <p:spPr>
          <a:xfrm>
            <a:off x="7994233" y="-59435"/>
            <a:ext cx="1141859" cy="1141859"/>
          </a:xfrm>
          <a:prstGeom prst="rect">
            <a:avLst/>
          </a:prstGeom>
        </p:spPr>
      </p:pic>
      <p:pic>
        <p:nvPicPr>
          <p:cNvPr id="5" name="Picture 4">
            <a:extLst>
              <a:ext uri="{FF2B5EF4-FFF2-40B4-BE49-F238E27FC236}">
                <a16:creationId xmlns:a16="http://schemas.microsoft.com/office/drawing/2014/main" id="{B06ABF59-01D7-74D6-2DA7-532F6A17B6E3}"/>
              </a:ext>
            </a:extLst>
          </p:cNvPr>
          <p:cNvPicPr>
            <a:picLocks noChangeAspect="1"/>
          </p:cNvPicPr>
          <p:nvPr/>
        </p:nvPicPr>
        <p:blipFill>
          <a:blip r:embed="rId6"/>
          <a:stretch>
            <a:fillRect/>
          </a:stretch>
        </p:blipFill>
        <p:spPr>
          <a:xfrm>
            <a:off x="4440724" y="1408176"/>
            <a:ext cx="76252" cy="88452"/>
          </a:xfrm>
          <a:prstGeom prst="rect">
            <a:avLst/>
          </a:prstGeom>
        </p:spPr>
      </p:pic>
      <p:pic>
        <p:nvPicPr>
          <p:cNvPr id="6" name="Picture 5">
            <a:extLst>
              <a:ext uri="{FF2B5EF4-FFF2-40B4-BE49-F238E27FC236}">
                <a16:creationId xmlns:a16="http://schemas.microsoft.com/office/drawing/2014/main" id="{F425AFAE-A973-8873-727A-344917E13BCB}"/>
              </a:ext>
            </a:extLst>
          </p:cNvPr>
          <p:cNvPicPr>
            <a:picLocks noChangeAspect="1"/>
          </p:cNvPicPr>
          <p:nvPr/>
        </p:nvPicPr>
        <p:blipFill>
          <a:blip r:embed="rId6"/>
          <a:stretch>
            <a:fillRect/>
          </a:stretch>
        </p:blipFill>
        <p:spPr>
          <a:xfrm>
            <a:off x="3349540" y="1414272"/>
            <a:ext cx="76252" cy="884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0C279-C0DD-B865-3A06-0D7852A2824A}"/>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FEB9997-232B-71B0-6458-61CEA9AC7A64}"/>
              </a:ext>
            </a:extLst>
          </p:cNvPr>
          <p:cNvPicPr>
            <a:picLocks noChangeAspect="1"/>
          </p:cNvPicPr>
          <p:nvPr/>
        </p:nvPicPr>
        <p:blipFill>
          <a:blip r:embed="rId3"/>
          <a:stretch>
            <a:fillRect/>
          </a:stretch>
        </p:blipFill>
        <p:spPr>
          <a:xfrm>
            <a:off x="0" y="0"/>
            <a:ext cx="9144000" cy="5340651"/>
          </a:xfrm>
          <a:prstGeom prst="rect">
            <a:avLst/>
          </a:prstGeom>
        </p:spPr>
      </p:pic>
      <p:sp>
        <p:nvSpPr>
          <p:cNvPr id="3" name="Text 0">
            <a:extLst>
              <a:ext uri="{FF2B5EF4-FFF2-40B4-BE49-F238E27FC236}">
                <a16:creationId xmlns:a16="http://schemas.microsoft.com/office/drawing/2014/main" id="{4EC08F20-EA4C-93EC-0ABB-C1B408EDFAF0}"/>
              </a:ext>
            </a:extLst>
          </p:cNvPr>
          <p:cNvSpPr/>
          <p:nvPr/>
        </p:nvSpPr>
        <p:spPr>
          <a:xfrm>
            <a:off x="548351" y="289729"/>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Research Methodology: 4-Phase Approach</a:t>
            </a:r>
            <a:endParaRPr lang="en-US" sz="2700" dirty="0"/>
          </a:p>
        </p:txBody>
      </p:sp>
      <p:pic>
        <p:nvPicPr>
          <p:cNvPr id="6" name="Picture 5">
            <a:extLst>
              <a:ext uri="{FF2B5EF4-FFF2-40B4-BE49-F238E27FC236}">
                <a16:creationId xmlns:a16="http://schemas.microsoft.com/office/drawing/2014/main" id="{01B20DEC-2CB2-D6A8-820F-1B1117BBC12F}"/>
              </a:ext>
            </a:extLst>
          </p:cNvPr>
          <p:cNvPicPr>
            <a:picLocks noChangeAspect="1"/>
          </p:cNvPicPr>
          <p:nvPr/>
        </p:nvPicPr>
        <p:blipFill>
          <a:blip r:embed="rId4"/>
          <a:srcRect t="-2306" b="59496"/>
          <a:stretch>
            <a:fillRect/>
          </a:stretch>
        </p:blipFill>
        <p:spPr>
          <a:xfrm>
            <a:off x="696651" y="632629"/>
            <a:ext cx="7750697" cy="4221142"/>
          </a:xfrm>
          <a:prstGeom prst="rect">
            <a:avLst/>
          </a:prstGeom>
        </p:spPr>
      </p:pic>
      <p:pic>
        <p:nvPicPr>
          <p:cNvPr id="4" name="Picture 3">
            <a:extLst>
              <a:ext uri="{FF2B5EF4-FFF2-40B4-BE49-F238E27FC236}">
                <a16:creationId xmlns:a16="http://schemas.microsoft.com/office/drawing/2014/main" id="{B5FD599F-1F85-8434-1512-EF2E250FCB6F}"/>
              </a:ext>
            </a:extLst>
          </p:cNvPr>
          <p:cNvPicPr>
            <a:picLocks noChangeAspect="1"/>
          </p:cNvPicPr>
          <p:nvPr/>
        </p:nvPicPr>
        <p:blipFill>
          <a:blip r:embed="rId5"/>
          <a:stretch>
            <a:fillRect/>
          </a:stretch>
        </p:blipFill>
        <p:spPr>
          <a:xfrm>
            <a:off x="7994233" y="-59435"/>
            <a:ext cx="1141859" cy="1141859"/>
          </a:xfrm>
          <a:prstGeom prst="rect">
            <a:avLst/>
          </a:prstGeom>
        </p:spPr>
      </p:pic>
      <p:pic>
        <p:nvPicPr>
          <p:cNvPr id="7" name="Picture 6">
            <a:extLst>
              <a:ext uri="{FF2B5EF4-FFF2-40B4-BE49-F238E27FC236}">
                <a16:creationId xmlns:a16="http://schemas.microsoft.com/office/drawing/2014/main" id="{208301E8-D644-9B25-C060-3EA9D817B6BE}"/>
              </a:ext>
            </a:extLst>
          </p:cNvPr>
          <p:cNvPicPr>
            <a:picLocks noChangeAspect="1"/>
          </p:cNvPicPr>
          <p:nvPr/>
        </p:nvPicPr>
        <p:blipFill>
          <a:blip r:embed="rId6"/>
          <a:stretch>
            <a:fillRect/>
          </a:stretch>
        </p:blipFill>
        <p:spPr>
          <a:xfrm>
            <a:off x="4308189" y="2571750"/>
            <a:ext cx="124205" cy="144078"/>
          </a:xfrm>
          <a:prstGeom prst="rect">
            <a:avLst/>
          </a:prstGeom>
        </p:spPr>
      </p:pic>
      <p:pic>
        <p:nvPicPr>
          <p:cNvPr id="8" name="Picture 7">
            <a:extLst>
              <a:ext uri="{FF2B5EF4-FFF2-40B4-BE49-F238E27FC236}">
                <a16:creationId xmlns:a16="http://schemas.microsoft.com/office/drawing/2014/main" id="{7F64508B-683B-9A0B-1F33-BBF1D791B73E}"/>
              </a:ext>
            </a:extLst>
          </p:cNvPr>
          <p:cNvPicPr>
            <a:picLocks noChangeAspect="1"/>
          </p:cNvPicPr>
          <p:nvPr/>
        </p:nvPicPr>
        <p:blipFill>
          <a:blip r:embed="rId6"/>
          <a:stretch>
            <a:fillRect/>
          </a:stretch>
        </p:blipFill>
        <p:spPr>
          <a:xfrm>
            <a:off x="2248548" y="2557146"/>
            <a:ext cx="124205" cy="144078"/>
          </a:xfrm>
          <a:prstGeom prst="rect">
            <a:avLst/>
          </a:prstGeom>
        </p:spPr>
      </p:pic>
    </p:spTree>
    <p:extLst>
      <p:ext uri="{BB962C8B-B14F-4D97-AF65-F5344CB8AC3E}">
        <p14:creationId xmlns:p14="http://schemas.microsoft.com/office/powerpoint/2010/main" val="3326643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A7823-1630-C96D-494A-2A35C0AD7C4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2794F42D-F831-8CD9-0E5E-E05310EF7E2C}"/>
              </a:ext>
            </a:extLst>
          </p:cNvPr>
          <p:cNvPicPr>
            <a:picLocks noChangeAspect="1"/>
          </p:cNvPicPr>
          <p:nvPr/>
        </p:nvPicPr>
        <p:blipFill>
          <a:blip r:embed="rId3"/>
          <a:stretch>
            <a:fillRect/>
          </a:stretch>
        </p:blipFill>
        <p:spPr>
          <a:xfrm>
            <a:off x="0" y="0"/>
            <a:ext cx="9144000" cy="5340651"/>
          </a:xfrm>
          <a:prstGeom prst="rect">
            <a:avLst/>
          </a:prstGeom>
        </p:spPr>
      </p:pic>
      <p:sp>
        <p:nvSpPr>
          <p:cNvPr id="3" name="Text 0">
            <a:extLst>
              <a:ext uri="{FF2B5EF4-FFF2-40B4-BE49-F238E27FC236}">
                <a16:creationId xmlns:a16="http://schemas.microsoft.com/office/drawing/2014/main" id="{B4137EA1-BD30-EB3F-CF23-246831F83D1D}"/>
              </a:ext>
            </a:extLst>
          </p:cNvPr>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Research Methodology: 4-Phase Approach</a:t>
            </a:r>
            <a:endParaRPr lang="en-US" sz="2700" dirty="0"/>
          </a:p>
        </p:txBody>
      </p:sp>
      <p:pic>
        <p:nvPicPr>
          <p:cNvPr id="4" name="Picture 3">
            <a:extLst>
              <a:ext uri="{FF2B5EF4-FFF2-40B4-BE49-F238E27FC236}">
                <a16:creationId xmlns:a16="http://schemas.microsoft.com/office/drawing/2014/main" id="{0B423BF0-DD8A-E107-0986-9B26FBA002B6}"/>
              </a:ext>
            </a:extLst>
          </p:cNvPr>
          <p:cNvPicPr>
            <a:picLocks noChangeAspect="1"/>
          </p:cNvPicPr>
          <p:nvPr/>
        </p:nvPicPr>
        <p:blipFill>
          <a:blip r:embed="rId4"/>
          <a:srcRect t="37172" b="24611"/>
          <a:stretch>
            <a:fillRect/>
          </a:stretch>
        </p:blipFill>
        <p:spPr>
          <a:xfrm>
            <a:off x="1165861" y="901853"/>
            <a:ext cx="7200900" cy="4332515"/>
          </a:xfrm>
          <a:prstGeom prst="rect">
            <a:avLst/>
          </a:prstGeom>
        </p:spPr>
      </p:pic>
      <p:pic>
        <p:nvPicPr>
          <p:cNvPr id="5" name="Picture 4">
            <a:extLst>
              <a:ext uri="{FF2B5EF4-FFF2-40B4-BE49-F238E27FC236}">
                <a16:creationId xmlns:a16="http://schemas.microsoft.com/office/drawing/2014/main" id="{216C1415-DABC-006C-6602-83DF59595F9A}"/>
              </a:ext>
            </a:extLst>
          </p:cNvPr>
          <p:cNvPicPr>
            <a:picLocks noChangeAspect="1"/>
          </p:cNvPicPr>
          <p:nvPr/>
        </p:nvPicPr>
        <p:blipFill>
          <a:blip r:embed="rId5"/>
          <a:stretch>
            <a:fillRect/>
          </a:stretch>
        </p:blipFill>
        <p:spPr>
          <a:xfrm>
            <a:off x="7994233" y="-52711"/>
            <a:ext cx="1141859" cy="1141859"/>
          </a:xfrm>
          <a:prstGeom prst="rect">
            <a:avLst/>
          </a:prstGeom>
        </p:spPr>
      </p:pic>
    </p:spTree>
    <p:extLst>
      <p:ext uri="{BB962C8B-B14F-4D97-AF65-F5344CB8AC3E}">
        <p14:creationId xmlns:p14="http://schemas.microsoft.com/office/powerpoint/2010/main" val="5357842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070F2-865C-C564-83AD-3B9BD686913D}"/>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7B7B183-D6DA-7963-1AE6-29926119E3ED}"/>
              </a:ext>
            </a:extLst>
          </p:cNvPr>
          <p:cNvPicPr>
            <a:picLocks noChangeAspect="1"/>
          </p:cNvPicPr>
          <p:nvPr/>
        </p:nvPicPr>
        <p:blipFill>
          <a:blip r:embed="rId3"/>
          <a:stretch>
            <a:fillRect/>
          </a:stretch>
        </p:blipFill>
        <p:spPr>
          <a:xfrm>
            <a:off x="0" y="0"/>
            <a:ext cx="9144000" cy="5340651"/>
          </a:xfrm>
          <a:prstGeom prst="rect">
            <a:avLst/>
          </a:prstGeom>
        </p:spPr>
      </p:pic>
      <p:sp>
        <p:nvSpPr>
          <p:cNvPr id="3" name="Text 0">
            <a:extLst>
              <a:ext uri="{FF2B5EF4-FFF2-40B4-BE49-F238E27FC236}">
                <a16:creationId xmlns:a16="http://schemas.microsoft.com/office/drawing/2014/main" id="{6DDB20EC-875E-F3D2-CBEC-A49AE148CD32}"/>
              </a:ext>
            </a:extLst>
          </p:cNvPr>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Research Methodology: 4-Phase Approach</a:t>
            </a:r>
            <a:endParaRPr lang="en-US" sz="2700" dirty="0"/>
          </a:p>
        </p:txBody>
      </p:sp>
      <p:pic>
        <p:nvPicPr>
          <p:cNvPr id="4" name="Picture 3">
            <a:extLst>
              <a:ext uri="{FF2B5EF4-FFF2-40B4-BE49-F238E27FC236}">
                <a16:creationId xmlns:a16="http://schemas.microsoft.com/office/drawing/2014/main" id="{9BE67631-28D8-1403-F5DE-10E1A9078DAA}"/>
              </a:ext>
            </a:extLst>
          </p:cNvPr>
          <p:cNvPicPr>
            <a:picLocks noChangeAspect="1"/>
          </p:cNvPicPr>
          <p:nvPr/>
        </p:nvPicPr>
        <p:blipFill>
          <a:blip r:embed="rId4"/>
          <a:srcRect l="-2858" t="72931" r="741" b="-11148"/>
          <a:stretch>
            <a:fillRect/>
          </a:stretch>
        </p:blipFill>
        <p:spPr>
          <a:xfrm>
            <a:off x="571500" y="1335796"/>
            <a:ext cx="7851139" cy="5065004"/>
          </a:xfrm>
          <a:prstGeom prst="rect">
            <a:avLst/>
          </a:prstGeom>
        </p:spPr>
      </p:pic>
      <p:pic>
        <p:nvPicPr>
          <p:cNvPr id="5" name="Picture 4">
            <a:extLst>
              <a:ext uri="{FF2B5EF4-FFF2-40B4-BE49-F238E27FC236}">
                <a16:creationId xmlns:a16="http://schemas.microsoft.com/office/drawing/2014/main" id="{52543E48-E50F-8938-688A-0307CA851126}"/>
              </a:ext>
            </a:extLst>
          </p:cNvPr>
          <p:cNvPicPr>
            <a:picLocks noChangeAspect="1"/>
          </p:cNvPicPr>
          <p:nvPr/>
        </p:nvPicPr>
        <p:blipFill>
          <a:blip r:embed="rId5"/>
          <a:stretch>
            <a:fillRect/>
          </a:stretch>
        </p:blipFill>
        <p:spPr>
          <a:xfrm>
            <a:off x="7994233" y="-59435"/>
            <a:ext cx="1141859" cy="1141859"/>
          </a:xfrm>
          <a:prstGeom prst="rect">
            <a:avLst/>
          </a:prstGeom>
        </p:spPr>
      </p:pic>
    </p:spTree>
    <p:extLst>
      <p:ext uri="{BB962C8B-B14F-4D97-AF65-F5344CB8AC3E}">
        <p14:creationId xmlns:p14="http://schemas.microsoft.com/office/powerpoint/2010/main" val="2614436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8A494-8B09-B2FD-0586-0E4F3DB723F8}"/>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94A6A3B2-55FF-1EFB-F534-A6BFC669D605}"/>
              </a:ext>
            </a:extLst>
          </p:cNvPr>
          <p:cNvPicPr>
            <a:picLocks noChangeAspect="1"/>
          </p:cNvPicPr>
          <p:nvPr/>
        </p:nvPicPr>
        <p:blipFill>
          <a:blip r:embed="rId3"/>
          <a:stretch>
            <a:fillRect/>
          </a:stretch>
        </p:blipFill>
        <p:spPr>
          <a:xfrm>
            <a:off x="0" y="0"/>
            <a:ext cx="9144000" cy="5340651"/>
          </a:xfrm>
          <a:prstGeom prst="rect">
            <a:avLst/>
          </a:prstGeom>
        </p:spPr>
      </p:pic>
      <p:sp>
        <p:nvSpPr>
          <p:cNvPr id="3" name="Text 0">
            <a:extLst>
              <a:ext uri="{FF2B5EF4-FFF2-40B4-BE49-F238E27FC236}">
                <a16:creationId xmlns:a16="http://schemas.microsoft.com/office/drawing/2014/main" id="{4B872B20-7608-C4CF-66F9-7ABE091991A0}"/>
              </a:ext>
            </a:extLst>
          </p:cNvPr>
          <p:cNvSpPr/>
          <p:nvPr/>
        </p:nvSpPr>
        <p:spPr>
          <a:xfrm>
            <a:off x="449771" y="125966"/>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Research Methodology: 4-Phase Approach</a:t>
            </a:r>
            <a:endParaRPr lang="en-US" sz="2700" dirty="0"/>
          </a:p>
        </p:txBody>
      </p:sp>
      <p:pic>
        <p:nvPicPr>
          <p:cNvPr id="5" name="Image 1" descr="preencoded.png">
            <a:extLst>
              <a:ext uri="{FF2B5EF4-FFF2-40B4-BE49-F238E27FC236}">
                <a16:creationId xmlns:a16="http://schemas.microsoft.com/office/drawing/2014/main" id="{14BC55C4-5A72-91DD-64A7-E71D8472D33A}"/>
              </a:ext>
            </a:extLst>
          </p:cNvPr>
          <p:cNvPicPr>
            <a:picLocks noChangeAspect="1"/>
          </p:cNvPicPr>
          <p:nvPr/>
        </p:nvPicPr>
        <p:blipFill>
          <a:blip r:embed="rId4"/>
          <a:stretch>
            <a:fillRect/>
          </a:stretch>
        </p:blipFill>
        <p:spPr>
          <a:xfrm>
            <a:off x="-2550160" y="595560"/>
            <a:ext cx="14305280" cy="3686811"/>
          </a:xfrm>
          <a:prstGeom prst="rect">
            <a:avLst/>
          </a:prstGeom>
        </p:spPr>
      </p:pic>
      <p:sp>
        <p:nvSpPr>
          <p:cNvPr id="6" name="Text 2">
            <a:extLst>
              <a:ext uri="{FF2B5EF4-FFF2-40B4-BE49-F238E27FC236}">
                <a16:creationId xmlns:a16="http://schemas.microsoft.com/office/drawing/2014/main" id="{B22630A7-0520-996F-EAAC-1377C2EDC7C1}"/>
              </a:ext>
            </a:extLst>
          </p:cNvPr>
          <p:cNvSpPr/>
          <p:nvPr/>
        </p:nvSpPr>
        <p:spPr>
          <a:xfrm>
            <a:off x="1008077" y="4386356"/>
            <a:ext cx="1473160" cy="161583"/>
          </a:xfrm>
          <a:prstGeom prst="rect">
            <a:avLst/>
          </a:prstGeom>
          <a:noFill/>
          <a:ln/>
        </p:spPr>
        <p:txBody>
          <a:bodyPr wrap="non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 This project adopts an </a:t>
            </a:r>
            <a:endParaRPr lang="en-US" sz="1050" dirty="0"/>
          </a:p>
        </p:txBody>
      </p:sp>
      <p:sp>
        <p:nvSpPr>
          <p:cNvPr id="7" name="Text 3">
            <a:extLst>
              <a:ext uri="{FF2B5EF4-FFF2-40B4-BE49-F238E27FC236}">
                <a16:creationId xmlns:a16="http://schemas.microsoft.com/office/drawing/2014/main" id="{CFE4AC6B-F6F3-3293-A12E-E1272AD01588}"/>
              </a:ext>
            </a:extLst>
          </p:cNvPr>
          <p:cNvSpPr/>
          <p:nvPr/>
        </p:nvSpPr>
        <p:spPr>
          <a:xfrm>
            <a:off x="2481237" y="4396086"/>
            <a:ext cx="2374048" cy="161583"/>
          </a:xfrm>
          <a:prstGeom prst="rect">
            <a:avLst/>
          </a:prstGeom>
          <a:noFill/>
          <a:ln/>
        </p:spPr>
        <p:txBody>
          <a:bodyPr wrap="none" lIns="0" tIns="0" rIns="0" bIns="0" rtlCol="0" anchor="ctr">
            <a:spAutoFit/>
          </a:bodyPr>
          <a:lstStyle/>
          <a:p>
            <a:pPr marL="0" indent="0" algn="ctr">
              <a:buNone/>
            </a:pPr>
            <a:r>
              <a:rPr lang="en-US" sz="1050" b="1" dirty="0">
                <a:solidFill>
                  <a:srgbClr val="2E5090"/>
                </a:solidFill>
                <a:latin typeface="Noto Sans" pitchFamily="34" charset="0"/>
                <a:ea typeface="Noto Sans" pitchFamily="34" charset="-122"/>
                <a:cs typeface="Noto Sans" pitchFamily="34" charset="-120"/>
              </a:rPr>
              <a:t>Agile Software Development Model</a:t>
            </a:r>
            <a:endParaRPr lang="en-US" sz="1050" dirty="0"/>
          </a:p>
        </p:txBody>
      </p:sp>
      <p:sp>
        <p:nvSpPr>
          <p:cNvPr id="8" name="Text 4">
            <a:extLst>
              <a:ext uri="{FF2B5EF4-FFF2-40B4-BE49-F238E27FC236}">
                <a16:creationId xmlns:a16="http://schemas.microsoft.com/office/drawing/2014/main" id="{C824A2D4-EA2B-F50E-1F3B-32CF22A86F12}"/>
              </a:ext>
            </a:extLst>
          </p:cNvPr>
          <p:cNvSpPr/>
          <p:nvPr/>
        </p:nvSpPr>
        <p:spPr>
          <a:xfrm>
            <a:off x="4833191" y="4386355"/>
            <a:ext cx="1030731" cy="161583"/>
          </a:xfrm>
          <a:prstGeom prst="rect">
            <a:avLst/>
          </a:prstGeom>
          <a:noFill/>
          <a:ln/>
        </p:spPr>
        <p:txBody>
          <a:bodyPr wrap="non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 with a rigorous </a:t>
            </a:r>
            <a:endParaRPr lang="en-US" sz="1050" dirty="0"/>
          </a:p>
        </p:txBody>
      </p:sp>
      <p:sp>
        <p:nvSpPr>
          <p:cNvPr id="9" name="Text 5">
            <a:extLst>
              <a:ext uri="{FF2B5EF4-FFF2-40B4-BE49-F238E27FC236}">
                <a16:creationId xmlns:a16="http://schemas.microsoft.com/office/drawing/2014/main" id="{8CFA483B-E932-DCF7-40EA-BF14DD0A8C87}"/>
              </a:ext>
            </a:extLst>
          </p:cNvPr>
          <p:cNvSpPr/>
          <p:nvPr/>
        </p:nvSpPr>
        <p:spPr>
          <a:xfrm>
            <a:off x="5841828" y="4396086"/>
            <a:ext cx="1195840" cy="161583"/>
          </a:xfrm>
          <a:prstGeom prst="rect">
            <a:avLst/>
          </a:prstGeom>
          <a:noFill/>
          <a:ln/>
        </p:spPr>
        <p:txBody>
          <a:bodyPr wrap="none" lIns="0" tIns="0" rIns="0" bIns="0" rtlCol="0" anchor="ctr">
            <a:spAutoFit/>
          </a:bodyPr>
          <a:lstStyle/>
          <a:p>
            <a:pPr marL="0" indent="0" algn="ctr">
              <a:buNone/>
            </a:pPr>
            <a:r>
              <a:rPr lang="en-US" sz="1050" b="1" dirty="0">
                <a:solidFill>
                  <a:srgbClr val="2E5090"/>
                </a:solidFill>
                <a:latin typeface="Noto Sans" pitchFamily="34" charset="0"/>
                <a:ea typeface="Noto Sans" pitchFamily="34" charset="-122"/>
                <a:cs typeface="Noto Sans" pitchFamily="34" charset="-120"/>
              </a:rPr>
              <a:t>4-phase approach</a:t>
            </a:r>
            <a:endParaRPr lang="en-US" sz="1050" dirty="0"/>
          </a:p>
        </p:txBody>
      </p:sp>
      <p:sp>
        <p:nvSpPr>
          <p:cNvPr id="10" name="Text 6">
            <a:extLst>
              <a:ext uri="{FF2B5EF4-FFF2-40B4-BE49-F238E27FC236}">
                <a16:creationId xmlns:a16="http://schemas.microsoft.com/office/drawing/2014/main" id="{3C80D98A-4C55-3174-4B5C-E8CB6C9D34C3}"/>
              </a:ext>
            </a:extLst>
          </p:cNvPr>
          <p:cNvSpPr/>
          <p:nvPr/>
        </p:nvSpPr>
        <p:spPr>
          <a:xfrm>
            <a:off x="7037668" y="4396086"/>
            <a:ext cx="1389804" cy="161583"/>
          </a:xfrm>
          <a:prstGeom prst="rect">
            <a:avLst/>
          </a:prstGeom>
          <a:noFill/>
          <a:ln/>
        </p:spPr>
        <p:txBody>
          <a:bodyPr wrap="non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 for model evaluation </a:t>
            </a:r>
            <a:endParaRPr lang="en-US" sz="1050" dirty="0"/>
          </a:p>
        </p:txBody>
      </p:sp>
      <p:sp>
        <p:nvSpPr>
          <p:cNvPr id="11" name="Text 7">
            <a:extLst>
              <a:ext uri="{FF2B5EF4-FFF2-40B4-BE49-F238E27FC236}">
                <a16:creationId xmlns:a16="http://schemas.microsoft.com/office/drawing/2014/main" id="{3EEBCBF1-50A4-DA8D-F984-32FC95A1A7BD}"/>
              </a:ext>
            </a:extLst>
          </p:cNvPr>
          <p:cNvSpPr/>
          <p:nvPr/>
        </p:nvSpPr>
        <p:spPr>
          <a:xfrm>
            <a:off x="866660" y="4590390"/>
            <a:ext cx="7410683" cy="161583"/>
          </a:xfrm>
          <a:prstGeom prst="rect">
            <a:avLst/>
          </a:prstGeom>
          <a:noFill/>
          <a:ln/>
        </p:spPr>
        <p:txBody>
          <a:bodyPr wrap="non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and selection. The methodology ensures systematic evaluation of augmentation strategies, model architectures, and </a:t>
            </a:r>
            <a:endParaRPr lang="en-US" sz="1050" dirty="0"/>
          </a:p>
        </p:txBody>
      </p:sp>
      <p:sp>
        <p:nvSpPr>
          <p:cNvPr id="12" name="Text 8">
            <a:extLst>
              <a:ext uri="{FF2B5EF4-FFF2-40B4-BE49-F238E27FC236}">
                <a16:creationId xmlns:a16="http://schemas.microsoft.com/office/drawing/2014/main" id="{4EB4DA89-D49C-D7CD-529E-7B56606161BC}"/>
              </a:ext>
            </a:extLst>
          </p:cNvPr>
          <p:cNvSpPr/>
          <p:nvPr/>
        </p:nvSpPr>
        <p:spPr>
          <a:xfrm>
            <a:off x="1667346" y="4784695"/>
            <a:ext cx="5809283" cy="161583"/>
          </a:xfrm>
          <a:prstGeom prst="rect">
            <a:avLst/>
          </a:prstGeom>
          <a:noFill/>
          <a:ln/>
        </p:spPr>
        <p:txBody>
          <a:bodyPr wrap="non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optimization techniques to identify the optimal solution for microscopic fungi classification. </a:t>
            </a:r>
            <a:endParaRPr lang="en-US" sz="1050" dirty="0"/>
          </a:p>
        </p:txBody>
      </p:sp>
      <p:pic>
        <p:nvPicPr>
          <p:cNvPr id="4" name="Picture 3">
            <a:extLst>
              <a:ext uri="{FF2B5EF4-FFF2-40B4-BE49-F238E27FC236}">
                <a16:creationId xmlns:a16="http://schemas.microsoft.com/office/drawing/2014/main" id="{843D9635-E314-FC72-6C88-A7DCA1D5E963}"/>
              </a:ext>
            </a:extLst>
          </p:cNvPr>
          <p:cNvPicPr>
            <a:picLocks noChangeAspect="1"/>
          </p:cNvPicPr>
          <p:nvPr/>
        </p:nvPicPr>
        <p:blipFill>
          <a:blip r:embed="rId5"/>
          <a:stretch>
            <a:fillRect/>
          </a:stretch>
        </p:blipFill>
        <p:spPr>
          <a:xfrm>
            <a:off x="7994233" y="-59435"/>
            <a:ext cx="1141859" cy="1141859"/>
          </a:xfrm>
          <a:prstGeom prst="rect">
            <a:avLst/>
          </a:prstGeom>
        </p:spPr>
      </p:pic>
      <p:pic>
        <p:nvPicPr>
          <p:cNvPr id="13" name="Picture 12">
            <a:extLst>
              <a:ext uri="{FF2B5EF4-FFF2-40B4-BE49-F238E27FC236}">
                <a16:creationId xmlns:a16="http://schemas.microsoft.com/office/drawing/2014/main" id="{76967547-F259-9C35-53B2-72914AF7CB80}"/>
              </a:ext>
            </a:extLst>
          </p:cNvPr>
          <p:cNvPicPr>
            <a:picLocks noChangeAspect="1"/>
          </p:cNvPicPr>
          <p:nvPr/>
        </p:nvPicPr>
        <p:blipFill>
          <a:blip r:embed="rId6"/>
          <a:stretch>
            <a:fillRect/>
          </a:stretch>
        </p:blipFill>
        <p:spPr>
          <a:xfrm>
            <a:off x="4493590" y="1227201"/>
            <a:ext cx="53866" cy="62484"/>
          </a:xfrm>
          <a:prstGeom prst="rect">
            <a:avLst/>
          </a:prstGeom>
        </p:spPr>
      </p:pic>
      <p:pic>
        <p:nvPicPr>
          <p:cNvPr id="14" name="Picture 13">
            <a:extLst>
              <a:ext uri="{FF2B5EF4-FFF2-40B4-BE49-F238E27FC236}">
                <a16:creationId xmlns:a16="http://schemas.microsoft.com/office/drawing/2014/main" id="{F18D038D-87CE-CEB7-273E-2ECCC2B80940}"/>
              </a:ext>
            </a:extLst>
          </p:cNvPr>
          <p:cNvPicPr>
            <a:picLocks noChangeAspect="1"/>
          </p:cNvPicPr>
          <p:nvPr/>
        </p:nvPicPr>
        <p:blipFill>
          <a:blip r:embed="rId6"/>
          <a:stretch>
            <a:fillRect/>
          </a:stretch>
        </p:blipFill>
        <p:spPr>
          <a:xfrm>
            <a:off x="3524419" y="1236726"/>
            <a:ext cx="53866" cy="62484"/>
          </a:xfrm>
          <a:prstGeom prst="rect">
            <a:avLst/>
          </a:prstGeom>
        </p:spPr>
      </p:pic>
    </p:spTree>
    <p:extLst>
      <p:ext uri="{BB962C8B-B14F-4D97-AF65-F5344CB8AC3E}">
        <p14:creationId xmlns:p14="http://schemas.microsoft.com/office/powerpoint/2010/main" val="188571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81328"/>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Phase 1: Augmentation Strategies Evaluated</a:t>
            </a:r>
            <a:endParaRPr lang="en-US" sz="2700" dirty="0"/>
          </a:p>
        </p:txBody>
      </p:sp>
      <p:sp>
        <p:nvSpPr>
          <p:cNvPr id="4" name="Text 1"/>
          <p:cNvSpPr/>
          <p:nvPr/>
        </p:nvSpPr>
        <p:spPr>
          <a:xfrm>
            <a:off x="571500" y="1350706"/>
            <a:ext cx="3173882" cy="184666"/>
          </a:xfrm>
          <a:prstGeom prst="rect">
            <a:avLst/>
          </a:prstGeom>
          <a:noFill/>
          <a:ln/>
        </p:spPr>
        <p:txBody>
          <a:bodyPr wrap="none" lIns="0" tIns="0" rIns="0" bIns="0" rtlCol="0" anchor="ctr">
            <a:spAutoFit/>
          </a:bodyPr>
          <a:lstStyle/>
          <a:p>
            <a:pPr marL="0" indent="0">
              <a:buNone/>
            </a:pPr>
            <a:r>
              <a:rPr lang="en-US" sz="1200" b="1" kern="0" spc="1" dirty="0">
                <a:solidFill>
                  <a:srgbClr val="F39C12"/>
                </a:solidFill>
                <a:latin typeface="Noto Sans" pitchFamily="34" charset="0"/>
                <a:ea typeface="Noto Sans" pitchFamily="34" charset="-122"/>
                <a:cs typeface="Noto Sans" pitchFamily="34" charset="-120"/>
              </a:rPr>
              <a:t>Four Augmentation Strategies Compared</a:t>
            </a:r>
            <a:endParaRPr lang="en-US" sz="1200" dirty="0"/>
          </a:p>
        </p:txBody>
      </p:sp>
      <p:sp>
        <p:nvSpPr>
          <p:cNvPr id="5" name="Shape 2"/>
          <p:cNvSpPr/>
          <p:nvPr/>
        </p:nvSpPr>
        <p:spPr>
          <a:xfrm>
            <a:off x="571500" y="1721644"/>
            <a:ext cx="3911203" cy="1452972"/>
          </a:xfrm>
          <a:prstGeom prst="rect">
            <a:avLst/>
          </a:prstGeom>
          <a:solidFill>
            <a:srgbClr val="F8F9FA"/>
          </a:solidFill>
          <a:ln/>
        </p:spPr>
        <p:txBody>
          <a:bodyPr/>
          <a:lstStyle/>
          <a:p>
            <a:endParaRPr lang="en-US"/>
          </a:p>
        </p:txBody>
      </p:sp>
      <p:sp>
        <p:nvSpPr>
          <p:cNvPr id="6" name="Shape 3"/>
          <p:cNvSpPr/>
          <p:nvPr/>
        </p:nvSpPr>
        <p:spPr>
          <a:xfrm>
            <a:off x="571500" y="1721644"/>
            <a:ext cx="28575" cy="1452972"/>
          </a:xfrm>
          <a:prstGeom prst="rect">
            <a:avLst/>
          </a:prstGeom>
          <a:solidFill>
            <a:srgbClr val="2E5090"/>
          </a:solidFill>
          <a:ln/>
        </p:spPr>
        <p:txBody>
          <a:bodyPr/>
          <a:lstStyle/>
          <a:p>
            <a:endParaRPr lang="en-US"/>
          </a:p>
        </p:txBody>
      </p:sp>
      <p:sp>
        <p:nvSpPr>
          <p:cNvPr id="7" name="Text 4"/>
          <p:cNvSpPr/>
          <p:nvPr/>
        </p:nvSpPr>
        <p:spPr>
          <a:xfrm>
            <a:off x="750094" y="1900238"/>
            <a:ext cx="3554016" cy="257175"/>
          </a:xfrm>
          <a:prstGeom prst="rect">
            <a:avLst/>
          </a:prstGeom>
          <a:noFill/>
          <a:ln/>
        </p:spPr>
        <p:txBody>
          <a:bodyPr wrap="none" lIns="0" tIns="0" rIns="0" bIns="0" rtlCol="0" anchor="ctr">
            <a:spAutoFit/>
          </a:bodyPr>
          <a:lstStyle/>
          <a:p>
            <a:pPr marL="0" indent="0">
              <a:buNone/>
            </a:pPr>
            <a:r>
              <a:rPr lang="en-US" sz="1350" b="1" dirty="0">
                <a:solidFill>
                  <a:srgbClr val="F39C12"/>
                </a:solidFill>
                <a:latin typeface="Noto Sans" pitchFamily="34" charset="0"/>
                <a:ea typeface="Noto Sans" pitchFamily="34" charset="-122"/>
                <a:cs typeface="Noto Sans" pitchFamily="34" charset="-120"/>
              </a:rPr>
              <a:t>1</a:t>
            </a:r>
            <a:endParaRPr lang="en-US" sz="1350" dirty="0"/>
          </a:p>
        </p:txBody>
      </p:sp>
      <p:sp>
        <p:nvSpPr>
          <p:cNvPr id="8" name="Text 5"/>
          <p:cNvSpPr/>
          <p:nvPr/>
        </p:nvSpPr>
        <p:spPr>
          <a:xfrm>
            <a:off x="750094" y="2233784"/>
            <a:ext cx="1465145"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Simple Augmentation</a:t>
            </a:r>
            <a:endParaRPr lang="en-US" sz="1050" dirty="0"/>
          </a:p>
        </p:txBody>
      </p:sp>
      <p:sp>
        <p:nvSpPr>
          <p:cNvPr id="9" name="Text 6"/>
          <p:cNvSpPr/>
          <p:nvPr/>
        </p:nvSpPr>
        <p:spPr>
          <a:xfrm>
            <a:off x="750094" y="2510191"/>
            <a:ext cx="3554016" cy="461665"/>
          </a:xfrm>
          <a:prstGeom prst="rect">
            <a:avLst/>
          </a:prstGeom>
          <a:noFill/>
          <a:ln/>
        </p:spPr>
        <p:txBody>
          <a:bodyPr wrap="square" lIns="0" tIns="0" rIns="0" bIns="0" rtlCol="0" anchor="ctr">
            <a:spAutoFit/>
          </a:bodyPr>
          <a:lstStyle/>
          <a:p>
            <a:pPr marL="0" indent="0">
              <a:buNone/>
            </a:pPr>
            <a:r>
              <a:rPr lang="en-US" sz="1000" dirty="0">
                <a:solidFill>
                  <a:srgbClr val="34495E"/>
                </a:solidFill>
                <a:latin typeface="Noto Sans" pitchFamily="34" charset="0"/>
                <a:ea typeface="Noto Sans" pitchFamily="34" charset="-122"/>
                <a:cs typeface="Noto Sans" pitchFamily="34" charset="-120"/>
              </a:rPr>
              <a:t> Rotate(45), horizontal flip, vertical flip, Rotate(-45). Introduces basic variability in orientation and flipping while maintaining computational efficiency. </a:t>
            </a:r>
            <a:endParaRPr lang="en-US" sz="1000" dirty="0"/>
          </a:p>
        </p:txBody>
      </p:sp>
      <p:sp>
        <p:nvSpPr>
          <p:cNvPr id="10" name="Shape 7"/>
          <p:cNvSpPr/>
          <p:nvPr/>
        </p:nvSpPr>
        <p:spPr>
          <a:xfrm>
            <a:off x="4661297" y="1721644"/>
            <a:ext cx="3911203" cy="1452972"/>
          </a:xfrm>
          <a:prstGeom prst="rect">
            <a:avLst/>
          </a:prstGeom>
          <a:solidFill>
            <a:srgbClr val="F8F9FA"/>
          </a:solidFill>
          <a:ln/>
        </p:spPr>
        <p:txBody>
          <a:bodyPr/>
          <a:lstStyle/>
          <a:p>
            <a:endParaRPr lang="en-US"/>
          </a:p>
        </p:txBody>
      </p:sp>
      <p:sp>
        <p:nvSpPr>
          <p:cNvPr id="11" name="Shape 8"/>
          <p:cNvSpPr/>
          <p:nvPr/>
        </p:nvSpPr>
        <p:spPr>
          <a:xfrm>
            <a:off x="4661297" y="1721644"/>
            <a:ext cx="28575" cy="1452972"/>
          </a:xfrm>
          <a:prstGeom prst="rect">
            <a:avLst/>
          </a:prstGeom>
          <a:solidFill>
            <a:srgbClr val="2E5090"/>
          </a:solidFill>
          <a:ln/>
        </p:spPr>
        <p:txBody>
          <a:bodyPr/>
          <a:lstStyle/>
          <a:p>
            <a:endParaRPr lang="en-US"/>
          </a:p>
        </p:txBody>
      </p:sp>
      <p:sp>
        <p:nvSpPr>
          <p:cNvPr id="12" name="Text 9"/>
          <p:cNvSpPr/>
          <p:nvPr/>
        </p:nvSpPr>
        <p:spPr>
          <a:xfrm>
            <a:off x="4839891" y="1900238"/>
            <a:ext cx="3554016" cy="257175"/>
          </a:xfrm>
          <a:prstGeom prst="rect">
            <a:avLst/>
          </a:prstGeom>
          <a:noFill/>
          <a:ln/>
        </p:spPr>
        <p:txBody>
          <a:bodyPr wrap="none" lIns="0" tIns="0" rIns="0" bIns="0" rtlCol="0" anchor="ctr">
            <a:spAutoFit/>
          </a:bodyPr>
          <a:lstStyle/>
          <a:p>
            <a:pPr marL="0" indent="0">
              <a:buNone/>
            </a:pPr>
            <a:r>
              <a:rPr lang="en-US" sz="1350" b="1" dirty="0">
                <a:solidFill>
                  <a:srgbClr val="F39C12"/>
                </a:solidFill>
                <a:latin typeface="Noto Sans" pitchFamily="34" charset="0"/>
                <a:ea typeface="Noto Sans" pitchFamily="34" charset="-122"/>
                <a:cs typeface="Noto Sans" pitchFamily="34" charset="-120"/>
              </a:rPr>
              <a:t>2</a:t>
            </a:r>
            <a:endParaRPr lang="en-US" sz="1350" dirty="0"/>
          </a:p>
        </p:txBody>
      </p:sp>
      <p:sp>
        <p:nvSpPr>
          <p:cNvPr id="13" name="Text 10"/>
          <p:cNvSpPr/>
          <p:nvPr/>
        </p:nvSpPr>
        <p:spPr>
          <a:xfrm>
            <a:off x="4839891" y="2233784"/>
            <a:ext cx="1678345"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Balancing Augmentation</a:t>
            </a:r>
            <a:endParaRPr lang="en-US" sz="1050" dirty="0"/>
          </a:p>
        </p:txBody>
      </p:sp>
      <p:sp>
        <p:nvSpPr>
          <p:cNvPr id="14" name="Text 11"/>
          <p:cNvSpPr/>
          <p:nvPr/>
        </p:nvSpPr>
        <p:spPr>
          <a:xfrm>
            <a:off x="4839891" y="2474095"/>
            <a:ext cx="3554016" cy="461665"/>
          </a:xfrm>
          <a:prstGeom prst="rect">
            <a:avLst/>
          </a:prstGeom>
          <a:noFill/>
          <a:ln/>
        </p:spPr>
        <p:txBody>
          <a:bodyPr wrap="square" lIns="0" tIns="0" rIns="0" bIns="0" rtlCol="0" anchor="ctr">
            <a:spAutoFit/>
          </a:bodyPr>
          <a:lstStyle/>
          <a:p>
            <a:pPr marL="0" indent="0">
              <a:buNone/>
            </a:pPr>
            <a:r>
              <a:rPr lang="en-US" sz="1000" dirty="0">
                <a:solidFill>
                  <a:srgbClr val="34495E"/>
                </a:solidFill>
                <a:latin typeface="Noto Sans" pitchFamily="34" charset="0"/>
                <a:ea typeface="Noto Sans" pitchFamily="34" charset="-122"/>
                <a:cs typeface="Noto Sans" pitchFamily="34" charset="-120"/>
              </a:rPr>
              <a:t>Generated 4400 images per class to address class imbalance and ensure balanced training distribution across all five fungal classes. </a:t>
            </a:r>
            <a:endParaRPr lang="en-US" sz="1000" dirty="0"/>
          </a:p>
        </p:txBody>
      </p:sp>
      <p:sp>
        <p:nvSpPr>
          <p:cNvPr id="15" name="Shape 12"/>
          <p:cNvSpPr/>
          <p:nvPr/>
        </p:nvSpPr>
        <p:spPr>
          <a:xfrm>
            <a:off x="571500" y="3353209"/>
            <a:ext cx="3911203" cy="1452972"/>
          </a:xfrm>
          <a:prstGeom prst="rect">
            <a:avLst/>
          </a:prstGeom>
          <a:solidFill>
            <a:srgbClr val="F8F9FA"/>
          </a:solidFill>
          <a:ln/>
        </p:spPr>
        <p:txBody>
          <a:bodyPr/>
          <a:lstStyle/>
          <a:p>
            <a:endParaRPr lang="en-US"/>
          </a:p>
        </p:txBody>
      </p:sp>
      <p:sp>
        <p:nvSpPr>
          <p:cNvPr id="16" name="Shape 13"/>
          <p:cNvSpPr/>
          <p:nvPr/>
        </p:nvSpPr>
        <p:spPr>
          <a:xfrm>
            <a:off x="571500" y="3353209"/>
            <a:ext cx="28575" cy="1452972"/>
          </a:xfrm>
          <a:prstGeom prst="rect">
            <a:avLst/>
          </a:prstGeom>
          <a:solidFill>
            <a:srgbClr val="2E5090"/>
          </a:solidFill>
          <a:ln/>
        </p:spPr>
        <p:txBody>
          <a:bodyPr/>
          <a:lstStyle/>
          <a:p>
            <a:endParaRPr lang="en-US"/>
          </a:p>
        </p:txBody>
      </p:sp>
      <p:sp>
        <p:nvSpPr>
          <p:cNvPr id="17" name="Text 14"/>
          <p:cNvSpPr/>
          <p:nvPr/>
        </p:nvSpPr>
        <p:spPr>
          <a:xfrm>
            <a:off x="750094" y="3531803"/>
            <a:ext cx="3554016" cy="257175"/>
          </a:xfrm>
          <a:prstGeom prst="rect">
            <a:avLst/>
          </a:prstGeom>
          <a:noFill/>
          <a:ln/>
        </p:spPr>
        <p:txBody>
          <a:bodyPr wrap="none" lIns="0" tIns="0" rIns="0" bIns="0" rtlCol="0" anchor="ctr">
            <a:spAutoFit/>
          </a:bodyPr>
          <a:lstStyle/>
          <a:p>
            <a:pPr marL="0" indent="0">
              <a:buNone/>
            </a:pPr>
            <a:r>
              <a:rPr lang="en-US" sz="1350" b="1" dirty="0">
                <a:solidFill>
                  <a:srgbClr val="F39C12"/>
                </a:solidFill>
                <a:latin typeface="Noto Sans" pitchFamily="34" charset="0"/>
                <a:ea typeface="Noto Sans" pitchFamily="34" charset="-122"/>
                <a:cs typeface="Noto Sans" pitchFamily="34" charset="-120"/>
              </a:rPr>
              <a:t>3</a:t>
            </a:r>
            <a:endParaRPr lang="en-US" sz="1350" dirty="0"/>
          </a:p>
        </p:txBody>
      </p:sp>
      <p:sp>
        <p:nvSpPr>
          <p:cNvPr id="18" name="Text 15"/>
          <p:cNvSpPr/>
          <p:nvPr/>
        </p:nvSpPr>
        <p:spPr>
          <a:xfrm>
            <a:off x="750094" y="3865350"/>
            <a:ext cx="1912383"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Class-specific Augmentation</a:t>
            </a:r>
            <a:endParaRPr lang="en-US" sz="1050" dirty="0"/>
          </a:p>
        </p:txBody>
      </p:sp>
      <p:sp>
        <p:nvSpPr>
          <p:cNvPr id="19" name="Text 16"/>
          <p:cNvSpPr/>
          <p:nvPr/>
        </p:nvSpPr>
        <p:spPr>
          <a:xfrm>
            <a:off x="750094" y="4141757"/>
            <a:ext cx="3554016" cy="461665"/>
          </a:xfrm>
          <a:prstGeom prst="rect">
            <a:avLst/>
          </a:prstGeom>
          <a:noFill/>
          <a:ln/>
        </p:spPr>
        <p:txBody>
          <a:bodyPr wrap="square" lIns="0" tIns="0" rIns="0" bIns="0" rtlCol="0" anchor="ctr">
            <a:spAutoFit/>
          </a:bodyPr>
          <a:lstStyle/>
          <a:p>
            <a:pPr marL="0" indent="0">
              <a:buNone/>
            </a:pPr>
            <a:r>
              <a:rPr lang="en-US" sz="1000" dirty="0">
                <a:solidFill>
                  <a:srgbClr val="34495E"/>
                </a:solidFill>
                <a:latin typeface="Noto Sans" pitchFamily="34" charset="0"/>
                <a:ea typeface="Noto Sans" pitchFamily="34" charset="-122"/>
                <a:cs typeface="Noto Sans" pitchFamily="34" charset="-120"/>
              </a:rPr>
              <a:t> Different augmentation techniques applied to each class individually for specialized feature extraction tailored to unique morphological characteristics. </a:t>
            </a:r>
            <a:endParaRPr lang="en-US" sz="1000" dirty="0"/>
          </a:p>
        </p:txBody>
      </p:sp>
      <p:sp>
        <p:nvSpPr>
          <p:cNvPr id="20" name="Shape 17"/>
          <p:cNvSpPr/>
          <p:nvPr/>
        </p:nvSpPr>
        <p:spPr>
          <a:xfrm>
            <a:off x="4661297" y="3353209"/>
            <a:ext cx="3911203" cy="1452972"/>
          </a:xfrm>
          <a:prstGeom prst="rect">
            <a:avLst/>
          </a:prstGeom>
          <a:solidFill>
            <a:srgbClr val="F8F9FA"/>
          </a:solidFill>
          <a:ln/>
        </p:spPr>
        <p:txBody>
          <a:bodyPr/>
          <a:lstStyle/>
          <a:p>
            <a:endParaRPr lang="en-US"/>
          </a:p>
        </p:txBody>
      </p:sp>
      <p:sp>
        <p:nvSpPr>
          <p:cNvPr id="21" name="Shape 18"/>
          <p:cNvSpPr/>
          <p:nvPr/>
        </p:nvSpPr>
        <p:spPr>
          <a:xfrm>
            <a:off x="4661297" y="3353209"/>
            <a:ext cx="28575" cy="1452972"/>
          </a:xfrm>
          <a:prstGeom prst="rect">
            <a:avLst/>
          </a:prstGeom>
          <a:solidFill>
            <a:srgbClr val="2E5090"/>
          </a:solidFill>
          <a:ln/>
        </p:spPr>
        <p:txBody>
          <a:bodyPr/>
          <a:lstStyle/>
          <a:p>
            <a:endParaRPr lang="en-US"/>
          </a:p>
        </p:txBody>
      </p:sp>
      <p:sp>
        <p:nvSpPr>
          <p:cNvPr id="22" name="Text 19"/>
          <p:cNvSpPr/>
          <p:nvPr/>
        </p:nvSpPr>
        <p:spPr>
          <a:xfrm>
            <a:off x="4839891" y="3531803"/>
            <a:ext cx="3554016" cy="257175"/>
          </a:xfrm>
          <a:prstGeom prst="rect">
            <a:avLst/>
          </a:prstGeom>
          <a:noFill/>
          <a:ln/>
        </p:spPr>
        <p:txBody>
          <a:bodyPr wrap="none" lIns="0" tIns="0" rIns="0" bIns="0" rtlCol="0" anchor="ctr">
            <a:spAutoFit/>
          </a:bodyPr>
          <a:lstStyle/>
          <a:p>
            <a:pPr marL="0" indent="0">
              <a:buNone/>
            </a:pPr>
            <a:r>
              <a:rPr lang="en-US" sz="1350" b="1" dirty="0">
                <a:solidFill>
                  <a:srgbClr val="F39C12"/>
                </a:solidFill>
                <a:latin typeface="Noto Sans" pitchFamily="34" charset="0"/>
                <a:ea typeface="Noto Sans" pitchFamily="34" charset="-122"/>
                <a:cs typeface="Noto Sans" pitchFamily="34" charset="-120"/>
              </a:rPr>
              <a:t>4</a:t>
            </a:r>
            <a:endParaRPr lang="en-US" sz="1350" dirty="0"/>
          </a:p>
        </p:txBody>
      </p:sp>
      <p:sp>
        <p:nvSpPr>
          <p:cNvPr id="23" name="Text 20"/>
          <p:cNvSpPr/>
          <p:nvPr/>
        </p:nvSpPr>
        <p:spPr>
          <a:xfrm>
            <a:off x="4839891" y="3865350"/>
            <a:ext cx="1312860"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W/O Augmentation</a:t>
            </a:r>
            <a:endParaRPr lang="en-US" sz="1050" dirty="0"/>
          </a:p>
        </p:txBody>
      </p:sp>
      <p:sp>
        <p:nvSpPr>
          <p:cNvPr id="24" name="Text 21"/>
          <p:cNvSpPr/>
          <p:nvPr/>
        </p:nvSpPr>
        <p:spPr>
          <a:xfrm>
            <a:off x="4839891" y="4108317"/>
            <a:ext cx="3554016" cy="461665"/>
          </a:xfrm>
          <a:prstGeom prst="rect">
            <a:avLst/>
          </a:prstGeom>
          <a:noFill/>
          <a:ln/>
        </p:spPr>
        <p:txBody>
          <a:bodyPr wrap="square" lIns="0" tIns="0" rIns="0" bIns="0" rtlCol="0" anchor="ctr">
            <a:spAutoFit/>
          </a:bodyPr>
          <a:lstStyle/>
          <a:p>
            <a:pPr marL="0" indent="0">
              <a:buNone/>
            </a:pPr>
            <a:r>
              <a:rPr lang="en-US" sz="1000" dirty="0">
                <a:solidFill>
                  <a:srgbClr val="34495E"/>
                </a:solidFill>
                <a:latin typeface="Noto Sans" pitchFamily="34" charset="0"/>
                <a:ea typeface="Noto Sans" pitchFamily="34" charset="-122"/>
                <a:cs typeface="Noto Sans" pitchFamily="34" charset="-120"/>
              </a:rPr>
              <a:t>Training without any augmentation techniques to establish baseline performance and understand the contribution of augmentation strategies. </a:t>
            </a:r>
            <a:endParaRPr lang="en-US" sz="1000" dirty="0"/>
          </a:p>
        </p:txBody>
      </p:sp>
      <p:sp>
        <p:nvSpPr>
          <p:cNvPr id="25" name="Text 22"/>
          <p:cNvSpPr/>
          <p:nvPr/>
        </p:nvSpPr>
        <p:spPr>
          <a:xfrm>
            <a:off x="571500" y="4945484"/>
            <a:ext cx="8001000" cy="289322"/>
          </a:xfrm>
          <a:prstGeom prst="rect">
            <a:avLst/>
          </a:prstGeom>
          <a:noFill/>
          <a:ln/>
        </p:spPr>
        <p:txBody>
          <a:bodyPr wrap="square" lIns="0" tIns="170053" rIns="0" bIns="0" rtlCol="0" anchor="ctr">
            <a:spAutoFit/>
          </a:bodyPr>
          <a:lstStyle/>
          <a:p>
            <a:pPr marL="0" indent="0" algn="ctr">
              <a:buNone/>
            </a:pPr>
            <a:r>
              <a:rPr lang="en-US" sz="680" i="1" dirty="0">
                <a:solidFill>
                  <a:srgbClr val="2E5090"/>
                </a:solidFill>
                <a:latin typeface="Noto Sans" pitchFamily="34" charset="0"/>
                <a:ea typeface="Noto Sans" pitchFamily="34" charset="-122"/>
                <a:cs typeface="Noto Sans" pitchFamily="34" charset="-120"/>
              </a:rPr>
              <a:t> → Next: Evaluation across CNN architectures and Phase 1 results </a:t>
            </a:r>
            <a:endParaRPr lang="en-US" sz="680" dirty="0"/>
          </a:p>
        </p:txBody>
      </p:sp>
      <p:pic>
        <p:nvPicPr>
          <p:cNvPr id="26" name="Picture 25">
            <a:extLst>
              <a:ext uri="{FF2B5EF4-FFF2-40B4-BE49-F238E27FC236}">
                <a16:creationId xmlns:a16="http://schemas.microsoft.com/office/drawing/2014/main" id="{F8D03019-B203-7934-6FDB-BE3F83F7B87C}"/>
              </a:ext>
            </a:extLst>
          </p:cNvPr>
          <p:cNvPicPr>
            <a:picLocks noChangeAspect="1"/>
          </p:cNvPicPr>
          <p:nvPr/>
        </p:nvPicPr>
        <p:blipFill>
          <a:blip r:embed="rId4"/>
          <a:stretch>
            <a:fillRect/>
          </a:stretch>
        </p:blipFill>
        <p:spPr>
          <a:xfrm>
            <a:off x="8061512" y="-59434"/>
            <a:ext cx="1074580" cy="10745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23255"/>
            <a:ext cx="9144000" cy="5143500"/>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Phase 1: Models &amp; Results</a:t>
            </a:r>
            <a:endParaRPr lang="en-US" sz="2700" dirty="0"/>
          </a:p>
        </p:txBody>
      </p:sp>
      <p:sp>
        <p:nvSpPr>
          <p:cNvPr id="4" name="Text 1"/>
          <p:cNvSpPr/>
          <p:nvPr/>
        </p:nvSpPr>
        <p:spPr>
          <a:xfrm>
            <a:off x="571499" y="1395904"/>
            <a:ext cx="4366132" cy="169277"/>
          </a:xfrm>
          <a:prstGeom prst="rect">
            <a:avLst/>
          </a:prstGeom>
          <a:noFill/>
          <a:ln/>
        </p:spPr>
        <p:txBody>
          <a:bodyPr wrap="none" lIns="0" tIns="0" rIns="0" bIns="0" rtlCol="0" anchor="ctr">
            <a:spAutoFit/>
          </a:bodyPr>
          <a:lstStyle/>
          <a:p>
            <a:pPr marL="0" indent="0">
              <a:buNone/>
            </a:pPr>
            <a:r>
              <a:rPr lang="en-US" sz="1100" b="1" kern="0" spc="1" dirty="0">
                <a:solidFill>
                  <a:srgbClr val="F39C12"/>
                </a:solidFill>
                <a:latin typeface="Noto Sans" pitchFamily="34" charset="0"/>
                <a:ea typeface="Noto Sans" pitchFamily="34" charset="-122"/>
                <a:cs typeface="Noto Sans" pitchFamily="34" charset="-120"/>
              </a:rPr>
              <a:t>CNN Architectures Tested Across All Augmentation Strategies</a:t>
            </a:r>
            <a:endParaRPr lang="en-US" sz="1100" dirty="0"/>
          </a:p>
        </p:txBody>
      </p:sp>
      <p:sp>
        <p:nvSpPr>
          <p:cNvPr id="5" name="Shape 2"/>
          <p:cNvSpPr/>
          <p:nvPr/>
        </p:nvSpPr>
        <p:spPr>
          <a:xfrm>
            <a:off x="571499" y="1709142"/>
            <a:ext cx="1514475" cy="435769"/>
          </a:xfrm>
          <a:prstGeom prst="rect">
            <a:avLst/>
          </a:prstGeom>
          <a:solidFill>
            <a:srgbClr val="F8F9FA"/>
          </a:solidFill>
          <a:ln w="198">
            <a:solidFill>
              <a:srgbClr val="2E5090"/>
            </a:solidFill>
            <a:prstDash val="solid"/>
          </a:ln>
        </p:spPr>
        <p:txBody>
          <a:bodyPr/>
          <a:lstStyle/>
          <a:p>
            <a:endParaRPr lang="en-US"/>
          </a:p>
        </p:txBody>
      </p:sp>
      <p:sp>
        <p:nvSpPr>
          <p:cNvPr id="6" name="Text 3"/>
          <p:cNvSpPr/>
          <p:nvPr/>
        </p:nvSpPr>
        <p:spPr>
          <a:xfrm>
            <a:off x="877492" y="1828102"/>
            <a:ext cx="902491" cy="169277"/>
          </a:xfrm>
          <a:prstGeom prst="rect">
            <a:avLst/>
          </a:prstGeom>
          <a:noFill/>
          <a:ln/>
        </p:spPr>
        <p:txBody>
          <a:bodyPr wrap="none" lIns="0" tIns="0" rIns="0" bIns="0" rtlCol="0" anchor="ctr">
            <a:spAutoFit/>
          </a:bodyPr>
          <a:lstStyle/>
          <a:p>
            <a:pPr marL="0" indent="0" algn="ctr">
              <a:buNone/>
            </a:pPr>
            <a:r>
              <a:rPr lang="en-US" sz="1100" b="1" dirty="0">
                <a:solidFill>
                  <a:srgbClr val="1A3A52"/>
                </a:solidFill>
                <a:latin typeface="Noto Sans" pitchFamily="34" charset="0"/>
                <a:ea typeface="Noto Sans" pitchFamily="34" charset="-122"/>
                <a:cs typeface="Noto Sans" pitchFamily="34" charset="-120"/>
              </a:rPr>
              <a:t>Classic CNNs</a:t>
            </a:r>
            <a:endParaRPr lang="en-US" sz="1100" dirty="0"/>
          </a:p>
        </p:txBody>
      </p:sp>
      <p:sp>
        <p:nvSpPr>
          <p:cNvPr id="7" name="Shape 4"/>
          <p:cNvSpPr/>
          <p:nvPr/>
        </p:nvSpPr>
        <p:spPr>
          <a:xfrm>
            <a:off x="2193130" y="1709142"/>
            <a:ext cx="1514475" cy="435769"/>
          </a:xfrm>
          <a:prstGeom prst="rect">
            <a:avLst/>
          </a:prstGeom>
          <a:solidFill>
            <a:srgbClr val="F8F9FA"/>
          </a:solidFill>
          <a:ln w="198">
            <a:solidFill>
              <a:srgbClr val="2E5090"/>
            </a:solidFill>
            <a:prstDash val="solid"/>
          </a:ln>
        </p:spPr>
        <p:txBody>
          <a:bodyPr/>
          <a:lstStyle/>
          <a:p>
            <a:endParaRPr lang="en-US"/>
          </a:p>
        </p:txBody>
      </p:sp>
      <p:sp>
        <p:nvSpPr>
          <p:cNvPr id="8" name="Text 5"/>
          <p:cNvSpPr/>
          <p:nvPr/>
        </p:nvSpPr>
        <p:spPr>
          <a:xfrm>
            <a:off x="2697094" y="1828102"/>
            <a:ext cx="506549" cy="169277"/>
          </a:xfrm>
          <a:prstGeom prst="rect">
            <a:avLst/>
          </a:prstGeom>
          <a:noFill/>
          <a:ln/>
        </p:spPr>
        <p:txBody>
          <a:bodyPr wrap="none" lIns="0" tIns="0" rIns="0" bIns="0" rtlCol="0" anchor="ctr">
            <a:spAutoFit/>
          </a:bodyPr>
          <a:lstStyle/>
          <a:p>
            <a:pPr marL="0" indent="0" algn="ctr">
              <a:buNone/>
            </a:pPr>
            <a:r>
              <a:rPr lang="en-US" sz="1100" b="1" dirty="0">
                <a:solidFill>
                  <a:srgbClr val="1A3A52"/>
                </a:solidFill>
                <a:latin typeface="Noto Sans" pitchFamily="34" charset="0"/>
                <a:ea typeface="Noto Sans" pitchFamily="34" charset="-122"/>
                <a:cs typeface="Noto Sans" pitchFamily="34" charset="-120"/>
              </a:rPr>
              <a:t>ResNet</a:t>
            </a:r>
            <a:endParaRPr lang="en-US" sz="1100" dirty="0"/>
          </a:p>
        </p:txBody>
      </p:sp>
      <p:sp>
        <p:nvSpPr>
          <p:cNvPr id="9" name="Shape 6"/>
          <p:cNvSpPr/>
          <p:nvPr/>
        </p:nvSpPr>
        <p:spPr>
          <a:xfrm>
            <a:off x="3814762" y="1709142"/>
            <a:ext cx="1514475" cy="435769"/>
          </a:xfrm>
          <a:prstGeom prst="rect">
            <a:avLst/>
          </a:prstGeom>
          <a:solidFill>
            <a:srgbClr val="F8F9FA"/>
          </a:solidFill>
          <a:ln w="198">
            <a:solidFill>
              <a:srgbClr val="2E5090"/>
            </a:solidFill>
            <a:prstDash val="solid"/>
          </a:ln>
        </p:spPr>
        <p:txBody>
          <a:bodyPr/>
          <a:lstStyle/>
          <a:p>
            <a:endParaRPr lang="en-US"/>
          </a:p>
        </p:txBody>
      </p:sp>
      <p:sp>
        <p:nvSpPr>
          <p:cNvPr id="10" name="Text 7"/>
          <p:cNvSpPr/>
          <p:nvPr/>
        </p:nvSpPr>
        <p:spPr>
          <a:xfrm>
            <a:off x="3880305" y="1828102"/>
            <a:ext cx="1383392" cy="169277"/>
          </a:xfrm>
          <a:prstGeom prst="rect">
            <a:avLst/>
          </a:prstGeom>
          <a:noFill/>
          <a:ln/>
        </p:spPr>
        <p:txBody>
          <a:bodyPr wrap="none" lIns="0" tIns="0" rIns="0" bIns="0" rtlCol="0" anchor="ctr">
            <a:spAutoFit/>
          </a:bodyPr>
          <a:lstStyle/>
          <a:p>
            <a:pPr marL="0" indent="0" algn="ctr">
              <a:buNone/>
            </a:pPr>
            <a:r>
              <a:rPr lang="en-US" sz="1100" b="1" dirty="0">
                <a:solidFill>
                  <a:srgbClr val="1A3A52"/>
                </a:solidFill>
                <a:latin typeface="Noto Sans" pitchFamily="34" charset="0"/>
                <a:ea typeface="Noto Sans" pitchFamily="34" charset="-122"/>
                <a:cs typeface="Noto Sans" pitchFamily="34" charset="-120"/>
              </a:rPr>
              <a:t>EfficientNet (B0-B7)</a:t>
            </a:r>
            <a:endParaRPr lang="en-US" sz="1100" dirty="0"/>
          </a:p>
        </p:txBody>
      </p:sp>
      <p:sp>
        <p:nvSpPr>
          <p:cNvPr id="11" name="Shape 8"/>
          <p:cNvSpPr/>
          <p:nvPr/>
        </p:nvSpPr>
        <p:spPr>
          <a:xfrm>
            <a:off x="5436393" y="1709142"/>
            <a:ext cx="1514475" cy="435769"/>
          </a:xfrm>
          <a:prstGeom prst="rect">
            <a:avLst/>
          </a:prstGeom>
          <a:solidFill>
            <a:srgbClr val="F8F9FA"/>
          </a:solidFill>
          <a:ln w="198">
            <a:solidFill>
              <a:srgbClr val="2E5090"/>
            </a:solidFill>
            <a:prstDash val="solid"/>
          </a:ln>
        </p:spPr>
        <p:txBody>
          <a:bodyPr/>
          <a:lstStyle/>
          <a:p>
            <a:endParaRPr lang="en-US"/>
          </a:p>
        </p:txBody>
      </p:sp>
      <p:sp>
        <p:nvSpPr>
          <p:cNvPr id="12" name="Text 9"/>
          <p:cNvSpPr/>
          <p:nvPr/>
        </p:nvSpPr>
        <p:spPr>
          <a:xfrm>
            <a:off x="5687884" y="1828102"/>
            <a:ext cx="1011495" cy="169277"/>
          </a:xfrm>
          <a:prstGeom prst="rect">
            <a:avLst/>
          </a:prstGeom>
          <a:noFill/>
          <a:ln/>
        </p:spPr>
        <p:txBody>
          <a:bodyPr wrap="none" lIns="0" tIns="0" rIns="0" bIns="0" rtlCol="0" anchor="ctr">
            <a:spAutoFit/>
          </a:bodyPr>
          <a:lstStyle/>
          <a:p>
            <a:pPr marL="0" indent="0" algn="ctr">
              <a:buNone/>
            </a:pPr>
            <a:r>
              <a:rPr lang="en-US" sz="1100" b="1" dirty="0">
                <a:solidFill>
                  <a:srgbClr val="1A3A52"/>
                </a:solidFill>
                <a:latin typeface="Noto Sans" pitchFamily="34" charset="0"/>
                <a:ea typeface="Noto Sans" pitchFamily="34" charset="-122"/>
                <a:cs typeface="Noto Sans" pitchFamily="34" charset="-120"/>
              </a:rPr>
              <a:t>EfficientNetV2</a:t>
            </a:r>
            <a:endParaRPr lang="en-US" sz="1100" dirty="0"/>
          </a:p>
        </p:txBody>
      </p:sp>
      <p:sp>
        <p:nvSpPr>
          <p:cNvPr id="13" name="Shape 10"/>
          <p:cNvSpPr/>
          <p:nvPr/>
        </p:nvSpPr>
        <p:spPr>
          <a:xfrm>
            <a:off x="7058024" y="1709142"/>
            <a:ext cx="1514475" cy="435769"/>
          </a:xfrm>
          <a:prstGeom prst="rect">
            <a:avLst/>
          </a:prstGeom>
          <a:solidFill>
            <a:srgbClr val="F8F9FA"/>
          </a:solidFill>
          <a:ln w="198">
            <a:solidFill>
              <a:srgbClr val="2E5090"/>
            </a:solidFill>
            <a:prstDash val="solid"/>
          </a:ln>
        </p:spPr>
        <p:txBody>
          <a:bodyPr/>
          <a:lstStyle/>
          <a:p>
            <a:endParaRPr lang="en-US"/>
          </a:p>
        </p:txBody>
      </p:sp>
      <p:sp>
        <p:nvSpPr>
          <p:cNvPr id="14" name="Text 11"/>
          <p:cNvSpPr/>
          <p:nvPr/>
        </p:nvSpPr>
        <p:spPr>
          <a:xfrm>
            <a:off x="7468212" y="1842389"/>
            <a:ext cx="694101" cy="169277"/>
          </a:xfrm>
          <a:prstGeom prst="rect">
            <a:avLst/>
          </a:prstGeom>
          <a:noFill/>
          <a:ln/>
        </p:spPr>
        <p:txBody>
          <a:bodyPr wrap="none" lIns="0" tIns="0" rIns="0" bIns="0" rtlCol="0" anchor="ctr">
            <a:spAutoFit/>
          </a:bodyPr>
          <a:lstStyle/>
          <a:p>
            <a:pPr marL="0" indent="0" algn="ctr">
              <a:buNone/>
            </a:pPr>
            <a:r>
              <a:rPr lang="en-US" sz="1100" b="1" dirty="0">
                <a:solidFill>
                  <a:srgbClr val="1A3A52"/>
                </a:solidFill>
                <a:latin typeface="Noto Sans" pitchFamily="34" charset="0"/>
                <a:ea typeface="Noto Sans" pitchFamily="34" charset="-122"/>
                <a:cs typeface="Noto Sans" pitchFamily="34" charset="-120"/>
              </a:rPr>
              <a:t>DenseNet</a:t>
            </a:r>
            <a:endParaRPr lang="en-US" sz="1100" dirty="0"/>
          </a:p>
        </p:txBody>
      </p:sp>
      <p:sp>
        <p:nvSpPr>
          <p:cNvPr id="15" name="Shape 12"/>
          <p:cNvSpPr/>
          <p:nvPr/>
        </p:nvSpPr>
        <p:spPr>
          <a:xfrm>
            <a:off x="561918" y="2374110"/>
            <a:ext cx="8001000" cy="1626870"/>
          </a:xfrm>
          <a:prstGeom prst="rect">
            <a:avLst/>
          </a:prstGeom>
          <a:solidFill>
            <a:srgbClr val="E8F4F8"/>
          </a:solidFill>
          <a:ln/>
        </p:spPr>
        <p:txBody>
          <a:bodyPr/>
          <a:lstStyle/>
          <a:p>
            <a:endParaRPr lang="en-US"/>
          </a:p>
        </p:txBody>
      </p:sp>
      <p:sp>
        <p:nvSpPr>
          <p:cNvPr id="16" name="Shape 13"/>
          <p:cNvSpPr/>
          <p:nvPr/>
        </p:nvSpPr>
        <p:spPr>
          <a:xfrm>
            <a:off x="571499" y="2374110"/>
            <a:ext cx="45719" cy="1626870"/>
          </a:xfrm>
          <a:prstGeom prst="rect">
            <a:avLst/>
          </a:prstGeom>
          <a:solidFill>
            <a:srgbClr val="F39C12"/>
          </a:solidFill>
          <a:ln/>
        </p:spPr>
        <p:txBody>
          <a:bodyPr/>
          <a:lstStyle/>
          <a:p>
            <a:endParaRPr lang="en-US"/>
          </a:p>
        </p:txBody>
      </p:sp>
      <p:sp>
        <p:nvSpPr>
          <p:cNvPr id="17" name="Text 14"/>
          <p:cNvSpPr/>
          <p:nvPr/>
        </p:nvSpPr>
        <p:spPr>
          <a:xfrm>
            <a:off x="750093" y="2518620"/>
            <a:ext cx="3210815" cy="184666"/>
          </a:xfrm>
          <a:prstGeom prst="rect">
            <a:avLst/>
          </a:prstGeom>
          <a:noFill/>
          <a:ln/>
        </p:spPr>
        <p:txBody>
          <a:bodyPr wrap="none" lIns="0" tIns="0" rIns="0" bIns="0" rtlCol="0" anchor="ctr">
            <a:spAutoFit/>
          </a:bodyPr>
          <a:lstStyle/>
          <a:p>
            <a:pPr marL="0" indent="0">
              <a:buNone/>
            </a:pPr>
            <a:r>
              <a:rPr lang="en-US" sz="1200" b="1" dirty="0">
                <a:solidFill>
                  <a:srgbClr val="1A3A52"/>
                </a:solidFill>
                <a:latin typeface="Noto Sans" pitchFamily="34" charset="0"/>
                <a:ea typeface="Noto Sans" pitchFamily="34" charset="-122"/>
                <a:cs typeface="Noto Sans" pitchFamily="34" charset="-120"/>
              </a:rPr>
              <a:t>Phase 1 Result: Optimal Strategy Selected</a:t>
            </a:r>
            <a:endParaRPr lang="en-US" sz="1200" dirty="0"/>
          </a:p>
        </p:txBody>
      </p:sp>
      <p:sp>
        <p:nvSpPr>
          <p:cNvPr id="18" name="Text 15"/>
          <p:cNvSpPr/>
          <p:nvPr/>
        </p:nvSpPr>
        <p:spPr>
          <a:xfrm>
            <a:off x="727233" y="2727502"/>
            <a:ext cx="7865936" cy="677108"/>
          </a:xfrm>
          <a:prstGeom prst="rect">
            <a:avLst/>
          </a:prstGeom>
          <a:noFill/>
          <a:ln/>
        </p:spPr>
        <p:txBody>
          <a:bodyPr wrap="none" lIns="0" tIns="0" rIns="0" bIns="0" rtlCol="0" anchor="ctr">
            <a:spAutoFit/>
          </a:bodyPr>
          <a:lstStyle/>
          <a:p>
            <a:r>
              <a:rPr lang="en-US" sz="1100" dirty="0">
                <a:solidFill>
                  <a:srgbClr val="34495E"/>
                </a:solidFill>
                <a:latin typeface="Noto Sans" pitchFamily="34" charset="0"/>
                <a:ea typeface="Noto Sans" pitchFamily="34" charset="-122"/>
                <a:cs typeface="Noto Sans" pitchFamily="34" charset="-120"/>
              </a:rPr>
              <a:t>After comprehensive evaluation of all four augmentation strategies across multiple CNN architectures, </a:t>
            </a:r>
            <a:br>
              <a:rPr lang="en-US" sz="1100" dirty="0">
                <a:solidFill>
                  <a:srgbClr val="34495E"/>
                </a:solidFill>
                <a:latin typeface="Noto Sans" pitchFamily="34" charset="0"/>
                <a:ea typeface="Noto Sans" pitchFamily="34" charset="-122"/>
                <a:cs typeface="Noto Sans" pitchFamily="34" charset="-120"/>
              </a:rPr>
            </a:br>
            <a:r>
              <a:rPr lang="en-US" sz="1100" b="1" dirty="0">
                <a:solidFill>
                  <a:srgbClr val="F39C12"/>
                </a:solidFill>
                <a:latin typeface="Noto Sans" pitchFamily="34" charset="0"/>
                <a:ea typeface="Noto Sans" pitchFamily="34" charset="-122"/>
                <a:cs typeface="Noto Sans" pitchFamily="34" charset="-120"/>
              </a:rPr>
              <a:t>Simple Augmentation</a:t>
            </a:r>
            <a:r>
              <a:rPr lang="en-US" sz="1100" dirty="0">
                <a:solidFill>
                  <a:srgbClr val="34495E"/>
                </a:solidFill>
                <a:latin typeface="Noto Sans" pitchFamily="34" charset="0"/>
                <a:ea typeface="Noto Sans" pitchFamily="34" charset="-122"/>
                <a:cs typeface="Noto Sans" pitchFamily="34" charset="-120"/>
              </a:rPr>
              <a:t>  was identified as the optimal strategy for the fungi dataset. This strategy provides an effective </a:t>
            </a:r>
            <a:br>
              <a:rPr lang="en-US" sz="1100" dirty="0">
                <a:solidFill>
                  <a:srgbClr val="34495E"/>
                </a:solidFill>
                <a:latin typeface="Noto Sans" pitchFamily="34" charset="0"/>
                <a:ea typeface="Noto Sans" pitchFamily="34" charset="-122"/>
                <a:cs typeface="Noto Sans" pitchFamily="34" charset="-120"/>
              </a:rPr>
            </a:br>
            <a:r>
              <a:rPr lang="en-US" sz="1100" dirty="0">
                <a:solidFill>
                  <a:srgbClr val="34495E"/>
                </a:solidFill>
                <a:latin typeface="Noto Sans" pitchFamily="34" charset="0"/>
                <a:ea typeface="Noto Sans" pitchFamily="34" charset="-122"/>
                <a:cs typeface="Noto Sans" pitchFamily="34" charset="-120"/>
              </a:rPr>
              <a:t>balance between data variability and computational efficiency, achieving superior performance across all tested CNN</a:t>
            </a:r>
          </a:p>
          <a:p>
            <a:r>
              <a:rPr lang="en-US" sz="1100" dirty="0">
                <a:solidFill>
                  <a:srgbClr val="34495E"/>
                </a:solidFill>
                <a:latin typeface="Noto Sans" pitchFamily="34" charset="0"/>
                <a:ea typeface="Noto Sans" pitchFamily="34" charset="-122"/>
                <a:cs typeface="Noto Sans" pitchFamily="34" charset="-120"/>
              </a:rPr>
              <a:t> architectures while maintaining practical training times. </a:t>
            </a:r>
            <a:endParaRPr lang="en-US" sz="1100" dirty="0"/>
          </a:p>
        </p:txBody>
      </p:sp>
      <p:sp>
        <p:nvSpPr>
          <p:cNvPr id="22" name="Text 19"/>
          <p:cNvSpPr/>
          <p:nvPr/>
        </p:nvSpPr>
        <p:spPr>
          <a:xfrm>
            <a:off x="750093" y="3209781"/>
            <a:ext cx="65" cy="153888"/>
          </a:xfrm>
          <a:prstGeom prst="rect">
            <a:avLst/>
          </a:prstGeom>
          <a:noFill/>
          <a:ln/>
        </p:spPr>
        <p:txBody>
          <a:bodyPr wrap="none" lIns="0" tIns="0" rIns="0" bIns="0" rtlCol="0" anchor="ctr">
            <a:spAutoFit/>
          </a:bodyPr>
          <a:lstStyle/>
          <a:p>
            <a:pPr marL="0" indent="0">
              <a:buNone/>
            </a:pPr>
            <a:endParaRPr lang="en-US" sz="1000" dirty="0"/>
          </a:p>
        </p:txBody>
      </p:sp>
      <p:sp>
        <p:nvSpPr>
          <p:cNvPr id="23" name="Shape 20"/>
          <p:cNvSpPr/>
          <p:nvPr/>
        </p:nvSpPr>
        <p:spPr>
          <a:xfrm>
            <a:off x="3433762" y="3505395"/>
            <a:ext cx="2357438" cy="362917"/>
          </a:xfrm>
          <a:prstGeom prst="rect">
            <a:avLst/>
          </a:prstGeom>
          <a:solidFill>
            <a:srgbClr val="F39C12"/>
          </a:solidFill>
          <a:ln/>
        </p:spPr>
        <p:txBody>
          <a:bodyPr/>
          <a:lstStyle/>
          <a:p>
            <a:endParaRPr lang="en-US"/>
          </a:p>
        </p:txBody>
      </p:sp>
      <p:sp>
        <p:nvSpPr>
          <p:cNvPr id="24" name="Text 21"/>
          <p:cNvSpPr/>
          <p:nvPr/>
        </p:nvSpPr>
        <p:spPr>
          <a:xfrm>
            <a:off x="3419474" y="3546347"/>
            <a:ext cx="2371726" cy="256993"/>
          </a:xfrm>
          <a:prstGeom prst="rect">
            <a:avLst/>
          </a:prstGeom>
          <a:noFill/>
          <a:ln/>
        </p:spPr>
        <p:txBody>
          <a:bodyPr wrap="square" lIns="119126" tIns="51054" rIns="119126" bIns="51054" rtlCol="0" anchor="ctr">
            <a:spAutoFit/>
          </a:bodyPr>
          <a:lstStyle/>
          <a:p>
            <a:pPr marL="0" indent="0">
              <a:buNone/>
            </a:pPr>
            <a:r>
              <a:rPr lang="en-US" sz="1000" b="1" dirty="0">
                <a:solidFill>
                  <a:srgbClr val="FFFFFF"/>
                </a:solidFill>
                <a:latin typeface="Noto Sans" pitchFamily="34" charset="0"/>
                <a:ea typeface="Noto Sans" pitchFamily="34" charset="-122"/>
                <a:cs typeface="Noto Sans" pitchFamily="34" charset="-120"/>
              </a:rPr>
              <a:t>✓ Simple Augmentation Selected</a:t>
            </a:r>
            <a:endParaRPr lang="en-US" sz="1000" dirty="0"/>
          </a:p>
        </p:txBody>
      </p:sp>
      <p:pic>
        <p:nvPicPr>
          <p:cNvPr id="19" name="Picture 18">
            <a:extLst>
              <a:ext uri="{FF2B5EF4-FFF2-40B4-BE49-F238E27FC236}">
                <a16:creationId xmlns:a16="http://schemas.microsoft.com/office/drawing/2014/main" id="{9C1730B1-7C39-3A06-AB7A-364EBDF90893}"/>
              </a:ext>
            </a:extLst>
          </p:cNvPr>
          <p:cNvPicPr>
            <a:picLocks noChangeAspect="1"/>
          </p:cNvPicPr>
          <p:nvPr/>
        </p:nvPicPr>
        <p:blipFill>
          <a:blip r:embed="rId4"/>
          <a:stretch>
            <a:fillRect/>
          </a:stretch>
        </p:blipFill>
        <p:spPr>
          <a:xfrm>
            <a:off x="7994233" y="-59435"/>
            <a:ext cx="1141859" cy="114185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65044"/>
          </a:xfrm>
          <a:prstGeom prst="rect">
            <a:avLst/>
          </a:prstGeom>
        </p:spPr>
      </p:pic>
      <p:sp>
        <p:nvSpPr>
          <p:cNvPr id="3" name="Text 0"/>
          <p:cNvSpPr/>
          <p:nvPr/>
        </p:nvSpPr>
        <p:spPr>
          <a:xfrm>
            <a:off x="585787" y="199809"/>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Phase 2: New Model Experimentation</a:t>
            </a:r>
            <a:endParaRPr lang="en-US" sz="2700" dirty="0"/>
          </a:p>
        </p:txBody>
      </p:sp>
      <p:sp>
        <p:nvSpPr>
          <p:cNvPr id="4" name="Shape 1"/>
          <p:cNvSpPr/>
          <p:nvPr/>
        </p:nvSpPr>
        <p:spPr>
          <a:xfrm>
            <a:off x="571500" y="906780"/>
            <a:ext cx="8001000" cy="835819"/>
          </a:xfrm>
          <a:prstGeom prst="rect">
            <a:avLst/>
          </a:prstGeom>
          <a:solidFill>
            <a:srgbClr val="F0F7FC"/>
          </a:solidFill>
          <a:ln/>
        </p:spPr>
        <p:txBody>
          <a:bodyPr/>
          <a:lstStyle/>
          <a:p>
            <a:endParaRPr lang="en-US"/>
          </a:p>
        </p:txBody>
      </p:sp>
      <p:sp>
        <p:nvSpPr>
          <p:cNvPr id="5" name="Shape 2"/>
          <p:cNvSpPr/>
          <p:nvPr/>
        </p:nvSpPr>
        <p:spPr>
          <a:xfrm>
            <a:off x="571500" y="906780"/>
            <a:ext cx="28575" cy="835819"/>
          </a:xfrm>
          <a:prstGeom prst="rect">
            <a:avLst/>
          </a:prstGeom>
          <a:solidFill>
            <a:srgbClr val="2E5090"/>
          </a:solidFill>
          <a:ln/>
        </p:spPr>
        <p:txBody>
          <a:bodyPr/>
          <a:lstStyle/>
          <a:p>
            <a:endParaRPr lang="en-US"/>
          </a:p>
        </p:txBody>
      </p:sp>
      <p:sp>
        <p:nvSpPr>
          <p:cNvPr id="6" name="Text 3"/>
          <p:cNvSpPr/>
          <p:nvPr/>
        </p:nvSpPr>
        <p:spPr>
          <a:xfrm>
            <a:off x="714375" y="1032333"/>
            <a:ext cx="1020921" cy="184666"/>
          </a:xfrm>
          <a:prstGeom prst="rect">
            <a:avLst/>
          </a:prstGeom>
          <a:noFill/>
          <a:ln/>
        </p:spPr>
        <p:txBody>
          <a:bodyPr wrap="none" lIns="0" tIns="0" rIns="0" bIns="0" rtlCol="0" anchor="ctr">
            <a:spAutoFit/>
          </a:bodyPr>
          <a:lstStyle/>
          <a:p>
            <a:pPr marL="0" indent="0">
              <a:buNone/>
            </a:pPr>
            <a:r>
              <a:rPr lang="en-US" sz="1200" b="1" kern="0" spc="1" dirty="0">
                <a:solidFill>
                  <a:srgbClr val="F39C12"/>
                </a:solidFill>
                <a:latin typeface="Noto Sans" pitchFamily="34" charset="0"/>
                <a:ea typeface="Noto Sans" pitchFamily="34" charset="-122"/>
                <a:cs typeface="Noto Sans" pitchFamily="34" charset="-120"/>
              </a:rPr>
              <a:t>Methodology</a:t>
            </a:r>
            <a:endParaRPr lang="en-US" sz="1200" dirty="0"/>
          </a:p>
        </p:txBody>
      </p:sp>
      <p:sp>
        <p:nvSpPr>
          <p:cNvPr id="7" name="Text 4"/>
          <p:cNvSpPr/>
          <p:nvPr/>
        </p:nvSpPr>
        <p:spPr>
          <a:xfrm>
            <a:off x="714376" y="1250782"/>
            <a:ext cx="7729538" cy="484748"/>
          </a:xfrm>
          <a:prstGeom prst="rect">
            <a:avLst/>
          </a:prstGeom>
          <a:noFill/>
          <a:ln/>
        </p:spPr>
        <p:txBody>
          <a:bodyPr wrap="square" lIns="0" tIns="0" rIns="0" bIns="0" rtlCol="0" anchor="ctr">
            <a:spAutoFit/>
          </a:bodyPr>
          <a:lstStyle/>
          <a:p>
            <a:r>
              <a:rPr lang="en-US" sz="1050" dirty="0">
                <a:solidFill>
                  <a:srgbClr val="34495E"/>
                </a:solidFill>
                <a:latin typeface="Noto Sans" pitchFamily="34" charset="0"/>
                <a:ea typeface="Noto Sans" pitchFamily="34" charset="-122"/>
                <a:cs typeface="Noto Sans" pitchFamily="34" charset="-120"/>
              </a:rPr>
              <a:t>All new models were trained using the </a:t>
            </a:r>
            <a:r>
              <a:rPr lang="en-US" sz="1050" b="1" dirty="0">
                <a:solidFill>
                  <a:srgbClr val="F39C12"/>
                </a:solidFill>
                <a:latin typeface="Noto Sans" pitchFamily="34" charset="0"/>
                <a:ea typeface="Noto Sans" pitchFamily="34" charset="-122"/>
                <a:cs typeface="Noto Sans" pitchFamily="34" charset="-120"/>
              </a:rPr>
              <a:t>Simple Augmentation strategy </a:t>
            </a:r>
            <a:r>
              <a:rPr lang="en-US" sz="1050" dirty="0">
                <a:solidFill>
                  <a:srgbClr val="34495E"/>
                </a:solidFill>
                <a:latin typeface="Noto Sans" pitchFamily="34" charset="0"/>
                <a:ea typeface="Noto Sans" pitchFamily="34" charset="-122"/>
                <a:cs typeface="Noto Sans" pitchFamily="34" charset="-120"/>
              </a:rPr>
              <a:t>selected from Phase 1. This ensures consistent </a:t>
            </a:r>
          </a:p>
          <a:p>
            <a:r>
              <a:rPr lang="en-US" sz="1050" dirty="0">
                <a:solidFill>
                  <a:srgbClr val="34495E"/>
                </a:solidFill>
                <a:latin typeface="Noto Sans" pitchFamily="34" charset="0"/>
                <a:ea typeface="Noto Sans" pitchFamily="34" charset="-122"/>
                <a:cs typeface="Noto Sans" pitchFamily="34" charset="-120"/>
              </a:rPr>
              <a:t>evaluation cross advanced architectures while maintaining the optimal augmentation approach identified in the previous phase. </a:t>
            </a:r>
            <a:endParaRPr lang="en-US" sz="1050" dirty="0"/>
          </a:p>
        </p:txBody>
      </p:sp>
      <p:sp>
        <p:nvSpPr>
          <p:cNvPr id="8" name="Text 5"/>
          <p:cNvSpPr/>
          <p:nvPr/>
        </p:nvSpPr>
        <p:spPr>
          <a:xfrm>
            <a:off x="2613173" y="1269452"/>
            <a:ext cx="65" cy="130805"/>
          </a:xfrm>
          <a:prstGeom prst="rect">
            <a:avLst/>
          </a:prstGeom>
          <a:noFill/>
          <a:ln/>
        </p:spPr>
        <p:txBody>
          <a:bodyPr wrap="none" lIns="0" tIns="0" rIns="0" bIns="0" rtlCol="0" anchor="ctr">
            <a:spAutoFit/>
          </a:bodyPr>
          <a:lstStyle/>
          <a:p>
            <a:pPr marL="0" indent="0">
              <a:buNone/>
            </a:pPr>
            <a:endParaRPr lang="en-US" sz="850" dirty="0"/>
          </a:p>
        </p:txBody>
      </p:sp>
      <p:sp>
        <p:nvSpPr>
          <p:cNvPr id="10" name="Text 7"/>
          <p:cNvSpPr/>
          <p:nvPr/>
        </p:nvSpPr>
        <p:spPr>
          <a:xfrm>
            <a:off x="714375" y="1444749"/>
            <a:ext cx="65" cy="138499"/>
          </a:xfrm>
          <a:prstGeom prst="rect">
            <a:avLst/>
          </a:prstGeom>
          <a:noFill/>
          <a:ln/>
        </p:spPr>
        <p:txBody>
          <a:bodyPr wrap="none" lIns="0" tIns="0" rIns="0" bIns="0" rtlCol="0" anchor="ctr">
            <a:spAutoFit/>
          </a:bodyPr>
          <a:lstStyle/>
          <a:p>
            <a:pPr marL="0" indent="0">
              <a:buNone/>
            </a:pPr>
            <a:endParaRPr lang="en-US" sz="900" dirty="0"/>
          </a:p>
        </p:txBody>
      </p:sp>
      <p:sp>
        <p:nvSpPr>
          <p:cNvPr id="11" name="Text 8"/>
          <p:cNvSpPr/>
          <p:nvPr/>
        </p:nvSpPr>
        <p:spPr>
          <a:xfrm>
            <a:off x="571500" y="2093179"/>
            <a:ext cx="2398605" cy="184666"/>
          </a:xfrm>
          <a:prstGeom prst="rect">
            <a:avLst/>
          </a:prstGeom>
          <a:noFill/>
          <a:ln/>
        </p:spPr>
        <p:txBody>
          <a:bodyPr wrap="none" lIns="0" tIns="0" rIns="0" bIns="0" rtlCol="0" anchor="ctr">
            <a:spAutoFit/>
          </a:bodyPr>
          <a:lstStyle/>
          <a:p>
            <a:pPr marL="0" indent="0">
              <a:buNone/>
            </a:pPr>
            <a:r>
              <a:rPr lang="en-US" sz="1200" b="1" kern="0" spc="1" dirty="0">
                <a:solidFill>
                  <a:srgbClr val="F39C12"/>
                </a:solidFill>
                <a:latin typeface="Noto Sans" pitchFamily="34" charset="0"/>
                <a:ea typeface="Noto Sans" pitchFamily="34" charset="-122"/>
                <a:cs typeface="Noto Sans" pitchFamily="34" charset="-120"/>
              </a:rPr>
              <a:t>Advanced Architectures Tested</a:t>
            </a:r>
            <a:endParaRPr lang="en-US" sz="1200" dirty="0"/>
          </a:p>
        </p:txBody>
      </p:sp>
      <p:sp>
        <p:nvSpPr>
          <p:cNvPr id="12" name="Shape 9"/>
          <p:cNvSpPr/>
          <p:nvPr/>
        </p:nvSpPr>
        <p:spPr>
          <a:xfrm>
            <a:off x="571500" y="2414111"/>
            <a:ext cx="1919883" cy="946547"/>
          </a:xfrm>
          <a:prstGeom prst="rect">
            <a:avLst/>
          </a:prstGeom>
          <a:solidFill>
            <a:srgbClr val="F8F9FA"/>
          </a:solidFill>
          <a:ln w="198">
            <a:solidFill>
              <a:srgbClr val="2E5090"/>
            </a:solidFill>
            <a:prstDash val="solid"/>
          </a:ln>
        </p:spPr>
        <p:txBody>
          <a:bodyPr/>
          <a:lstStyle/>
          <a:p>
            <a:endParaRPr lang="en-US"/>
          </a:p>
        </p:txBody>
      </p:sp>
      <p:sp>
        <p:nvSpPr>
          <p:cNvPr id="13" name="Text 10"/>
          <p:cNvSpPr/>
          <p:nvPr/>
        </p:nvSpPr>
        <p:spPr>
          <a:xfrm>
            <a:off x="1201223" y="2486673"/>
            <a:ext cx="660437" cy="161583"/>
          </a:xfrm>
          <a:prstGeom prst="rect">
            <a:avLst/>
          </a:prstGeom>
          <a:noFill/>
          <a:ln/>
        </p:spPr>
        <p:txBody>
          <a:bodyPr wrap="none" lIns="0" tIns="0" rIns="0" bIns="0" rtlCol="0" anchor="ctr">
            <a:spAutoFit/>
          </a:bodyPr>
          <a:lstStyle/>
          <a:p>
            <a:pPr marL="0" indent="0" algn="ctr">
              <a:buNone/>
            </a:pPr>
            <a:r>
              <a:rPr lang="en-US" sz="1050" b="1" dirty="0">
                <a:solidFill>
                  <a:srgbClr val="1A3A52"/>
                </a:solidFill>
                <a:latin typeface="Noto Sans" pitchFamily="34" charset="0"/>
                <a:ea typeface="Noto Sans" pitchFamily="34" charset="-122"/>
                <a:cs typeface="Noto Sans" pitchFamily="34" charset="-120"/>
              </a:rPr>
              <a:t>ConvNext</a:t>
            </a:r>
            <a:endParaRPr lang="en-US" sz="1050" dirty="0"/>
          </a:p>
        </p:txBody>
      </p:sp>
      <p:sp>
        <p:nvSpPr>
          <p:cNvPr id="14" name="Text 11"/>
          <p:cNvSpPr/>
          <p:nvPr/>
        </p:nvSpPr>
        <p:spPr>
          <a:xfrm>
            <a:off x="700088" y="2671375"/>
            <a:ext cx="1662708" cy="646331"/>
          </a:xfrm>
          <a:prstGeom prst="rect">
            <a:avLst/>
          </a:prstGeom>
          <a:noFill/>
          <a:ln/>
        </p:spPr>
        <p:txBody>
          <a:bodyPr wrap="squar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Modern CNN architecture with improved efficiency and accuracy compared to traditional ResNets.</a:t>
            </a:r>
            <a:endParaRPr lang="en-US" sz="1050" dirty="0"/>
          </a:p>
        </p:txBody>
      </p:sp>
      <p:sp>
        <p:nvSpPr>
          <p:cNvPr id="15" name="Shape 12"/>
          <p:cNvSpPr/>
          <p:nvPr/>
        </p:nvSpPr>
        <p:spPr>
          <a:xfrm>
            <a:off x="2598539" y="2414111"/>
            <a:ext cx="1919883" cy="946547"/>
          </a:xfrm>
          <a:prstGeom prst="rect">
            <a:avLst/>
          </a:prstGeom>
          <a:solidFill>
            <a:srgbClr val="F8F9FA"/>
          </a:solidFill>
          <a:ln w="198">
            <a:solidFill>
              <a:srgbClr val="2E5090"/>
            </a:solidFill>
            <a:prstDash val="solid"/>
          </a:ln>
        </p:spPr>
        <p:txBody>
          <a:bodyPr/>
          <a:lstStyle/>
          <a:p>
            <a:endParaRPr lang="en-US"/>
          </a:p>
        </p:txBody>
      </p:sp>
      <p:sp>
        <p:nvSpPr>
          <p:cNvPr id="16" name="Text 13"/>
          <p:cNvSpPr/>
          <p:nvPr/>
        </p:nvSpPr>
        <p:spPr>
          <a:xfrm>
            <a:off x="3398982" y="2486673"/>
            <a:ext cx="318998" cy="161583"/>
          </a:xfrm>
          <a:prstGeom prst="rect">
            <a:avLst/>
          </a:prstGeom>
          <a:noFill/>
          <a:ln/>
        </p:spPr>
        <p:txBody>
          <a:bodyPr wrap="none" lIns="0" tIns="0" rIns="0" bIns="0" rtlCol="0" anchor="ctr">
            <a:spAutoFit/>
          </a:bodyPr>
          <a:lstStyle/>
          <a:p>
            <a:pPr marL="0" indent="0" algn="ctr">
              <a:buNone/>
            </a:pPr>
            <a:r>
              <a:rPr lang="en-US" sz="1050" b="1" dirty="0">
                <a:solidFill>
                  <a:srgbClr val="1A3A52"/>
                </a:solidFill>
                <a:latin typeface="Noto Sans" pitchFamily="34" charset="0"/>
                <a:ea typeface="Noto Sans" pitchFamily="34" charset="-122"/>
                <a:cs typeface="Noto Sans" pitchFamily="34" charset="-120"/>
              </a:rPr>
              <a:t>Swin</a:t>
            </a:r>
            <a:endParaRPr lang="en-US" sz="1050" dirty="0"/>
          </a:p>
        </p:txBody>
      </p:sp>
      <p:sp>
        <p:nvSpPr>
          <p:cNvPr id="17" name="Text 14"/>
          <p:cNvSpPr/>
          <p:nvPr/>
        </p:nvSpPr>
        <p:spPr>
          <a:xfrm>
            <a:off x="2727127" y="2671375"/>
            <a:ext cx="1662708" cy="646331"/>
          </a:xfrm>
          <a:prstGeom prst="rect">
            <a:avLst/>
          </a:prstGeom>
          <a:noFill/>
          <a:ln/>
        </p:spPr>
        <p:txBody>
          <a:bodyPr wrap="squar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Shifted Window Transformer architecture introducing hierarchical vision transformers.</a:t>
            </a:r>
            <a:endParaRPr lang="en-US" sz="1050" dirty="0"/>
          </a:p>
        </p:txBody>
      </p:sp>
      <p:sp>
        <p:nvSpPr>
          <p:cNvPr id="18" name="Shape 15"/>
          <p:cNvSpPr/>
          <p:nvPr/>
        </p:nvSpPr>
        <p:spPr>
          <a:xfrm>
            <a:off x="4625578" y="2414111"/>
            <a:ext cx="1919883" cy="946547"/>
          </a:xfrm>
          <a:prstGeom prst="rect">
            <a:avLst/>
          </a:prstGeom>
          <a:solidFill>
            <a:srgbClr val="F8F9FA"/>
          </a:solidFill>
          <a:ln w="198">
            <a:solidFill>
              <a:srgbClr val="2E5090"/>
            </a:solidFill>
            <a:prstDash val="solid"/>
          </a:ln>
        </p:spPr>
        <p:txBody>
          <a:bodyPr/>
          <a:lstStyle/>
          <a:p>
            <a:endParaRPr lang="en-US"/>
          </a:p>
        </p:txBody>
      </p:sp>
      <p:sp>
        <p:nvSpPr>
          <p:cNvPr id="19" name="Text 16"/>
          <p:cNvSpPr/>
          <p:nvPr/>
        </p:nvSpPr>
        <p:spPr>
          <a:xfrm>
            <a:off x="5345070" y="2486673"/>
            <a:ext cx="480901" cy="161583"/>
          </a:xfrm>
          <a:prstGeom prst="rect">
            <a:avLst/>
          </a:prstGeom>
          <a:noFill/>
          <a:ln/>
        </p:spPr>
        <p:txBody>
          <a:bodyPr wrap="none" lIns="0" tIns="0" rIns="0" bIns="0" rtlCol="0" anchor="ctr">
            <a:spAutoFit/>
          </a:bodyPr>
          <a:lstStyle/>
          <a:p>
            <a:pPr marL="0" indent="0" algn="ctr">
              <a:buNone/>
            </a:pPr>
            <a:r>
              <a:rPr lang="en-US" sz="1050" b="1" dirty="0">
                <a:solidFill>
                  <a:srgbClr val="1A3A52"/>
                </a:solidFill>
                <a:latin typeface="Noto Sans" pitchFamily="34" charset="0"/>
                <a:ea typeface="Noto Sans" pitchFamily="34" charset="-122"/>
                <a:cs typeface="Noto Sans" pitchFamily="34" charset="-120"/>
              </a:rPr>
              <a:t>SwinV2</a:t>
            </a:r>
            <a:endParaRPr lang="en-US" sz="1050" dirty="0"/>
          </a:p>
        </p:txBody>
      </p:sp>
      <p:sp>
        <p:nvSpPr>
          <p:cNvPr id="20" name="Text 17"/>
          <p:cNvSpPr/>
          <p:nvPr/>
        </p:nvSpPr>
        <p:spPr>
          <a:xfrm>
            <a:off x="4754166" y="2752167"/>
            <a:ext cx="1662708" cy="484748"/>
          </a:xfrm>
          <a:prstGeom prst="rect">
            <a:avLst/>
          </a:prstGeom>
          <a:noFill/>
          <a:ln/>
        </p:spPr>
        <p:txBody>
          <a:bodyPr wrap="squar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Improved version of Swin with enhanced training stability and performance.</a:t>
            </a:r>
            <a:endParaRPr lang="en-US" sz="1050" dirty="0"/>
          </a:p>
        </p:txBody>
      </p:sp>
      <p:sp>
        <p:nvSpPr>
          <p:cNvPr id="21" name="Shape 18"/>
          <p:cNvSpPr/>
          <p:nvPr/>
        </p:nvSpPr>
        <p:spPr>
          <a:xfrm>
            <a:off x="6652617" y="2414111"/>
            <a:ext cx="1919883" cy="946547"/>
          </a:xfrm>
          <a:prstGeom prst="rect">
            <a:avLst/>
          </a:prstGeom>
          <a:solidFill>
            <a:srgbClr val="F8F9FA"/>
          </a:solidFill>
          <a:ln w="198">
            <a:solidFill>
              <a:srgbClr val="2E5090"/>
            </a:solidFill>
            <a:prstDash val="solid"/>
          </a:ln>
        </p:spPr>
        <p:txBody>
          <a:bodyPr/>
          <a:lstStyle/>
          <a:p>
            <a:endParaRPr lang="en-US"/>
          </a:p>
        </p:txBody>
      </p:sp>
      <p:sp>
        <p:nvSpPr>
          <p:cNvPr id="22" name="Text 19"/>
          <p:cNvSpPr/>
          <p:nvPr/>
        </p:nvSpPr>
        <p:spPr>
          <a:xfrm>
            <a:off x="7176541" y="2486673"/>
            <a:ext cx="872035" cy="161583"/>
          </a:xfrm>
          <a:prstGeom prst="rect">
            <a:avLst/>
          </a:prstGeom>
          <a:noFill/>
          <a:ln/>
        </p:spPr>
        <p:txBody>
          <a:bodyPr wrap="none" lIns="0" tIns="0" rIns="0" bIns="0" rtlCol="0" anchor="ctr">
            <a:spAutoFit/>
          </a:bodyPr>
          <a:lstStyle/>
          <a:p>
            <a:pPr marL="0" indent="0" algn="ctr">
              <a:buNone/>
            </a:pPr>
            <a:r>
              <a:rPr lang="en-US" sz="1050" b="1" dirty="0">
                <a:solidFill>
                  <a:srgbClr val="1A3A52"/>
                </a:solidFill>
                <a:latin typeface="Noto Sans" pitchFamily="34" charset="0"/>
                <a:ea typeface="Noto Sans" pitchFamily="34" charset="-122"/>
                <a:cs typeface="Noto Sans" pitchFamily="34" charset="-120"/>
              </a:rPr>
              <a:t>EVA-02 Large</a:t>
            </a:r>
            <a:endParaRPr lang="en-US" sz="1050" dirty="0"/>
          </a:p>
        </p:txBody>
      </p:sp>
      <p:sp>
        <p:nvSpPr>
          <p:cNvPr id="23" name="Text 20"/>
          <p:cNvSpPr/>
          <p:nvPr/>
        </p:nvSpPr>
        <p:spPr>
          <a:xfrm>
            <a:off x="6781205" y="2752167"/>
            <a:ext cx="1662708" cy="484748"/>
          </a:xfrm>
          <a:prstGeom prst="rect">
            <a:avLst/>
          </a:prstGeom>
          <a:noFill/>
          <a:ln/>
        </p:spPr>
        <p:txBody>
          <a:bodyPr wrap="square" lIns="0" tIns="0" rIns="0" bIns="0" rtlCol="0" anchor="ctr">
            <a:spAutoFit/>
          </a:bodyPr>
          <a:lstStyle/>
          <a:p>
            <a:pPr marL="0" indent="0" algn="ctr">
              <a:buNone/>
            </a:pPr>
            <a:r>
              <a:rPr lang="en-US" sz="1050" dirty="0">
                <a:solidFill>
                  <a:srgbClr val="34495E"/>
                </a:solidFill>
                <a:latin typeface="Noto Sans" pitchFamily="34" charset="0"/>
                <a:ea typeface="Noto Sans" pitchFamily="34" charset="-122"/>
                <a:cs typeface="Noto Sans" pitchFamily="34" charset="-120"/>
              </a:rPr>
              <a:t>Large-scale vision model with advanced feature extraction capabilities.</a:t>
            </a:r>
            <a:endParaRPr lang="en-US" sz="1050" dirty="0"/>
          </a:p>
        </p:txBody>
      </p:sp>
      <p:sp>
        <p:nvSpPr>
          <p:cNvPr id="24" name="Shape 21"/>
          <p:cNvSpPr/>
          <p:nvPr/>
        </p:nvSpPr>
        <p:spPr>
          <a:xfrm>
            <a:off x="571500" y="3689271"/>
            <a:ext cx="8001000" cy="1425178"/>
          </a:xfrm>
          <a:prstGeom prst="rect">
            <a:avLst/>
          </a:prstGeom>
          <a:solidFill>
            <a:srgbClr val="E8F8F4"/>
          </a:solidFill>
          <a:ln/>
        </p:spPr>
        <p:txBody>
          <a:bodyPr/>
          <a:lstStyle/>
          <a:p>
            <a:endParaRPr lang="en-US"/>
          </a:p>
        </p:txBody>
      </p:sp>
      <p:sp>
        <p:nvSpPr>
          <p:cNvPr id="25" name="Shape 22"/>
          <p:cNvSpPr/>
          <p:nvPr/>
        </p:nvSpPr>
        <p:spPr>
          <a:xfrm>
            <a:off x="571500" y="3689271"/>
            <a:ext cx="35719" cy="1425178"/>
          </a:xfrm>
          <a:prstGeom prst="rect">
            <a:avLst/>
          </a:prstGeom>
          <a:solidFill>
            <a:srgbClr val="F39C12"/>
          </a:solidFill>
          <a:ln/>
        </p:spPr>
        <p:txBody>
          <a:bodyPr/>
          <a:lstStyle/>
          <a:p>
            <a:endParaRPr lang="en-US"/>
          </a:p>
        </p:txBody>
      </p:sp>
      <p:sp>
        <p:nvSpPr>
          <p:cNvPr id="26" name="Text 23"/>
          <p:cNvSpPr/>
          <p:nvPr/>
        </p:nvSpPr>
        <p:spPr>
          <a:xfrm>
            <a:off x="750094" y="3883513"/>
            <a:ext cx="2500685" cy="161583"/>
          </a:xfrm>
          <a:prstGeom prst="rect">
            <a:avLst/>
          </a:prstGeom>
          <a:noFill/>
          <a:ln/>
        </p:spPr>
        <p:txBody>
          <a:bodyPr wrap="non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Phase 2 Result: SwinV2-Base Selected</a:t>
            </a:r>
            <a:endParaRPr lang="en-US" sz="1050" dirty="0"/>
          </a:p>
        </p:txBody>
      </p:sp>
      <p:sp>
        <p:nvSpPr>
          <p:cNvPr id="27" name="Text 24"/>
          <p:cNvSpPr/>
          <p:nvPr/>
        </p:nvSpPr>
        <p:spPr>
          <a:xfrm>
            <a:off x="767200" y="4106838"/>
            <a:ext cx="7822406" cy="507831"/>
          </a:xfrm>
          <a:prstGeom prst="rect">
            <a:avLst/>
          </a:prstGeom>
          <a:noFill/>
          <a:ln/>
        </p:spPr>
        <p:txBody>
          <a:bodyPr wrap="square" lIns="0" tIns="0" rIns="0" bIns="0" rtlCol="0" anchor="ctr">
            <a:spAutoFit/>
          </a:bodyPr>
          <a:lstStyle/>
          <a:p>
            <a:r>
              <a:rPr lang="en-US" sz="1100" b="1" dirty="0">
                <a:solidFill>
                  <a:srgbClr val="F39C12"/>
                </a:solidFill>
                <a:latin typeface="Noto Sans" pitchFamily="34" charset="0"/>
                <a:ea typeface="Noto Sans" pitchFamily="34" charset="-122"/>
                <a:cs typeface="Noto Sans" pitchFamily="34" charset="-120"/>
              </a:rPr>
              <a:t>SwinV2-Base </a:t>
            </a:r>
            <a:r>
              <a:rPr lang="en-US" sz="1100" dirty="0">
                <a:solidFill>
                  <a:srgbClr val="34495E"/>
                </a:solidFill>
                <a:latin typeface="Noto Sans" pitchFamily="34" charset="0"/>
                <a:ea typeface="Noto Sans" pitchFamily="34" charset="-122"/>
                <a:cs typeface="Noto Sans" pitchFamily="34" charset="-120"/>
              </a:rPr>
              <a:t>was identified as the best-performing model among all tested advanced architectures. Its superior performance in capturing both local and global features from microscopic fungi images, combined with computational efficiency, made it the optimal choice for further optimization through 5-fold cross validation in Phase 3 &amp; 4. </a:t>
            </a:r>
            <a:endParaRPr lang="en-US" sz="1100" dirty="0"/>
          </a:p>
        </p:txBody>
      </p:sp>
      <p:sp>
        <p:nvSpPr>
          <p:cNvPr id="28" name="Text 25"/>
          <p:cNvSpPr/>
          <p:nvPr/>
        </p:nvSpPr>
        <p:spPr>
          <a:xfrm>
            <a:off x="1477857" y="4170066"/>
            <a:ext cx="65" cy="123111"/>
          </a:xfrm>
          <a:prstGeom prst="rect">
            <a:avLst/>
          </a:prstGeom>
          <a:noFill/>
          <a:ln/>
        </p:spPr>
        <p:txBody>
          <a:bodyPr wrap="none" lIns="0" tIns="0" rIns="0" bIns="0" rtlCol="0" anchor="ctr">
            <a:spAutoFit/>
          </a:bodyPr>
          <a:lstStyle/>
          <a:p>
            <a:pPr marL="0" indent="0">
              <a:buNone/>
            </a:pPr>
            <a:endParaRPr lang="en-US" sz="800" dirty="0"/>
          </a:p>
        </p:txBody>
      </p:sp>
      <p:sp>
        <p:nvSpPr>
          <p:cNvPr id="29" name="Text 26"/>
          <p:cNvSpPr/>
          <p:nvPr/>
        </p:nvSpPr>
        <p:spPr>
          <a:xfrm>
            <a:off x="750094" y="4358164"/>
            <a:ext cx="65" cy="123111"/>
          </a:xfrm>
          <a:prstGeom prst="rect">
            <a:avLst/>
          </a:prstGeom>
          <a:noFill/>
          <a:ln/>
        </p:spPr>
        <p:txBody>
          <a:bodyPr wrap="none" lIns="0" tIns="0" rIns="0" bIns="0" rtlCol="0" anchor="ctr">
            <a:spAutoFit/>
          </a:bodyPr>
          <a:lstStyle/>
          <a:p>
            <a:pPr marL="0" indent="0">
              <a:buNone/>
            </a:pPr>
            <a:endParaRPr lang="en-US" sz="800" dirty="0"/>
          </a:p>
        </p:txBody>
      </p:sp>
      <p:sp>
        <p:nvSpPr>
          <p:cNvPr id="30" name="Text 27"/>
          <p:cNvSpPr/>
          <p:nvPr/>
        </p:nvSpPr>
        <p:spPr>
          <a:xfrm>
            <a:off x="750094" y="4540329"/>
            <a:ext cx="65" cy="123111"/>
          </a:xfrm>
          <a:prstGeom prst="rect">
            <a:avLst/>
          </a:prstGeom>
          <a:noFill/>
          <a:ln/>
        </p:spPr>
        <p:txBody>
          <a:bodyPr wrap="none" lIns="0" tIns="0" rIns="0" bIns="0" rtlCol="0" anchor="ctr">
            <a:spAutoFit/>
          </a:bodyPr>
          <a:lstStyle/>
          <a:p>
            <a:pPr marL="0" indent="0">
              <a:buNone/>
            </a:pPr>
            <a:endParaRPr lang="en-US" sz="800" dirty="0"/>
          </a:p>
        </p:txBody>
      </p:sp>
      <p:sp>
        <p:nvSpPr>
          <p:cNvPr id="31" name="Shape 28"/>
          <p:cNvSpPr/>
          <p:nvPr/>
        </p:nvSpPr>
        <p:spPr>
          <a:xfrm>
            <a:off x="3414046" y="4682218"/>
            <a:ext cx="2066258" cy="364331"/>
          </a:xfrm>
          <a:prstGeom prst="rect">
            <a:avLst/>
          </a:prstGeom>
          <a:solidFill>
            <a:srgbClr val="F39C12"/>
          </a:solidFill>
          <a:ln/>
        </p:spPr>
        <p:txBody>
          <a:bodyPr/>
          <a:lstStyle/>
          <a:p>
            <a:endParaRPr lang="en-US"/>
          </a:p>
        </p:txBody>
      </p:sp>
      <p:sp>
        <p:nvSpPr>
          <p:cNvPr id="32" name="Text 29"/>
          <p:cNvSpPr/>
          <p:nvPr/>
        </p:nvSpPr>
        <p:spPr>
          <a:xfrm>
            <a:off x="3428149" y="4750117"/>
            <a:ext cx="2066258" cy="222625"/>
          </a:xfrm>
          <a:prstGeom prst="rect">
            <a:avLst/>
          </a:prstGeom>
          <a:noFill/>
          <a:ln/>
        </p:spPr>
        <p:txBody>
          <a:bodyPr wrap="square" lIns="102108" tIns="34036" rIns="102108" bIns="34036" rtlCol="0" anchor="ctr">
            <a:spAutoFit/>
          </a:bodyPr>
          <a:lstStyle/>
          <a:p>
            <a:pPr marL="0" indent="0">
              <a:buNone/>
            </a:pPr>
            <a:r>
              <a:rPr lang="en-US" sz="1000" b="1" dirty="0">
                <a:solidFill>
                  <a:srgbClr val="FFFFFF"/>
                </a:solidFill>
                <a:latin typeface="Noto Sans" pitchFamily="34" charset="0"/>
                <a:ea typeface="Noto Sans" pitchFamily="34" charset="-122"/>
                <a:cs typeface="Noto Sans" pitchFamily="34" charset="-120"/>
              </a:rPr>
              <a:t>✓ Best Performer Selected</a:t>
            </a:r>
            <a:endParaRPr lang="en-US" sz="1000" dirty="0"/>
          </a:p>
        </p:txBody>
      </p:sp>
      <p:pic>
        <p:nvPicPr>
          <p:cNvPr id="9" name="Picture 8">
            <a:extLst>
              <a:ext uri="{FF2B5EF4-FFF2-40B4-BE49-F238E27FC236}">
                <a16:creationId xmlns:a16="http://schemas.microsoft.com/office/drawing/2014/main" id="{FFFF391D-784B-8644-D7F0-E48959ED55C9}"/>
              </a:ext>
            </a:extLst>
          </p:cNvPr>
          <p:cNvPicPr>
            <a:picLocks noChangeAspect="1"/>
          </p:cNvPicPr>
          <p:nvPr/>
        </p:nvPicPr>
        <p:blipFill>
          <a:blip r:embed="rId4"/>
          <a:stretch>
            <a:fillRect/>
          </a:stretch>
        </p:blipFill>
        <p:spPr>
          <a:xfrm>
            <a:off x="8222876" y="-37238"/>
            <a:ext cx="1049140" cy="10491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566990"/>
          </a:xfrm>
          <a:prstGeom prst="rect">
            <a:avLst/>
          </a:prstGeom>
        </p:spPr>
      </p:pic>
      <p:sp>
        <p:nvSpPr>
          <p:cNvPr id="3" name="Text 0"/>
          <p:cNvSpPr/>
          <p:nvPr/>
        </p:nvSpPr>
        <p:spPr>
          <a:xfrm>
            <a:off x="571500" y="357188"/>
            <a:ext cx="8001000" cy="1164431"/>
          </a:xfrm>
          <a:prstGeom prst="rect">
            <a:avLst/>
          </a:prstGeom>
          <a:noFill/>
          <a:ln/>
        </p:spPr>
        <p:txBody>
          <a:bodyPr wrap="square" lIns="0" tIns="0" rIns="0" bIns="127508"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Phase 3: SwinV2-B Training with 5-Fold Cross Validation</a:t>
            </a:r>
            <a:endParaRPr lang="en-US" sz="2700" dirty="0"/>
          </a:p>
        </p:txBody>
      </p:sp>
      <p:sp>
        <p:nvSpPr>
          <p:cNvPr id="4" name="Shape 1"/>
          <p:cNvSpPr/>
          <p:nvPr/>
        </p:nvSpPr>
        <p:spPr>
          <a:xfrm>
            <a:off x="571500" y="1707356"/>
            <a:ext cx="8001000" cy="1885838"/>
          </a:xfrm>
          <a:prstGeom prst="rect">
            <a:avLst/>
          </a:prstGeom>
          <a:solidFill>
            <a:srgbClr val="F8F9FA"/>
          </a:solidFill>
          <a:ln/>
        </p:spPr>
        <p:txBody>
          <a:bodyPr/>
          <a:lstStyle/>
          <a:p>
            <a:endParaRPr lang="en-US"/>
          </a:p>
        </p:txBody>
      </p:sp>
      <p:sp>
        <p:nvSpPr>
          <p:cNvPr id="5" name="Shape 2"/>
          <p:cNvSpPr/>
          <p:nvPr/>
        </p:nvSpPr>
        <p:spPr>
          <a:xfrm>
            <a:off x="571500" y="1707356"/>
            <a:ext cx="28575" cy="1885838"/>
          </a:xfrm>
          <a:prstGeom prst="rect">
            <a:avLst/>
          </a:prstGeom>
          <a:solidFill>
            <a:srgbClr val="2E5090"/>
          </a:solidFill>
          <a:ln/>
        </p:spPr>
        <p:txBody>
          <a:bodyPr/>
          <a:lstStyle/>
          <a:p>
            <a:endParaRPr lang="en-US"/>
          </a:p>
        </p:txBody>
      </p:sp>
      <p:sp>
        <p:nvSpPr>
          <p:cNvPr id="6" name="Shape 3"/>
          <p:cNvSpPr/>
          <p:nvPr/>
        </p:nvSpPr>
        <p:spPr>
          <a:xfrm>
            <a:off x="714375" y="1850231"/>
            <a:ext cx="285750" cy="285750"/>
          </a:xfrm>
          <a:prstGeom prst="rect">
            <a:avLst/>
          </a:prstGeom>
          <a:solidFill>
            <a:srgbClr val="F39C12"/>
          </a:solidFill>
          <a:ln/>
        </p:spPr>
        <p:txBody>
          <a:bodyPr/>
          <a:lstStyle/>
          <a:p>
            <a:endParaRPr lang="en-US"/>
          </a:p>
        </p:txBody>
      </p:sp>
      <p:sp>
        <p:nvSpPr>
          <p:cNvPr id="7" name="Text 4"/>
          <p:cNvSpPr/>
          <p:nvPr/>
        </p:nvSpPr>
        <p:spPr>
          <a:xfrm>
            <a:off x="714375" y="1850231"/>
            <a:ext cx="285750" cy="285750"/>
          </a:xfrm>
          <a:prstGeom prst="rect">
            <a:avLst/>
          </a:prstGeom>
          <a:noFill/>
          <a:ln/>
        </p:spPr>
        <p:txBody>
          <a:bodyPr wrap="none" lIns="0" tIns="0" rIns="0" bIns="0" rtlCol="0" anchor="ctr">
            <a:spAutoFit/>
          </a:bodyPr>
          <a:lstStyle/>
          <a:p>
            <a:pPr marL="0" indent="0" algn="ctr">
              <a:buNone/>
            </a:pPr>
            <a:r>
              <a:rPr lang="en-US" sz="942" b="1" dirty="0">
                <a:solidFill>
                  <a:srgbClr val="FFFFFF"/>
                </a:solidFill>
                <a:latin typeface="Noto Sans" pitchFamily="34" charset="0"/>
                <a:ea typeface="Noto Sans" pitchFamily="34" charset="-122"/>
                <a:cs typeface="Noto Sans" pitchFamily="34" charset="-120"/>
              </a:rPr>
              <a:t>3</a:t>
            </a:r>
            <a:endParaRPr lang="en-US" sz="942" dirty="0"/>
          </a:p>
        </p:txBody>
      </p:sp>
      <p:sp>
        <p:nvSpPr>
          <p:cNvPr id="8" name="Text 5"/>
          <p:cNvSpPr/>
          <p:nvPr/>
        </p:nvSpPr>
        <p:spPr>
          <a:xfrm>
            <a:off x="1085850" y="1885950"/>
            <a:ext cx="1761939" cy="214313"/>
          </a:xfrm>
          <a:prstGeom prst="rect">
            <a:avLst/>
          </a:prstGeom>
          <a:noFill/>
          <a:ln/>
        </p:spPr>
        <p:txBody>
          <a:bodyPr wrap="none" lIns="0" tIns="0" rIns="0" bIns="0" rtlCol="0" anchor="ctr">
            <a:spAutoFit/>
          </a:bodyPr>
          <a:lstStyle/>
          <a:p>
            <a:pPr marL="0" indent="0">
              <a:buNone/>
            </a:pPr>
            <a:r>
              <a:rPr lang="en-US" sz="1046" b="1" dirty="0">
                <a:solidFill>
                  <a:srgbClr val="1A3A52"/>
                </a:solidFill>
                <a:latin typeface="Noto Sans" pitchFamily="34" charset="0"/>
                <a:ea typeface="Noto Sans" pitchFamily="34" charset="-122"/>
                <a:cs typeface="Noto Sans" pitchFamily="34" charset="-120"/>
              </a:rPr>
              <a:t> Training Phase Overview </a:t>
            </a:r>
            <a:endParaRPr lang="en-US" sz="1046" dirty="0"/>
          </a:p>
        </p:txBody>
      </p:sp>
      <p:sp>
        <p:nvSpPr>
          <p:cNvPr id="9" name="Text 6"/>
          <p:cNvSpPr/>
          <p:nvPr/>
        </p:nvSpPr>
        <p:spPr>
          <a:xfrm>
            <a:off x="714375" y="2258889"/>
            <a:ext cx="43282"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a:t>
            </a:r>
            <a:endParaRPr lang="en-US" sz="900" dirty="0"/>
          </a:p>
        </p:txBody>
      </p:sp>
      <p:sp>
        <p:nvSpPr>
          <p:cNvPr id="10" name="Text 7"/>
          <p:cNvSpPr/>
          <p:nvPr/>
        </p:nvSpPr>
        <p:spPr>
          <a:xfrm>
            <a:off x="942975" y="2257828"/>
            <a:ext cx="915315"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Model Selected:</a:t>
            </a:r>
            <a:endParaRPr lang="en-US" sz="900" dirty="0"/>
          </a:p>
        </p:txBody>
      </p:sp>
      <p:sp>
        <p:nvSpPr>
          <p:cNvPr id="11" name="Text 8"/>
          <p:cNvSpPr/>
          <p:nvPr/>
        </p:nvSpPr>
        <p:spPr>
          <a:xfrm>
            <a:off x="1923127" y="2257828"/>
            <a:ext cx="1518044" cy="138499"/>
          </a:xfrm>
          <a:prstGeom prst="rect">
            <a:avLst/>
          </a:prstGeom>
          <a:noFill/>
          <a:ln/>
        </p:spPr>
        <p:txBody>
          <a:bodyPr wrap="non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SwinV2-Base (from Phase 2)</a:t>
            </a:r>
            <a:endParaRPr lang="en-US" sz="900" dirty="0"/>
          </a:p>
        </p:txBody>
      </p:sp>
      <p:sp>
        <p:nvSpPr>
          <p:cNvPr id="12" name="Text 9"/>
          <p:cNvSpPr/>
          <p:nvPr/>
        </p:nvSpPr>
        <p:spPr>
          <a:xfrm>
            <a:off x="714375" y="2500325"/>
            <a:ext cx="43282"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a:t>
            </a:r>
            <a:endParaRPr lang="en-US" sz="900" dirty="0"/>
          </a:p>
        </p:txBody>
      </p:sp>
      <p:sp>
        <p:nvSpPr>
          <p:cNvPr id="13" name="Text 10"/>
          <p:cNvSpPr/>
          <p:nvPr/>
        </p:nvSpPr>
        <p:spPr>
          <a:xfrm>
            <a:off x="942975" y="2499264"/>
            <a:ext cx="530594"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Strategy:</a:t>
            </a:r>
            <a:endParaRPr lang="en-US" sz="900" dirty="0"/>
          </a:p>
        </p:txBody>
      </p:sp>
      <p:sp>
        <p:nvSpPr>
          <p:cNvPr id="14" name="Text 11"/>
          <p:cNvSpPr/>
          <p:nvPr/>
        </p:nvSpPr>
        <p:spPr>
          <a:xfrm>
            <a:off x="1591975" y="2499264"/>
            <a:ext cx="1237518" cy="138499"/>
          </a:xfrm>
          <a:prstGeom prst="rect">
            <a:avLst/>
          </a:prstGeom>
          <a:noFill/>
          <a:ln/>
        </p:spPr>
        <p:txBody>
          <a:bodyPr wrap="non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5-Fold Cross Validation</a:t>
            </a:r>
            <a:endParaRPr lang="en-US" sz="900" dirty="0"/>
          </a:p>
        </p:txBody>
      </p:sp>
      <p:sp>
        <p:nvSpPr>
          <p:cNvPr id="15" name="Text 12"/>
          <p:cNvSpPr/>
          <p:nvPr/>
        </p:nvSpPr>
        <p:spPr>
          <a:xfrm>
            <a:off x="714375" y="2741761"/>
            <a:ext cx="43282"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a:t>
            </a:r>
            <a:endParaRPr lang="en-US" sz="900" dirty="0"/>
          </a:p>
        </p:txBody>
      </p:sp>
      <p:sp>
        <p:nvSpPr>
          <p:cNvPr id="16" name="Text 13"/>
          <p:cNvSpPr/>
          <p:nvPr/>
        </p:nvSpPr>
        <p:spPr>
          <a:xfrm>
            <a:off x="942975" y="2740701"/>
            <a:ext cx="477695"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Process:</a:t>
            </a:r>
            <a:endParaRPr lang="en-US" sz="900" dirty="0"/>
          </a:p>
        </p:txBody>
      </p:sp>
      <p:sp>
        <p:nvSpPr>
          <p:cNvPr id="17" name="Text 14"/>
          <p:cNvSpPr/>
          <p:nvPr/>
        </p:nvSpPr>
        <p:spPr>
          <a:xfrm>
            <a:off x="1544955" y="2740701"/>
            <a:ext cx="3728585" cy="138499"/>
          </a:xfrm>
          <a:prstGeom prst="rect">
            <a:avLst/>
          </a:prstGeom>
          <a:noFill/>
          <a:ln/>
        </p:spPr>
        <p:txBody>
          <a:bodyPr wrap="non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Dataset divided into 5 folds, model trained on each fold combination</a:t>
            </a:r>
            <a:endParaRPr lang="en-US" sz="900" dirty="0"/>
          </a:p>
        </p:txBody>
      </p:sp>
      <p:sp>
        <p:nvSpPr>
          <p:cNvPr id="18" name="Text 15"/>
          <p:cNvSpPr/>
          <p:nvPr/>
        </p:nvSpPr>
        <p:spPr>
          <a:xfrm>
            <a:off x="714375" y="2983198"/>
            <a:ext cx="43282"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a:t>
            </a:r>
            <a:endParaRPr lang="en-US" sz="900" dirty="0"/>
          </a:p>
        </p:txBody>
      </p:sp>
      <p:sp>
        <p:nvSpPr>
          <p:cNvPr id="19" name="Text 16"/>
          <p:cNvSpPr/>
          <p:nvPr/>
        </p:nvSpPr>
        <p:spPr>
          <a:xfrm>
            <a:off x="942975" y="2982137"/>
            <a:ext cx="585097"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Objective:</a:t>
            </a:r>
            <a:endParaRPr lang="en-US" sz="900" dirty="0"/>
          </a:p>
        </p:txBody>
      </p:sp>
      <p:sp>
        <p:nvSpPr>
          <p:cNvPr id="20" name="Text 17"/>
          <p:cNvSpPr/>
          <p:nvPr/>
        </p:nvSpPr>
        <p:spPr>
          <a:xfrm>
            <a:off x="1640782" y="2982137"/>
            <a:ext cx="2592056" cy="138499"/>
          </a:xfrm>
          <a:prstGeom prst="rect">
            <a:avLst/>
          </a:prstGeom>
          <a:noFill/>
          <a:ln/>
        </p:spPr>
        <p:txBody>
          <a:bodyPr wrap="non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Generate diverse models for ensemble creation</a:t>
            </a:r>
            <a:endParaRPr lang="en-US" sz="900" dirty="0"/>
          </a:p>
        </p:txBody>
      </p:sp>
      <p:sp>
        <p:nvSpPr>
          <p:cNvPr id="21" name="Text 18"/>
          <p:cNvSpPr/>
          <p:nvPr/>
        </p:nvSpPr>
        <p:spPr>
          <a:xfrm>
            <a:off x="714375" y="3224634"/>
            <a:ext cx="43282"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a:t>
            </a:r>
            <a:endParaRPr lang="en-US" sz="900" dirty="0"/>
          </a:p>
        </p:txBody>
      </p:sp>
      <p:sp>
        <p:nvSpPr>
          <p:cNvPr id="22" name="Text 19"/>
          <p:cNvSpPr/>
          <p:nvPr/>
        </p:nvSpPr>
        <p:spPr>
          <a:xfrm>
            <a:off x="942975" y="3223574"/>
            <a:ext cx="452047"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Output:</a:t>
            </a:r>
            <a:endParaRPr lang="en-US" sz="900" dirty="0"/>
          </a:p>
        </p:txBody>
      </p:sp>
      <p:sp>
        <p:nvSpPr>
          <p:cNvPr id="23" name="Text 20"/>
          <p:cNvSpPr/>
          <p:nvPr/>
        </p:nvSpPr>
        <p:spPr>
          <a:xfrm>
            <a:off x="1528072" y="3223574"/>
            <a:ext cx="2837315" cy="138499"/>
          </a:xfrm>
          <a:prstGeom prst="rect">
            <a:avLst/>
          </a:prstGeom>
          <a:noFill/>
          <a:ln/>
        </p:spPr>
        <p:txBody>
          <a:bodyPr wrap="non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5 trained SwinV2-B models from different data splits</a:t>
            </a:r>
            <a:endParaRPr lang="en-US" sz="900" dirty="0"/>
          </a:p>
        </p:txBody>
      </p:sp>
      <p:sp>
        <p:nvSpPr>
          <p:cNvPr id="24" name="Shape 21"/>
          <p:cNvSpPr/>
          <p:nvPr/>
        </p:nvSpPr>
        <p:spPr>
          <a:xfrm>
            <a:off x="571500" y="3736070"/>
            <a:ext cx="8001000" cy="1105830"/>
          </a:xfrm>
          <a:prstGeom prst="rect">
            <a:avLst/>
          </a:prstGeom>
          <a:solidFill>
            <a:srgbClr val="E8F4F8"/>
          </a:solidFill>
          <a:ln/>
        </p:spPr>
        <p:txBody>
          <a:bodyPr/>
          <a:lstStyle/>
          <a:p>
            <a:endParaRPr lang="en-US"/>
          </a:p>
        </p:txBody>
      </p:sp>
      <p:sp>
        <p:nvSpPr>
          <p:cNvPr id="25" name="Shape 22"/>
          <p:cNvSpPr/>
          <p:nvPr/>
        </p:nvSpPr>
        <p:spPr>
          <a:xfrm>
            <a:off x="571500" y="3736070"/>
            <a:ext cx="28575" cy="1105830"/>
          </a:xfrm>
          <a:prstGeom prst="rect">
            <a:avLst/>
          </a:prstGeom>
          <a:solidFill>
            <a:srgbClr val="F39C12"/>
          </a:solidFill>
          <a:ln/>
        </p:spPr>
        <p:txBody>
          <a:bodyPr/>
          <a:lstStyle/>
          <a:p>
            <a:endParaRPr lang="en-US"/>
          </a:p>
        </p:txBody>
      </p:sp>
      <p:sp>
        <p:nvSpPr>
          <p:cNvPr id="26" name="Text 23"/>
          <p:cNvSpPr/>
          <p:nvPr/>
        </p:nvSpPr>
        <p:spPr>
          <a:xfrm>
            <a:off x="678656" y="3843226"/>
            <a:ext cx="7786688"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5-Fold Cross Validation Methodology</a:t>
            </a:r>
            <a:endParaRPr lang="en-US" sz="837" dirty="0"/>
          </a:p>
        </p:txBody>
      </p:sp>
      <p:sp>
        <p:nvSpPr>
          <p:cNvPr id="27" name="Text 24"/>
          <p:cNvSpPr/>
          <p:nvPr/>
        </p:nvSpPr>
        <p:spPr>
          <a:xfrm>
            <a:off x="678656" y="4103139"/>
            <a:ext cx="1322478" cy="123111"/>
          </a:xfrm>
          <a:prstGeom prst="rect">
            <a:avLst/>
          </a:prstGeom>
          <a:noFill/>
          <a:ln/>
        </p:spPr>
        <p:txBody>
          <a:bodyPr wrap="none" lIns="0" tIns="0" rIns="0" bIns="0" rtlCol="0" anchor="ctr">
            <a:spAutoFit/>
          </a:bodyPr>
          <a:lstStyle/>
          <a:p>
            <a:pPr marL="0" indent="0">
              <a:buNone/>
            </a:pPr>
            <a:r>
              <a:rPr lang="en-US" sz="800" dirty="0">
                <a:solidFill>
                  <a:srgbClr val="34495E"/>
                </a:solidFill>
                <a:latin typeface="Noto Sans" pitchFamily="34" charset="0"/>
                <a:ea typeface="Noto Sans" pitchFamily="34" charset="-122"/>
                <a:cs typeface="Noto Sans" pitchFamily="34" charset="-120"/>
              </a:rPr>
              <a:t>The dataset is divided into </a:t>
            </a:r>
            <a:endParaRPr lang="en-US" sz="800" dirty="0"/>
          </a:p>
        </p:txBody>
      </p:sp>
      <p:sp>
        <p:nvSpPr>
          <p:cNvPr id="28" name="Text 25"/>
          <p:cNvSpPr/>
          <p:nvPr/>
        </p:nvSpPr>
        <p:spPr>
          <a:xfrm>
            <a:off x="1988895" y="4096829"/>
            <a:ext cx="632389" cy="135731"/>
          </a:xfrm>
          <a:prstGeom prst="rect">
            <a:avLst/>
          </a:prstGeom>
          <a:noFill/>
          <a:ln/>
        </p:spPr>
        <p:txBody>
          <a:bodyPr wrap="none" lIns="0" tIns="0" rIns="0" bIns="0" rtlCol="0" anchor="ctr">
            <a:spAutoFit/>
          </a:bodyPr>
          <a:lstStyle/>
          <a:p>
            <a:pPr marL="0" indent="0">
              <a:buNone/>
            </a:pPr>
            <a:r>
              <a:rPr lang="en-US" sz="732" b="1" dirty="0">
                <a:solidFill>
                  <a:srgbClr val="F39C12"/>
                </a:solidFill>
                <a:latin typeface="Noto Sans" pitchFamily="34" charset="0"/>
                <a:ea typeface="Noto Sans" pitchFamily="34" charset="-122"/>
                <a:cs typeface="Noto Sans" pitchFamily="34" charset="-120"/>
              </a:rPr>
              <a:t>5 equal folds</a:t>
            </a:r>
            <a:endParaRPr lang="en-US" sz="732" dirty="0"/>
          </a:p>
        </p:txBody>
      </p:sp>
      <p:sp>
        <p:nvSpPr>
          <p:cNvPr id="29" name="Text 26"/>
          <p:cNvSpPr/>
          <p:nvPr/>
        </p:nvSpPr>
        <p:spPr>
          <a:xfrm>
            <a:off x="2566420" y="4103139"/>
            <a:ext cx="5934317" cy="123111"/>
          </a:xfrm>
          <a:prstGeom prst="rect">
            <a:avLst/>
          </a:prstGeom>
          <a:noFill/>
          <a:ln/>
        </p:spPr>
        <p:txBody>
          <a:bodyPr wrap="none" lIns="0" tIns="0" rIns="0" bIns="0" rtlCol="0" anchor="ctr">
            <a:spAutoFit/>
          </a:bodyPr>
          <a:lstStyle/>
          <a:p>
            <a:pPr marL="0" indent="0">
              <a:buNone/>
            </a:pPr>
            <a:r>
              <a:rPr lang="en-US" sz="800" dirty="0">
                <a:solidFill>
                  <a:srgbClr val="34495E"/>
                </a:solidFill>
                <a:latin typeface="Noto Sans" pitchFamily="34" charset="0"/>
                <a:ea typeface="Noto Sans" pitchFamily="34" charset="-122"/>
                <a:cs typeface="Noto Sans" pitchFamily="34" charset="-120"/>
              </a:rPr>
              <a:t>. For each iteration, one fold is held out as the validation set while the remaining 4 folds are used for training. This process </a:t>
            </a:r>
            <a:endParaRPr lang="en-US" sz="800" dirty="0"/>
          </a:p>
        </p:txBody>
      </p:sp>
      <p:sp>
        <p:nvSpPr>
          <p:cNvPr id="30" name="Text 27"/>
          <p:cNvSpPr/>
          <p:nvPr/>
        </p:nvSpPr>
        <p:spPr>
          <a:xfrm>
            <a:off x="678656" y="4263148"/>
            <a:ext cx="3871253" cy="123111"/>
          </a:xfrm>
          <a:prstGeom prst="rect">
            <a:avLst/>
          </a:prstGeom>
          <a:noFill/>
          <a:ln/>
        </p:spPr>
        <p:txBody>
          <a:bodyPr wrap="none" lIns="0" tIns="0" rIns="0" bIns="0" rtlCol="0" anchor="ctr">
            <a:spAutoFit/>
          </a:bodyPr>
          <a:lstStyle/>
          <a:p>
            <a:pPr marL="0" indent="0">
              <a:buNone/>
            </a:pPr>
            <a:r>
              <a:rPr lang="en-US" sz="800" dirty="0">
                <a:solidFill>
                  <a:srgbClr val="34495E"/>
                </a:solidFill>
                <a:latin typeface="Noto Sans" pitchFamily="34" charset="0"/>
                <a:ea typeface="Noto Sans" pitchFamily="34" charset="-122"/>
                <a:cs typeface="Noto Sans" pitchFamily="34" charset="-120"/>
              </a:rPr>
              <a:t>repeats 5 times, ensuring each fold is used as both training and validation data. </a:t>
            </a:r>
            <a:endParaRPr lang="en-US" sz="800" dirty="0"/>
          </a:p>
        </p:txBody>
      </p:sp>
      <p:sp>
        <p:nvSpPr>
          <p:cNvPr id="31" name="Shape 28"/>
          <p:cNvSpPr/>
          <p:nvPr/>
        </p:nvSpPr>
        <p:spPr>
          <a:xfrm>
            <a:off x="678656" y="4477569"/>
            <a:ext cx="1523042" cy="257175"/>
          </a:xfrm>
          <a:prstGeom prst="rect">
            <a:avLst/>
          </a:prstGeom>
          <a:solidFill>
            <a:srgbClr val="FFFFFF"/>
          </a:solidFill>
          <a:ln w="99">
            <a:solidFill>
              <a:srgbClr val="2E5090"/>
            </a:solidFill>
            <a:prstDash val="solid"/>
          </a:ln>
        </p:spPr>
        <p:txBody>
          <a:bodyPr/>
          <a:lstStyle/>
          <a:p>
            <a:endParaRPr lang="en-US"/>
          </a:p>
        </p:txBody>
      </p:sp>
      <p:sp>
        <p:nvSpPr>
          <p:cNvPr id="32" name="Text 29"/>
          <p:cNvSpPr/>
          <p:nvPr/>
        </p:nvSpPr>
        <p:spPr>
          <a:xfrm>
            <a:off x="678656" y="4475865"/>
            <a:ext cx="1523042" cy="260584"/>
          </a:xfrm>
          <a:prstGeom prst="rect">
            <a:avLst/>
          </a:prstGeom>
          <a:noFill/>
          <a:ln/>
        </p:spPr>
        <p:txBody>
          <a:bodyPr wrap="square" lIns="68072" tIns="68072" rIns="68072" bIns="68072" rtlCol="0" anchor="ctr">
            <a:spAutoFit/>
          </a:bodyPr>
          <a:lstStyle/>
          <a:p>
            <a:pPr marL="0" indent="0" algn="ctr">
              <a:buNone/>
            </a:pPr>
            <a:r>
              <a:rPr lang="en-US" sz="800" b="1" dirty="0">
                <a:solidFill>
                  <a:srgbClr val="2E5090"/>
                </a:solidFill>
                <a:latin typeface="Noto Sans" pitchFamily="34" charset="0"/>
                <a:ea typeface="Noto Sans" pitchFamily="34" charset="-122"/>
                <a:cs typeface="Noto Sans" pitchFamily="34" charset="-120"/>
              </a:rPr>
              <a:t>Fold 1</a:t>
            </a:r>
            <a:endParaRPr lang="en-US" sz="800" dirty="0"/>
          </a:p>
        </p:txBody>
      </p:sp>
      <p:sp>
        <p:nvSpPr>
          <p:cNvPr id="33" name="Shape 30"/>
          <p:cNvSpPr/>
          <p:nvPr/>
        </p:nvSpPr>
        <p:spPr>
          <a:xfrm>
            <a:off x="2244561" y="4477569"/>
            <a:ext cx="1523042" cy="257175"/>
          </a:xfrm>
          <a:prstGeom prst="rect">
            <a:avLst/>
          </a:prstGeom>
          <a:solidFill>
            <a:srgbClr val="FFFFFF"/>
          </a:solidFill>
          <a:ln w="99">
            <a:solidFill>
              <a:srgbClr val="2E5090"/>
            </a:solidFill>
            <a:prstDash val="solid"/>
          </a:ln>
        </p:spPr>
        <p:txBody>
          <a:bodyPr/>
          <a:lstStyle/>
          <a:p>
            <a:endParaRPr lang="en-US"/>
          </a:p>
        </p:txBody>
      </p:sp>
      <p:sp>
        <p:nvSpPr>
          <p:cNvPr id="34" name="Text 31"/>
          <p:cNvSpPr/>
          <p:nvPr/>
        </p:nvSpPr>
        <p:spPr>
          <a:xfrm>
            <a:off x="2244561" y="4475865"/>
            <a:ext cx="1523042" cy="260584"/>
          </a:xfrm>
          <a:prstGeom prst="rect">
            <a:avLst/>
          </a:prstGeom>
          <a:noFill/>
          <a:ln/>
        </p:spPr>
        <p:txBody>
          <a:bodyPr wrap="square" lIns="68072" tIns="68072" rIns="68072" bIns="68072" rtlCol="0" anchor="ctr">
            <a:spAutoFit/>
          </a:bodyPr>
          <a:lstStyle/>
          <a:p>
            <a:pPr marL="0" indent="0" algn="ctr">
              <a:buNone/>
            </a:pPr>
            <a:r>
              <a:rPr lang="en-US" sz="800" b="1" dirty="0">
                <a:solidFill>
                  <a:srgbClr val="2E5090"/>
                </a:solidFill>
                <a:latin typeface="Noto Sans" pitchFamily="34" charset="0"/>
                <a:ea typeface="Noto Sans" pitchFamily="34" charset="-122"/>
                <a:cs typeface="Noto Sans" pitchFamily="34" charset="-120"/>
              </a:rPr>
              <a:t>Fold</a:t>
            </a:r>
            <a:r>
              <a:rPr lang="en-US" sz="628" b="1" dirty="0">
                <a:solidFill>
                  <a:srgbClr val="2E5090"/>
                </a:solidFill>
                <a:latin typeface="Noto Sans" pitchFamily="34" charset="0"/>
                <a:ea typeface="Noto Sans" pitchFamily="34" charset="-122"/>
                <a:cs typeface="Noto Sans" pitchFamily="34" charset="-120"/>
              </a:rPr>
              <a:t> </a:t>
            </a:r>
            <a:r>
              <a:rPr lang="en-US" sz="800" b="1" dirty="0">
                <a:solidFill>
                  <a:srgbClr val="2E5090"/>
                </a:solidFill>
                <a:latin typeface="Noto Sans" pitchFamily="34" charset="0"/>
                <a:ea typeface="Noto Sans" pitchFamily="34" charset="-122"/>
                <a:cs typeface="Noto Sans" pitchFamily="34" charset="-120"/>
              </a:rPr>
              <a:t>2</a:t>
            </a:r>
            <a:endParaRPr lang="en-US" sz="628" dirty="0"/>
          </a:p>
        </p:txBody>
      </p:sp>
      <p:sp>
        <p:nvSpPr>
          <p:cNvPr id="35" name="Shape 32"/>
          <p:cNvSpPr/>
          <p:nvPr/>
        </p:nvSpPr>
        <p:spPr>
          <a:xfrm>
            <a:off x="3810465" y="4477569"/>
            <a:ext cx="1523042" cy="257175"/>
          </a:xfrm>
          <a:prstGeom prst="rect">
            <a:avLst/>
          </a:prstGeom>
          <a:solidFill>
            <a:srgbClr val="FFFFFF"/>
          </a:solidFill>
          <a:ln w="99">
            <a:solidFill>
              <a:srgbClr val="2E5090"/>
            </a:solidFill>
            <a:prstDash val="solid"/>
          </a:ln>
        </p:spPr>
        <p:txBody>
          <a:bodyPr/>
          <a:lstStyle/>
          <a:p>
            <a:endParaRPr lang="en-US"/>
          </a:p>
        </p:txBody>
      </p:sp>
      <p:sp>
        <p:nvSpPr>
          <p:cNvPr id="36" name="Text 33"/>
          <p:cNvSpPr/>
          <p:nvPr/>
        </p:nvSpPr>
        <p:spPr>
          <a:xfrm>
            <a:off x="3810465" y="4475865"/>
            <a:ext cx="1523042" cy="260584"/>
          </a:xfrm>
          <a:prstGeom prst="rect">
            <a:avLst/>
          </a:prstGeom>
          <a:noFill/>
          <a:ln/>
        </p:spPr>
        <p:txBody>
          <a:bodyPr wrap="square" lIns="68072" tIns="68072" rIns="68072" bIns="68072" rtlCol="0" anchor="ctr">
            <a:spAutoFit/>
          </a:bodyPr>
          <a:lstStyle/>
          <a:p>
            <a:pPr marL="0" indent="0" algn="ctr">
              <a:buNone/>
            </a:pPr>
            <a:r>
              <a:rPr lang="en-US" sz="800" b="1" dirty="0">
                <a:solidFill>
                  <a:srgbClr val="2E5090"/>
                </a:solidFill>
                <a:latin typeface="Noto Sans" pitchFamily="34" charset="0"/>
                <a:ea typeface="Noto Sans" pitchFamily="34" charset="-122"/>
                <a:cs typeface="Noto Sans" pitchFamily="34" charset="-120"/>
              </a:rPr>
              <a:t>Fold</a:t>
            </a:r>
            <a:r>
              <a:rPr lang="en-US" sz="628" b="1" dirty="0">
                <a:solidFill>
                  <a:srgbClr val="2E5090"/>
                </a:solidFill>
                <a:latin typeface="Noto Sans" pitchFamily="34" charset="0"/>
                <a:ea typeface="Noto Sans" pitchFamily="34" charset="-122"/>
                <a:cs typeface="Noto Sans" pitchFamily="34" charset="-120"/>
              </a:rPr>
              <a:t> </a:t>
            </a:r>
            <a:r>
              <a:rPr lang="en-US" sz="800" b="1" dirty="0">
                <a:solidFill>
                  <a:srgbClr val="2E5090"/>
                </a:solidFill>
                <a:latin typeface="Noto Sans" pitchFamily="34" charset="0"/>
                <a:ea typeface="Noto Sans" pitchFamily="34" charset="-122"/>
                <a:cs typeface="Noto Sans" pitchFamily="34" charset="-120"/>
              </a:rPr>
              <a:t>3</a:t>
            </a:r>
            <a:endParaRPr lang="en-US" sz="628" dirty="0"/>
          </a:p>
        </p:txBody>
      </p:sp>
      <p:sp>
        <p:nvSpPr>
          <p:cNvPr id="37" name="Shape 34"/>
          <p:cNvSpPr/>
          <p:nvPr/>
        </p:nvSpPr>
        <p:spPr>
          <a:xfrm>
            <a:off x="5376370" y="4477569"/>
            <a:ext cx="1523042" cy="257175"/>
          </a:xfrm>
          <a:prstGeom prst="rect">
            <a:avLst/>
          </a:prstGeom>
          <a:solidFill>
            <a:srgbClr val="FFFFFF"/>
          </a:solidFill>
          <a:ln w="99">
            <a:solidFill>
              <a:srgbClr val="2E5090"/>
            </a:solidFill>
            <a:prstDash val="solid"/>
          </a:ln>
        </p:spPr>
        <p:txBody>
          <a:bodyPr/>
          <a:lstStyle/>
          <a:p>
            <a:endParaRPr lang="en-US"/>
          </a:p>
        </p:txBody>
      </p:sp>
      <p:sp>
        <p:nvSpPr>
          <p:cNvPr id="38" name="Text 35"/>
          <p:cNvSpPr/>
          <p:nvPr/>
        </p:nvSpPr>
        <p:spPr>
          <a:xfrm>
            <a:off x="5376370" y="4468171"/>
            <a:ext cx="1523042" cy="275973"/>
          </a:xfrm>
          <a:prstGeom prst="rect">
            <a:avLst/>
          </a:prstGeom>
          <a:noFill/>
          <a:ln/>
        </p:spPr>
        <p:txBody>
          <a:bodyPr wrap="square" lIns="68072" tIns="68072" rIns="68072" bIns="68072" rtlCol="0" anchor="ctr">
            <a:spAutoFit/>
          </a:bodyPr>
          <a:lstStyle/>
          <a:p>
            <a:pPr marL="0" indent="0" algn="ctr">
              <a:buNone/>
            </a:pPr>
            <a:r>
              <a:rPr lang="en-US" sz="800" b="1" dirty="0">
                <a:solidFill>
                  <a:srgbClr val="2E5090"/>
                </a:solidFill>
                <a:latin typeface="Noto Sans" pitchFamily="34" charset="0"/>
                <a:ea typeface="Noto Sans" pitchFamily="34" charset="-122"/>
                <a:cs typeface="Noto Sans" pitchFamily="34" charset="-120"/>
              </a:rPr>
              <a:t>Fold</a:t>
            </a:r>
            <a:r>
              <a:rPr lang="en-US" sz="628" b="1" dirty="0">
                <a:solidFill>
                  <a:srgbClr val="2E5090"/>
                </a:solidFill>
                <a:latin typeface="Noto Sans" pitchFamily="34" charset="0"/>
                <a:ea typeface="Noto Sans" pitchFamily="34" charset="-122"/>
                <a:cs typeface="Noto Sans" pitchFamily="34" charset="-120"/>
              </a:rPr>
              <a:t> </a:t>
            </a:r>
            <a:r>
              <a:rPr lang="en-US" sz="900" b="1" dirty="0">
                <a:solidFill>
                  <a:srgbClr val="2E5090"/>
                </a:solidFill>
                <a:latin typeface="Noto Sans" pitchFamily="34" charset="0"/>
                <a:ea typeface="Noto Sans" pitchFamily="34" charset="-122"/>
                <a:cs typeface="Noto Sans" pitchFamily="34" charset="-120"/>
              </a:rPr>
              <a:t>4</a:t>
            </a:r>
            <a:endParaRPr lang="en-US" sz="628" dirty="0"/>
          </a:p>
        </p:txBody>
      </p:sp>
      <p:sp>
        <p:nvSpPr>
          <p:cNvPr id="39" name="Shape 36"/>
          <p:cNvSpPr/>
          <p:nvPr/>
        </p:nvSpPr>
        <p:spPr>
          <a:xfrm>
            <a:off x="6942274" y="4477569"/>
            <a:ext cx="1523042" cy="257175"/>
          </a:xfrm>
          <a:prstGeom prst="rect">
            <a:avLst/>
          </a:prstGeom>
          <a:solidFill>
            <a:srgbClr val="FFFFFF"/>
          </a:solidFill>
          <a:ln w="99">
            <a:solidFill>
              <a:srgbClr val="2E5090"/>
            </a:solidFill>
            <a:prstDash val="solid"/>
          </a:ln>
        </p:spPr>
        <p:txBody>
          <a:bodyPr/>
          <a:lstStyle/>
          <a:p>
            <a:endParaRPr lang="en-US"/>
          </a:p>
        </p:txBody>
      </p:sp>
      <p:sp>
        <p:nvSpPr>
          <p:cNvPr id="40" name="Text 37"/>
          <p:cNvSpPr/>
          <p:nvPr/>
        </p:nvSpPr>
        <p:spPr>
          <a:xfrm>
            <a:off x="6942274" y="4475865"/>
            <a:ext cx="1523042" cy="260584"/>
          </a:xfrm>
          <a:prstGeom prst="rect">
            <a:avLst/>
          </a:prstGeom>
          <a:noFill/>
          <a:ln/>
        </p:spPr>
        <p:txBody>
          <a:bodyPr wrap="square" lIns="68072" tIns="68072" rIns="68072" bIns="68072" rtlCol="0" anchor="ctr">
            <a:spAutoFit/>
          </a:bodyPr>
          <a:lstStyle/>
          <a:p>
            <a:pPr marL="0" indent="0" algn="ctr">
              <a:buNone/>
            </a:pPr>
            <a:r>
              <a:rPr lang="en-US" sz="800" b="1" dirty="0">
                <a:solidFill>
                  <a:srgbClr val="2E5090"/>
                </a:solidFill>
                <a:latin typeface="Noto Sans" pitchFamily="34" charset="0"/>
                <a:ea typeface="Noto Sans" pitchFamily="34" charset="-122"/>
                <a:cs typeface="Noto Sans" pitchFamily="34" charset="-120"/>
              </a:rPr>
              <a:t>Fold</a:t>
            </a:r>
            <a:r>
              <a:rPr lang="en-US" sz="628" b="1" dirty="0">
                <a:solidFill>
                  <a:srgbClr val="2E5090"/>
                </a:solidFill>
                <a:latin typeface="Noto Sans" pitchFamily="34" charset="0"/>
                <a:ea typeface="Noto Sans" pitchFamily="34" charset="-122"/>
                <a:cs typeface="Noto Sans" pitchFamily="34" charset="-120"/>
              </a:rPr>
              <a:t> </a:t>
            </a:r>
            <a:r>
              <a:rPr lang="en-US" sz="800" b="1" dirty="0">
                <a:solidFill>
                  <a:srgbClr val="2E5090"/>
                </a:solidFill>
                <a:latin typeface="Noto Sans" pitchFamily="34" charset="0"/>
                <a:ea typeface="Noto Sans" pitchFamily="34" charset="-122"/>
                <a:cs typeface="Noto Sans" pitchFamily="34" charset="-120"/>
              </a:rPr>
              <a:t>5</a:t>
            </a:r>
            <a:endParaRPr lang="en-US" sz="628" dirty="0"/>
          </a:p>
        </p:txBody>
      </p:sp>
      <p:sp>
        <p:nvSpPr>
          <p:cNvPr id="41" name="Text 38"/>
          <p:cNvSpPr/>
          <p:nvPr/>
        </p:nvSpPr>
        <p:spPr>
          <a:xfrm>
            <a:off x="571500" y="4934769"/>
            <a:ext cx="8001000" cy="232172"/>
          </a:xfrm>
          <a:prstGeom prst="rect">
            <a:avLst/>
          </a:prstGeom>
          <a:noFill/>
          <a:ln/>
        </p:spPr>
        <p:txBody>
          <a:bodyPr wrap="square" lIns="0" tIns="102108" rIns="0" bIns="0" rtlCol="0" anchor="ctr">
            <a:spAutoFit/>
          </a:bodyPr>
          <a:lstStyle/>
          <a:p>
            <a:pPr marL="0" indent="0" algn="ctr">
              <a:buNone/>
            </a:pPr>
            <a:r>
              <a:rPr lang="en-US" sz="680" i="1" dirty="0">
                <a:solidFill>
                  <a:srgbClr val="2E5090"/>
                </a:solidFill>
                <a:latin typeface="Noto Sans" pitchFamily="34" charset="0"/>
                <a:ea typeface="Noto Sans" pitchFamily="34" charset="-122"/>
                <a:cs typeface="Noto Sans" pitchFamily="34" charset="-120"/>
              </a:rPr>
              <a:t> → Next: Phase 4 - Evaluation of best individual fold and ensemble results </a:t>
            </a:r>
            <a:endParaRPr lang="en-US" sz="680" dirty="0"/>
          </a:p>
        </p:txBody>
      </p:sp>
      <p:pic>
        <p:nvPicPr>
          <p:cNvPr id="42" name="Picture 41">
            <a:extLst>
              <a:ext uri="{FF2B5EF4-FFF2-40B4-BE49-F238E27FC236}">
                <a16:creationId xmlns:a16="http://schemas.microsoft.com/office/drawing/2014/main" id="{F1259A19-FE10-30F6-4AA6-33FB17162F48}"/>
              </a:ext>
            </a:extLst>
          </p:cNvPr>
          <p:cNvPicPr>
            <a:picLocks noChangeAspect="1"/>
          </p:cNvPicPr>
          <p:nvPr/>
        </p:nvPicPr>
        <p:blipFill>
          <a:blip r:embed="rId4"/>
          <a:stretch>
            <a:fillRect/>
          </a:stretch>
        </p:blipFill>
        <p:spPr>
          <a:xfrm>
            <a:off x="8159407" y="-39263"/>
            <a:ext cx="976685" cy="97668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3211" y="0"/>
            <a:ext cx="9159474" cy="6096381"/>
          </a:xfrm>
          <a:prstGeom prst="rect">
            <a:avLst/>
          </a:prstGeom>
        </p:spPr>
      </p:pic>
      <p:sp>
        <p:nvSpPr>
          <p:cNvPr id="3" name="Text 0"/>
          <p:cNvSpPr/>
          <p:nvPr/>
        </p:nvSpPr>
        <p:spPr>
          <a:xfrm>
            <a:off x="571500" y="231124"/>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Phase 4: Evaluation &amp; Ensemble Results</a:t>
            </a:r>
            <a:endParaRPr lang="en-US" sz="2700" dirty="0"/>
          </a:p>
        </p:txBody>
      </p:sp>
      <p:sp>
        <p:nvSpPr>
          <p:cNvPr id="4" name="Text 1"/>
          <p:cNvSpPr/>
          <p:nvPr/>
        </p:nvSpPr>
        <p:spPr>
          <a:xfrm>
            <a:off x="571500" y="899690"/>
            <a:ext cx="1572162" cy="153888"/>
          </a:xfrm>
          <a:prstGeom prst="rect">
            <a:avLst/>
          </a:prstGeom>
          <a:noFill/>
          <a:ln/>
        </p:spPr>
        <p:txBody>
          <a:bodyPr wrap="none" lIns="0" tIns="0" rIns="0" bIns="0" rtlCol="0" anchor="ctr">
            <a:spAutoFit/>
          </a:bodyPr>
          <a:lstStyle/>
          <a:p>
            <a:pPr marL="0" indent="0">
              <a:buNone/>
            </a:pPr>
            <a:r>
              <a:rPr lang="en-US" sz="1000" b="1" kern="0" spc="1" dirty="0">
                <a:solidFill>
                  <a:srgbClr val="F39C12"/>
                </a:solidFill>
                <a:latin typeface="Noto Sans" pitchFamily="34" charset="0"/>
                <a:ea typeface="Noto Sans" pitchFamily="34" charset="-122"/>
                <a:cs typeface="Noto Sans" pitchFamily="34" charset="-120"/>
              </a:rPr>
              <a:t>Evaluation Methodology</a:t>
            </a:r>
            <a:endParaRPr lang="en-US" sz="1000" dirty="0"/>
          </a:p>
        </p:txBody>
      </p:sp>
      <p:sp>
        <p:nvSpPr>
          <p:cNvPr id="5" name="Shape 2"/>
          <p:cNvSpPr/>
          <p:nvPr/>
        </p:nvSpPr>
        <p:spPr>
          <a:xfrm>
            <a:off x="571500" y="1205234"/>
            <a:ext cx="3911203" cy="1005790"/>
          </a:xfrm>
          <a:prstGeom prst="rect">
            <a:avLst/>
          </a:prstGeom>
          <a:solidFill>
            <a:srgbClr val="F8F9FA"/>
          </a:solidFill>
          <a:ln/>
        </p:spPr>
        <p:txBody>
          <a:bodyPr/>
          <a:lstStyle/>
          <a:p>
            <a:endParaRPr lang="en-US"/>
          </a:p>
        </p:txBody>
      </p:sp>
      <p:sp>
        <p:nvSpPr>
          <p:cNvPr id="6" name="Shape 3"/>
          <p:cNvSpPr/>
          <p:nvPr/>
        </p:nvSpPr>
        <p:spPr>
          <a:xfrm>
            <a:off x="571500" y="1205234"/>
            <a:ext cx="28575" cy="1005790"/>
          </a:xfrm>
          <a:prstGeom prst="rect">
            <a:avLst/>
          </a:prstGeom>
          <a:solidFill>
            <a:srgbClr val="2E5090"/>
          </a:solidFill>
          <a:ln/>
        </p:spPr>
        <p:txBody>
          <a:bodyPr/>
          <a:lstStyle/>
          <a:p>
            <a:endParaRPr lang="en-US"/>
          </a:p>
        </p:txBody>
      </p:sp>
      <p:sp>
        <p:nvSpPr>
          <p:cNvPr id="7" name="Text 4"/>
          <p:cNvSpPr/>
          <p:nvPr/>
        </p:nvSpPr>
        <p:spPr>
          <a:xfrm>
            <a:off x="714375" y="1359226"/>
            <a:ext cx="2250616"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Evaluation 1: Best Individual Fold (TTA)</a:t>
            </a:r>
            <a:endParaRPr lang="en-US" sz="900" dirty="0"/>
          </a:p>
        </p:txBody>
      </p:sp>
      <p:sp>
        <p:nvSpPr>
          <p:cNvPr id="8" name="Text 5"/>
          <p:cNvSpPr/>
          <p:nvPr/>
        </p:nvSpPr>
        <p:spPr>
          <a:xfrm>
            <a:off x="714375" y="1623609"/>
            <a:ext cx="3625453" cy="415498"/>
          </a:xfrm>
          <a:prstGeom prst="rect">
            <a:avLst/>
          </a:prstGeom>
          <a:noFill/>
          <a:ln/>
        </p:spPr>
        <p:txBody>
          <a:bodyPr wrap="squar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 Test-Time Augmentation applied to the best performing fold from the 5-fold cross-validation. Multiple augmented versions of test images are generated and averaged for final prediction. </a:t>
            </a:r>
            <a:endParaRPr lang="en-US" sz="900" dirty="0"/>
          </a:p>
        </p:txBody>
      </p:sp>
      <p:sp>
        <p:nvSpPr>
          <p:cNvPr id="9" name="Shape 6"/>
          <p:cNvSpPr/>
          <p:nvPr/>
        </p:nvSpPr>
        <p:spPr>
          <a:xfrm>
            <a:off x="4661297" y="1205234"/>
            <a:ext cx="3911203" cy="1005790"/>
          </a:xfrm>
          <a:prstGeom prst="rect">
            <a:avLst/>
          </a:prstGeom>
          <a:solidFill>
            <a:srgbClr val="F8F9FA"/>
          </a:solidFill>
          <a:ln/>
        </p:spPr>
        <p:txBody>
          <a:bodyPr/>
          <a:lstStyle/>
          <a:p>
            <a:endParaRPr lang="en-US"/>
          </a:p>
        </p:txBody>
      </p:sp>
      <p:sp>
        <p:nvSpPr>
          <p:cNvPr id="10" name="Shape 7"/>
          <p:cNvSpPr/>
          <p:nvPr/>
        </p:nvSpPr>
        <p:spPr>
          <a:xfrm>
            <a:off x="4661297" y="1205234"/>
            <a:ext cx="28575" cy="1005790"/>
          </a:xfrm>
          <a:prstGeom prst="rect">
            <a:avLst/>
          </a:prstGeom>
          <a:solidFill>
            <a:srgbClr val="2E5090"/>
          </a:solidFill>
          <a:ln/>
        </p:spPr>
        <p:txBody>
          <a:bodyPr/>
          <a:lstStyle/>
          <a:p>
            <a:endParaRPr lang="en-US"/>
          </a:p>
        </p:txBody>
      </p:sp>
      <p:sp>
        <p:nvSpPr>
          <p:cNvPr id="11" name="Text 8"/>
          <p:cNvSpPr/>
          <p:nvPr/>
        </p:nvSpPr>
        <p:spPr>
          <a:xfrm>
            <a:off x="4804172" y="1359226"/>
            <a:ext cx="1742465" cy="138499"/>
          </a:xfrm>
          <a:prstGeom prst="rect">
            <a:avLst/>
          </a:prstGeom>
          <a:noFill/>
          <a:ln/>
        </p:spPr>
        <p:txBody>
          <a:bodyPr wrap="none" lIns="0" tIns="0" rIns="0" bIns="0" rtlCol="0" anchor="ctr">
            <a:spAutoFit/>
          </a:bodyPr>
          <a:lstStyle/>
          <a:p>
            <a:pPr marL="0" indent="0">
              <a:buNone/>
            </a:pPr>
            <a:r>
              <a:rPr lang="en-US" sz="900" b="1" dirty="0">
                <a:solidFill>
                  <a:srgbClr val="1A3A52"/>
                </a:solidFill>
                <a:latin typeface="Noto Sans" pitchFamily="34" charset="0"/>
                <a:ea typeface="Noto Sans" pitchFamily="34" charset="-122"/>
                <a:cs typeface="Noto Sans" pitchFamily="34" charset="-120"/>
              </a:rPr>
              <a:t>Evaluation 2: Ensemble Voting</a:t>
            </a:r>
            <a:endParaRPr lang="en-US" sz="900" dirty="0"/>
          </a:p>
        </p:txBody>
      </p:sp>
      <p:sp>
        <p:nvSpPr>
          <p:cNvPr id="12" name="Text 9"/>
          <p:cNvSpPr/>
          <p:nvPr/>
        </p:nvSpPr>
        <p:spPr>
          <a:xfrm>
            <a:off x="4804172" y="1544679"/>
            <a:ext cx="3625453" cy="415498"/>
          </a:xfrm>
          <a:prstGeom prst="rect">
            <a:avLst/>
          </a:prstGeom>
          <a:noFill/>
          <a:ln/>
        </p:spPr>
        <p:txBody>
          <a:bodyPr wrap="square" lIns="0" tIns="0" rIns="0" bIns="0" rtlCol="0" anchor="ctr">
            <a:spAutoFit/>
          </a:bodyPr>
          <a:lstStyle/>
          <a:p>
            <a:pPr marL="0" indent="0">
              <a:buNone/>
            </a:pPr>
            <a:r>
              <a:rPr lang="en-US" sz="900" dirty="0">
                <a:solidFill>
                  <a:srgbClr val="34495E"/>
                </a:solidFill>
                <a:latin typeface="Noto Sans" pitchFamily="34" charset="0"/>
                <a:ea typeface="Noto Sans" pitchFamily="34" charset="-122"/>
                <a:cs typeface="Noto Sans" pitchFamily="34" charset="-120"/>
              </a:rPr>
              <a:t> All 5 trained models vote on each prediction. Final class is determined by majority voting mechanism across all 5 folds, leveraging model diversity for robustness. </a:t>
            </a:r>
            <a:endParaRPr lang="en-US" sz="900" dirty="0"/>
          </a:p>
        </p:txBody>
      </p:sp>
      <p:sp>
        <p:nvSpPr>
          <p:cNvPr id="13" name="Shape 10"/>
          <p:cNvSpPr/>
          <p:nvPr/>
        </p:nvSpPr>
        <p:spPr>
          <a:xfrm>
            <a:off x="571500" y="2425336"/>
            <a:ext cx="8001000" cy="2590279"/>
          </a:xfrm>
          <a:prstGeom prst="rect">
            <a:avLst/>
          </a:prstGeom>
          <a:solidFill>
            <a:srgbClr val="E8F4F8"/>
          </a:solidFill>
          <a:ln/>
        </p:spPr>
        <p:txBody>
          <a:bodyPr/>
          <a:lstStyle/>
          <a:p>
            <a:endParaRPr lang="en-US"/>
          </a:p>
        </p:txBody>
      </p:sp>
      <p:sp>
        <p:nvSpPr>
          <p:cNvPr id="14" name="Shape 11"/>
          <p:cNvSpPr/>
          <p:nvPr/>
        </p:nvSpPr>
        <p:spPr>
          <a:xfrm>
            <a:off x="571500" y="2425336"/>
            <a:ext cx="28575" cy="2590279"/>
          </a:xfrm>
          <a:prstGeom prst="rect">
            <a:avLst/>
          </a:prstGeom>
          <a:solidFill>
            <a:srgbClr val="F39C12"/>
          </a:solidFill>
          <a:ln/>
        </p:spPr>
        <p:txBody>
          <a:bodyPr/>
          <a:lstStyle/>
          <a:p>
            <a:endParaRPr lang="en-US"/>
          </a:p>
        </p:txBody>
      </p:sp>
      <p:sp>
        <p:nvSpPr>
          <p:cNvPr id="15" name="Text 12"/>
          <p:cNvSpPr/>
          <p:nvPr/>
        </p:nvSpPr>
        <p:spPr>
          <a:xfrm>
            <a:off x="750094" y="2612711"/>
            <a:ext cx="2148024" cy="153888"/>
          </a:xfrm>
          <a:prstGeom prst="rect">
            <a:avLst/>
          </a:prstGeom>
          <a:noFill/>
          <a:ln/>
        </p:spPr>
        <p:txBody>
          <a:bodyPr wrap="none" lIns="0" tIns="0" rIns="0" bIns="0" rtlCol="0" anchor="ctr">
            <a:spAutoFit/>
          </a:bodyPr>
          <a:lstStyle/>
          <a:p>
            <a:pPr marL="0" indent="0">
              <a:buNone/>
            </a:pPr>
            <a:r>
              <a:rPr lang="en-US" sz="1000" b="1" dirty="0">
                <a:solidFill>
                  <a:srgbClr val="1A3A52"/>
                </a:solidFill>
                <a:latin typeface="Noto Sans" pitchFamily="34" charset="0"/>
                <a:ea typeface="Noto Sans" pitchFamily="34" charset="-122"/>
                <a:cs typeface="Noto Sans" pitchFamily="34" charset="-120"/>
              </a:rPr>
              <a:t>Performance Metrics Comparison</a:t>
            </a:r>
            <a:endParaRPr lang="en-US" sz="1000" dirty="0"/>
          </a:p>
        </p:txBody>
      </p:sp>
      <p:sp>
        <p:nvSpPr>
          <p:cNvPr id="16" name="Shape 13"/>
          <p:cNvSpPr/>
          <p:nvPr/>
        </p:nvSpPr>
        <p:spPr>
          <a:xfrm>
            <a:off x="750094" y="2918255"/>
            <a:ext cx="7643813" cy="310753"/>
          </a:xfrm>
          <a:prstGeom prst="rect">
            <a:avLst/>
          </a:prstGeom>
          <a:solidFill>
            <a:srgbClr val="F8F9FA"/>
          </a:solidFill>
          <a:ln/>
        </p:spPr>
        <p:txBody>
          <a:bodyPr/>
          <a:lstStyle/>
          <a:p>
            <a:endParaRPr lang="en-US"/>
          </a:p>
        </p:txBody>
      </p:sp>
      <p:sp>
        <p:nvSpPr>
          <p:cNvPr id="17" name="Shape 14"/>
          <p:cNvSpPr/>
          <p:nvPr/>
        </p:nvSpPr>
        <p:spPr>
          <a:xfrm>
            <a:off x="750094" y="2918255"/>
            <a:ext cx="1808987" cy="310753"/>
          </a:xfrm>
          <a:prstGeom prst="rect">
            <a:avLst/>
          </a:prstGeom>
          <a:solidFill>
            <a:srgbClr val="2E5090"/>
          </a:solidFill>
          <a:ln/>
        </p:spPr>
        <p:txBody>
          <a:bodyPr/>
          <a:lstStyle/>
          <a:p>
            <a:endParaRPr lang="en-US"/>
          </a:p>
        </p:txBody>
      </p:sp>
      <p:sp>
        <p:nvSpPr>
          <p:cNvPr id="18" name="Text 15"/>
          <p:cNvSpPr/>
          <p:nvPr/>
        </p:nvSpPr>
        <p:spPr>
          <a:xfrm>
            <a:off x="750094" y="2901277"/>
            <a:ext cx="1808987"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Evaluation Method</a:t>
            </a:r>
            <a:endParaRPr lang="en-US" sz="900" dirty="0"/>
          </a:p>
        </p:txBody>
      </p:sp>
      <p:sp>
        <p:nvSpPr>
          <p:cNvPr id="19" name="Shape 16"/>
          <p:cNvSpPr/>
          <p:nvPr/>
        </p:nvSpPr>
        <p:spPr>
          <a:xfrm>
            <a:off x="2559081" y="2918255"/>
            <a:ext cx="1015557" cy="310753"/>
          </a:xfrm>
          <a:prstGeom prst="rect">
            <a:avLst/>
          </a:prstGeom>
          <a:solidFill>
            <a:srgbClr val="2E5090"/>
          </a:solidFill>
          <a:ln/>
        </p:spPr>
        <p:txBody>
          <a:bodyPr/>
          <a:lstStyle/>
          <a:p>
            <a:endParaRPr lang="en-US"/>
          </a:p>
        </p:txBody>
      </p:sp>
      <p:sp>
        <p:nvSpPr>
          <p:cNvPr id="20" name="Text 17"/>
          <p:cNvSpPr/>
          <p:nvPr/>
        </p:nvSpPr>
        <p:spPr>
          <a:xfrm>
            <a:off x="2559081" y="2901277"/>
            <a:ext cx="1015557"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Accuracy</a:t>
            </a:r>
            <a:endParaRPr lang="en-US" sz="900" dirty="0"/>
          </a:p>
        </p:txBody>
      </p:sp>
      <p:sp>
        <p:nvSpPr>
          <p:cNvPr id="21" name="Shape 18"/>
          <p:cNvSpPr/>
          <p:nvPr/>
        </p:nvSpPr>
        <p:spPr>
          <a:xfrm>
            <a:off x="3574638" y="2918255"/>
            <a:ext cx="1711514" cy="310753"/>
          </a:xfrm>
          <a:prstGeom prst="rect">
            <a:avLst/>
          </a:prstGeom>
          <a:solidFill>
            <a:srgbClr val="2E5090"/>
          </a:solidFill>
          <a:ln/>
        </p:spPr>
        <p:txBody>
          <a:bodyPr/>
          <a:lstStyle/>
          <a:p>
            <a:endParaRPr lang="en-US"/>
          </a:p>
        </p:txBody>
      </p:sp>
      <p:sp>
        <p:nvSpPr>
          <p:cNvPr id="22" name="Text 19"/>
          <p:cNvSpPr/>
          <p:nvPr/>
        </p:nvSpPr>
        <p:spPr>
          <a:xfrm>
            <a:off x="3574638" y="2901277"/>
            <a:ext cx="1711514"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Precision (W. Avg)</a:t>
            </a:r>
            <a:endParaRPr lang="en-US" sz="900" dirty="0"/>
          </a:p>
        </p:txBody>
      </p:sp>
      <p:sp>
        <p:nvSpPr>
          <p:cNvPr id="23" name="Shape 20"/>
          <p:cNvSpPr/>
          <p:nvPr/>
        </p:nvSpPr>
        <p:spPr>
          <a:xfrm>
            <a:off x="5286152" y="2918255"/>
            <a:ext cx="1459920" cy="310753"/>
          </a:xfrm>
          <a:prstGeom prst="rect">
            <a:avLst/>
          </a:prstGeom>
          <a:solidFill>
            <a:srgbClr val="2E5090"/>
          </a:solidFill>
          <a:ln/>
        </p:spPr>
        <p:txBody>
          <a:bodyPr/>
          <a:lstStyle/>
          <a:p>
            <a:endParaRPr lang="en-US"/>
          </a:p>
        </p:txBody>
      </p:sp>
      <p:sp>
        <p:nvSpPr>
          <p:cNvPr id="24" name="Text 21"/>
          <p:cNvSpPr/>
          <p:nvPr/>
        </p:nvSpPr>
        <p:spPr>
          <a:xfrm>
            <a:off x="5286152" y="2901277"/>
            <a:ext cx="1459920"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Recall (W. Avg)</a:t>
            </a:r>
            <a:endParaRPr lang="en-US" sz="900" dirty="0"/>
          </a:p>
        </p:txBody>
      </p:sp>
      <p:sp>
        <p:nvSpPr>
          <p:cNvPr id="25" name="Shape 22"/>
          <p:cNvSpPr/>
          <p:nvPr/>
        </p:nvSpPr>
        <p:spPr>
          <a:xfrm>
            <a:off x="6746072" y="2918255"/>
            <a:ext cx="1647834" cy="310753"/>
          </a:xfrm>
          <a:prstGeom prst="rect">
            <a:avLst/>
          </a:prstGeom>
          <a:solidFill>
            <a:srgbClr val="2E5090"/>
          </a:solidFill>
          <a:ln/>
        </p:spPr>
        <p:txBody>
          <a:bodyPr/>
          <a:lstStyle/>
          <a:p>
            <a:endParaRPr lang="en-US"/>
          </a:p>
        </p:txBody>
      </p:sp>
      <p:sp>
        <p:nvSpPr>
          <p:cNvPr id="26" name="Text 23"/>
          <p:cNvSpPr/>
          <p:nvPr/>
        </p:nvSpPr>
        <p:spPr>
          <a:xfrm>
            <a:off x="6746072" y="2901277"/>
            <a:ext cx="1647834" cy="344710"/>
          </a:xfrm>
          <a:prstGeom prst="rect">
            <a:avLst/>
          </a:prstGeom>
          <a:noFill/>
          <a:ln/>
        </p:spPr>
        <p:txBody>
          <a:bodyPr wrap="square" lIns="102108" tIns="102108" rIns="102108" bIns="102108" rtlCol="0" anchor="ctr">
            <a:spAutoFit/>
          </a:bodyPr>
          <a:lstStyle/>
          <a:p>
            <a:pPr marL="0" indent="0" algn="l">
              <a:buNone/>
            </a:pPr>
            <a:r>
              <a:rPr lang="en-US" sz="900" b="1" dirty="0">
                <a:solidFill>
                  <a:srgbClr val="FFFFFF"/>
                </a:solidFill>
                <a:latin typeface="Noto Sans" pitchFamily="34" charset="0"/>
                <a:ea typeface="Noto Sans" pitchFamily="34" charset="-122"/>
                <a:cs typeface="Noto Sans" pitchFamily="34" charset="-120"/>
              </a:rPr>
              <a:t>F1-Score (W. Avg)</a:t>
            </a:r>
            <a:endParaRPr lang="en-US" sz="900" dirty="0"/>
          </a:p>
        </p:txBody>
      </p:sp>
      <p:sp>
        <p:nvSpPr>
          <p:cNvPr id="27" name="Shape 24"/>
          <p:cNvSpPr/>
          <p:nvPr/>
        </p:nvSpPr>
        <p:spPr>
          <a:xfrm>
            <a:off x="750094" y="3229008"/>
            <a:ext cx="7643813" cy="314325"/>
          </a:xfrm>
          <a:prstGeom prst="rect">
            <a:avLst/>
          </a:prstGeom>
          <a:solidFill>
            <a:srgbClr val="F8F9FA"/>
          </a:solidFill>
          <a:ln/>
        </p:spPr>
        <p:txBody>
          <a:bodyPr/>
          <a:lstStyle/>
          <a:p>
            <a:endParaRPr lang="en-US"/>
          </a:p>
        </p:txBody>
      </p:sp>
      <p:sp>
        <p:nvSpPr>
          <p:cNvPr id="28" name="Text 25"/>
          <p:cNvSpPr/>
          <p:nvPr/>
        </p:nvSpPr>
        <p:spPr>
          <a:xfrm>
            <a:off x="835819" y="3314242"/>
            <a:ext cx="864019" cy="138499"/>
          </a:xfrm>
          <a:prstGeom prst="rect">
            <a:avLst/>
          </a:prstGeom>
          <a:noFill/>
          <a:ln/>
        </p:spPr>
        <p:txBody>
          <a:bodyPr wrap="none" lIns="0" tIns="0" rIns="0" bIns="0" rtlCol="0" anchor="ctr">
            <a:spAutoFit/>
          </a:bodyPr>
          <a:lstStyle/>
          <a:p>
            <a:pPr marL="0" indent="0">
              <a:buNone/>
            </a:pPr>
            <a:r>
              <a:rPr lang="en-US" sz="900" b="1" dirty="0">
                <a:solidFill>
                  <a:srgbClr val="000000"/>
                </a:solidFill>
                <a:latin typeface="Noto Sans" pitchFamily="34" charset="0"/>
                <a:ea typeface="Noto Sans" pitchFamily="34" charset="-122"/>
                <a:cs typeface="Noto Sans" pitchFamily="34" charset="-120"/>
              </a:rPr>
              <a:t>Best Fold (TTA)</a:t>
            </a:r>
            <a:endParaRPr lang="en-US" sz="900" dirty="0"/>
          </a:p>
        </p:txBody>
      </p:sp>
      <p:sp>
        <p:nvSpPr>
          <p:cNvPr id="29" name="Text 26"/>
          <p:cNvSpPr/>
          <p:nvPr/>
        </p:nvSpPr>
        <p:spPr>
          <a:xfrm>
            <a:off x="2559081" y="3213816"/>
            <a:ext cx="1015557" cy="344710"/>
          </a:xfrm>
          <a:prstGeom prst="rect">
            <a:avLst/>
          </a:prstGeom>
          <a:noFill/>
          <a:ln/>
        </p:spPr>
        <p:txBody>
          <a:bodyPr wrap="square" lIns="102108" tIns="102108" rIns="102108" bIns="102108" rtlCol="0" anchor="ctr">
            <a:spAutoFit/>
          </a:bodyPr>
          <a:lstStyle/>
          <a:p>
            <a:pPr marL="0" indent="0">
              <a:buNone/>
            </a:pPr>
            <a:r>
              <a:rPr lang="en-US" sz="900" dirty="0">
                <a:solidFill>
                  <a:srgbClr val="000000"/>
                </a:solidFill>
                <a:latin typeface="Noto Sans" pitchFamily="34" charset="0"/>
                <a:ea typeface="Noto Sans" pitchFamily="34" charset="-122"/>
                <a:cs typeface="Noto Sans" pitchFamily="34" charset="-120"/>
              </a:rPr>
              <a:t>98.03%</a:t>
            </a:r>
            <a:endParaRPr lang="en-US" sz="900" dirty="0"/>
          </a:p>
        </p:txBody>
      </p:sp>
      <p:sp>
        <p:nvSpPr>
          <p:cNvPr id="30" name="Text 27"/>
          <p:cNvSpPr/>
          <p:nvPr/>
        </p:nvSpPr>
        <p:spPr>
          <a:xfrm>
            <a:off x="3574638" y="3213816"/>
            <a:ext cx="1711514" cy="344710"/>
          </a:xfrm>
          <a:prstGeom prst="rect">
            <a:avLst/>
          </a:prstGeom>
          <a:noFill/>
          <a:ln/>
        </p:spPr>
        <p:txBody>
          <a:bodyPr wrap="square" lIns="102108" tIns="102108" rIns="102108" bIns="102108" rtlCol="0" anchor="ctr">
            <a:spAutoFit/>
          </a:bodyPr>
          <a:lstStyle/>
          <a:p>
            <a:pPr marL="0" indent="0">
              <a:buNone/>
            </a:pPr>
            <a:r>
              <a:rPr lang="en-US" sz="900" dirty="0">
                <a:solidFill>
                  <a:srgbClr val="000000"/>
                </a:solidFill>
                <a:latin typeface="Noto Sans" pitchFamily="34" charset="0"/>
                <a:ea typeface="Noto Sans" pitchFamily="34" charset="-122"/>
                <a:cs typeface="Noto Sans" pitchFamily="34" charset="-120"/>
              </a:rPr>
              <a:t>0.9804</a:t>
            </a:r>
            <a:endParaRPr lang="en-US" sz="900" dirty="0"/>
          </a:p>
        </p:txBody>
      </p:sp>
      <p:sp>
        <p:nvSpPr>
          <p:cNvPr id="31" name="Text 28"/>
          <p:cNvSpPr/>
          <p:nvPr/>
        </p:nvSpPr>
        <p:spPr>
          <a:xfrm>
            <a:off x="5286152" y="3213816"/>
            <a:ext cx="1459920" cy="344710"/>
          </a:xfrm>
          <a:prstGeom prst="rect">
            <a:avLst/>
          </a:prstGeom>
          <a:noFill/>
          <a:ln/>
        </p:spPr>
        <p:txBody>
          <a:bodyPr wrap="square" lIns="102108" tIns="102108" rIns="102108" bIns="102108" rtlCol="0" anchor="ctr">
            <a:spAutoFit/>
          </a:bodyPr>
          <a:lstStyle/>
          <a:p>
            <a:pPr marL="0" indent="0">
              <a:buNone/>
            </a:pPr>
            <a:r>
              <a:rPr lang="en-US" sz="900" dirty="0">
                <a:solidFill>
                  <a:srgbClr val="000000"/>
                </a:solidFill>
                <a:latin typeface="Noto Sans" pitchFamily="34" charset="0"/>
                <a:ea typeface="Noto Sans" pitchFamily="34" charset="-122"/>
                <a:cs typeface="Noto Sans" pitchFamily="34" charset="-120"/>
              </a:rPr>
              <a:t>0.9803</a:t>
            </a:r>
            <a:endParaRPr lang="en-US" sz="900" dirty="0"/>
          </a:p>
        </p:txBody>
      </p:sp>
      <p:sp>
        <p:nvSpPr>
          <p:cNvPr id="32" name="Text 29"/>
          <p:cNvSpPr/>
          <p:nvPr/>
        </p:nvSpPr>
        <p:spPr>
          <a:xfrm>
            <a:off x="6746072" y="3213816"/>
            <a:ext cx="1647834" cy="344710"/>
          </a:xfrm>
          <a:prstGeom prst="rect">
            <a:avLst/>
          </a:prstGeom>
          <a:noFill/>
          <a:ln/>
        </p:spPr>
        <p:txBody>
          <a:bodyPr wrap="square" lIns="102108" tIns="102108" rIns="102108" bIns="102108" rtlCol="0" anchor="ctr">
            <a:spAutoFit/>
          </a:bodyPr>
          <a:lstStyle/>
          <a:p>
            <a:pPr marL="0" indent="0">
              <a:buNone/>
            </a:pPr>
            <a:r>
              <a:rPr lang="en-US" sz="900" dirty="0">
                <a:solidFill>
                  <a:srgbClr val="000000"/>
                </a:solidFill>
                <a:latin typeface="Noto Sans" pitchFamily="34" charset="0"/>
                <a:ea typeface="Noto Sans" pitchFamily="34" charset="-122"/>
                <a:cs typeface="Noto Sans" pitchFamily="34" charset="-120"/>
              </a:rPr>
              <a:t>0.9803</a:t>
            </a:r>
            <a:endParaRPr lang="en-US" sz="900" dirty="0"/>
          </a:p>
        </p:txBody>
      </p:sp>
      <p:sp>
        <p:nvSpPr>
          <p:cNvPr id="33" name="Shape 30"/>
          <p:cNvSpPr/>
          <p:nvPr/>
        </p:nvSpPr>
        <p:spPr>
          <a:xfrm>
            <a:off x="750094" y="3543333"/>
            <a:ext cx="7643813" cy="317897"/>
          </a:xfrm>
          <a:prstGeom prst="rect">
            <a:avLst/>
          </a:prstGeom>
          <a:solidFill>
            <a:srgbClr val="FFFFFF"/>
          </a:solidFill>
          <a:ln/>
        </p:spPr>
        <p:txBody>
          <a:bodyPr/>
          <a:lstStyle/>
          <a:p>
            <a:endParaRPr lang="en-US"/>
          </a:p>
        </p:txBody>
      </p:sp>
      <p:sp>
        <p:nvSpPr>
          <p:cNvPr id="34" name="Text 31"/>
          <p:cNvSpPr/>
          <p:nvPr/>
        </p:nvSpPr>
        <p:spPr>
          <a:xfrm>
            <a:off x="835819" y="3632139"/>
            <a:ext cx="1075615" cy="138499"/>
          </a:xfrm>
          <a:prstGeom prst="rect">
            <a:avLst/>
          </a:prstGeom>
          <a:noFill/>
          <a:ln/>
        </p:spPr>
        <p:txBody>
          <a:bodyPr wrap="none" lIns="0" tIns="0" rIns="0" bIns="0" rtlCol="0" anchor="ctr">
            <a:spAutoFit/>
          </a:bodyPr>
          <a:lstStyle/>
          <a:p>
            <a:pPr marL="0" indent="0">
              <a:buNone/>
            </a:pPr>
            <a:r>
              <a:rPr lang="en-US" sz="900" b="1" dirty="0">
                <a:solidFill>
                  <a:srgbClr val="000000"/>
                </a:solidFill>
                <a:latin typeface="Noto Sans" pitchFamily="34" charset="0"/>
                <a:ea typeface="Noto Sans" pitchFamily="34" charset="-122"/>
                <a:cs typeface="Noto Sans" pitchFamily="34" charset="-120"/>
              </a:rPr>
              <a:t>Ensemble (5 Folds)</a:t>
            </a:r>
            <a:endParaRPr lang="en-US" sz="900" dirty="0"/>
          </a:p>
        </p:txBody>
      </p:sp>
      <p:sp>
        <p:nvSpPr>
          <p:cNvPr id="35" name="Text 32"/>
          <p:cNvSpPr/>
          <p:nvPr/>
        </p:nvSpPr>
        <p:spPr>
          <a:xfrm>
            <a:off x="2644806" y="3632139"/>
            <a:ext cx="394339"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98.61%</a:t>
            </a:r>
            <a:endParaRPr lang="en-US" sz="900" dirty="0"/>
          </a:p>
        </p:txBody>
      </p:sp>
      <p:sp>
        <p:nvSpPr>
          <p:cNvPr id="36" name="Text 33"/>
          <p:cNvSpPr/>
          <p:nvPr/>
        </p:nvSpPr>
        <p:spPr>
          <a:xfrm>
            <a:off x="3660363" y="3632139"/>
            <a:ext cx="354264"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0.9862</a:t>
            </a:r>
            <a:endParaRPr lang="en-US" sz="900" dirty="0"/>
          </a:p>
        </p:txBody>
      </p:sp>
      <p:sp>
        <p:nvSpPr>
          <p:cNvPr id="37" name="Text 34"/>
          <p:cNvSpPr/>
          <p:nvPr/>
        </p:nvSpPr>
        <p:spPr>
          <a:xfrm>
            <a:off x="5371877" y="3632139"/>
            <a:ext cx="354264"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0.9861</a:t>
            </a:r>
            <a:endParaRPr lang="en-US" sz="900" dirty="0"/>
          </a:p>
        </p:txBody>
      </p:sp>
      <p:sp>
        <p:nvSpPr>
          <p:cNvPr id="38" name="Text 35"/>
          <p:cNvSpPr/>
          <p:nvPr/>
        </p:nvSpPr>
        <p:spPr>
          <a:xfrm>
            <a:off x="6831797" y="3632139"/>
            <a:ext cx="354264" cy="138499"/>
          </a:xfrm>
          <a:prstGeom prst="rect">
            <a:avLst/>
          </a:prstGeom>
          <a:noFill/>
          <a:ln/>
        </p:spPr>
        <p:txBody>
          <a:bodyPr wrap="none" lIns="0" tIns="0" rIns="0" bIns="0" rtlCol="0" anchor="ctr">
            <a:spAutoFit/>
          </a:bodyPr>
          <a:lstStyle/>
          <a:p>
            <a:pPr marL="0" indent="0">
              <a:buNone/>
            </a:pPr>
            <a:r>
              <a:rPr lang="en-US" sz="900" b="1" dirty="0">
                <a:solidFill>
                  <a:srgbClr val="F39C12"/>
                </a:solidFill>
                <a:latin typeface="Noto Sans" pitchFamily="34" charset="0"/>
                <a:ea typeface="Noto Sans" pitchFamily="34" charset="-122"/>
                <a:cs typeface="Noto Sans" pitchFamily="34" charset="-120"/>
              </a:rPr>
              <a:t>0.9861</a:t>
            </a:r>
            <a:endParaRPr lang="en-US" sz="900" dirty="0"/>
          </a:p>
        </p:txBody>
      </p:sp>
      <p:sp>
        <p:nvSpPr>
          <p:cNvPr id="39" name="Shape 36"/>
          <p:cNvSpPr/>
          <p:nvPr/>
        </p:nvSpPr>
        <p:spPr>
          <a:xfrm>
            <a:off x="750095" y="4007677"/>
            <a:ext cx="7643812" cy="944692"/>
          </a:xfrm>
          <a:prstGeom prst="rect">
            <a:avLst/>
          </a:prstGeom>
          <a:solidFill>
            <a:srgbClr val="FFFACD"/>
          </a:solidFill>
          <a:ln/>
        </p:spPr>
        <p:txBody>
          <a:bodyPr/>
          <a:lstStyle/>
          <a:p>
            <a:endParaRPr lang="en-US"/>
          </a:p>
        </p:txBody>
      </p:sp>
      <p:sp>
        <p:nvSpPr>
          <p:cNvPr id="40" name="Shape 37"/>
          <p:cNvSpPr/>
          <p:nvPr/>
        </p:nvSpPr>
        <p:spPr>
          <a:xfrm>
            <a:off x="714376" y="4007677"/>
            <a:ext cx="45719" cy="1007938"/>
          </a:xfrm>
          <a:prstGeom prst="rect">
            <a:avLst/>
          </a:prstGeom>
          <a:solidFill>
            <a:srgbClr val="F39C12"/>
          </a:solidFill>
          <a:ln/>
        </p:spPr>
        <p:txBody>
          <a:bodyPr/>
          <a:lstStyle/>
          <a:p>
            <a:endParaRPr lang="en-US"/>
          </a:p>
        </p:txBody>
      </p:sp>
      <p:sp>
        <p:nvSpPr>
          <p:cNvPr id="41" name="Text 38"/>
          <p:cNvSpPr/>
          <p:nvPr/>
        </p:nvSpPr>
        <p:spPr>
          <a:xfrm>
            <a:off x="878681" y="4139687"/>
            <a:ext cx="2191306" cy="153888"/>
          </a:xfrm>
          <a:prstGeom prst="rect">
            <a:avLst/>
          </a:prstGeom>
          <a:noFill/>
          <a:ln/>
        </p:spPr>
        <p:txBody>
          <a:bodyPr wrap="none" lIns="0" tIns="0" rIns="0" bIns="0" rtlCol="0" anchor="ctr">
            <a:spAutoFit/>
          </a:bodyPr>
          <a:lstStyle/>
          <a:p>
            <a:pPr marL="0" indent="0">
              <a:buNone/>
            </a:pPr>
            <a:r>
              <a:rPr lang="en-US" sz="1000" b="1" dirty="0">
                <a:solidFill>
                  <a:srgbClr val="1A3A52"/>
                </a:solidFill>
                <a:latin typeface="Noto Sans" pitchFamily="34" charset="0"/>
                <a:ea typeface="Noto Sans" pitchFamily="34" charset="-122"/>
                <a:cs typeface="Noto Sans" pitchFamily="34" charset="-120"/>
              </a:rPr>
              <a:t>Key Finding: Ensemble Superiority</a:t>
            </a:r>
            <a:endParaRPr lang="en-US" sz="1000" dirty="0"/>
          </a:p>
        </p:txBody>
      </p:sp>
      <p:sp>
        <p:nvSpPr>
          <p:cNvPr id="42" name="Text 39"/>
          <p:cNvSpPr/>
          <p:nvPr/>
        </p:nvSpPr>
        <p:spPr>
          <a:xfrm>
            <a:off x="878681" y="4371585"/>
            <a:ext cx="269304"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The </a:t>
            </a:r>
            <a:endParaRPr lang="en-US" sz="1050" dirty="0"/>
          </a:p>
        </p:txBody>
      </p:sp>
      <p:sp>
        <p:nvSpPr>
          <p:cNvPr id="43" name="Text 40"/>
          <p:cNvSpPr/>
          <p:nvPr/>
        </p:nvSpPr>
        <p:spPr>
          <a:xfrm>
            <a:off x="1305810" y="4367737"/>
            <a:ext cx="2936701" cy="153888"/>
          </a:xfrm>
          <a:prstGeom prst="rect">
            <a:avLst/>
          </a:prstGeom>
          <a:noFill/>
          <a:ln/>
        </p:spPr>
        <p:txBody>
          <a:bodyPr wrap="none" lIns="0" tIns="0" rIns="0" bIns="0" rtlCol="0" anchor="ctr">
            <a:spAutoFit/>
          </a:bodyPr>
          <a:lstStyle/>
          <a:p>
            <a:pPr marL="0" indent="0">
              <a:buNone/>
            </a:pPr>
            <a:r>
              <a:rPr lang="en-US" sz="1000" b="1" dirty="0">
                <a:solidFill>
                  <a:srgbClr val="F39C12"/>
                </a:solidFill>
                <a:latin typeface="Noto Sans" pitchFamily="34" charset="0"/>
                <a:ea typeface="Noto Sans" pitchFamily="34" charset="-122"/>
                <a:cs typeface="Noto Sans" pitchFamily="34" charset="-120"/>
              </a:rPr>
              <a:t>ensemble approach achieved 98.61% accuracy</a:t>
            </a:r>
            <a:endParaRPr lang="en-US" sz="1000" dirty="0"/>
          </a:p>
        </p:txBody>
      </p:sp>
      <p:sp>
        <p:nvSpPr>
          <p:cNvPr id="44" name="Text 41"/>
          <p:cNvSpPr/>
          <p:nvPr/>
        </p:nvSpPr>
        <p:spPr>
          <a:xfrm>
            <a:off x="4247035" y="4379481"/>
            <a:ext cx="2717090" cy="161583"/>
          </a:xfrm>
          <a:prstGeom prst="rect">
            <a:avLst/>
          </a:prstGeom>
          <a:noFill/>
          <a:ln/>
        </p:spPr>
        <p:txBody>
          <a:bodyPr wrap="none" lIns="0" tIns="0" rIns="0" bIns="0" rtlCol="0" anchor="ctr">
            <a:spAutoFit/>
          </a:bodyPr>
          <a:lstStyle/>
          <a:p>
            <a:pPr marL="0" indent="0">
              <a:buNone/>
            </a:pPr>
            <a:r>
              <a:rPr lang="en-US" sz="1050" dirty="0">
                <a:solidFill>
                  <a:srgbClr val="34495E"/>
                </a:solidFill>
                <a:latin typeface="Noto Sans" pitchFamily="34" charset="0"/>
                <a:ea typeface="Noto Sans" pitchFamily="34" charset="-122"/>
                <a:cs typeface="Noto Sans" pitchFamily="34" charset="-120"/>
              </a:rPr>
              <a:t>, outperforming the best individual fold by </a:t>
            </a:r>
            <a:endParaRPr lang="en-US" sz="1050" dirty="0"/>
          </a:p>
        </p:txBody>
      </p:sp>
      <p:sp>
        <p:nvSpPr>
          <p:cNvPr id="45" name="Text 42"/>
          <p:cNvSpPr/>
          <p:nvPr/>
        </p:nvSpPr>
        <p:spPr>
          <a:xfrm>
            <a:off x="6977679" y="4360043"/>
            <a:ext cx="397545" cy="169277"/>
          </a:xfrm>
          <a:prstGeom prst="rect">
            <a:avLst/>
          </a:prstGeom>
          <a:noFill/>
          <a:ln/>
        </p:spPr>
        <p:txBody>
          <a:bodyPr wrap="none" lIns="0" tIns="0" rIns="0" bIns="0" rtlCol="0" anchor="ctr">
            <a:spAutoFit/>
          </a:bodyPr>
          <a:lstStyle/>
          <a:p>
            <a:pPr marL="0" indent="0">
              <a:buNone/>
            </a:pPr>
            <a:r>
              <a:rPr lang="en-US" sz="1100" b="1" dirty="0">
                <a:solidFill>
                  <a:srgbClr val="F39C12"/>
                </a:solidFill>
                <a:latin typeface="Noto Sans" pitchFamily="34" charset="0"/>
                <a:ea typeface="Noto Sans" pitchFamily="34" charset="-122"/>
                <a:cs typeface="Noto Sans" pitchFamily="34" charset="-120"/>
              </a:rPr>
              <a:t>0.58%</a:t>
            </a:r>
            <a:endParaRPr lang="en-US" sz="1100" dirty="0"/>
          </a:p>
        </p:txBody>
      </p:sp>
      <p:sp>
        <p:nvSpPr>
          <p:cNvPr id="46" name="Text 43"/>
          <p:cNvSpPr/>
          <p:nvPr/>
        </p:nvSpPr>
        <p:spPr>
          <a:xfrm>
            <a:off x="5671440" y="4390820"/>
            <a:ext cx="65" cy="123111"/>
          </a:xfrm>
          <a:prstGeom prst="rect">
            <a:avLst/>
          </a:prstGeom>
          <a:noFill/>
          <a:ln/>
        </p:spPr>
        <p:txBody>
          <a:bodyPr wrap="none" lIns="0" tIns="0" rIns="0" bIns="0" rtlCol="0" anchor="ctr">
            <a:spAutoFit/>
          </a:bodyPr>
          <a:lstStyle/>
          <a:p>
            <a:pPr marL="0" indent="0">
              <a:buNone/>
            </a:pPr>
            <a:endParaRPr lang="en-US" sz="800" dirty="0"/>
          </a:p>
        </p:txBody>
      </p:sp>
      <p:sp>
        <p:nvSpPr>
          <p:cNvPr id="47" name="Text 44"/>
          <p:cNvSpPr/>
          <p:nvPr/>
        </p:nvSpPr>
        <p:spPr>
          <a:xfrm>
            <a:off x="878680" y="4554287"/>
            <a:ext cx="7355691" cy="323165"/>
          </a:xfrm>
          <a:prstGeom prst="rect">
            <a:avLst/>
          </a:prstGeom>
          <a:noFill/>
          <a:ln/>
        </p:spPr>
        <p:txBody>
          <a:bodyPr wrap="square" lIns="0" tIns="0" rIns="0" bIns="0" rtlCol="0" anchor="ctr">
            <a:spAutoFit/>
          </a:bodyPr>
          <a:lstStyle/>
          <a:p>
            <a:r>
              <a:rPr lang="en-US" sz="1050" dirty="0">
                <a:solidFill>
                  <a:srgbClr val="34495E"/>
                </a:solidFill>
                <a:latin typeface="Noto Sans" pitchFamily="34" charset="0"/>
                <a:ea typeface="Noto Sans" pitchFamily="34" charset="-122"/>
                <a:cs typeface="Noto Sans" pitchFamily="34" charset="-120"/>
              </a:rPr>
              <a:t>This demonstrates the power of model ensembling in leveraging the diversity of models trained on different data splits to create a highly robust and generalizable final predictor for fungal classification. </a:t>
            </a:r>
            <a:endParaRPr lang="en-US" sz="1050" dirty="0"/>
          </a:p>
        </p:txBody>
      </p:sp>
      <p:pic>
        <p:nvPicPr>
          <p:cNvPr id="48" name="Picture 47">
            <a:extLst>
              <a:ext uri="{FF2B5EF4-FFF2-40B4-BE49-F238E27FC236}">
                <a16:creationId xmlns:a16="http://schemas.microsoft.com/office/drawing/2014/main" id="{8FB1DF65-7E97-CA59-686E-34F47C458D2B}"/>
              </a:ext>
            </a:extLst>
          </p:cNvPr>
          <p:cNvPicPr>
            <a:picLocks noChangeAspect="1"/>
          </p:cNvPicPr>
          <p:nvPr/>
        </p:nvPicPr>
        <p:blipFill>
          <a:blip r:embed="rId4"/>
          <a:stretch>
            <a:fillRect/>
          </a:stretch>
        </p:blipFill>
        <p:spPr>
          <a:xfrm>
            <a:off x="8130302" y="-39262"/>
            <a:ext cx="1005790" cy="100579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41" y="0"/>
            <a:ext cx="9144000" cy="6383192"/>
          </a:xfrm>
          <a:prstGeom prst="rect">
            <a:avLst/>
          </a:prstGeom>
        </p:spPr>
      </p:pic>
      <p:sp>
        <p:nvSpPr>
          <p:cNvPr id="3" name="Text 0"/>
          <p:cNvSpPr/>
          <p:nvPr/>
        </p:nvSpPr>
        <p:spPr>
          <a:xfrm>
            <a:off x="538487" y="197881"/>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Consolidated Model Performance Comparison</a:t>
            </a:r>
            <a:endParaRPr lang="en-US" sz="2700" dirty="0"/>
          </a:p>
        </p:txBody>
      </p:sp>
      <p:sp>
        <p:nvSpPr>
          <p:cNvPr id="4" name="Shape 1"/>
          <p:cNvSpPr/>
          <p:nvPr/>
        </p:nvSpPr>
        <p:spPr>
          <a:xfrm>
            <a:off x="580429" y="764460"/>
            <a:ext cx="7983141" cy="435769"/>
          </a:xfrm>
          <a:prstGeom prst="rect">
            <a:avLst/>
          </a:prstGeom>
          <a:solidFill>
            <a:srgbClr val="2E5090"/>
          </a:solidFill>
          <a:ln/>
        </p:spPr>
        <p:txBody>
          <a:bodyPr/>
          <a:lstStyle/>
          <a:p>
            <a:endParaRPr lang="en-US"/>
          </a:p>
        </p:txBody>
      </p:sp>
      <p:sp>
        <p:nvSpPr>
          <p:cNvPr id="5" name="Text 2"/>
          <p:cNvSpPr/>
          <p:nvPr/>
        </p:nvSpPr>
        <p:spPr>
          <a:xfrm>
            <a:off x="580429" y="764460"/>
            <a:ext cx="1288303"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Model (Variant)</a:t>
            </a:r>
            <a:endParaRPr lang="en-US" sz="628" dirty="0"/>
          </a:p>
        </p:txBody>
      </p:sp>
      <p:sp>
        <p:nvSpPr>
          <p:cNvPr id="6" name="Text 3"/>
          <p:cNvSpPr/>
          <p:nvPr/>
        </p:nvSpPr>
        <p:spPr>
          <a:xfrm>
            <a:off x="1868731" y="764460"/>
            <a:ext cx="1243905"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Training Setup</a:t>
            </a:r>
            <a:endParaRPr lang="en-US" sz="628" dirty="0"/>
          </a:p>
        </p:txBody>
      </p:sp>
      <p:sp>
        <p:nvSpPr>
          <p:cNvPr id="7" name="Text 4"/>
          <p:cNvSpPr/>
          <p:nvPr/>
        </p:nvSpPr>
        <p:spPr>
          <a:xfrm>
            <a:off x="3112637" y="764460"/>
            <a:ext cx="577388"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Input Res.</a:t>
            </a:r>
            <a:endParaRPr lang="en-US" sz="628" dirty="0"/>
          </a:p>
        </p:txBody>
      </p:sp>
      <p:sp>
        <p:nvSpPr>
          <p:cNvPr id="8" name="Text 5"/>
          <p:cNvSpPr/>
          <p:nvPr/>
        </p:nvSpPr>
        <p:spPr>
          <a:xfrm>
            <a:off x="3690025" y="764460"/>
            <a:ext cx="863557"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Test Accuracy (%)</a:t>
            </a:r>
            <a:endParaRPr lang="en-US" sz="628" dirty="0"/>
          </a:p>
        </p:txBody>
      </p:sp>
      <p:sp>
        <p:nvSpPr>
          <p:cNvPr id="9" name="Text 6"/>
          <p:cNvSpPr/>
          <p:nvPr/>
        </p:nvSpPr>
        <p:spPr>
          <a:xfrm>
            <a:off x="4553581" y="764460"/>
            <a:ext cx="881025"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Precision (W. Avg)</a:t>
            </a:r>
            <a:endParaRPr lang="en-US" sz="628" dirty="0"/>
          </a:p>
        </p:txBody>
      </p:sp>
      <p:sp>
        <p:nvSpPr>
          <p:cNvPr id="10" name="Text 7"/>
          <p:cNvSpPr/>
          <p:nvPr/>
        </p:nvSpPr>
        <p:spPr>
          <a:xfrm>
            <a:off x="5434607" y="764460"/>
            <a:ext cx="747303"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Recall (W. Avg)</a:t>
            </a:r>
            <a:endParaRPr lang="en-US" sz="628" dirty="0"/>
          </a:p>
        </p:txBody>
      </p:sp>
      <p:sp>
        <p:nvSpPr>
          <p:cNvPr id="11" name="Text 8"/>
          <p:cNvSpPr/>
          <p:nvPr/>
        </p:nvSpPr>
        <p:spPr>
          <a:xfrm>
            <a:off x="6181910" y="764460"/>
            <a:ext cx="840507"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F1-Score (W. Avg)</a:t>
            </a:r>
            <a:endParaRPr lang="en-US" sz="628" dirty="0"/>
          </a:p>
        </p:txBody>
      </p:sp>
      <p:sp>
        <p:nvSpPr>
          <p:cNvPr id="12" name="Text 9"/>
          <p:cNvSpPr/>
          <p:nvPr/>
        </p:nvSpPr>
        <p:spPr>
          <a:xfrm>
            <a:off x="7022417" y="764460"/>
            <a:ext cx="1541152" cy="435769"/>
          </a:xfrm>
          <a:prstGeom prst="rect">
            <a:avLst/>
          </a:prstGeom>
          <a:noFill/>
          <a:ln/>
        </p:spPr>
        <p:txBody>
          <a:bodyPr wrap="square" lIns="85090" tIns="102108" rIns="85090" bIns="102108" rtlCol="0" anchor="ctr">
            <a:spAutoFit/>
          </a:bodyPr>
          <a:lstStyle/>
          <a:p>
            <a:pPr marL="0" indent="0" algn="l">
              <a:buNone/>
            </a:pPr>
            <a:r>
              <a:rPr lang="en-US" sz="628" b="1" dirty="0">
                <a:solidFill>
                  <a:srgbClr val="FFFFFF"/>
                </a:solidFill>
                <a:latin typeface="Noto Sans" pitchFamily="34" charset="0"/>
                <a:ea typeface="Noto Sans" pitchFamily="34" charset="-122"/>
                <a:cs typeface="Noto Sans" pitchFamily="34" charset="-120"/>
              </a:rPr>
              <a:t>Key Insight</a:t>
            </a:r>
            <a:endParaRPr lang="en-US" sz="628" dirty="0"/>
          </a:p>
        </p:txBody>
      </p:sp>
      <p:sp>
        <p:nvSpPr>
          <p:cNvPr id="13" name="Shape 10"/>
          <p:cNvSpPr/>
          <p:nvPr/>
        </p:nvSpPr>
        <p:spPr>
          <a:xfrm>
            <a:off x="580429" y="1200229"/>
            <a:ext cx="7983141" cy="385763"/>
          </a:xfrm>
          <a:prstGeom prst="rect">
            <a:avLst/>
          </a:prstGeom>
          <a:solidFill>
            <a:srgbClr val="FFF3E0"/>
          </a:solidFill>
          <a:ln/>
        </p:spPr>
        <p:txBody>
          <a:bodyPr/>
          <a:lstStyle/>
          <a:p>
            <a:endParaRPr lang="en-US"/>
          </a:p>
        </p:txBody>
      </p:sp>
      <p:sp>
        <p:nvSpPr>
          <p:cNvPr id="14" name="Shape 11"/>
          <p:cNvSpPr/>
          <p:nvPr/>
        </p:nvSpPr>
        <p:spPr>
          <a:xfrm>
            <a:off x="580429" y="1200229"/>
            <a:ext cx="28575" cy="385763"/>
          </a:xfrm>
          <a:prstGeom prst="rect">
            <a:avLst/>
          </a:prstGeom>
          <a:solidFill>
            <a:srgbClr val="F39C12"/>
          </a:solidFill>
          <a:ln/>
        </p:spPr>
        <p:txBody>
          <a:bodyPr/>
          <a:lstStyle/>
          <a:p>
            <a:endParaRPr lang="en-US"/>
          </a:p>
        </p:txBody>
      </p:sp>
      <p:sp>
        <p:nvSpPr>
          <p:cNvPr id="15" name="Text 12"/>
          <p:cNvSpPr/>
          <p:nvPr/>
        </p:nvSpPr>
        <p:spPr>
          <a:xfrm>
            <a:off x="580429" y="1200229"/>
            <a:ext cx="1288303" cy="385763"/>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SwinV2-Base Ensemble</a:t>
            </a:r>
            <a:endParaRPr lang="en-US" sz="628" dirty="0"/>
          </a:p>
        </p:txBody>
      </p:sp>
      <p:sp>
        <p:nvSpPr>
          <p:cNvPr id="16" name="Text 13"/>
          <p:cNvSpPr/>
          <p:nvPr/>
        </p:nvSpPr>
        <p:spPr>
          <a:xfrm>
            <a:off x="1868731" y="1200229"/>
            <a:ext cx="1243905" cy="385763"/>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PyTorch (5-Fold Ensemble)</a:t>
            </a:r>
            <a:endParaRPr lang="en-US" sz="628" dirty="0"/>
          </a:p>
        </p:txBody>
      </p:sp>
      <p:sp>
        <p:nvSpPr>
          <p:cNvPr id="17" name="Text 14"/>
          <p:cNvSpPr/>
          <p:nvPr/>
        </p:nvSpPr>
        <p:spPr>
          <a:xfrm>
            <a:off x="3112637" y="1200229"/>
            <a:ext cx="577388" cy="385763"/>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384×384</a:t>
            </a:r>
            <a:endParaRPr lang="en-US" sz="628" dirty="0"/>
          </a:p>
        </p:txBody>
      </p:sp>
      <p:sp>
        <p:nvSpPr>
          <p:cNvPr id="18" name="Text 15"/>
          <p:cNvSpPr/>
          <p:nvPr/>
        </p:nvSpPr>
        <p:spPr>
          <a:xfrm>
            <a:off x="3690025" y="1200229"/>
            <a:ext cx="863557" cy="385763"/>
          </a:xfrm>
          <a:prstGeom prst="rect">
            <a:avLst/>
          </a:prstGeom>
          <a:noFill/>
          <a:ln/>
        </p:spPr>
        <p:txBody>
          <a:bodyPr wrap="square" lIns="85090" tIns="85090" rIns="85090" bIns="85090" rtlCol="0" anchor="ctr">
            <a:spAutoFit/>
          </a:bodyPr>
          <a:lstStyle/>
          <a:p>
            <a:pPr marL="0" indent="0">
              <a:buNone/>
            </a:pPr>
            <a:r>
              <a:rPr lang="en-US" sz="628" b="1" dirty="0">
                <a:solidFill>
                  <a:srgbClr val="27AE60"/>
                </a:solidFill>
                <a:latin typeface="Noto Sans" pitchFamily="34" charset="0"/>
                <a:ea typeface="Noto Sans" pitchFamily="34" charset="-122"/>
                <a:cs typeface="Noto Sans" pitchFamily="34" charset="-120"/>
              </a:rPr>
              <a:t>98.61</a:t>
            </a:r>
            <a:endParaRPr lang="en-US" sz="628" dirty="0"/>
          </a:p>
        </p:txBody>
      </p:sp>
      <p:sp>
        <p:nvSpPr>
          <p:cNvPr id="19" name="Text 16"/>
          <p:cNvSpPr/>
          <p:nvPr/>
        </p:nvSpPr>
        <p:spPr>
          <a:xfrm>
            <a:off x="4553581" y="1200229"/>
            <a:ext cx="881025" cy="385763"/>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0.9862</a:t>
            </a:r>
            <a:endParaRPr lang="en-US" sz="628" dirty="0"/>
          </a:p>
        </p:txBody>
      </p:sp>
      <p:sp>
        <p:nvSpPr>
          <p:cNvPr id="20" name="Text 17"/>
          <p:cNvSpPr/>
          <p:nvPr/>
        </p:nvSpPr>
        <p:spPr>
          <a:xfrm>
            <a:off x="5434607" y="1200229"/>
            <a:ext cx="747303" cy="385763"/>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0.9861</a:t>
            </a:r>
            <a:endParaRPr lang="en-US" sz="628" dirty="0"/>
          </a:p>
        </p:txBody>
      </p:sp>
      <p:sp>
        <p:nvSpPr>
          <p:cNvPr id="21" name="Text 18"/>
          <p:cNvSpPr/>
          <p:nvPr/>
        </p:nvSpPr>
        <p:spPr>
          <a:xfrm>
            <a:off x="6181910" y="1200229"/>
            <a:ext cx="840507" cy="385763"/>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0.9861</a:t>
            </a:r>
            <a:endParaRPr lang="en-US" sz="628" dirty="0"/>
          </a:p>
        </p:txBody>
      </p:sp>
      <p:sp>
        <p:nvSpPr>
          <p:cNvPr id="22" name="Text 19"/>
          <p:cNvSpPr/>
          <p:nvPr/>
        </p:nvSpPr>
        <p:spPr>
          <a:xfrm>
            <a:off x="7022417" y="1200229"/>
            <a:ext cx="1541152" cy="385763"/>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Overall Leader: Transformer + Ensembling</a:t>
            </a:r>
            <a:endParaRPr lang="en-US" sz="575" dirty="0"/>
          </a:p>
        </p:txBody>
      </p:sp>
      <p:sp>
        <p:nvSpPr>
          <p:cNvPr id="23" name="Shape 20"/>
          <p:cNvSpPr/>
          <p:nvPr/>
        </p:nvSpPr>
        <p:spPr>
          <a:xfrm>
            <a:off x="580429" y="1585992"/>
            <a:ext cx="7983141" cy="407194"/>
          </a:xfrm>
          <a:prstGeom prst="rect">
            <a:avLst/>
          </a:prstGeom>
          <a:solidFill>
            <a:srgbClr val="F0F7FF"/>
          </a:solidFill>
          <a:ln/>
        </p:spPr>
        <p:txBody>
          <a:bodyPr/>
          <a:lstStyle/>
          <a:p>
            <a:endParaRPr lang="en-US"/>
          </a:p>
        </p:txBody>
      </p:sp>
      <p:sp>
        <p:nvSpPr>
          <p:cNvPr id="24" name="Shape 21"/>
          <p:cNvSpPr/>
          <p:nvPr/>
        </p:nvSpPr>
        <p:spPr>
          <a:xfrm>
            <a:off x="580429" y="1585992"/>
            <a:ext cx="28575" cy="407194"/>
          </a:xfrm>
          <a:prstGeom prst="rect">
            <a:avLst/>
          </a:prstGeom>
          <a:solidFill>
            <a:srgbClr val="2E5090"/>
          </a:solidFill>
          <a:ln/>
        </p:spPr>
        <p:txBody>
          <a:bodyPr/>
          <a:lstStyle/>
          <a:p>
            <a:endParaRPr lang="en-US"/>
          </a:p>
        </p:txBody>
      </p:sp>
      <p:sp>
        <p:nvSpPr>
          <p:cNvPr id="25" name="Text 22"/>
          <p:cNvSpPr/>
          <p:nvPr/>
        </p:nvSpPr>
        <p:spPr>
          <a:xfrm>
            <a:off x="580429" y="1585992"/>
            <a:ext cx="1280545" cy="407194"/>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SwinV2-Base (Best Fold TTA)</a:t>
            </a:r>
            <a:endParaRPr lang="en-US" sz="628" dirty="0"/>
          </a:p>
        </p:txBody>
      </p:sp>
      <p:sp>
        <p:nvSpPr>
          <p:cNvPr id="26" name="Text 23"/>
          <p:cNvSpPr/>
          <p:nvPr/>
        </p:nvSpPr>
        <p:spPr>
          <a:xfrm>
            <a:off x="1858071" y="1585992"/>
            <a:ext cx="1246250" cy="403622"/>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PyTorch (TTA Applied)</a:t>
            </a:r>
            <a:endParaRPr lang="en-US" sz="628" dirty="0"/>
          </a:p>
        </p:txBody>
      </p:sp>
      <p:sp>
        <p:nvSpPr>
          <p:cNvPr id="27" name="Text 24"/>
          <p:cNvSpPr/>
          <p:nvPr/>
        </p:nvSpPr>
        <p:spPr>
          <a:xfrm>
            <a:off x="3101809" y="1585992"/>
            <a:ext cx="578002" cy="403622"/>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384×384</a:t>
            </a:r>
            <a:endParaRPr lang="en-US" sz="628" dirty="0"/>
          </a:p>
        </p:txBody>
      </p:sp>
      <p:sp>
        <p:nvSpPr>
          <p:cNvPr id="28" name="Text 25"/>
          <p:cNvSpPr/>
          <p:nvPr/>
        </p:nvSpPr>
        <p:spPr>
          <a:xfrm>
            <a:off x="3679811" y="1585992"/>
            <a:ext cx="865901" cy="403622"/>
          </a:xfrm>
          <a:prstGeom prst="rect">
            <a:avLst/>
          </a:prstGeom>
          <a:noFill/>
          <a:ln/>
        </p:spPr>
        <p:txBody>
          <a:bodyPr wrap="square" lIns="85090" tIns="85090" rIns="85090" bIns="85090" rtlCol="0" anchor="ctr">
            <a:spAutoFit/>
          </a:bodyPr>
          <a:lstStyle/>
          <a:p>
            <a:pPr marL="0" indent="0">
              <a:buNone/>
            </a:pPr>
            <a:r>
              <a:rPr lang="en-US" sz="628" b="1" dirty="0">
                <a:solidFill>
                  <a:srgbClr val="27AE60"/>
                </a:solidFill>
                <a:latin typeface="Noto Sans" pitchFamily="34" charset="0"/>
                <a:ea typeface="Noto Sans" pitchFamily="34" charset="-122"/>
                <a:cs typeface="Noto Sans" pitchFamily="34" charset="-120"/>
              </a:rPr>
              <a:t>98.03</a:t>
            </a:r>
            <a:endParaRPr lang="en-US" sz="628" dirty="0"/>
          </a:p>
        </p:txBody>
      </p:sp>
      <p:sp>
        <p:nvSpPr>
          <p:cNvPr id="29" name="Text 26"/>
          <p:cNvSpPr/>
          <p:nvPr/>
        </p:nvSpPr>
        <p:spPr>
          <a:xfrm>
            <a:off x="4545712" y="1585992"/>
            <a:ext cx="883481" cy="403622"/>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0.9804</a:t>
            </a:r>
            <a:endParaRPr lang="en-US" sz="628" dirty="0"/>
          </a:p>
        </p:txBody>
      </p:sp>
      <p:sp>
        <p:nvSpPr>
          <p:cNvPr id="30" name="Text 27"/>
          <p:cNvSpPr/>
          <p:nvPr/>
        </p:nvSpPr>
        <p:spPr>
          <a:xfrm>
            <a:off x="5429193" y="1585992"/>
            <a:ext cx="749647" cy="403622"/>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0.9803</a:t>
            </a:r>
            <a:endParaRPr lang="en-US" sz="628" dirty="0"/>
          </a:p>
        </p:txBody>
      </p:sp>
      <p:sp>
        <p:nvSpPr>
          <p:cNvPr id="31" name="Text 28"/>
          <p:cNvSpPr/>
          <p:nvPr/>
        </p:nvSpPr>
        <p:spPr>
          <a:xfrm>
            <a:off x="6178840" y="1585992"/>
            <a:ext cx="843521" cy="403622"/>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0.9803</a:t>
            </a:r>
            <a:endParaRPr lang="en-US" sz="628" dirty="0"/>
          </a:p>
        </p:txBody>
      </p:sp>
      <p:sp>
        <p:nvSpPr>
          <p:cNvPr id="32" name="Text 29"/>
          <p:cNvSpPr/>
          <p:nvPr/>
        </p:nvSpPr>
        <p:spPr>
          <a:xfrm>
            <a:off x="7022361" y="1585992"/>
            <a:ext cx="1541208" cy="403622"/>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Best single model with TTA</a:t>
            </a:r>
            <a:endParaRPr lang="en-US" sz="575" dirty="0"/>
          </a:p>
        </p:txBody>
      </p:sp>
      <p:sp>
        <p:nvSpPr>
          <p:cNvPr id="33" name="Shape 30"/>
          <p:cNvSpPr/>
          <p:nvPr/>
        </p:nvSpPr>
        <p:spPr>
          <a:xfrm>
            <a:off x="580429" y="1986042"/>
            <a:ext cx="7983141" cy="278606"/>
          </a:xfrm>
          <a:prstGeom prst="rect">
            <a:avLst/>
          </a:prstGeom>
          <a:solidFill>
            <a:srgbClr val="F0F7FF"/>
          </a:solidFill>
          <a:ln/>
        </p:spPr>
        <p:txBody>
          <a:bodyPr/>
          <a:lstStyle/>
          <a:p>
            <a:endParaRPr lang="en-US"/>
          </a:p>
        </p:txBody>
      </p:sp>
      <p:sp>
        <p:nvSpPr>
          <p:cNvPr id="34" name="Shape 31"/>
          <p:cNvSpPr/>
          <p:nvPr/>
        </p:nvSpPr>
        <p:spPr>
          <a:xfrm>
            <a:off x="580429" y="1986042"/>
            <a:ext cx="28575" cy="278606"/>
          </a:xfrm>
          <a:prstGeom prst="rect">
            <a:avLst/>
          </a:prstGeom>
          <a:solidFill>
            <a:srgbClr val="2E5090"/>
          </a:solidFill>
          <a:ln/>
        </p:spPr>
        <p:txBody>
          <a:bodyPr/>
          <a:lstStyle/>
          <a:p>
            <a:endParaRPr lang="en-US"/>
          </a:p>
        </p:txBody>
      </p:sp>
      <p:sp>
        <p:nvSpPr>
          <p:cNvPr id="35" name="Text 32"/>
          <p:cNvSpPr/>
          <p:nvPr/>
        </p:nvSpPr>
        <p:spPr>
          <a:xfrm>
            <a:off x="569713" y="1986042"/>
            <a:ext cx="1276108" cy="278606"/>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EfficientNetV2-M (in21k)</a:t>
            </a:r>
            <a:endParaRPr lang="en-US" sz="628" dirty="0"/>
          </a:p>
        </p:txBody>
      </p:sp>
      <p:sp>
        <p:nvSpPr>
          <p:cNvPr id="36" name="Text 33"/>
          <p:cNvSpPr/>
          <p:nvPr/>
        </p:nvSpPr>
        <p:spPr>
          <a:xfrm>
            <a:off x="1845821" y="1982470"/>
            <a:ext cx="124789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PyTorch (Advanced Aug.)</a:t>
            </a:r>
            <a:endParaRPr lang="en-US" sz="628" dirty="0"/>
          </a:p>
        </p:txBody>
      </p:sp>
      <p:sp>
        <p:nvSpPr>
          <p:cNvPr id="37" name="Text 34"/>
          <p:cNvSpPr/>
          <p:nvPr/>
        </p:nvSpPr>
        <p:spPr>
          <a:xfrm>
            <a:off x="3093717" y="1982470"/>
            <a:ext cx="578281"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384×384</a:t>
            </a:r>
            <a:endParaRPr lang="en-US" sz="628" dirty="0"/>
          </a:p>
        </p:txBody>
      </p:sp>
      <p:sp>
        <p:nvSpPr>
          <p:cNvPr id="38" name="Text 35"/>
          <p:cNvSpPr/>
          <p:nvPr/>
        </p:nvSpPr>
        <p:spPr>
          <a:xfrm>
            <a:off x="3671998" y="1982470"/>
            <a:ext cx="866989" cy="278606"/>
          </a:xfrm>
          <a:prstGeom prst="rect">
            <a:avLst/>
          </a:prstGeom>
          <a:noFill/>
          <a:ln/>
        </p:spPr>
        <p:txBody>
          <a:bodyPr wrap="square" lIns="85090" tIns="85090" rIns="85090" bIns="85090" rtlCol="0" anchor="ctr">
            <a:spAutoFit/>
          </a:bodyPr>
          <a:lstStyle/>
          <a:p>
            <a:pPr marL="0" indent="0">
              <a:buNone/>
            </a:pPr>
            <a:r>
              <a:rPr lang="en-US" sz="628" b="1" dirty="0">
                <a:solidFill>
                  <a:srgbClr val="27AE60"/>
                </a:solidFill>
                <a:latin typeface="Noto Sans" pitchFamily="34" charset="0"/>
                <a:ea typeface="Noto Sans" pitchFamily="34" charset="-122"/>
                <a:cs typeface="Noto Sans" pitchFamily="34" charset="-120"/>
              </a:rPr>
              <a:t>96.71</a:t>
            </a:r>
            <a:endParaRPr lang="en-US" sz="628" dirty="0"/>
          </a:p>
        </p:txBody>
      </p:sp>
      <p:sp>
        <p:nvSpPr>
          <p:cNvPr id="39" name="Text 36"/>
          <p:cNvSpPr/>
          <p:nvPr/>
        </p:nvSpPr>
        <p:spPr>
          <a:xfrm>
            <a:off x="4538987" y="1982470"/>
            <a:ext cx="884597"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0.9675</a:t>
            </a:r>
            <a:endParaRPr lang="en-US" sz="628" dirty="0"/>
          </a:p>
        </p:txBody>
      </p:sp>
      <p:sp>
        <p:nvSpPr>
          <p:cNvPr id="40" name="Text 37"/>
          <p:cNvSpPr/>
          <p:nvPr/>
        </p:nvSpPr>
        <p:spPr>
          <a:xfrm>
            <a:off x="5423584" y="1982470"/>
            <a:ext cx="75073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0.9671</a:t>
            </a:r>
            <a:endParaRPr lang="en-US" sz="628" dirty="0"/>
          </a:p>
        </p:txBody>
      </p:sp>
      <p:sp>
        <p:nvSpPr>
          <p:cNvPr id="41" name="Text 38"/>
          <p:cNvSpPr/>
          <p:nvPr/>
        </p:nvSpPr>
        <p:spPr>
          <a:xfrm>
            <a:off x="6174320" y="1982470"/>
            <a:ext cx="84491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0.9672</a:t>
            </a:r>
            <a:endParaRPr lang="en-US" sz="628" dirty="0"/>
          </a:p>
        </p:txBody>
      </p:sp>
      <p:sp>
        <p:nvSpPr>
          <p:cNvPr id="42" name="Text 39"/>
          <p:cNvSpPr/>
          <p:nvPr/>
        </p:nvSpPr>
        <p:spPr>
          <a:xfrm>
            <a:off x="7019235" y="1982470"/>
            <a:ext cx="1544334" cy="275034"/>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Best CNN performance</a:t>
            </a:r>
            <a:endParaRPr lang="en-US" sz="575" dirty="0"/>
          </a:p>
        </p:txBody>
      </p:sp>
      <p:sp>
        <p:nvSpPr>
          <p:cNvPr id="43" name="Shape 40"/>
          <p:cNvSpPr/>
          <p:nvPr/>
        </p:nvSpPr>
        <p:spPr>
          <a:xfrm>
            <a:off x="569713" y="2257504"/>
            <a:ext cx="7993856" cy="278606"/>
          </a:xfrm>
          <a:prstGeom prst="rect">
            <a:avLst/>
          </a:prstGeom>
          <a:solidFill>
            <a:srgbClr val="FFFFFF"/>
          </a:solidFill>
          <a:ln/>
        </p:spPr>
        <p:txBody>
          <a:bodyPr/>
          <a:lstStyle/>
          <a:p>
            <a:endParaRPr lang="en-US"/>
          </a:p>
        </p:txBody>
      </p:sp>
      <p:sp>
        <p:nvSpPr>
          <p:cNvPr id="44" name="Text 41"/>
          <p:cNvSpPr/>
          <p:nvPr/>
        </p:nvSpPr>
        <p:spPr>
          <a:xfrm>
            <a:off x="569713" y="2257504"/>
            <a:ext cx="1276108" cy="278606"/>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VGG19</a:t>
            </a:r>
            <a:endParaRPr lang="en-US" sz="628" dirty="0"/>
          </a:p>
        </p:txBody>
      </p:sp>
      <p:sp>
        <p:nvSpPr>
          <p:cNvPr id="45" name="Text 42"/>
          <p:cNvSpPr/>
          <p:nvPr/>
        </p:nvSpPr>
        <p:spPr>
          <a:xfrm>
            <a:off x="1845821" y="2257504"/>
            <a:ext cx="124789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PyTorch (MixUp/CutMix)</a:t>
            </a:r>
            <a:endParaRPr lang="en-US" sz="628" dirty="0"/>
          </a:p>
        </p:txBody>
      </p:sp>
      <p:sp>
        <p:nvSpPr>
          <p:cNvPr id="46" name="Text 43"/>
          <p:cNvSpPr/>
          <p:nvPr/>
        </p:nvSpPr>
        <p:spPr>
          <a:xfrm>
            <a:off x="3093717" y="2257504"/>
            <a:ext cx="578281"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224×224</a:t>
            </a:r>
            <a:endParaRPr lang="en-US" sz="628" dirty="0"/>
          </a:p>
        </p:txBody>
      </p:sp>
      <p:sp>
        <p:nvSpPr>
          <p:cNvPr id="47" name="Text 44"/>
          <p:cNvSpPr/>
          <p:nvPr/>
        </p:nvSpPr>
        <p:spPr>
          <a:xfrm>
            <a:off x="3671998" y="2257504"/>
            <a:ext cx="866989" cy="278606"/>
          </a:xfrm>
          <a:prstGeom prst="rect">
            <a:avLst/>
          </a:prstGeom>
          <a:noFill/>
          <a:ln/>
        </p:spPr>
        <p:txBody>
          <a:bodyPr wrap="square" lIns="85090" tIns="85090" rIns="85090" bIns="85090" rtlCol="0" anchor="ctr">
            <a:spAutoFit/>
          </a:bodyPr>
          <a:lstStyle/>
          <a:p>
            <a:pPr marL="0" indent="0">
              <a:buNone/>
            </a:pPr>
            <a:r>
              <a:rPr lang="en-US" sz="628" b="1" dirty="0">
                <a:solidFill>
                  <a:srgbClr val="27AE60"/>
                </a:solidFill>
                <a:latin typeface="Noto Sans" pitchFamily="34" charset="0"/>
                <a:ea typeface="Noto Sans" pitchFamily="34" charset="-122"/>
                <a:cs typeface="Noto Sans" pitchFamily="34" charset="-120"/>
              </a:rPr>
              <a:t>95.33</a:t>
            </a:r>
            <a:endParaRPr lang="en-US" sz="628" dirty="0"/>
          </a:p>
        </p:txBody>
      </p:sp>
      <p:sp>
        <p:nvSpPr>
          <p:cNvPr id="48" name="Text 45"/>
          <p:cNvSpPr/>
          <p:nvPr/>
        </p:nvSpPr>
        <p:spPr>
          <a:xfrm>
            <a:off x="4538987" y="2257504"/>
            <a:ext cx="884597"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0.9535</a:t>
            </a:r>
            <a:endParaRPr lang="en-US" sz="628" dirty="0"/>
          </a:p>
        </p:txBody>
      </p:sp>
      <p:sp>
        <p:nvSpPr>
          <p:cNvPr id="49" name="Text 46"/>
          <p:cNvSpPr/>
          <p:nvPr/>
        </p:nvSpPr>
        <p:spPr>
          <a:xfrm>
            <a:off x="5423584" y="2257504"/>
            <a:ext cx="75073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0.9533</a:t>
            </a:r>
            <a:endParaRPr lang="en-US" sz="628" dirty="0"/>
          </a:p>
        </p:txBody>
      </p:sp>
      <p:sp>
        <p:nvSpPr>
          <p:cNvPr id="50" name="Text 47"/>
          <p:cNvSpPr/>
          <p:nvPr/>
        </p:nvSpPr>
        <p:spPr>
          <a:xfrm>
            <a:off x="6174320" y="2257504"/>
            <a:ext cx="84491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0.9532</a:t>
            </a:r>
            <a:endParaRPr lang="en-US" sz="628" dirty="0"/>
          </a:p>
        </p:txBody>
      </p:sp>
      <p:sp>
        <p:nvSpPr>
          <p:cNvPr id="51" name="Text 48"/>
          <p:cNvSpPr/>
          <p:nvPr/>
        </p:nvSpPr>
        <p:spPr>
          <a:xfrm>
            <a:off x="7019235" y="2257504"/>
            <a:ext cx="1544334" cy="278606"/>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High performance at lower resolution</a:t>
            </a:r>
            <a:endParaRPr lang="en-US" sz="575" dirty="0"/>
          </a:p>
        </p:txBody>
      </p:sp>
      <p:sp>
        <p:nvSpPr>
          <p:cNvPr id="52" name="Shape 49"/>
          <p:cNvSpPr/>
          <p:nvPr/>
        </p:nvSpPr>
        <p:spPr>
          <a:xfrm>
            <a:off x="569713" y="2536110"/>
            <a:ext cx="7993856" cy="407194"/>
          </a:xfrm>
          <a:prstGeom prst="rect">
            <a:avLst/>
          </a:prstGeom>
          <a:solidFill>
            <a:srgbClr val="F8F9FA"/>
          </a:solidFill>
          <a:ln/>
        </p:spPr>
        <p:txBody>
          <a:bodyPr/>
          <a:lstStyle/>
          <a:p>
            <a:endParaRPr lang="en-US"/>
          </a:p>
        </p:txBody>
      </p:sp>
      <p:sp>
        <p:nvSpPr>
          <p:cNvPr id="53" name="Text 50"/>
          <p:cNvSpPr/>
          <p:nvPr/>
        </p:nvSpPr>
        <p:spPr>
          <a:xfrm>
            <a:off x="569713" y="2536110"/>
            <a:ext cx="1276108" cy="407194"/>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DenseNet201</a:t>
            </a:r>
            <a:endParaRPr lang="en-US" sz="628" dirty="0"/>
          </a:p>
        </p:txBody>
      </p:sp>
      <p:sp>
        <p:nvSpPr>
          <p:cNvPr id="54" name="Text 51"/>
          <p:cNvSpPr/>
          <p:nvPr/>
        </p:nvSpPr>
        <p:spPr>
          <a:xfrm>
            <a:off x="1845821" y="2536110"/>
            <a:ext cx="124789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TensorFlow/Keras (Baseline)</a:t>
            </a:r>
            <a:endParaRPr lang="en-US" sz="628" dirty="0"/>
          </a:p>
        </p:txBody>
      </p:sp>
      <p:sp>
        <p:nvSpPr>
          <p:cNvPr id="55" name="Text 52"/>
          <p:cNvSpPr/>
          <p:nvPr/>
        </p:nvSpPr>
        <p:spPr>
          <a:xfrm>
            <a:off x="3093717" y="2536110"/>
            <a:ext cx="578281"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224×224</a:t>
            </a:r>
            <a:endParaRPr lang="en-US" sz="628" dirty="0"/>
          </a:p>
        </p:txBody>
      </p:sp>
      <p:sp>
        <p:nvSpPr>
          <p:cNvPr id="56" name="Text 53"/>
          <p:cNvSpPr/>
          <p:nvPr/>
        </p:nvSpPr>
        <p:spPr>
          <a:xfrm>
            <a:off x="3671998" y="2536110"/>
            <a:ext cx="866989" cy="407194"/>
          </a:xfrm>
          <a:prstGeom prst="rect">
            <a:avLst/>
          </a:prstGeom>
          <a:noFill/>
          <a:ln/>
        </p:spPr>
        <p:txBody>
          <a:bodyPr wrap="square" lIns="85090" tIns="85090" rIns="85090" bIns="85090" rtlCol="0" anchor="ctr">
            <a:spAutoFit/>
          </a:bodyPr>
          <a:lstStyle/>
          <a:p>
            <a:pPr marL="0" indent="0">
              <a:buNone/>
            </a:pPr>
            <a:r>
              <a:rPr lang="en-US" sz="628" b="1" dirty="0">
                <a:solidFill>
                  <a:srgbClr val="27AE60"/>
                </a:solidFill>
                <a:latin typeface="Noto Sans" pitchFamily="34" charset="0"/>
                <a:ea typeface="Noto Sans" pitchFamily="34" charset="-122"/>
                <a:cs typeface="Noto Sans" pitchFamily="34" charset="-120"/>
              </a:rPr>
              <a:t>94.23</a:t>
            </a:r>
            <a:endParaRPr lang="en-US" sz="628" dirty="0"/>
          </a:p>
        </p:txBody>
      </p:sp>
      <p:sp>
        <p:nvSpPr>
          <p:cNvPr id="57" name="Text 54"/>
          <p:cNvSpPr/>
          <p:nvPr/>
        </p:nvSpPr>
        <p:spPr>
          <a:xfrm>
            <a:off x="4538987" y="2536110"/>
            <a:ext cx="884597"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0.94</a:t>
            </a:r>
            <a:endParaRPr lang="en-US" sz="628" dirty="0"/>
          </a:p>
        </p:txBody>
      </p:sp>
      <p:sp>
        <p:nvSpPr>
          <p:cNvPr id="58" name="Text 55"/>
          <p:cNvSpPr/>
          <p:nvPr/>
        </p:nvSpPr>
        <p:spPr>
          <a:xfrm>
            <a:off x="5423584" y="2536110"/>
            <a:ext cx="75073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0.94</a:t>
            </a:r>
            <a:endParaRPr lang="en-US" sz="628" dirty="0"/>
          </a:p>
        </p:txBody>
      </p:sp>
      <p:sp>
        <p:nvSpPr>
          <p:cNvPr id="59" name="Text 56"/>
          <p:cNvSpPr/>
          <p:nvPr/>
        </p:nvSpPr>
        <p:spPr>
          <a:xfrm>
            <a:off x="6174320" y="2536110"/>
            <a:ext cx="84491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0.94</a:t>
            </a:r>
            <a:endParaRPr lang="en-US" sz="628" dirty="0"/>
          </a:p>
        </p:txBody>
      </p:sp>
      <p:sp>
        <p:nvSpPr>
          <p:cNvPr id="60" name="Text 57"/>
          <p:cNvSpPr/>
          <p:nvPr/>
        </p:nvSpPr>
        <p:spPr>
          <a:xfrm>
            <a:off x="7019235" y="2536110"/>
            <a:ext cx="1544334" cy="407194"/>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Highest Keras baseline</a:t>
            </a:r>
            <a:endParaRPr lang="en-US" sz="575" dirty="0"/>
          </a:p>
        </p:txBody>
      </p:sp>
      <p:sp>
        <p:nvSpPr>
          <p:cNvPr id="61" name="Shape 58"/>
          <p:cNvSpPr/>
          <p:nvPr/>
        </p:nvSpPr>
        <p:spPr>
          <a:xfrm>
            <a:off x="569713" y="2943304"/>
            <a:ext cx="7993856" cy="407194"/>
          </a:xfrm>
          <a:prstGeom prst="rect">
            <a:avLst/>
          </a:prstGeom>
          <a:solidFill>
            <a:srgbClr val="FFFFFF"/>
          </a:solidFill>
          <a:ln/>
        </p:spPr>
        <p:txBody>
          <a:bodyPr/>
          <a:lstStyle/>
          <a:p>
            <a:endParaRPr lang="en-US" dirty="0"/>
          </a:p>
        </p:txBody>
      </p:sp>
      <p:sp>
        <p:nvSpPr>
          <p:cNvPr id="62" name="Text 59"/>
          <p:cNvSpPr/>
          <p:nvPr/>
        </p:nvSpPr>
        <p:spPr>
          <a:xfrm>
            <a:off x="569713" y="3012665"/>
            <a:ext cx="1276108" cy="268471"/>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EfficientNetB3</a:t>
            </a:r>
            <a:endParaRPr lang="en-US" sz="628" dirty="0"/>
          </a:p>
        </p:txBody>
      </p:sp>
      <p:sp>
        <p:nvSpPr>
          <p:cNvPr id="63" name="Text 60"/>
          <p:cNvSpPr/>
          <p:nvPr/>
        </p:nvSpPr>
        <p:spPr>
          <a:xfrm>
            <a:off x="1845821" y="2943304"/>
            <a:ext cx="124789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TensorFlow/Keras (Baseline)</a:t>
            </a:r>
            <a:endParaRPr lang="en-US" sz="628" dirty="0"/>
          </a:p>
        </p:txBody>
      </p:sp>
      <p:sp>
        <p:nvSpPr>
          <p:cNvPr id="64" name="Text 61"/>
          <p:cNvSpPr/>
          <p:nvPr/>
        </p:nvSpPr>
        <p:spPr>
          <a:xfrm>
            <a:off x="3093717" y="2943304"/>
            <a:ext cx="578281"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224×224</a:t>
            </a:r>
            <a:endParaRPr lang="en-US" sz="628" dirty="0"/>
          </a:p>
        </p:txBody>
      </p:sp>
      <p:sp>
        <p:nvSpPr>
          <p:cNvPr id="65" name="Text 62"/>
          <p:cNvSpPr/>
          <p:nvPr/>
        </p:nvSpPr>
        <p:spPr>
          <a:xfrm>
            <a:off x="3671998" y="2943304"/>
            <a:ext cx="866989" cy="407194"/>
          </a:xfrm>
          <a:prstGeom prst="rect">
            <a:avLst/>
          </a:prstGeom>
          <a:noFill/>
          <a:ln/>
        </p:spPr>
        <p:txBody>
          <a:bodyPr wrap="square" lIns="85090" tIns="85090" rIns="85090" bIns="85090" rtlCol="0" anchor="ctr">
            <a:spAutoFit/>
          </a:bodyPr>
          <a:lstStyle/>
          <a:p>
            <a:pPr marL="0" indent="0">
              <a:buNone/>
            </a:pPr>
            <a:r>
              <a:rPr lang="en-US" sz="628" b="1" dirty="0">
                <a:solidFill>
                  <a:srgbClr val="F39C12"/>
                </a:solidFill>
                <a:latin typeface="Noto Sans" pitchFamily="34" charset="0"/>
                <a:ea typeface="Noto Sans" pitchFamily="34" charset="-122"/>
                <a:cs typeface="Noto Sans" pitchFamily="34" charset="-120"/>
              </a:rPr>
              <a:t>95.11</a:t>
            </a:r>
            <a:endParaRPr lang="en-US" sz="628" dirty="0"/>
          </a:p>
        </p:txBody>
      </p:sp>
      <p:sp>
        <p:nvSpPr>
          <p:cNvPr id="66" name="Text 63"/>
          <p:cNvSpPr/>
          <p:nvPr/>
        </p:nvSpPr>
        <p:spPr>
          <a:xfrm>
            <a:off x="4538987" y="2943304"/>
            <a:ext cx="884597"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0.95</a:t>
            </a:r>
            <a:endParaRPr lang="en-US" sz="628" dirty="0"/>
          </a:p>
        </p:txBody>
      </p:sp>
      <p:sp>
        <p:nvSpPr>
          <p:cNvPr id="67" name="Text 64"/>
          <p:cNvSpPr/>
          <p:nvPr/>
        </p:nvSpPr>
        <p:spPr>
          <a:xfrm>
            <a:off x="5423584" y="2943304"/>
            <a:ext cx="75073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0.95</a:t>
            </a:r>
            <a:endParaRPr lang="en-US" sz="628" dirty="0"/>
          </a:p>
        </p:txBody>
      </p:sp>
      <p:sp>
        <p:nvSpPr>
          <p:cNvPr id="68" name="Text 65"/>
          <p:cNvSpPr/>
          <p:nvPr/>
        </p:nvSpPr>
        <p:spPr>
          <a:xfrm>
            <a:off x="6174320" y="2943304"/>
            <a:ext cx="84491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0.95</a:t>
            </a:r>
            <a:endParaRPr lang="en-US" sz="628" dirty="0"/>
          </a:p>
        </p:txBody>
      </p:sp>
      <p:sp>
        <p:nvSpPr>
          <p:cNvPr id="69" name="Text 66"/>
          <p:cNvSpPr/>
          <p:nvPr/>
        </p:nvSpPr>
        <p:spPr>
          <a:xfrm>
            <a:off x="7019235" y="2943304"/>
            <a:ext cx="1544334" cy="407194"/>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Competitive baseline</a:t>
            </a:r>
            <a:endParaRPr lang="en-US" sz="575" dirty="0"/>
          </a:p>
        </p:txBody>
      </p:sp>
      <p:sp>
        <p:nvSpPr>
          <p:cNvPr id="70" name="Shape 67"/>
          <p:cNvSpPr/>
          <p:nvPr/>
        </p:nvSpPr>
        <p:spPr>
          <a:xfrm>
            <a:off x="569713" y="3350498"/>
            <a:ext cx="7993856" cy="407194"/>
          </a:xfrm>
          <a:prstGeom prst="rect">
            <a:avLst/>
          </a:prstGeom>
          <a:solidFill>
            <a:srgbClr val="F8F9FA"/>
          </a:solidFill>
          <a:ln/>
        </p:spPr>
        <p:txBody>
          <a:bodyPr/>
          <a:lstStyle/>
          <a:p>
            <a:endParaRPr lang="en-US"/>
          </a:p>
        </p:txBody>
      </p:sp>
      <p:sp>
        <p:nvSpPr>
          <p:cNvPr id="71" name="Text 68"/>
          <p:cNvSpPr/>
          <p:nvPr/>
        </p:nvSpPr>
        <p:spPr>
          <a:xfrm>
            <a:off x="569713" y="3350498"/>
            <a:ext cx="1276108" cy="407194"/>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SwinV2-Base (Full Train/Val)</a:t>
            </a:r>
            <a:endParaRPr lang="en-US" sz="628" dirty="0"/>
          </a:p>
        </p:txBody>
      </p:sp>
      <p:sp>
        <p:nvSpPr>
          <p:cNvPr id="72" name="Text 69"/>
          <p:cNvSpPr/>
          <p:nvPr/>
        </p:nvSpPr>
        <p:spPr>
          <a:xfrm>
            <a:off x="1845821" y="3350498"/>
            <a:ext cx="124789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PyTorch (TTA Applied)</a:t>
            </a:r>
            <a:endParaRPr lang="en-US" sz="628" dirty="0"/>
          </a:p>
        </p:txBody>
      </p:sp>
      <p:sp>
        <p:nvSpPr>
          <p:cNvPr id="73" name="Text 70"/>
          <p:cNvSpPr/>
          <p:nvPr/>
        </p:nvSpPr>
        <p:spPr>
          <a:xfrm>
            <a:off x="3093717" y="3350498"/>
            <a:ext cx="578281"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384×384</a:t>
            </a:r>
            <a:endParaRPr lang="en-US" sz="628" dirty="0"/>
          </a:p>
        </p:txBody>
      </p:sp>
      <p:sp>
        <p:nvSpPr>
          <p:cNvPr id="74" name="Text 71"/>
          <p:cNvSpPr/>
          <p:nvPr/>
        </p:nvSpPr>
        <p:spPr>
          <a:xfrm>
            <a:off x="3671998" y="3350498"/>
            <a:ext cx="866989" cy="407194"/>
          </a:xfrm>
          <a:prstGeom prst="rect">
            <a:avLst/>
          </a:prstGeom>
          <a:noFill/>
          <a:ln/>
        </p:spPr>
        <p:txBody>
          <a:bodyPr wrap="square" lIns="85090" tIns="85090" rIns="85090" bIns="85090" rtlCol="0" anchor="ctr">
            <a:spAutoFit/>
          </a:bodyPr>
          <a:lstStyle/>
          <a:p>
            <a:pPr marL="0" indent="0">
              <a:buNone/>
            </a:pPr>
            <a:r>
              <a:rPr lang="en-US" sz="628" b="1" dirty="0">
                <a:solidFill>
                  <a:srgbClr val="27AE60"/>
                </a:solidFill>
                <a:latin typeface="Noto Sans" pitchFamily="34" charset="0"/>
                <a:ea typeface="Noto Sans" pitchFamily="34" charset="-122"/>
                <a:cs typeface="Noto Sans" pitchFamily="34" charset="-120"/>
              </a:rPr>
              <a:t>98.39</a:t>
            </a:r>
            <a:endParaRPr lang="en-US" sz="628" dirty="0"/>
          </a:p>
        </p:txBody>
      </p:sp>
      <p:sp>
        <p:nvSpPr>
          <p:cNvPr id="75" name="Text 72"/>
          <p:cNvSpPr/>
          <p:nvPr/>
        </p:nvSpPr>
        <p:spPr>
          <a:xfrm>
            <a:off x="4538987" y="3350498"/>
            <a:ext cx="884597"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0.9840</a:t>
            </a:r>
            <a:endParaRPr lang="en-US" sz="628" dirty="0"/>
          </a:p>
        </p:txBody>
      </p:sp>
      <p:sp>
        <p:nvSpPr>
          <p:cNvPr id="76" name="Text 73"/>
          <p:cNvSpPr/>
          <p:nvPr/>
        </p:nvSpPr>
        <p:spPr>
          <a:xfrm>
            <a:off x="5423584" y="3350498"/>
            <a:ext cx="75073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0.9839</a:t>
            </a:r>
            <a:endParaRPr lang="en-US" sz="628" dirty="0"/>
          </a:p>
        </p:txBody>
      </p:sp>
      <p:sp>
        <p:nvSpPr>
          <p:cNvPr id="77" name="Text 74"/>
          <p:cNvSpPr/>
          <p:nvPr/>
        </p:nvSpPr>
        <p:spPr>
          <a:xfrm>
            <a:off x="6174320" y="3350498"/>
            <a:ext cx="84491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0.9839</a:t>
            </a:r>
            <a:endParaRPr lang="en-US" sz="628" dirty="0"/>
          </a:p>
        </p:txBody>
      </p:sp>
      <p:sp>
        <p:nvSpPr>
          <p:cNvPr id="78" name="Text 75"/>
          <p:cNvSpPr/>
          <p:nvPr/>
        </p:nvSpPr>
        <p:spPr>
          <a:xfrm>
            <a:off x="7019235" y="3350498"/>
            <a:ext cx="1544334" cy="407194"/>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Strong ensemble variant</a:t>
            </a:r>
            <a:endParaRPr lang="en-US" sz="575" dirty="0"/>
          </a:p>
        </p:txBody>
      </p:sp>
      <p:sp>
        <p:nvSpPr>
          <p:cNvPr id="79" name="Shape 76"/>
          <p:cNvSpPr/>
          <p:nvPr/>
        </p:nvSpPr>
        <p:spPr>
          <a:xfrm>
            <a:off x="569713" y="3757692"/>
            <a:ext cx="7993856" cy="407194"/>
          </a:xfrm>
          <a:prstGeom prst="rect">
            <a:avLst/>
          </a:prstGeom>
          <a:solidFill>
            <a:srgbClr val="FFFFFF"/>
          </a:solidFill>
          <a:ln/>
        </p:spPr>
        <p:txBody>
          <a:bodyPr/>
          <a:lstStyle/>
          <a:p>
            <a:endParaRPr lang="en-US"/>
          </a:p>
        </p:txBody>
      </p:sp>
      <p:sp>
        <p:nvSpPr>
          <p:cNvPr id="80" name="Text 77"/>
          <p:cNvSpPr/>
          <p:nvPr/>
        </p:nvSpPr>
        <p:spPr>
          <a:xfrm>
            <a:off x="569713" y="3757692"/>
            <a:ext cx="1276108" cy="407194"/>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EfficientNetB0(2)(1)</a:t>
            </a:r>
            <a:endParaRPr lang="en-US" sz="628" dirty="0"/>
          </a:p>
        </p:txBody>
      </p:sp>
      <p:sp>
        <p:nvSpPr>
          <p:cNvPr id="81" name="Text 78"/>
          <p:cNvSpPr/>
          <p:nvPr/>
        </p:nvSpPr>
        <p:spPr>
          <a:xfrm>
            <a:off x="1845821" y="3757692"/>
            <a:ext cx="124789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TensorFlow/Keras (Baseline)</a:t>
            </a:r>
            <a:endParaRPr lang="en-US" sz="628" dirty="0"/>
          </a:p>
        </p:txBody>
      </p:sp>
      <p:sp>
        <p:nvSpPr>
          <p:cNvPr id="82" name="Text 79"/>
          <p:cNvSpPr/>
          <p:nvPr/>
        </p:nvSpPr>
        <p:spPr>
          <a:xfrm>
            <a:off x="3093717" y="3757692"/>
            <a:ext cx="578281"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224×224</a:t>
            </a:r>
            <a:endParaRPr lang="en-US" sz="628" dirty="0"/>
          </a:p>
        </p:txBody>
      </p:sp>
      <p:sp>
        <p:nvSpPr>
          <p:cNvPr id="83" name="Text 80"/>
          <p:cNvSpPr/>
          <p:nvPr/>
        </p:nvSpPr>
        <p:spPr>
          <a:xfrm>
            <a:off x="3671998" y="3757692"/>
            <a:ext cx="866989" cy="407194"/>
          </a:xfrm>
          <a:prstGeom prst="rect">
            <a:avLst/>
          </a:prstGeom>
          <a:noFill/>
          <a:ln/>
        </p:spPr>
        <p:txBody>
          <a:bodyPr wrap="square" lIns="85090" tIns="85090" rIns="85090" bIns="85090" rtlCol="0" anchor="ctr">
            <a:spAutoFit/>
          </a:bodyPr>
          <a:lstStyle/>
          <a:p>
            <a:pPr marL="0" indent="0">
              <a:buNone/>
            </a:pPr>
            <a:r>
              <a:rPr lang="en-US" sz="628" b="1" dirty="0">
                <a:solidFill>
                  <a:srgbClr val="F39C12"/>
                </a:solidFill>
                <a:latin typeface="Noto Sans" pitchFamily="34" charset="0"/>
                <a:ea typeface="Noto Sans" pitchFamily="34" charset="-122"/>
                <a:cs typeface="Noto Sans" pitchFamily="34" charset="-120"/>
              </a:rPr>
              <a:t>91.75</a:t>
            </a:r>
            <a:endParaRPr lang="en-US" sz="628" dirty="0"/>
          </a:p>
        </p:txBody>
      </p:sp>
      <p:sp>
        <p:nvSpPr>
          <p:cNvPr id="84" name="Text 81"/>
          <p:cNvSpPr/>
          <p:nvPr/>
        </p:nvSpPr>
        <p:spPr>
          <a:xfrm>
            <a:off x="4538987" y="3757692"/>
            <a:ext cx="884597"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0.92</a:t>
            </a:r>
            <a:endParaRPr lang="en-US" sz="628" dirty="0"/>
          </a:p>
        </p:txBody>
      </p:sp>
      <p:sp>
        <p:nvSpPr>
          <p:cNvPr id="85" name="Text 82"/>
          <p:cNvSpPr/>
          <p:nvPr/>
        </p:nvSpPr>
        <p:spPr>
          <a:xfrm>
            <a:off x="5423584" y="3757692"/>
            <a:ext cx="75073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0.91</a:t>
            </a:r>
            <a:endParaRPr lang="en-US" sz="628" dirty="0"/>
          </a:p>
        </p:txBody>
      </p:sp>
      <p:sp>
        <p:nvSpPr>
          <p:cNvPr id="86" name="Text 83"/>
          <p:cNvSpPr/>
          <p:nvPr/>
        </p:nvSpPr>
        <p:spPr>
          <a:xfrm>
            <a:off x="6174320" y="3757692"/>
            <a:ext cx="84491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0.93</a:t>
            </a:r>
            <a:endParaRPr lang="en-US" sz="628" dirty="0"/>
          </a:p>
        </p:txBody>
      </p:sp>
      <p:sp>
        <p:nvSpPr>
          <p:cNvPr id="87" name="Text 84"/>
          <p:cNvSpPr/>
          <p:nvPr/>
        </p:nvSpPr>
        <p:spPr>
          <a:xfrm>
            <a:off x="7019235" y="3757692"/>
            <a:ext cx="1544334" cy="407194"/>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Competitive baseline</a:t>
            </a:r>
            <a:endParaRPr lang="en-US" sz="575" dirty="0"/>
          </a:p>
        </p:txBody>
      </p:sp>
      <p:sp>
        <p:nvSpPr>
          <p:cNvPr id="88" name="Shape 85"/>
          <p:cNvSpPr/>
          <p:nvPr/>
        </p:nvSpPr>
        <p:spPr>
          <a:xfrm>
            <a:off x="569713" y="4164885"/>
            <a:ext cx="7993856" cy="407194"/>
          </a:xfrm>
          <a:prstGeom prst="rect">
            <a:avLst/>
          </a:prstGeom>
          <a:solidFill>
            <a:srgbClr val="F8F9FA"/>
          </a:solidFill>
          <a:ln/>
        </p:spPr>
        <p:txBody>
          <a:bodyPr/>
          <a:lstStyle/>
          <a:p>
            <a:endParaRPr lang="en-US"/>
          </a:p>
        </p:txBody>
      </p:sp>
      <p:sp>
        <p:nvSpPr>
          <p:cNvPr id="89" name="Text 86"/>
          <p:cNvSpPr/>
          <p:nvPr/>
        </p:nvSpPr>
        <p:spPr>
          <a:xfrm>
            <a:off x="569713" y="4164885"/>
            <a:ext cx="1276108" cy="407194"/>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ConvNeXtTiny</a:t>
            </a:r>
            <a:endParaRPr lang="en-US" sz="628" dirty="0"/>
          </a:p>
        </p:txBody>
      </p:sp>
      <p:sp>
        <p:nvSpPr>
          <p:cNvPr id="90" name="Text 87"/>
          <p:cNvSpPr/>
          <p:nvPr/>
        </p:nvSpPr>
        <p:spPr>
          <a:xfrm>
            <a:off x="1845821" y="4164885"/>
            <a:ext cx="124789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TensorFlow/Keras (Baseline)</a:t>
            </a:r>
            <a:endParaRPr lang="en-US" sz="628" dirty="0"/>
          </a:p>
        </p:txBody>
      </p:sp>
      <p:sp>
        <p:nvSpPr>
          <p:cNvPr id="91" name="Text 88"/>
          <p:cNvSpPr/>
          <p:nvPr/>
        </p:nvSpPr>
        <p:spPr>
          <a:xfrm>
            <a:off x="3093717" y="4164885"/>
            <a:ext cx="578281"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224×224</a:t>
            </a:r>
            <a:endParaRPr lang="en-US" sz="628" dirty="0"/>
          </a:p>
        </p:txBody>
      </p:sp>
      <p:sp>
        <p:nvSpPr>
          <p:cNvPr id="92" name="Text 89"/>
          <p:cNvSpPr/>
          <p:nvPr/>
        </p:nvSpPr>
        <p:spPr>
          <a:xfrm>
            <a:off x="3671998" y="4164885"/>
            <a:ext cx="866989" cy="407194"/>
          </a:xfrm>
          <a:prstGeom prst="rect">
            <a:avLst/>
          </a:prstGeom>
          <a:noFill/>
          <a:ln/>
        </p:spPr>
        <p:txBody>
          <a:bodyPr wrap="square" lIns="85090" tIns="85090" rIns="85090" bIns="85090" rtlCol="0" anchor="ctr">
            <a:spAutoFit/>
          </a:bodyPr>
          <a:lstStyle/>
          <a:p>
            <a:pPr marL="0" indent="0">
              <a:buNone/>
            </a:pPr>
            <a:r>
              <a:rPr lang="en-US" sz="628" b="1" dirty="0">
                <a:solidFill>
                  <a:srgbClr val="F39C12"/>
                </a:solidFill>
                <a:latin typeface="Noto Sans" pitchFamily="34" charset="0"/>
                <a:ea typeface="Noto Sans" pitchFamily="34" charset="-122"/>
                <a:cs typeface="Noto Sans" pitchFamily="34" charset="-120"/>
              </a:rPr>
              <a:t>91.82</a:t>
            </a:r>
            <a:endParaRPr lang="en-US" sz="628" dirty="0"/>
          </a:p>
        </p:txBody>
      </p:sp>
      <p:sp>
        <p:nvSpPr>
          <p:cNvPr id="93" name="Text 90"/>
          <p:cNvSpPr/>
          <p:nvPr/>
        </p:nvSpPr>
        <p:spPr>
          <a:xfrm>
            <a:off x="4538987" y="4164885"/>
            <a:ext cx="884597"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0.92</a:t>
            </a:r>
            <a:endParaRPr lang="en-US" sz="628" dirty="0"/>
          </a:p>
        </p:txBody>
      </p:sp>
      <p:sp>
        <p:nvSpPr>
          <p:cNvPr id="94" name="Text 91"/>
          <p:cNvSpPr/>
          <p:nvPr/>
        </p:nvSpPr>
        <p:spPr>
          <a:xfrm>
            <a:off x="5423584" y="4164885"/>
            <a:ext cx="75073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0.92</a:t>
            </a:r>
            <a:endParaRPr lang="en-US" sz="628" dirty="0"/>
          </a:p>
        </p:txBody>
      </p:sp>
      <p:sp>
        <p:nvSpPr>
          <p:cNvPr id="95" name="Text 92"/>
          <p:cNvSpPr/>
          <p:nvPr/>
        </p:nvSpPr>
        <p:spPr>
          <a:xfrm>
            <a:off x="6174320" y="4164885"/>
            <a:ext cx="844916" cy="407194"/>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0.92</a:t>
            </a:r>
            <a:endParaRPr lang="en-US" sz="628" dirty="0"/>
          </a:p>
        </p:txBody>
      </p:sp>
      <p:sp>
        <p:nvSpPr>
          <p:cNvPr id="96" name="Text 93"/>
          <p:cNvSpPr/>
          <p:nvPr/>
        </p:nvSpPr>
        <p:spPr>
          <a:xfrm>
            <a:off x="7019235" y="4164885"/>
            <a:ext cx="1544334" cy="407194"/>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Baseline performance</a:t>
            </a:r>
            <a:endParaRPr lang="en-US" sz="575" dirty="0"/>
          </a:p>
        </p:txBody>
      </p:sp>
      <p:sp>
        <p:nvSpPr>
          <p:cNvPr id="97" name="Shape 94"/>
          <p:cNvSpPr/>
          <p:nvPr/>
        </p:nvSpPr>
        <p:spPr>
          <a:xfrm>
            <a:off x="569713" y="4572079"/>
            <a:ext cx="7993856" cy="278606"/>
          </a:xfrm>
          <a:prstGeom prst="rect">
            <a:avLst/>
          </a:prstGeom>
          <a:solidFill>
            <a:srgbClr val="FFFFFF"/>
          </a:solidFill>
          <a:ln/>
        </p:spPr>
        <p:txBody>
          <a:bodyPr/>
          <a:lstStyle/>
          <a:p>
            <a:endParaRPr lang="en-US"/>
          </a:p>
        </p:txBody>
      </p:sp>
      <p:sp>
        <p:nvSpPr>
          <p:cNvPr id="98" name="Text 95"/>
          <p:cNvSpPr/>
          <p:nvPr/>
        </p:nvSpPr>
        <p:spPr>
          <a:xfrm>
            <a:off x="569713" y="4572079"/>
            <a:ext cx="1276108" cy="278606"/>
          </a:xfrm>
          <a:prstGeom prst="rect">
            <a:avLst/>
          </a:prstGeom>
          <a:noFill/>
          <a:ln/>
        </p:spPr>
        <p:txBody>
          <a:bodyPr wrap="square" lIns="85090" tIns="85090" rIns="85090" bIns="85090" rtlCol="0" anchor="ctr">
            <a:spAutoFit/>
          </a:bodyPr>
          <a:lstStyle/>
          <a:p>
            <a:pPr marL="0" indent="0">
              <a:buNone/>
            </a:pPr>
            <a:r>
              <a:rPr lang="en-US" sz="628" b="1" dirty="0">
                <a:solidFill>
                  <a:srgbClr val="1A3A52"/>
                </a:solidFill>
                <a:latin typeface="Noto Sans" pitchFamily="34" charset="0"/>
                <a:ea typeface="Noto Sans" pitchFamily="34" charset="-122"/>
                <a:cs typeface="Noto Sans" pitchFamily="34" charset="-120"/>
              </a:rPr>
              <a:t>EfficientNetB5</a:t>
            </a:r>
            <a:endParaRPr lang="en-US" sz="628" dirty="0"/>
          </a:p>
        </p:txBody>
      </p:sp>
      <p:sp>
        <p:nvSpPr>
          <p:cNvPr id="99" name="Text 96"/>
          <p:cNvSpPr/>
          <p:nvPr/>
        </p:nvSpPr>
        <p:spPr>
          <a:xfrm>
            <a:off x="1845821" y="4572079"/>
            <a:ext cx="124789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TensorFlow/Keras (2-stage)</a:t>
            </a:r>
            <a:endParaRPr lang="en-US" sz="628" dirty="0"/>
          </a:p>
        </p:txBody>
      </p:sp>
      <p:sp>
        <p:nvSpPr>
          <p:cNvPr id="100" name="Text 97"/>
          <p:cNvSpPr/>
          <p:nvPr/>
        </p:nvSpPr>
        <p:spPr>
          <a:xfrm>
            <a:off x="3093717" y="4572079"/>
            <a:ext cx="578281"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224×224</a:t>
            </a:r>
            <a:endParaRPr lang="en-US" sz="628" dirty="0"/>
          </a:p>
        </p:txBody>
      </p:sp>
      <p:sp>
        <p:nvSpPr>
          <p:cNvPr id="101" name="Text 98"/>
          <p:cNvSpPr/>
          <p:nvPr/>
        </p:nvSpPr>
        <p:spPr>
          <a:xfrm>
            <a:off x="3671998" y="4572079"/>
            <a:ext cx="866989" cy="278606"/>
          </a:xfrm>
          <a:prstGeom prst="rect">
            <a:avLst/>
          </a:prstGeom>
          <a:noFill/>
          <a:ln/>
        </p:spPr>
        <p:txBody>
          <a:bodyPr wrap="square" lIns="85090" tIns="85090" rIns="85090" bIns="85090" rtlCol="0" anchor="ctr">
            <a:spAutoFit/>
          </a:bodyPr>
          <a:lstStyle/>
          <a:p>
            <a:pPr marL="0" indent="0">
              <a:buNone/>
            </a:pPr>
            <a:r>
              <a:rPr lang="en-US" sz="628" b="1" dirty="0">
                <a:solidFill>
                  <a:srgbClr val="E74C3C"/>
                </a:solidFill>
                <a:latin typeface="Noto Sans" pitchFamily="34" charset="0"/>
                <a:ea typeface="Noto Sans" pitchFamily="34" charset="-122"/>
                <a:cs typeface="Noto Sans" pitchFamily="34" charset="-120"/>
              </a:rPr>
              <a:t>77.00</a:t>
            </a:r>
            <a:endParaRPr lang="en-US" sz="628" dirty="0"/>
          </a:p>
        </p:txBody>
      </p:sp>
      <p:sp>
        <p:nvSpPr>
          <p:cNvPr id="102" name="Text 99"/>
          <p:cNvSpPr/>
          <p:nvPr/>
        </p:nvSpPr>
        <p:spPr>
          <a:xfrm>
            <a:off x="4538987" y="4572079"/>
            <a:ext cx="884597"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0.77</a:t>
            </a:r>
            <a:endParaRPr lang="en-US" sz="628" dirty="0"/>
          </a:p>
        </p:txBody>
      </p:sp>
      <p:sp>
        <p:nvSpPr>
          <p:cNvPr id="103" name="Text 100"/>
          <p:cNvSpPr/>
          <p:nvPr/>
        </p:nvSpPr>
        <p:spPr>
          <a:xfrm>
            <a:off x="5423584" y="4572079"/>
            <a:ext cx="75073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0.77</a:t>
            </a:r>
            <a:endParaRPr lang="en-US" sz="628" dirty="0"/>
          </a:p>
        </p:txBody>
      </p:sp>
      <p:sp>
        <p:nvSpPr>
          <p:cNvPr id="104" name="Text 101"/>
          <p:cNvSpPr/>
          <p:nvPr/>
        </p:nvSpPr>
        <p:spPr>
          <a:xfrm>
            <a:off x="6174320" y="4572079"/>
            <a:ext cx="844916" cy="278606"/>
          </a:xfrm>
          <a:prstGeom prst="rect">
            <a:avLst/>
          </a:prstGeom>
          <a:noFill/>
          <a:ln/>
        </p:spPr>
        <p:txBody>
          <a:bodyPr wrap="square" lIns="85090" tIns="85090" rIns="85090" bIns="85090" rtlCol="0" anchor="ctr">
            <a:spAutoFit/>
          </a:bodyPr>
          <a:lstStyle/>
          <a:p>
            <a:pPr marL="0" indent="0">
              <a:buNone/>
            </a:pPr>
            <a:r>
              <a:rPr lang="en-US" sz="628" dirty="0">
                <a:solidFill>
                  <a:srgbClr val="34495E"/>
                </a:solidFill>
                <a:latin typeface="Noto Sans" pitchFamily="34" charset="0"/>
                <a:ea typeface="Noto Sans" pitchFamily="34" charset="-122"/>
                <a:cs typeface="Noto Sans" pitchFamily="34" charset="-120"/>
              </a:rPr>
              <a:t>0.77</a:t>
            </a:r>
            <a:endParaRPr lang="en-US" sz="628" dirty="0"/>
          </a:p>
        </p:txBody>
      </p:sp>
      <p:sp>
        <p:nvSpPr>
          <p:cNvPr id="105" name="Text 102"/>
          <p:cNvSpPr/>
          <p:nvPr/>
        </p:nvSpPr>
        <p:spPr>
          <a:xfrm>
            <a:off x="7019235" y="4572079"/>
            <a:ext cx="1544334" cy="278606"/>
          </a:xfrm>
          <a:prstGeom prst="rect">
            <a:avLst/>
          </a:prstGeom>
          <a:noFill/>
          <a:ln/>
        </p:spPr>
        <p:txBody>
          <a:bodyPr wrap="square" lIns="85090" tIns="85090" rIns="85090" bIns="85090" rtlCol="0" anchor="ctr">
            <a:spAutoFit/>
          </a:bodyPr>
          <a:lstStyle/>
          <a:p>
            <a:pPr marL="0" indent="0">
              <a:buNone/>
            </a:pPr>
            <a:r>
              <a:rPr lang="en-US" sz="575" i="1" dirty="0">
                <a:solidFill>
                  <a:srgbClr val="555555"/>
                </a:solidFill>
                <a:latin typeface="Noto Sans" pitchFamily="34" charset="0"/>
                <a:ea typeface="Noto Sans" pitchFamily="34" charset="-122"/>
                <a:cs typeface="Noto Sans" pitchFamily="34" charset="-120"/>
              </a:rPr>
              <a:t>Lowest performance</a:t>
            </a:r>
            <a:endParaRPr lang="en-US" sz="575" dirty="0"/>
          </a:p>
        </p:txBody>
      </p:sp>
      <p:sp>
        <p:nvSpPr>
          <p:cNvPr id="106" name="Shape 103"/>
          <p:cNvSpPr/>
          <p:nvPr/>
        </p:nvSpPr>
        <p:spPr>
          <a:xfrm>
            <a:off x="566141" y="4889751"/>
            <a:ext cx="114300" cy="114300"/>
          </a:xfrm>
          <a:prstGeom prst="rect">
            <a:avLst/>
          </a:prstGeom>
          <a:solidFill>
            <a:srgbClr val="FFCC99"/>
          </a:solidFill>
          <a:ln/>
        </p:spPr>
        <p:txBody>
          <a:bodyPr/>
          <a:lstStyle/>
          <a:p>
            <a:endParaRPr lang="en-US"/>
          </a:p>
        </p:txBody>
      </p:sp>
      <p:sp>
        <p:nvSpPr>
          <p:cNvPr id="107" name="Text 104"/>
          <p:cNvSpPr/>
          <p:nvPr/>
        </p:nvSpPr>
        <p:spPr>
          <a:xfrm>
            <a:off x="745600" y="4880570"/>
            <a:ext cx="1030932" cy="116086"/>
          </a:xfrm>
          <a:prstGeom prst="rect">
            <a:avLst/>
          </a:prstGeom>
          <a:noFill/>
          <a:ln/>
        </p:spPr>
        <p:txBody>
          <a:bodyPr wrap="none" lIns="0" tIns="0" rIns="0" bIns="0" rtlCol="0" anchor="ctr">
            <a:spAutoFit/>
          </a:bodyPr>
          <a:lstStyle/>
          <a:p>
            <a:pPr marL="0" indent="0">
              <a:buNone/>
            </a:pPr>
            <a:r>
              <a:rPr lang="en-US" sz="628" b="1" dirty="0">
                <a:solidFill>
                  <a:srgbClr val="34495E"/>
                </a:solidFill>
                <a:latin typeface="Noto Sans" pitchFamily="34" charset="0"/>
                <a:ea typeface="Noto Sans" pitchFamily="34" charset="-122"/>
                <a:cs typeface="Noto Sans" pitchFamily="34" charset="-120"/>
              </a:rPr>
              <a:t>Best Performer (98.61%)</a:t>
            </a:r>
            <a:endParaRPr lang="en-US" sz="628" dirty="0"/>
          </a:p>
        </p:txBody>
      </p:sp>
      <p:sp>
        <p:nvSpPr>
          <p:cNvPr id="108" name="Shape 105"/>
          <p:cNvSpPr/>
          <p:nvPr/>
        </p:nvSpPr>
        <p:spPr>
          <a:xfrm>
            <a:off x="2013141" y="4889751"/>
            <a:ext cx="114300" cy="114300"/>
          </a:xfrm>
          <a:prstGeom prst="rect">
            <a:avLst/>
          </a:prstGeom>
          <a:solidFill>
            <a:srgbClr val="F0F7FF"/>
          </a:solidFill>
          <a:ln/>
        </p:spPr>
        <p:txBody>
          <a:bodyPr/>
          <a:lstStyle/>
          <a:p>
            <a:endParaRPr lang="en-US"/>
          </a:p>
        </p:txBody>
      </p:sp>
      <p:sp>
        <p:nvSpPr>
          <p:cNvPr id="109" name="Text 106"/>
          <p:cNvSpPr/>
          <p:nvPr/>
        </p:nvSpPr>
        <p:spPr>
          <a:xfrm>
            <a:off x="2192600" y="4880570"/>
            <a:ext cx="962955" cy="116086"/>
          </a:xfrm>
          <a:prstGeom prst="rect">
            <a:avLst/>
          </a:prstGeom>
          <a:noFill/>
          <a:ln/>
        </p:spPr>
        <p:txBody>
          <a:bodyPr wrap="none" lIns="0" tIns="0" rIns="0" bIns="0" rtlCol="0" anchor="ctr">
            <a:spAutoFit/>
          </a:bodyPr>
          <a:lstStyle/>
          <a:p>
            <a:pPr marL="0" indent="0">
              <a:buNone/>
            </a:pPr>
            <a:r>
              <a:rPr lang="en-US" sz="628" b="1" dirty="0">
                <a:solidFill>
                  <a:srgbClr val="34495E"/>
                </a:solidFill>
                <a:latin typeface="Noto Sans" pitchFamily="34" charset="0"/>
                <a:ea typeface="Noto Sans" pitchFamily="34" charset="-122"/>
                <a:cs typeface="Noto Sans" pitchFamily="34" charset="-120"/>
              </a:rPr>
              <a:t>Top Performers (&gt;95%)</a:t>
            </a:r>
            <a:endParaRPr lang="en-US" sz="628" dirty="0"/>
          </a:p>
        </p:txBody>
      </p:sp>
      <p:pic>
        <p:nvPicPr>
          <p:cNvPr id="110" name="Picture 109">
            <a:extLst>
              <a:ext uri="{FF2B5EF4-FFF2-40B4-BE49-F238E27FC236}">
                <a16:creationId xmlns:a16="http://schemas.microsoft.com/office/drawing/2014/main" id="{8B1E24B4-9854-28FF-543E-B6D4E4C2C4DB}"/>
              </a:ext>
            </a:extLst>
          </p:cNvPr>
          <p:cNvPicPr>
            <a:picLocks noChangeAspect="1"/>
          </p:cNvPicPr>
          <p:nvPr/>
        </p:nvPicPr>
        <p:blipFill>
          <a:blip r:embed="rId4"/>
          <a:stretch>
            <a:fillRect/>
          </a:stretch>
        </p:blipFill>
        <p:spPr>
          <a:xfrm>
            <a:off x="8418175" y="0"/>
            <a:ext cx="823895" cy="8238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98511"/>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Best Performer: SwinV2-Base Ensemble</a:t>
            </a:r>
            <a:endParaRPr lang="en-US" sz="2700" dirty="0"/>
          </a:p>
        </p:txBody>
      </p:sp>
      <p:sp>
        <p:nvSpPr>
          <p:cNvPr id="4" name="Shape 1"/>
          <p:cNvSpPr/>
          <p:nvPr/>
        </p:nvSpPr>
        <p:spPr>
          <a:xfrm>
            <a:off x="571500" y="1371600"/>
            <a:ext cx="8001000" cy="1494439"/>
          </a:xfrm>
          <a:prstGeom prst="rect">
            <a:avLst/>
          </a:prstGeom>
          <a:solidFill>
            <a:srgbClr val="1A3A52"/>
          </a:solidFill>
          <a:ln/>
        </p:spPr>
        <p:txBody>
          <a:bodyPr/>
          <a:lstStyle/>
          <a:p>
            <a:endParaRPr lang="en-US"/>
          </a:p>
        </p:txBody>
      </p:sp>
      <p:sp>
        <p:nvSpPr>
          <p:cNvPr id="5" name="Text 2"/>
          <p:cNvSpPr/>
          <p:nvPr/>
        </p:nvSpPr>
        <p:spPr>
          <a:xfrm>
            <a:off x="2753023" y="1775920"/>
            <a:ext cx="2382469" cy="685800"/>
          </a:xfrm>
          <a:prstGeom prst="rect">
            <a:avLst/>
          </a:prstGeom>
          <a:noFill/>
          <a:ln/>
        </p:spPr>
        <p:txBody>
          <a:bodyPr wrap="none" lIns="0" tIns="0" rIns="0" bIns="0" rtlCol="0" anchor="ctr">
            <a:spAutoFit/>
          </a:bodyPr>
          <a:lstStyle/>
          <a:p>
            <a:pPr marL="0" indent="0" algn="ctr">
              <a:buNone/>
            </a:pPr>
            <a:r>
              <a:rPr lang="en-US" sz="5400" b="1" dirty="0">
                <a:solidFill>
                  <a:srgbClr val="F39C12"/>
                </a:solidFill>
                <a:latin typeface="Noto Sans" pitchFamily="34" charset="0"/>
                <a:ea typeface="Noto Sans" pitchFamily="34" charset="-122"/>
                <a:cs typeface="Noto Sans" pitchFamily="34" charset="-120"/>
              </a:rPr>
              <a:t>98.61%</a:t>
            </a:r>
            <a:endParaRPr lang="en-US" sz="5400" dirty="0"/>
          </a:p>
        </p:txBody>
      </p:sp>
      <p:sp>
        <p:nvSpPr>
          <p:cNvPr id="6" name="Text 3"/>
          <p:cNvSpPr/>
          <p:nvPr/>
        </p:nvSpPr>
        <p:spPr>
          <a:xfrm>
            <a:off x="5421241" y="1728788"/>
            <a:ext cx="969708" cy="214313"/>
          </a:xfrm>
          <a:prstGeom prst="rect">
            <a:avLst/>
          </a:prstGeom>
          <a:noFill/>
          <a:ln/>
        </p:spPr>
        <p:txBody>
          <a:bodyPr wrap="none" lIns="0" tIns="0" rIns="0" bIns="0" rtlCol="0" anchor="ctr">
            <a:spAutoFit/>
          </a:bodyPr>
          <a:lstStyle/>
          <a:p>
            <a:pPr marL="0" indent="0" algn="l">
              <a:buNone/>
            </a:pPr>
            <a:r>
              <a:rPr lang="en-US" sz="1046" b="1" dirty="0">
                <a:solidFill>
                  <a:srgbClr val="FFFFFF"/>
                </a:solidFill>
                <a:latin typeface="Noto Sans" pitchFamily="34" charset="0"/>
                <a:ea typeface="Noto Sans" pitchFamily="34" charset="-122"/>
                <a:cs typeface="Noto Sans" pitchFamily="34" charset="-120"/>
              </a:rPr>
              <a:t>Test Accuracy</a:t>
            </a:r>
            <a:endParaRPr lang="en-US" sz="1046" dirty="0"/>
          </a:p>
        </p:txBody>
      </p:sp>
      <p:sp>
        <p:nvSpPr>
          <p:cNvPr id="7" name="Text 4"/>
          <p:cNvSpPr/>
          <p:nvPr/>
        </p:nvSpPr>
        <p:spPr>
          <a:xfrm>
            <a:off x="5421241" y="2039541"/>
            <a:ext cx="487980" cy="135731"/>
          </a:xfrm>
          <a:prstGeom prst="rect">
            <a:avLst/>
          </a:prstGeom>
          <a:noFill/>
          <a:ln/>
        </p:spPr>
        <p:txBody>
          <a:bodyPr wrap="none" lIns="0" tIns="0" rIns="0" bIns="0" rtlCol="0" anchor="ctr">
            <a:spAutoFit/>
          </a:bodyPr>
          <a:lstStyle/>
          <a:p>
            <a:pPr marL="0" indent="0" algn="l">
              <a:buNone/>
            </a:pPr>
            <a:r>
              <a:rPr lang="en-US" sz="732" b="1" dirty="0">
                <a:solidFill>
                  <a:srgbClr val="E8E8E8"/>
                </a:solidFill>
                <a:latin typeface="Noto Sans" pitchFamily="34" charset="0"/>
                <a:ea typeface="Noto Sans" pitchFamily="34" charset="-122"/>
                <a:cs typeface="Noto Sans" pitchFamily="34" charset="-120"/>
              </a:rPr>
              <a:t> Precision: </a:t>
            </a:r>
            <a:endParaRPr lang="en-US" sz="732" dirty="0"/>
          </a:p>
        </p:txBody>
      </p:sp>
      <p:sp>
        <p:nvSpPr>
          <p:cNvPr id="8" name="Text 5"/>
          <p:cNvSpPr/>
          <p:nvPr/>
        </p:nvSpPr>
        <p:spPr>
          <a:xfrm>
            <a:off x="5909221" y="2039541"/>
            <a:ext cx="314548" cy="135731"/>
          </a:xfrm>
          <a:prstGeom prst="rect">
            <a:avLst/>
          </a:prstGeom>
          <a:noFill/>
          <a:ln/>
        </p:spPr>
        <p:txBody>
          <a:bodyPr wrap="none" lIns="0" tIns="0" rIns="0" bIns="0" rtlCol="0" anchor="ctr">
            <a:spAutoFit/>
          </a:bodyPr>
          <a:lstStyle/>
          <a:p>
            <a:pPr marL="0" indent="0" algn="l">
              <a:buNone/>
            </a:pPr>
            <a:r>
              <a:rPr lang="en-US" sz="732" b="1" dirty="0">
                <a:solidFill>
                  <a:srgbClr val="F39C12"/>
                </a:solidFill>
                <a:latin typeface="Noto Sans" pitchFamily="34" charset="0"/>
                <a:ea typeface="Noto Sans" pitchFamily="34" charset="-122"/>
                <a:cs typeface="Noto Sans" pitchFamily="34" charset="-120"/>
              </a:rPr>
              <a:t>0.9862</a:t>
            </a:r>
            <a:endParaRPr lang="en-US" sz="732" dirty="0"/>
          </a:p>
        </p:txBody>
      </p:sp>
      <p:sp>
        <p:nvSpPr>
          <p:cNvPr id="9" name="Text 6"/>
          <p:cNvSpPr/>
          <p:nvPr/>
        </p:nvSpPr>
        <p:spPr>
          <a:xfrm>
            <a:off x="5421241" y="2199549"/>
            <a:ext cx="334668" cy="135731"/>
          </a:xfrm>
          <a:prstGeom prst="rect">
            <a:avLst/>
          </a:prstGeom>
          <a:noFill/>
          <a:ln/>
        </p:spPr>
        <p:txBody>
          <a:bodyPr wrap="none" lIns="0" tIns="0" rIns="0" bIns="0" rtlCol="0" anchor="ctr">
            <a:spAutoFit/>
          </a:bodyPr>
          <a:lstStyle/>
          <a:p>
            <a:pPr marL="0" indent="0" algn="l">
              <a:buNone/>
            </a:pPr>
            <a:r>
              <a:rPr lang="en-US" sz="732" b="1" dirty="0">
                <a:solidFill>
                  <a:srgbClr val="E8E8E8"/>
                </a:solidFill>
                <a:latin typeface="Noto Sans" pitchFamily="34" charset="0"/>
                <a:ea typeface="Noto Sans" pitchFamily="34" charset="-122"/>
                <a:cs typeface="Noto Sans" pitchFamily="34" charset="-120"/>
              </a:rPr>
              <a:t> Recall: </a:t>
            </a:r>
            <a:endParaRPr lang="en-US" sz="732" dirty="0"/>
          </a:p>
        </p:txBody>
      </p:sp>
      <p:sp>
        <p:nvSpPr>
          <p:cNvPr id="10" name="Text 7"/>
          <p:cNvSpPr/>
          <p:nvPr/>
        </p:nvSpPr>
        <p:spPr>
          <a:xfrm>
            <a:off x="5755909" y="2199549"/>
            <a:ext cx="314548" cy="135731"/>
          </a:xfrm>
          <a:prstGeom prst="rect">
            <a:avLst/>
          </a:prstGeom>
          <a:noFill/>
          <a:ln/>
        </p:spPr>
        <p:txBody>
          <a:bodyPr wrap="none" lIns="0" tIns="0" rIns="0" bIns="0" rtlCol="0" anchor="ctr">
            <a:spAutoFit/>
          </a:bodyPr>
          <a:lstStyle/>
          <a:p>
            <a:pPr marL="0" indent="0" algn="l">
              <a:buNone/>
            </a:pPr>
            <a:r>
              <a:rPr lang="en-US" sz="732" b="1" dirty="0">
                <a:solidFill>
                  <a:srgbClr val="F39C12"/>
                </a:solidFill>
                <a:latin typeface="Noto Sans" pitchFamily="34" charset="0"/>
                <a:ea typeface="Noto Sans" pitchFamily="34" charset="-122"/>
                <a:cs typeface="Noto Sans" pitchFamily="34" charset="-120"/>
              </a:rPr>
              <a:t>0.9861</a:t>
            </a:r>
            <a:endParaRPr lang="en-US" sz="732" dirty="0"/>
          </a:p>
        </p:txBody>
      </p:sp>
      <p:sp>
        <p:nvSpPr>
          <p:cNvPr id="11" name="Text 8"/>
          <p:cNvSpPr/>
          <p:nvPr/>
        </p:nvSpPr>
        <p:spPr>
          <a:xfrm>
            <a:off x="5421241" y="2359558"/>
            <a:ext cx="458177" cy="135731"/>
          </a:xfrm>
          <a:prstGeom prst="rect">
            <a:avLst/>
          </a:prstGeom>
          <a:noFill/>
          <a:ln/>
        </p:spPr>
        <p:txBody>
          <a:bodyPr wrap="none" lIns="0" tIns="0" rIns="0" bIns="0" rtlCol="0" anchor="ctr">
            <a:spAutoFit/>
          </a:bodyPr>
          <a:lstStyle/>
          <a:p>
            <a:pPr marL="0" indent="0" algn="l">
              <a:buNone/>
            </a:pPr>
            <a:r>
              <a:rPr lang="en-US" sz="732" b="1" dirty="0">
                <a:solidFill>
                  <a:srgbClr val="E8E8E8"/>
                </a:solidFill>
                <a:latin typeface="Noto Sans" pitchFamily="34" charset="0"/>
                <a:ea typeface="Noto Sans" pitchFamily="34" charset="-122"/>
                <a:cs typeface="Noto Sans" pitchFamily="34" charset="-120"/>
              </a:rPr>
              <a:t> F1-Score: </a:t>
            </a:r>
            <a:endParaRPr lang="en-US" sz="732" dirty="0"/>
          </a:p>
        </p:txBody>
      </p:sp>
      <p:sp>
        <p:nvSpPr>
          <p:cNvPr id="12" name="Text 9"/>
          <p:cNvSpPr/>
          <p:nvPr/>
        </p:nvSpPr>
        <p:spPr>
          <a:xfrm>
            <a:off x="5879418" y="2359558"/>
            <a:ext cx="314548" cy="135731"/>
          </a:xfrm>
          <a:prstGeom prst="rect">
            <a:avLst/>
          </a:prstGeom>
          <a:noFill/>
          <a:ln/>
        </p:spPr>
        <p:txBody>
          <a:bodyPr wrap="none" lIns="0" tIns="0" rIns="0" bIns="0" rtlCol="0" anchor="ctr">
            <a:spAutoFit/>
          </a:bodyPr>
          <a:lstStyle/>
          <a:p>
            <a:pPr marL="0" indent="0" algn="l">
              <a:buNone/>
            </a:pPr>
            <a:r>
              <a:rPr lang="en-US" sz="732" b="1" dirty="0">
                <a:solidFill>
                  <a:srgbClr val="F39C12"/>
                </a:solidFill>
                <a:latin typeface="Noto Sans" pitchFamily="34" charset="0"/>
                <a:ea typeface="Noto Sans" pitchFamily="34" charset="-122"/>
                <a:cs typeface="Noto Sans" pitchFamily="34" charset="-120"/>
              </a:rPr>
              <a:t>0.9861</a:t>
            </a:r>
            <a:endParaRPr lang="en-US" sz="732" dirty="0"/>
          </a:p>
        </p:txBody>
      </p:sp>
      <p:sp>
        <p:nvSpPr>
          <p:cNvPr id="13" name="Shape 10"/>
          <p:cNvSpPr/>
          <p:nvPr/>
        </p:nvSpPr>
        <p:spPr>
          <a:xfrm>
            <a:off x="571500" y="3151789"/>
            <a:ext cx="8001000" cy="1232297"/>
          </a:xfrm>
          <a:prstGeom prst="rect">
            <a:avLst/>
          </a:prstGeom>
          <a:solidFill>
            <a:srgbClr val="F0F7FC"/>
          </a:solidFill>
          <a:ln/>
        </p:spPr>
        <p:txBody>
          <a:bodyPr/>
          <a:lstStyle/>
          <a:p>
            <a:endParaRPr lang="en-US"/>
          </a:p>
        </p:txBody>
      </p:sp>
      <p:sp>
        <p:nvSpPr>
          <p:cNvPr id="14" name="Shape 11"/>
          <p:cNvSpPr/>
          <p:nvPr/>
        </p:nvSpPr>
        <p:spPr>
          <a:xfrm>
            <a:off x="571500" y="3151789"/>
            <a:ext cx="28575" cy="1232297"/>
          </a:xfrm>
          <a:prstGeom prst="rect">
            <a:avLst/>
          </a:prstGeom>
          <a:solidFill>
            <a:srgbClr val="2E5090"/>
          </a:solidFill>
          <a:ln/>
        </p:spPr>
        <p:txBody>
          <a:bodyPr/>
          <a:lstStyle/>
          <a:p>
            <a:endParaRPr lang="en-US"/>
          </a:p>
        </p:txBody>
      </p:sp>
      <p:sp>
        <p:nvSpPr>
          <p:cNvPr id="15" name="Text 12"/>
          <p:cNvSpPr/>
          <p:nvPr/>
        </p:nvSpPr>
        <p:spPr>
          <a:xfrm>
            <a:off x="785813" y="3366102"/>
            <a:ext cx="7572375"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Project Achievement</a:t>
            </a:r>
            <a:endParaRPr lang="en-US" sz="837" dirty="0"/>
          </a:p>
        </p:txBody>
      </p:sp>
      <p:sp>
        <p:nvSpPr>
          <p:cNvPr id="16" name="Text 13"/>
          <p:cNvSpPr/>
          <p:nvPr/>
        </p:nvSpPr>
        <p:spPr>
          <a:xfrm>
            <a:off x="785813" y="3641136"/>
            <a:ext cx="214117" cy="146447"/>
          </a:xfrm>
          <a:prstGeom prst="rect">
            <a:avLst/>
          </a:prstGeom>
          <a:noFill/>
          <a:ln/>
        </p:spPr>
        <p:txBody>
          <a:bodyPr wrap="none" lIns="0" tIns="0" rIns="0" bIns="0" rtlCol="0" anchor="ctr">
            <a:spAutoFit/>
          </a:bodyPr>
          <a:lstStyle/>
          <a:p>
            <a:pPr marL="0" indent="0">
              <a:buNone/>
            </a:pPr>
            <a:r>
              <a:rPr lang="en-US" sz="785" dirty="0">
                <a:solidFill>
                  <a:srgbClr val="34495E"/>
                </a:solidFill>
                <a:latin typeface="Noto Sans" pitchFamily="34" charset="0"/>
                <a:ea typeface="Noto Sans" pitchFamily="34" charset="-122"/>
                <a:cs typeface="Noto Sans" pitchFamily="34" charset="-120"/>
              </a:rPr>
              <a:t> The </a:t>
            </a:r>
            <a:endParaRPr lang="en-US" sz="785" dirty="0"/>
          </a:p>
        </p:txBody>
      </p:sp>
      <p:sp>
        <p:nvSpPr>
          <p:cNvPr id="17" name="Text 14"/>
          <p:cNvSpPr/>
          <p:nvPr/>
        </p:nvSpPr>
        <p:spPr>
          <a:xfrm>
            <a:off x="999930" y="3641136"/>
            <a:ext cx="1579829" cy="146447"/>
          </a:xfrm>
          <a:prstGeom prst="rect">
            <a:avLst/>
          </a:prstGeom>
          <a:noFill/>
          <a:ln/>
        </p:spPr>
        <p:txBody>
          <a:bodyPr wrap="none" lIns="0" tIns="0" rIns="0" bIns="0" rtlCol="0" anchor="ctr">
            <a:spAutoFit/>
          </a:bodyPr>
          <a:lstStyle/>
          <a:p>
            <a:pPr marL="0" indent="0">
              <a:buNone/>
            </a:pPr>
            <a:r>
              <a:rPr lang="en-US" sz="785" b="1" dirty="0">
                <a:solidFill>
                  <a:srgbClr val="F39C12"/>
                </a:solidFill>
                <a:latin typeface="Noto Sans" pitchFamily="34" charset="0"/>
                <a:ea typeface="Noto Sans" pitchFamily="34" charset="-122"/>
                <a:cs typeface="Noto Sans" pitchFamily="34" charset="-120"/>
              </a:rPr>
              <a:t>SwinV2-Base Ensemble model</a:t>
            </a:r>
            <a:endParaRPr lang="en-US" sz="785" dirty="0"/>
          </a:p>
        </p:txBody>
      </p:sp>
      <p:sp>
        <p:nvSpPr>
          <p:cNvPr id="18" name="Text 15"/>
          <p:cNvSpPr/>
          <p:nvPr/>
        </p:nvSpPr>
        <p:spPr>
          <a:xfrm>
            <a:off x="2579759" y="3641136"/>
            <a:ext cx="5591324" cy="146447"/>
          </a:xfrm>
          <a:prstGeom prst="rect">
            <a:avLst/>
          </a:prstGeom>
          <a:noFill/>
          <a:ln/>
        </p:spPr>
        <p:txBody>
          <a:bodyPr wrap="none" lIns="0" tIns="0" rIns="0" bIns="0" rtlCol="0" anchor="ctr">
            <a:spAutoFit/>
          </a:bodyPr>
          <a:lstStyle/>
          <a:p>
            <a:pPr marL="0" indent="0">
              <a:buNone/>
            </a:pPr>
            <a:r>
              <a:rPr lang="en-US" sz="785" dirty="0">
                <a:solidFill>
                  <a:srgbClr val="34495E"/>
                </a:solidFill>
                <a:latin typeface="Noto Sans" pitchFamily="34" charset="0"/>
                <a:ea typeface="Noto Sans" pitchFamily="34" charset="-122"/>
                <a:cs typeface="Noto Sans" pitchFamily="34" charset="-120"/>
              </a:rPr>
              <a:t> represents the culmination of our rigorous 4-phase methodology, achieving exceptional performance in fungal </a:t>
            </a:r>
            <a:endParaRPr lang="en-US" sz="785" dirty="0"/>
          </a:p>
        </p:txBody>
      </p:sp>
      <p:sp>
        <p:nvSpPr>
          <p:cNvPr id="19" name="Text 16"/>
          <p:cNvSpPr/>
          <p:nvPr/>
        </p:nvSpPr>
        <p:spPr>
          <a:xfrm>
            <a:off x="785813" y="3823302"/>
            <a:ext cx="1400008" cy="146447"/>
          </a:xfrm>
          <a:prstGeom prst="rect">
            <a:avLst/>
          </a:prstGeom>
          <a:noFill/>
          <a:ln/>
        </p:spPr>
        <p:txBody>
          <a:bodyPr wrap="none" lIns="0" tIns="0" rIns="0" bIns="0" rtlCol="0" anchor="ctr">
            <a:spAutoFit/>
          </a:bodyPr>
          <a:lstStyle/>
          <a:p>
            <a:pPr marL="0" indent="0">
              <a:buNone/>
            </a:pPr>
            <a:r>
              <a:rPr lang="en-US" sz="785" dirty="0">
                <a:solidFill>
                  <a:srgbClr val="34495E"/>
                </a:solidFill>
                <a:latin typeface="Noto Sans" pitchFamily="34" charset="0"/>
                <a:ea typeface="Noto Sans" pitchFamily="34" charset="-122"/>
                <a:cs typeface="Noto Sans" pitchFamily="34" charset="-120"/>
              </a:rPr>
              <a:t>infection classification. This </a:t>
            </a:r>
            <a:endParaRPr lang="en-US" sz="785" dirty="0"/>
          </a:p>
        </p:txBody>
      </p:sp>
      <p:sp>
        <p:nvSpPr>
          <p:cNvPr id="20" name="Text 17"/>
          <p:cNvSpPr/>
          <p:nvPr/>
        </p:nvSpPr>
        <p:spPr>
          <a:xfrm>
            <a:off x="2185820" y="3823302"/>
            <a:ext cx="1110155" cy="146447"/>
          </a:xfrm>
          <a:prstGeom prst="rect">
            <a:avLst/>
          </a:prstGeom>
          <a:noFill/>
          <a:ln/>
        </p:spPr>
        <p:txBody>
          <a:bodyPr wrap="none" lIns="0" tIns="0" rIns="0" bIns="0" rtlCol="0" anchor="ctr">
            <a:spAutoFit/>
          </a:bodyPr>
          <a:lstStyle/>
          <a:p>
            <a:pPr marL="0" indent="0">
              <a:buNone/>
            </a:pPr>
            <a:r>
              <a:rPr lang="en-US" sz="785" b="1" dirty="0">
                <a:solidFill>
                  <a:srgbClr val="F39C12"/>
                </a:solidFill>
                <a:latin typeface="Noto Sans" pitchFamily="34" charset="0"/>
                <a:ea typeface="Noto Sans" pitchFamily="34" charset="-122"/>
                <a:cs typeface="Noto Sans" pitchFamily="34" charset="-120"/>
              </a:rPr>
              <a:t>98.61% test accuracy</a:t>
            </a:r>
            <a:endParaRPr lang="en-US" sz="785" dirty="0"/>
          </a:p>
        </p:txBody>
      </p:sp>
      <p:sp>
        <p:nvSpPr>
          <p:cNvPr id="21" name="Text 18"/>
          <p:cNvSpPr/>
          <p:nvPr/>
        </p:nvSpPr>
        <p:spPr>
          <a:xfrm>
            <a:off x="3295976" y="3823302"/>
            <a:ext cx="4467774" cy="146447"/>
          </a:xfrm>
          <a:prstGeom prst="rect">
            <a:avLst/>
          </a:prstGeom>
          <a:noFill/>
          <a:ln/>
        </p:spPr>
        <p:txBody>
          <a:bodyPr wrap="none" lIns="0" tIns="0" rIns="0" bIns="0" rtlCol="0" anchor="ctr">
            <a:spAutoFit/>
          </a:bodyPr>
          <a:lstStyle/>
          <a:p>
            <a:pPr marL="0" indent="0">
              <a:buNone/>
            </a:pPr>
            <a:r>
              <a:rPr lang="en-US" sz="785" dirty="0">
                <a:solidFill>
                  <a:srgbClr val="34495E"/>
                </a:solidFill>
                <a:latin typeface="Noto Sans" pitchFamily="34" charset="0"/>
                <a:ea typeface="Noto Sans" pitchFamily="34" charset="-122"/>
                <a:cs typeface="Noto Sans" pitchFamily="34" charset="-120"/>
              </a:rPr>
              <a:t> demonstrates the effectiveness of combining advanced deep learning architectures with </a:t>
            </a:r>
            <a:endParaRPr lang="en-US" sz="785" dirty="0"/>
          </a:p>
        </p:txBody>
      </p:sp>
      <p:sp>
        <p:nvSpPr>
          <p:cNvPr id="22" name="Text 19"/>
          <p:cNvSpPr/>
          <p:nvPr/>
        </p:nvSpPr>
        <p:spPr>
          <a:xfrm>
            <a:off x="785813" y="4005467"/>
            <a:ext cx="3653191" cy="146447"/>
          </a:xfrm>
          <a:prstGeom prst="rect">
            <a:avLst/>
          </a:prstGeom>
          <a:noFill/>
          <a:ln/>
        </p:spPr>
        <p:txBody>
          <a:bodyPr wrap="none" lIns="0" tIns="0" rIns="0" bIns="0" rtlCol="0" anchor="ctr">
            <a:spAutoFit/>
          </a:bodyPr>
          <a:lstStyle/>
          <a:p>
            <a:pPr marL="0" indent="0">
              <a:buNone/>
            </a:pPr>
            <a:r>
              <a:rPr lang="en-US" sz="785" dirty="0">
                <a:solidFill>
                  <a:srgbClr val="34495E"/>
                </a:solidFill>
                <a:latin typeface="Noto Sans" pitchFamily="34" charset="0"/>
                <a:ea typeface="Noto Sans" pitchFamily="34" charset="-122"/>
                <a:cs typeface="Noto Sans" pitchFamily="34" charset="-120"/>
              </a:rPr>
              <a:t>sophisticated optimization techniques and model ensembling strategies. </a:t>
            </a:r>
            <a:endParaRPr lang="en-US" sz="785" dirty="0"/>
          </a:p>
        </p:txBody>
      </p:sp>
      <p:sp>
        <p:nvSpPr>
          <p:cNvPr id="23" name="Text 20"/>
          <p:cNvSpPr/>
          <p:nvPr/>
        </p:nvSpPr>
        <p:spPr>
          <a:xfrm>
            <a:off x="571500" y="4891292"/>
            <a:ext cx="8001000" cy="150019"/>
          </a:xfrm>
          <a:prstGeom prst="rect">
            <a:avLst/>
          </a:prstGeom>
          <a:noFill/>
          <a:ln/>
        </p:spPr>
        <p:txBody>
          <a:bodyPr wrap="none" lIns="0" tIns="0" rIns="0" bIns="0" rtlCol="0" anchor="ctr">
            <a:spAutoFit/>
          </a:bodyPr>
          <a:lstStyle/>
          <a:p>
            <a:pPr marL="0" indent="0" algn="ctr">
              <a:buNone/>
            </a:pPr>
            <a:r>
              <a:rPr lang="en-US" sz="732" i="1" dirty="0">
                <a:solidFill>
                  <a:srgbClr val="2E5090"/>
                </a:solidFill>
                <a:latin typeface="Noto Sans" pitchFamily="34" charset="0"/>
                <a:ea typeface="Noto Sans" pitchFamily="34" charset="-122"/>
                <a:cs typeface="Noto Sans" pitchFamily="34" charset="-120"/>
              </a:rPr>
              <a:t> → Next: Key factors contributing to this superior performance </a:t>
            </a:r>
            <a:endParaRPr lang="en-US" sz="732" dirty="0"/>
          </a:p>
        </p:txBody>
      </p:sp>
      <p:pic>
        <p:nvPicPr>
          <p:cNvPr id="24" name="Picture 23">
            <a:extLst>
              <a:ext uri="{FF2B5EF4-FFF2-40B4-BE49-F238E27FC236}">
                <a16:creationId xmlns:a16="http://schemas.microsoft.com/office/drawing/2014/main" id="{0E0FF876-7B97-7031-B83E-6FFD37F1F926}"/>
              </a:ext>
            </a:extLst>
          </p:cNvPr>
          <p:cNvPicPr>
            <a:picLocks noChangeAspect="1"/>
          </p:cNvPicPr>
          <p:nvPr/>
        </p:nvPicPr>
        <p:blipFill>
          <a:blip r:embed="rId4"/>
          <a:stretch>
            <a:fillRect/>
          </a:stretch>
        </p:blipFill>
        <p:spPr>
          <a:xfrm>
            <a:off x="7994233" y="-45987"/>
            <a:ext cx="1141859" cy="114185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41386"/>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Key Factors for Superior Performance</a:t>
            </a:r>
            <a:endParaRPr lang="en-US" sz="2700" dirty="0"/>
          </a:p>
        </p:txBody>
      </p:sp>
      <p:sp>
        <p:nvSpPr>
          <p:cNvPr id="4" name="Shape 1"/>
          <p:cNvSpPr/>
          <p:nvPr/>
        </p:nvSpPr>
        <p:spPr>
          <a:xfrm>
            <a:off x="600075" y="1042639"/>
            <a:ext cx="3893344" cy="1729485"/>
          </a:xfrm>
          <a:prstGeom prst="rect">
            <a:avLst/>
          </a:prstGeom>
          <a:solidFill>
            <a:srgbClr val="F8F9FA"/>
          </a:solidFill>
          <a:ln/>
        </p:spPr>
        <p:txBody>
          <a:bodyPr/>
          <a:lstStyle/>
          <a:p>
            <a:endParaRPr lang="en-US"/>
          </a:p>
        </p:txBody>
      </p:sp>
      <p:sp>
        <p:nvSpPr>
          <p:cNvPr id="5" name="Shape 2"/>
          <p:cNvSpPr/>
          <p:nvPr/>
        </p:nvSpPr>
        <p:spPr>
          <a:xfrm>
            <a:off x="600075" y="1042639"/>
            <a:ext cx="28575" cy="1729485"/>
          </a:xfrm>
          <a:prstGeom prst="rect">
            <a:avLst/>
          </a:prstGeom>
          <a:solidFill>
            <a:srgbClr val="2E5090"/>
          </a:solidFill>
          <a:ln/>
        </p:spPr>
        <p:txBody>
          <a:bodyPr/>
          <a:lstStyle/>
          <a:p>
            <a:endParaRPr lang="en-US"/>
          </a:p>
        </p:txBody>
      </p:sp>
      <p:sp>
        <p:nvSpPr>
          <p:cNvPr id="6" name="Shape 3"/>
          <p:cNvSpPr/>
          <p:nvPr/>
        </p:nvSpPr>
        <p:spPr>
          <a:xfrm>
            <a:off x="778669" y="1221233"/>
            <a:ext cx="357188" cy="357188"/>
          </a:xfrm>
          <a:prstGeom prst="rect">
            <a:avLst/>
          </a:prstGeom>
          <a:solidFill>
            <a:srgbClr val="FFFFFF"/>
          </a:solidFill>
          <a:ln w="198">
            <a:solidFill>
              <a:srgbClr val="F39C12"/>
            </a:solidFill>
            <a:prstDash val="solid"/>
          </a:ln>
        </p:spPr>
        <p:txBody>
          <a:bodyPr/>
          <a:lstStyle/>
          <a:p>
            <a:endParaRPr lang="en-US"/>
          </a:p>
        </p:txBody>
      </p:sp>
      <p:sp>
        <p:nvSpPr>
          <p:cNvPr id="7" name="Text 4"/>
          <p:cNvSpPr/>
          <p:nvPr/>
        </p:nvSpPr>
        <p:spPr>
          <a:xfrm>
            <a:off x="778669" y="1221233"/>
            <a:ext cx="357188" cy="357188"/>
          </a:xfrm>
          <a:prstGeom prst="rect">
            <a:avLst/>
          </a:prstGeom>
          <a:noFill/>
          <a:ln/>
        </p:spPr>
        <p:txBody>
          <a:bodyPr wrap="none" lIns="0" tIns="0" rIns="0" bIns="0" rtlCol="0" anchor="ctr">
            <a:spAutoFit/>
          </a:bodyPr>
          <a:lstStyle/>
          <a:p>
            <a:pPr marL="0" indent="0" algn="ctr">
              <a:buNone/>
            </a:pPr>
            <a:r>
              <a:rPr lang="en-US" sz="1800" b="1" dirty="0">
                <a:solidFill>
                  <a:srgbClr val="F39C12"/>
                </a:solidFill>
                <a:latin typeface="Noto Sans" pitchFamily="34" charset="0"/>
                <a:ea typeface="Noto Sans" pitchFamily="34" charset="-122"/>
                <a:cs typeface="Noto Sans" pitchFamily="34" charset="-120"/>
              </a:rPr>
              <a:t>1</a:t>
            </a:r>
            <a:endParaRPr lang="en-US" sz="1800" dirty="0"/>
          </a:p>
        </p:txBody>
      </p:sp>
      <p:sp>
        <p:nvSpPr>
          <p:cNvPr id="8" name="Text 5"/>
          <p:cNvSpPr/>
          <p:nvPr/>
        </p:nvSpPr>
        <p:spPr>
          <a:xfrm>
            <a:off x="1243013" y="1314102"/>
            <a:ext cx="1454255"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Transformer Architecture</a:t>
            </a:r>
            <a:endParaRPr lang="en-US" sz="837" dirty="0"/>
          </a:p>
        </p:txBody>
      </p:sp>
      <p:sp>
        <p:nvSpPr>
          <p:cNvPr id="9" name="Text 6"/>
          <p:cNvSpPr/>
          <p:nvPr/>
        </p:nvSpPr>
        <p:spPr>
          <a:xfrm>
            <a:off x="778669" y="1685577"/>
            <a:ext cx="3536156" cy="540051"/>
          </a:xfrm>
          <a:prstGeom prst="rect">
            <a:avLst/>
          </a:prstGeom>
          <a:noFill/>
          <a:ln/>
        </p:spPr>
        <p:txBody>
          <a:bodyPr wrap="squar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SwinV2's shifted window mechanism effectively captures both local and global features in microscopic images, enabling superior feature extraction compared to traditional CNNs. </a:t>
            </a:r>
            <a:endParaRPr lang="en-US" sz="732" dirty="0"/>
          </a:p>
        </p:txBody>
      </p:sp>
      <p:sp>
        <p:nvSpPr>
          <p:cNvPr id="10" name="Shape 7"/>
          <p:cNvSpPr/>
          <p:nvPr/>
        </p:nvSpPr>
        <p:spPr>
          <a:xfrm>
            <a:off x="778669" y="2311352"/>
            <a:ext cx="3536156" cy="282178"/>
          </a:xfrm>
          <a:prstGeom prst="rect">
            <a:avLst/>
          </a:prstGeom>
          <a:solidFill>
            <a:srgbClr val="E8F4F8"/>
          </a:solidFill>
          <a:ln/>
        </p:spPr>
        <p:txBody>
          <a:bodyPr/>
          <a:lstStyle/>
          <a:p>
            <a:endParaRPr lang="en-US"/>
          </a:p>
        </p:txBody>
      </p:sp>
      <p:sp>
        <p:nvSpPr>
          <p:cNvPr id="11" name="Shape 8"/>
          <p:cNvSpPr/>
          <p:nvPr/>
        </p:nvSpPr>
        <p:spPr>
          <a:xfrm>
            <a:off x="778669" y="2311352"/>
            <a:ext cx="21431" cy="282178"/>
          </a:xfrm>
          <a:prstGeom prst="rect">
            <a:avLst/>
          </a:prstGeom>
          <a:solidFill>
            <a:srgbClr val="2E5090"/>
          </a:solidFill>
          <a:ln/>
        </p:spPr>
        <p:txBody>
          <a:bodyPr/>
          <a:lstStyle/>
          <a:p>
            <a:endParaRPr lang="en-US"/>
          </a:p>
        </p:txBody>
      </p:sp>
      <p:sp>
        <p:nvSpPr>
          <p:cNvPr id="12" name="Text 9"/>
          <p:cNvSpPr/>
          <p:nvPr/>
        </p:nvSpPr>
        <p:spPr>
          <a:xfrm>
            <a:off x="778669" y="2311352"/>
            <a:ext cx="3536156" cy="282178"/>
          </a:xfrm>
          <a:prstGeom prst="rect">
            <a:avLst/>
          </a:prstGeom>
          <a:noFill/>
          <a:ln/>
        </p:spPr>
        <p:txBody>
          <a:bodyPr wrap="square" lIns="85090" tIns="85090" rIns="85090" bIns="85090" rtlCol="0" anchor="ctr">
            <a:spAutoFit/>
          </a:bodyPr>
          <a:lstStyle/>
          <a:p>
            <a:pPr marL="0" indent="0">
              <a:buNone/>
            </a:pPr>
            <a:r>
              <a:rPr lang="en-US" sz="680" b="1" dirty="0">
                <a:solidFill>
                  <a:srgbClr val="1A3A52"/>
                </a:solidFill>
                <a:latin typeface="Noto Sans" pitchFamily="34" charset="0"/>
                <a:ea typeface="Noto Sans" pitchFamily="34" charset="-122"/>
                <a:cs typeface="Noto Sans" pitchFamily="34" charset="-120"/>
              </a:rPr>
              <a:t> ✓ Hierarchical feature learning with reduced computational complexity </a:t>
            </a:r>
            <a:endParaRPr lang="en-US" sz="680" dirty="0"/>
          </a:p>
        </p:txBody>
      </p:sp>
      <p:sp>
        <p:nvSpPr>
          <p:cNvPr id="13" name="Shape 10"/>
          <p:cNvSpPr/>
          <p:nvPr/>
        </p:nvSpPr>
        <p:spPr>
          <a:xfrm>
            <a:off x="4707731" y="1042639"/>
            <a:ext cx="3893344" cy="1729485"/>
          </a:xfrm>
          <a:prstGeom prst="rect">
            <a:avLst/>
          </a:prstGeom>
          <a:solidFill>
            <a:srgbClr val="F8F9FA"/>
          </a:solidFill>
          <a:ln/>
        </p:spPr>
        <p:txBody>
          <a:bodyPr/>
          <a:lstStyle/>
          <a:p>
            <a:endParaRPr lang="en-US"/>
          </a:p>
        </p:txBody>
      </p:sp>
      <p:sp>
        <p:nvSpPr>
          <p:cNvPr id="14" name="Shape 11"/>
          <p:cNvSpPr/>
          <p:nvPr/>
        </p:nvSpPr>
        <p:spPr>
          <a:xfrm>
            <a:off x="4707731" y="1042639"/>
            <a:ext cx="28575" cy="1729485"/>
          </a:xfrm>
          <a:prstGeom prst="rect">
            <a:avLst/>
          </a:prstGeom>
          <a:solidFill>
            <a:srgbClr val="2E5090"/>
          </a:solidFill>
          <a:ln/>
        </p:spPr>
        <p:txBody>
          <a:bodyPr/>
          <a:lstStyle/>
          <a:p>
            <a:endParaRPr lang="en-US"/>
          </a:p>
        </p:txBody>
      </p:sp>
      <p:sp>
        <p:nvSpPr>
          <p:cNvPr id="15" name="Shape 12"/>
          <p:cNvSpPr/>
          <p:nvPr/>
        </p:nvSpPr>
        <p:spPr>
          <a:xfrm>
            <a:off x="4886325" y="1221233"/>
            <a:ext cx="357188" cy="357188"/>
          </a:xfrm>
          <a:prstGeom prst="rect">
            <a:avLst/>
          </a:prstGeom>
          <a:solidFill>
            <a:srgbClr val="FFFFFF"/>
          </a:solidFill>
          <a:ln w="198">
            <a:solidFill>
              <a:srgbClr val="F39C12"/>
            </a:solidFill>
            <a:prstDash val="solid"/>
          </a:ln>
        </p:spPr>
        <p:txBody>
          <a:bodyPr/>
          <a:lstStyle/>
          <a:p>
            <a:endParaRPr lang="en-US"/>
          </a:p>
        </p:txBody>
      </p:sp>
      <p:sp>
        <p:nvSpPr>
          <p:cNvPr id="16" name="Text 13"/>
          <p:cNvSpPr/>
          <p:nvPr/>
        </p:nvSpPr>
        <p:spPr>
          <a:xfrm>
            <a:off x="4886325" y="1221233"/>
            <a:ext cx="357188" cy="357188"/>
          </a:xfrm>
          <a:prstGeom prst="rect">
            <a:avLst/>
          </a:prstGeom>
          <a:noFill/>
          <a:ln/>
        </p:spPr>
        <p:txBody>
          <a:bodyPr wrap="none" lIns="0" tIns="0" rIns="0" bIns="0" rtlCol="0" anchor="ctr">
            <a:spAutoFit/>
          </a:bodyPr>
          <a:lstStyle/>
          <a:p>
            <a:pPr marL="0" indent="0" algn="ctr">
              <a:buNone/>
            </a:pPr>
            <a:r>
              <a:rPr lang="en-US" sz="1800" b="1" dirty="0">
                <a:solidFill>
                  <a:srgbClr val="F39C12"/>
                </a:solidFill>
                <a:latin typeface="Noto Sans" pitchFamily="34" charset="0"/>
                <a:ea typeface="Noto Sans" pitchFamily="34" charset="-122"/>
                <a:cs typeface="Noto Sans" pitchFamily="34" charset="-120"/>
              </a:rPr>
              <a:t>2</a:t>
            </a:r>
            <a:endParaRPr lang="en-US" sz="1800" dirty="0"/>
          </a:p>
        </p:txBody>
      </p:sp>
      <p:sp>
        <p:nvSpPr>
          <p:cNvPr id="17" name="Text 14"/>
          <p:cNvSpPr/>
          <p:nvPr/>
        </p:nvSpPr>
        <p:spPr>
          <a:xfrm>
            <a:off x="5350669" y="1314102"/>
            <a:ext cx="1263718"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High-Resolution Input</a:t>
            </a:r>
            <a:endParaRPr lang="en-US" sz="837" dirty="0"/>
          </a:p>
        </p:txBody>
      </p:sp>
      <p:sp>
        <p:nvSpPr>
          <p:cNvPr id="18" name="Text 15"/>
          <p:cNvSpPr/>
          <p:nvPr/>
        </p:nvSpPr>
        <p:spPr>
          <a:xfrm>
            <a:off x="4886325" y="1685577"/>
            <a:ext cx="3536156" cy="540051"/>
          </a:xfrm>
          <a:prstGeom prst="rect">
            <a:avLst/>
          </a:prstGeom>
          <a:noFill/>
          <a:ln/>
        </p:spPr>
        <p:txBody>
          <a:bodyPr wrap="squar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Training on 384×384 pixel images (vs. standard 224×224) allows the model to capture finer details and morphological characteristics of fungal structures. </a:t>
            </a:r>
            <a:endParaRPr lang="en-US" sz="732" dirty="0"/>
          </a:p>
        </p:txBody>
      </p:sp>
      <p:sp>
        <p:nvSpPr>
          <p:cNvPr id="19" name="Shape 16"/>
          <p:cNvSpPr/>
          <p:nvPr/>
        </p:nvSpPr>
        <p:spPr>
          <a:xfrm>
            <a:off x="4886325" y="2311352"/>
            <a:ext cx="3536156" cy="282178"/>
          </a:xfrm>
          <a:prstGeom prst="rect">
            <a:avLst/>
          </a:prstGeom>
          <a:solidFill>
            <a:srgbClr val="E8F4F8"/>
          </a:solidFill>
          <a:ln/>
        </p:spPr>
        <p:txBody>
          <a:bodyPr/>
          <a:lstStyle/>
          <a:p>
            <a:endParaRPr lang="en-US"/>
          </a:p>
        </p:txBody>
      </p:sp>
      <p:sp>
        <p:nvSpPr>
          <p:cNvPr id="20" name="Shape 17"/>
          <p:cNvSpPr/>
          <p:nvPr/>
        </p:nvSpPr>
        <p:spPr>
          <a:xfrm>
            <a:off x="4886325" y="2311352"/>
            <a:ext cx="21431" cy="282178"/>
          </a:xfrm>
          <a:prstGeom prst="rect">
            <a:avLst/>
          </a:prstGeom>
          <a:solidFill>
            <a:srgbClr val="2E5090"/>
          </a:solidFill>
          <a:ln/>
        </p:spPr>
        <p:txBody>
          <a:bodyPr/>
          <a:lstStyle/>
          <a:p>
            <a:endParaRPr lang="en-US"/>
          </a:p>
        </p:txBody>
      </p:sp>
      <p:sp>
        <p:nvSpPr>
          <p:cNvPr id="21" name="Text 18"/>
          <p:cNvSpPr/>
          <p:nvPr/>
        </p:nvSpPr>
        <p:spPr>
          <a:xfrm>
            <a:off x="4886325" y="2311352"/>
            <a:ext cx="3536156" cy="282178"/>
          </a:xfrm>
          <a:prstGeom prst="rect">
            <a:avLst/>
          </a:prstGeom>
          <a:noFill/>
          <a:ln/>
        </p:spPr>
        <p:txBody>
          <a:bodyPr wrap="square" lIns="85090" tIns="85090" rIns="85090" bIns="85090" rtlCol="0" anchor="ctr">
            <a:spAutoFit/>
          </a:bodyPr>
          <a:lstStyle/>
          <a:p>
            <a:pPr marL="0" indent="0">
              <a:buNone/>
            </a:pPr>
            <a:r>
              <a:rPr lang="en-US" sz="680" b="1" dirty="0">
                <a:solidFill>
                  <a:srgbClr val="1A3A52"/>
                </a:solidFill>
                <a:latin typeface="Noto Sans" pitchFamily="34" charset="0"/>
                <a:ea typeface="Noto Sans" pitchFamily="34" charset="-122"/>
                <a:cs typeface="Noto Sans" pitchFamily="34" charset="-120"/>
              </a:rPr>
              <a:t> ✓ Preserves critical microscopic details for accurate classification </a:t>
            </a:r>
            <a:endParaRPr lang="en-US" sz="680" dirty="0"/>
          </a:p>
        </p:txBody>
      </p:sp>
      <p:sp>
        <p:nvSpPr>
          <p:cNvPr id="22" name="Shape 19"/>
          <p:cNvSpPr/>
          <p:nvPr/>
        </p:nvSpPr>
        <p:spPr>
          <a:xfrm>
            <a:off x="600075" y="2986437"/>
            <a:ext cx="3893344" cy="1868788"/>
          </a:xfrm>
          <a:prstGeom prst="rect">
            <a:avLst/>
          </a:prstGeom>
          <a:solidFill>
            <a:srgbClr val="F8F9FA"/>
          </a:solidFill>
          <a:ln/>
        </p:spPr>
        <p:txBody>
          <a:bodyPr/>
          <a:lstStyle/>
          <a:p>
            <a:endParaRPr lang="en-US"/>
          </a:p>
        </p:txBody>
      </p:sp>
      <p:sp>
        <p:nvSpPr>
          <p:cNvPr id="23" name="Shape 20"/>
          <p:cNvSpPr/>
          <p:nvPr/>
        </p:nvSpPr>
        <p:spPr>
          <a:xfrm>
            <a:off x="600075" y="2986437"/>
            <a:ext cx="28575" cy="1868788"/>
          </a:xfrm>
          <a:prstGeom prst="rect">
            <a:avLst/>
          </a:prstGeom>
          <a:solidFill>
            <a:srgbClr val="2E5090"/>
          </a:solidFill>
          <a:ln/>
        </p:spPr>
        <p:txBody>
          <a:bodyPr/>
          <a:lstStyle/>
          <a:p>
            <a:endParaRPr lang="en-US"/>
          </a:p>
        </p:txBody>
      </p:sp>
      <p:sp>
        <p:nvSpPr>
          <p:cNvPr id="24" name="Shape 21"/>
          <p:cNvSpPr/>
          <p:nvPr/>
        </p:nvSpPr>
        <p:spPr>
          <a:xfrm>
            <a:off x="778669" y="3165030"/>
            <a:ext cx="357188" cy="357188"/>
          </a:xfrm>
          <a:prstGeom prst="rect">
            <a:avLst/>
          </a:prstGeom>
          <a:solidFill>
            <a:srgbClr val="FFFFFF"/>
          </a:solidFill>
          <a:ln w="198">
            <a:solidFill>
              <a:srgbClr val="F39C12"/>
            </a:solidFill>
            <a:prstDash val="solid"/>
          </a:ln>
        </p:spPr>
        <p:txBody>
          <a:bodyPr/>
          <a:lstStyle/>
          <a:p>
            <a:endParaRPr lang="en-US"/>
          </a:p>
        </p:txBody>
      </p:sp>
      <p:sp>
        <p:nvSpPr>
          <p:cNvPr id="25" name="Text 22"/>
          <p:cNvSpPr/>
          <p:nvPr/>
        </p:nvSpPr>
        <p:spPr>
          <a:xfrm>
            <a:off x="778669" y="3165030"/>
            <a:ext cx="357188" cy="357188"/>
          </a:xfrm>
          <a:prstGeom prst="rect">
            <a:avLst/>
          </a:prstGeom>
          <a:noFill/>
          <a:ln/>
        </p:spPr>
        <p:txBody>
          <a:bodyPr wrap="none" lIns="0" tIns="0" rIns="0" bIns="0" rtlCol="0" anchor="ctr">
            <a:spAutoFit/>
          </a:bodyPr>
          <a:lstStyle/>
          <a:p>
            <a:pPr marL="0" indent="0" algn="ctr">
              <a:buNone/>
            </a:pPr>
            <a:r>
              <a:rPr lang="en-US" sz="1800" b="1" dirty="0">
                <a:solidFill>
                  <a:srgbClr val="F39C12"/>
                </a:solidFill>
                <a:latin typeface="Noto Sans" pitchFamily="34" charset="0"/>
                <a:ea typeface="Noto Sans" pitchFamily="34" charset="-122"/>
                <a:cs typeface="Noto Sans" pitchFamily="34" charset="-120"/>
              </a:rPr>
              <a:t>3</a:t>
            </a:r>
            <a:endParaRPr lang="en-US" sz="1800" dirty="0"/>
          </a:p>
        </p:txBody>
      </p:sp>
      <p:sp>
        <p:nvSpPr>
          <p:cNvPr id="26" name="Text 23"/>
          <p:cNvSpPr/>
          <p:nvPr/>
        </p:nvSpPr>
        <p:spPr>
          <a:xfrm>
            <a:off x="1243013" y="3257899"/>
            <a:ext cx="1424983"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Advanced Regularization</a:t>
            </a:r>
            <a:endParaRPr lang="en-US" sz="837" dirty="0"/>
          </a:p>
        </p:txBody>
      </p:sp>
      <p:sp>
        <p:nvSpPr>
          <p:cNvPr id="27" name="Text 24"/>
          <p:cNvSpPr/>
          <p:nvPr/>
        </p:nvSpPr>
        <p:spPr>
          <a:xfrm>
            <a:off x="778669" y="3629374"/>
            <a:ext cx="3536156" cy="540051"/>
          </a:xfrm>
          <a:prstGeom prst="rect">
            <a:avLst/>
          </a:prstGeom>
          <a:noFill/>
          <a:ln/>
        </p:spPr>
        <p:txBody>
          <a:bodyPr wrap="squar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MixUp/CutMix augmentation combined with Automatic Mixed Precision (AMP) training enhances model robustness and prevents overfitting while improving computational efficiency. </a:t>
            </a:r>
            <a:endParaRPr lang="en-US" sz="732" dirty="0"/>
          </a:p>
        </p:txBody>
      </p:sp>
      <p:sp>
        <p:nvSpPr>
          <p:cNvPr id="28" name="Shape 25"/>
          <p:cNvSpPr/>
          <p:nvPr/>
        </p:nvSpPr>
        <p:spPr>
          <a:xfrm>
            <a:off x="778669" y="4255150"/>
            <a:ext cx="3536156" cy="282178"/>
          </a:xfrm>
          <a:prstGeom prst="rect">
            <a:avLst/>
          </a:prstGeom>
          <a:solidFill>
            <a:srgbClr val="E8F4F8"/>
          </a:solidFill>
          <a:ln/>
        </p:spPr>
        <p:txBody>
          <a:bodyPr/>
          <a:lstStyle/>
          <a:p>
            <a:endParaRPr lang="en-US"/>
          </a:p>
        </p:txBody>
      </p:sp>
      <p:sp>
        <p:nvSpPr>
          <p:cNvPr id="29" name="Shape 26"/>
          <p:cNvSpPr/>
          <p:nvPr/>
        </p:nvSpPr>
        <p:spPr>
          <a:xfrm>
            <a:off x="778669" y="4255150"/>
            <a:ext cx="21431" cy="282178"/>
          </a:xfrm>
          <a:prstGeom prst="rect">
            <a:avLst/>
          </a:prstGeom>
          <a:solidFill>
            <a:srgbClr val="2E5090"/>
          </a:solidFill>
          <a:ln/>
        </p:spPr>
        <p:txBody>
          <a:bodyPr/>
          <a:lstStyle/>
          <a:p>
            <a:endParaRPr lang="en-US"/>
          </a:p>
        </p:txBody>
      </p:sp>
      <p:sp>
        <p:nvSpPr>
          <p:cNvPr id="30" name="Text 27"/>
          <p:cNvSpPr/>
          <p:nvPr/>
        </p:nvSpPr>
        <p:spPr>
          <a:xfrm>
            <a:off x="778669" y="4255150"/>
            <a:ext cx="3536156" cy="282178"/>
          </a:xfrm>
          <a:prstGeom prst="rect">
            <a:avLst/>
          </a:prstGeom>
          <a:noFill/>
          <a:ln/>
        </p:spPr>
        <p:txBody>
          <a:bodyPr wrap="square" lIns="85090" tIns="85090" rIns="85090" bIns="85090" rtlCol="0" anchor="ctr">
            <a:spAutoFit/>
          </a:bodyPr>
          <a:lstStyle/>
          <a:p>
            <a:pPr marL="0" indent="0">
              <a:buNone/>
            </a:pPr>
            <a:r>
              <a:rPr lang="en-US" sz="680" b="1" dirty="0">
                <a:solidFill>
                  <a:srgbClr val="1A3A52"/>
                </a:solidFill>
                <a:latin typeface="Noto Sans" pitchFamily="34" charset="0"/>
                <a:ea typeface="Noto Sans" pitchFamily="34" charset="-122"/>
                <a:cs typeface="Noto Sans" pitchFamily="34" charset="-120"/>
              </a:rPr>
              <a:t> ✓ Improved generalization and faster training without accuracy loss </a:t>
            </a:r>
            <a:endParaRPr lang="en-US" sz="680" dirty="0"/>
          </a:p>
        </p:txBody>
      </p:sp>
      <p:sp>
        <p:nvSpPr>
          <p:cNvPr id="31" name="Shape 28"/>
          <p:cNvSpPr/>
          <p:nvPr/>
        </p:nvSpPr>
        <p:spPr>
          <a:xfrm>
            <a:off x="4707731" y="2986437"/>
            <a:ext cx="3893344" cy="1868788"/>
          </a:xfrm>
          <a:prstGeom prst="rect">
            <a:avLst/>
          </a:prstGeom>
          <a:solidFill>
            <a:srgbClr val="F8F9FA"/>
          </a:solidFill>
          <a:ln/>
        </p:spPr>
        <p:txBody>
          <a:bodyPr/>
          <a:lstStyle/>
          <a:p>
            <a:endParaRPr lang="en-US"/>
          </a:p>
        </p:txBody>
      </p:sp>
      <p:sp>
        <p:nvSpPr>
          <p:cNvPr id="32" name="Shape 29"/>
          <p:cNvSpPr/>
          <p:nvPr/>
        </p:nvSpPr>
        <p:spPr>
          <a:xfrm>
            <a:off x="4707731" y="2986437"/>
            <a:ext cx="28575" cy="1868788"/>
          </a:xfrm>
          <a:prstGeom prst="rect">
            <a:avLst/>
          </a:prstGeom>
          <a:solidFill>
            <a:srgbClr val="2E5090"/>
          </a:solidFill>
          <a:ln/>
        </p:spPr>
        <p:txBody>
          <a:bodyPr/>
          <a:lstStyle/>
          <a:p>
            <a:endParaRPr lang="en-US"/>
          </a:p>
        </p:txBody>
      </p:sp>
      <p:sp>
        <p:nvSpPr>
          <p:cNvPr id="33" name="Shape 30"/>
          <p:cNvSpPr/>
          <p:nvPr/>
        </p:nvSpPr>
        <p:spPr>
          <a:xfrm>
            <a:off x="4886325" y="3165030"/>
            <a:ext cx="357188" cy="357188"/>
          </a:xfrm>
          <a:prstGeom prst="rect">
            <a:avLst/>
          </a:prstGeom>
          <a:solidFill>
            <a:srgbClr val="FFFFFF"/>
          </a:solidFill>
          <a:ln w="198">
            <a:solidFill>
              <a:srgbClr val="F39C12"/>
            </a:solidFill>
            <a:prstDash val="solid"/>
          </a:ln>
        </p:spPr>
        <p:txBody>
          <a:bodyPr/>
          <a:lstStyle/>
          <a:p>
            <a:endParaRPr lang="en-US"/>
          </a:p>
        </p:txBody>
      </p:sp>
      <p:sp>
        <p:nvSpPr>
          <p:cNvPr id="34" name="Text 31"/>
          <p:cNvSpPr/>
          <p:nvPr/>
        </p:nvSpPr>
        <p:spPr>
          <a:xfrm>
            <a:off x="4886325" y="3165030"/>
            <a:ext cx="357188" cy="357188"/>
          </a:xfrm>
          <a:prstGeom prst="rect">
            <a:avLst/>
          </a:prstGeom>
          <a:noFill/>
          <a:ln/>
        </p:spPr>
        <p:txBody>
          <a:bodyPr wrap="none" lIns="0" tIns="0" rIns="0" bIns="0" rtlCol="0" anchor="ctr">
            <a:spAutoFit/>
          </a:bodyPr>
          <a:lstStyle/>
          <a:p>
            <a:pPr marL="0" indent="0" algn="ctr">
              <a:buNone/>
            </a:pPr>
            <a:r>
              <a:rPr lang="en-US" sz="1800" b="1" dirty="0">
                <a:solidFill>
                  <a:srgbClr val="F39C12"/>
                </a:solidFill>
                <a:latin typeface="Noto Sans" pitchFamily="34" charset="0"/>
                <a:ea typeface="Noto Sans" pitchFamily="34" charset="-122"/>
                <a:cs typeface="Noto Sans" pitchFamily="34" charset="-120"/>
              </a:rPr>
              <a:t>4</a:t>
            </a:r>
            <a:endParaRPr lang="en-US" sz="1800" dirty="0"/>
          </a:p>
        </p:txBody>
      </p:sp>
      <p:sp>
        <p:nvSpPr>
          <p:cNvPr id="35" name="Text 32"/>
          <p:cNvSpPr/>
          <p:nvPr/>
        </p:nvSpPr>
        <p:spPr>
          <a:xfrm>
            <a:off x="5350669" y="3257899"/>
            <a:ext cx="1048262"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Model Ensembling</a:t>
            </a:r>
            <a:endParaRPr lang="en-US" sz="837" dirty="0"/>
          </a:p>
        </p:txBody>
      </p:sp>
      <p:sp>
        <p:nvSpPr>
          <p:cNvPr id="36" name="Text 33"/>
          <p:cNvSpPr/>
          <p:nvPr/>
        </p:nvSpPr>
        <p:spPr>
          <a:xfrm>
            <a:off x="4886325" y="3629374"/>
            <a:ext cx="3536156" cy="540051"/>
          </a:xfrm>
          <a:prstGeom prst="rect">
            <a:avLst/>
          </a:prstGeom>
          <a:noFill/>
          <a:ln/>
        </p:spPr>
        <p:txBody>
          <a:bodyPr wrap="squar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Leveraging the diversity of 5-fold cross-validation models creates a highly robust final predictor by combining predictions from multiple independently trained models. </a:t>
            </a:r>
            <a:endParaRPr lang="en-US" sz="732" dirty="0"/>
          </a:p>
        </p:txBody>
      </p:sp>
      <p:sp>
        <p:nvSpPr>
          <p:cNvPr id="37" name="Shape 34"/>
          <p:cNvSpPr/>
          <p:nvPr/>
        </p:nvSpPr>
        <p:spPr>
          <a:xfrm>
            <a:off x="4886325" y="4255150"/>
            <a:ext cx="3536156" cy="282178"/>
          </a:xfrm>
          <a:prstGeom prst="rect">
            <a:avLst/>
          </a:prstGeom>
          <a:solidFill>
            <a:srgbClr val="E8F4F8"/>
          </a:solidFill>
          <a:ln/>
        </p:spPr>
        <p:txBody>
          <a:bodyPr/>
          <a:lstStyle/>
          <a:p>
            <a:endParaRPr lang="en-US"/>
          </a:p>
        </p:txBody>
      </p:sp>
      <p:sp>
        <p:nvSpPr>
          <p:cNvPr id="38" name="Shape 35"/>
          <p:cNvSpPr/>
          <p:nvPr/>
        </p:nvSpPr>
        <p:spPr>
          <a:xfrm>
            <a:off x="4886325" y="4255150"/>
            <a:ext cx="21431" cy="282178"/>
          </a:xfrm>
          <a:prstGeom prst="rect">
            <a:avLst/>
          </a:prstGeom>
          <a:solidFill>
            <a:srgbClr val="2E5090"/>
          </a:solidFill>
          <a:ln/>
        </p:spPr>
        <p:txBody>
          <a:bodyPr/>
          <a:lstStyle/>
          <a:p>
            <a:endParaRPr lang="en-US"/>
          </a:p>
        </p:txBody>
      </p:sp>
      <p:sp>
        <p:nvSpPr>
          <p:cNvPr id="39" name="Text 36"/>
          <p:cNvSpPr/>
          <p:nvPr/>
        </p:nvSpPr>
        <p:spPr>
          <a:xfrm>
            <a:off x="4886325" y="4255150"/>
            <a:ext cx="3536156" cy="282178"/>
          </a:xfrm>
          <a:prstGeom prst="rect">
            <a:avLst/>
          </a:prstGeom>
          <a:noFill/>
          <a:ln/>
        </p:spPr>
        <p:txBody>
          <a:bodyPr wrap="square" lIns="85090" tIns="85090" rIns="85090" bIns="85090" rtlCol="0" anchor="ctr">
            <a:spAutoFit/>
          </a:bodyPr>
          <a:lstStyle/>
          <a:p>
            <a:pPr marL="0" indent="0">
              <a:buNone/>
            </a:pPr>
            <a:r>
              <a:rPr lang="en-US" sz="680" b="1" dirty="0">
                <a:solidFill>
                  <a:srgbClr val="1A3A52"/>
                </a:solidFill>
                <a:latin typeface="Noto Sans" pitchFamily="34" charset="0"/>
                <a:ea typeface="Noto Sans" pitchFamily="34" charset="-122"/>
                <a:cs typeface="Noto Sans" pitchFamily="34" charset="-120"/>
              </a:rPr>
              <a:t> ✓ Ensemble voting reduces individual model biases (+0.58% accuracy gain) </a:t>
            </a:r>
            <a:endParaRPr lang="en-US" sz="680" dirty="0"/>
          </a:p>
        </p:txBody>
      </p:sp>
      <p:pic>
        <p:nvPicPr>
          <p:cNvPr id="40" name="Picture 39">
            <a:extLst>
              <a:ext uri="{FF2B5EF4-FFF2-40B4-BE49-F238E27FC236}">
                <a16:creationId xmlns:a16="http://schemas.microsoft.com/office/drawing/2014/main" id="{8E9F658B-32A1-E2B0-DB78-02075F63E112}"/>
              </a:ext>
            </a:extLst>
          </p:cNvPr>
          <p:cNvPicPr>
            <a:picLocks noChangeAspect="1"/>
          </p:cNvPicPr>
          <p:nvPr/>
        </p:nvPicPr>
        <p:blipFill>
          <a:blip r:embed="rId4"/>
          <a:stretch>
            <a:fillRect/>
          </a:stretch>
        </p:blipFill>
        <p:spPr>
          <a:xfrm>
            <a:off x="7994233" y="-39263"/>
            <a:ext cx="1141859" cy="11418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6061472"/>
          </a:xfrm>
          <a:prstGeom prst="rect">
            <a:avLst/>
          </a:prstGeom>
        </p:spPr>
      </p:pic>
      <p:sp>
        <p:nvSpPr>
          <p:cNvPr id="3" name="Text 0"/>
          <p:cNvSpPr/>
          <p:nvPr/>
        </p:nvSpPr>
        <p:spPr>
          <a:xfrm>
            <a:off x="571500" y="428625"/>
            <a:ext cx="8001000" cy="1200150"/>
          </a:xfrm>
          <a:prstGeom prst="rect">
            <a:avLst/>
          </a:prstGeom>
          <a:noFill/>
          <a:ln/>
        </p:spPr>
        <p:txBody>
          <a:bodyPr wrap="squar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SwinV2-Base Training Configuration: Framework &amp; Input</a:t>
            </a:r>
            <a:endParaRPr lang="en-US" sz="2700" dirty="0"/>
          </a:p>
        </p:txBody>
      </p:sp>
      <p:sp>
        <p:nvSpPr>
          <p:cNvPr id="4" name="Shape 1"/>
          <p:cNvSpPr/>
          <p:nvPr/>
        </p:nvSpPr>
        <p:spPr>
          <a:xfrm>
            <a:off x="571501" y="1457325"/>
            <a:ext cx="8001000" cy="342900"/>
          </a:xfrm>
          <a:prstGeom prst="rect">
            <a:avLst/>
          </a:prstGeom>
          <a:solidFill>
            <a:srgbClr val="2E5090"/>
          </a:solidFill>
          <a:ln/>
        </p:spPr>
        <p:txBody>
          <a:bodyPr/>
          <a:lstStyle/>
          <a:p>
            <a:endParaRPr lang="en-US"/>
          </a:p>
        </p:txBody>
      </p:sp>
      <p:sp>
        <p:nvSpPr>
          <p:cNvPr id="5" name="Text 2"/>
          <p:cNvSpPr/>
          <p:nvPr/>
        </p:nvSpPr>
        <p:spPr>
          <a:xfrm>
            <a:off x="571501" y="1457325"/>
            <a:ext cx="8001000" cy="342900"/>
          </a:xfrm>
          <a:prstGeom prst="rect">
            <a:avLst/>
          </a:prstGeom>
          <a:noFill/>
          <a:ln/>
        </p:spPr>
        <p:txBody>
          <a:bodyPr wrap="square" lIns="136017" tIns="102108" rIns="136017" bIns="102108" rtlCol="0" anchor="ctr">
            <a:spAutoFit/>
          </a:bodyPr>
          <a:lstStyle/>
          <a:p>
            <a:pPr marL="0" indent="0">
              <a:buNone/>
            </a:pPr>
            <a:r>
              <a:rPr lang="en-US" sz="837" b="1" dirty="0">
                <a:solidFill>
                  <a:srgbClr val="FFFFFF"/>
                </a:solidFill>
                <a:latin typeface="Noto Sans" pitchFamily="34" charset="0"/>
                <a:ea typeface="Noto Sans" pitchFamily="34" charset="-122"/>
                <a:cs typeface="Noto Sans" pitchFamily="34" charset="-120"/>
              </a:rPr>
              <a:t>Framework &amp; Pre-training</a:t>
            </a:r>
            <a:endParaRPr lang="en-US" sz="837" dirty="0"/>
          </a:p>
        </p:txBody>
      </p:sp>
      <p:sp>
        <p:nvSpPr>
          <p:cNvPr id="6" name="Text 3"/>
          <p:cNvSpPr/>
          <p:nvPr/>
        </p:nvSpPr>
        <p:spPr>
          <a:xfrm>
            <a:off x="571501" y="1993106"/>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Framework</a:t>
            </a:r>
            <a:endParaRPr lang="en-US" sz="732" dirty="0"/>
          </a:p>
        </p:txBody>
      </p:sp>
      <p:sp>
        <p:nvSpPr>
          <p:cNvPr id="7" name="Text 4"/>
          <p:cNvSpPr/>
          <p:nvPr/>
        </p:nvSpPr>
        <p:spPr>
          <a:xfrm>
            <a:off x="1643064" y="2000250"/>
            <a:ext cx="384256"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PyTorch</a:t>
            </a:r>
            <a:endParaRPr lang="en-US" sz="732" dirty="0"/>
          </a:p>
        </p:txBody>
      </p:sp>
      <p:sp>
        <p:nvSpPr>
          <p:cNvPr id="8" name="Text 5"/>
          <p:cNvSpPr/>
          <p:nvPr/>
        </p:nvSpPr>
        <p:spPr>
          <a:xfrm>
            <a:off x="2027319" y="2000250"/>
            <a:ext cx="830126"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with timm library</a:t>
            </a:r>
            <a:endParaRPr lang="en-US" sz="732" dirty="0"/>
          </a:p>
        </p:txBody>
      </p:sp>
      <p:sp>
        <p:nvSpPr>
          <p:cNvPr id="9" name="Text 6"/>
          <p:cNvSpPr/>
          <p:nvPr/>
        </p:nvSpPr>
        <p:spPr>
          <a:xfrm>
            <a:off x="571501" y="2321719"/>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Pre-training</a:t>
            </a:r>
            <a:endParaRPr lang="en-US" sz="732" dirty="0"/>
          </a:p>
        </p:txBody>
      </p:sp>
      <p:sp>
        <p:nvSpPr>
          <p:cNvPr id="10" name="Text 7"/>
          <p:cNvSpPr/>
          <p:nvPr/>
        </p:nvSpPr>
        <p:spPr>
          <a:xfrm>
            <a:off x="1643064" y="2328863"/>
            <a:ext cx="696404"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ImageNet-21k</a:t>
            </a:r>
            <a:endParaRPr lang="en-US" sz="732" dirty="0"/>
          </a:p>
        </p:txBody>
      </p:sp>
      <p:sp>
        <p:nvSpPr>
          <p:cNvPr id="11" name="Text 8"/>
          <p:cNvSpPr/>
          <p:nvPr/>
        </p:nvSpPr>
        <p:spPr>
          <a:xfrm>
            <a:off x="2339468" y="2328863"/>
            <a:ext cx="394162"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weights</a:t>
            </a:r>
            <a:endParaRPr lang="en-US" sz="732" dirty="0"/>
          </a:p>
        </p:txBody>
      </p:sp>
      <p:sp>
        <p:nvSpPr>
          <p:cNvPr id="12" name="Text 9"/>
          <p:cNvSpPr/>
          <p:nvPr/>
        </p:nvSpPr>
        <p:spPr>
          <a:xfrm>
            <a:off x="571501" y="2650331"/>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Model Variant</a:t>
            </a:r>
            <a:endParaRPr lang="en-US" sz="732" dirty="0"/>
          </a:p>
        </p:txBody>
      </p:sp>
      <p:sp>
        <p:nvSpPr>
          <p:cNvPr id="13" name="Text 10"/>
          <p:cNvSpPr/>
          <p:nvPr/>
        </p:nvSpPr>
        <p:spPr>
          <a:xfrm>
            <a:off x="1643064" y="2657475"/>
            <a:ext cx="615786"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SwinV2-Base</a:t>
            </a:r>
            <a:endParaRPr lang="en-US" sz="732" dirty="0"/>
          </a:p>
        </p:txBody>
      </p:sp>
      <p:sp>
        <p:nvSpPr>
          <p:cNvPr id="14" name="Shape 11"/>
          <p:cNvSpPr/>
          <p:nvPr/>
        </p:nvSpPr>
        <p:spPr>
          <a:xfrm>
            <a:off x="571501" y="3100388"/>
            <a:ext cx="8001000" cy="342900"/>
          </a:xfrm>
          <a:prstGeom prst="rect">
            <a:avLst/>
          </a:prstGeom>
          <a:solidFill>
            <a:srgbClr val="2E5090"/>
          </a:solidFill>
          <a:ln/>
        </p:spPr>
        <p:txBody>
          <a:bodyPr/>
          <a:lstStyle/>
          <a:p>
            <a:endParaRPr lang="en-US"/>
          </a:p>
        </p:txBody>
      </p:sp>
      <p:sp>
        <p:nvSpPr>
          <p:cNvPr id="15" name="Text 12"/>
          <p:cNvSpPr/>
          <p:nvPr/>
        </p:nvSpPr>
        <p:spPr>
          <a:xfrm>
            <a:off x="571501" y="3100388"/>
            <a:ext cx="8001000" cy="342900"/>
          </a:xfrm>
          <a:prstGeom prst="rect">
            <a:avLst/>
          </a:prstGeom>
          <a:noFill/>
          <a:ln/>
        </p:spPr>
        <p:txBody>
          <a:bodyPr wrap="square" lIns="136017" tIns="102108" rIns="136017" bIns="102108" rtlCol="0" anchor="ctr">
            <a:spAutoFit/>
          </a:bodyPr>
          <a:lstStyle/>
          <a:p>
            <a:pPr marL="0" indent="0">
              <a:buNone/>
            </a:pPr>
            <a:r>
              <a:rPr lang="en-US" sz="837" b="1" dirty="0">
                <a:solidFill>
                  <a:srgbClr val="FFFFFF"/>
                </a:solidFill>
                <a:latin typeface="Noto Sans" pitchFamily="34" charset="0"/>
                <a:ea typeface="Noto Sans" pitchFamily="34" charset="-122"/>
                <a:cs typeface="Noto Sans" pitchFamily="34" charset="-120"/>
              </a:rPr>
              <a:t>Input Configuration</a:t>
            </a:r>
            <a:endParaRPr lang="en-US" sz="837" dirty="0"/>
          </a:p>
        </p:txBody>
      </p:sp>
      <p:sp>
        <p:nvSpPr>
          <p:cNvPr id="16" name="Text 13"/>
          <p:cNvSpPr/>
          <p:nvPr/>
        </p:nvSpPr>
        <p:spPr>
          <a:xfrm>
            <a:off x="571501" y="3636169"/>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Input Resolution</a:t>
            </a:r>
            <a:endParaRPr lang="en-US" sz="732" dirty="0"/>
          </a:p>
        </p:txBody>
      </p:sp>
      <p:sp>
        <p:nvSpPr>
          <p:cNvPr id="17" name="Text 14"/>
          <p:cNvSpPr/>
          <p:nvPr/>
        </p:nvSpPr>
        <p:spPr>
          <a:xfrm>
            <a:off x="1643064" y="3643313"/>
            <a:ext cx="400469"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384×384</a:t>
            </a:r>
            <a:endParaRPr lang="en-US" sz="732" dirty="0"/>
          </a:p>
        </p:txBody>
      </p:sp>
      <p:sp>
        <p:nvSpPr>
          <p:cNvPr id="18" name="Text 15"/>
          <p:cNvSpPr/>
          <p:nvPr/>
        </p:nvSpPr>
        <p:spPr>
          <a:xfrm>
            <a:off x="2043532" y="3643313"/>
            <a:ext cx="294345"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pixels</a:t>
            </a:r>
            <a:endParaRPr lang="en-US" sz="732" dirty="0"/>
          </a:p>
        </p:txBody>
      </p:sp>
      <p:sp>
        <p:nvSpPr>
          <p:cNvPr id="19" name="Text 16"/>
          <p:cNvSpPr/>
          <p:nvPr/>
        </p:nvSpPr>
        <p:spPr>
          <a:xfrm>
            <a:off x="571501" y="3964781"/>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Batch Size</a:t>
            </a:r>
            <a:endParaRPr lang="en-US" sz="732" dirty="0"/>
          </a:p>
        </p:txBody>
      </p:sp>
      <p:sp>
        <p:nvSpPr>
          <p:cNvPr id="20" name="Text 17"/>
          <p:cNvSpPr/>
          <p:nvPr/>
        </p:nvSpPr>
        <p:spPr>
          <a:xfrm>
            <a:off x="1643064" y="3971925"/>
            <a:ext cx="114440"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32</a:t>
            </a:r>
            <a:endParaRPr lang="en-US" sz="732" dirty="0"/>
          </a:p>
        </p:txBody>
      </p:sp>
      <p:sp>
        <p:nvSpPr>
          <p:cNvPr id="21" name="Text 18"/>
          <p:cNvSpPr/>
          <p:nvPr/>
        </p:nvSpPr>
        <p:spPr>
          <a:xfrm>
            <a:off x="571501" y="4293394"/>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Normalization</a:t>
            </a:r>
            <a:endParaRPr lang="en-US" sz="732" dirty="0"/>
          </a:p>
        </p:txBody>
      </p:sp>
      <p:sp>
        <p:nvSpPr>
          <p:cNvPr id="22" name="Text 19"/>
          <p:cNvSpPr/>
          <p:nvPr/>
        </p:nvSpPr>
        <p:spPr>
          <a:xfrm>
            <a:off x="1643064" y="4293394"/>
            <a:ext cx="6929438" cy="150019"/>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ImageNet statistics (mean: [0.485, 0.456, 0.406], std: [0.229, 0.224, 0.225])</a:t>
            </a:r>
            <a:endParaRPr lang="en-US" sz="732" dirty="0"/>
          </a:p>
        </p:txBody>
      </p:sp>
      <p:sp>
        <p:nvSpPr>
          <p:cNvPr id="23" name="Text 20"/>
          <p:cNvSpPr/>
          <p:nvPr/>
        </p:nvSpPr>
        <p:spPr>
          <a:xfrm>
            <a:off x="510541" y="4655939"/>
            <a:ext cx="8001000" cy="289322"/>
          </a:xfrm>
          <a:prstGeom prst="rect">
            <a:avLst/>
          </a:prstGeom>
          <a:noFill/>
          <a:ln/>
        </p:spPr>
        <p:txBody>
          <a:bodyPr wrap="square" lIns="0" tIns="170053" rIns="0" bIns="0" rtlCol="0" anchor="ctr">
            <a:spAutoFit/>
          </a:bodyPr>
          <a:lstStyle/>
          <a:p>
            <a:pPr marL="0" indent="0" algn="ctr">
              <a:buNone/>
            </a:pPr>
            <a:r>
              <a:rPr lang="en-US" sz="680" i="1" dirty="0">
                <a:solidFill>
                  <a:srgbClr val="2E5090"/>
                </a:solidFill>
                <a:latin typeface="Noto Sans" pitchFamily="34" charset="0"/>
                <a:ea typeface="Noto Sans" pitchFamily="34" charset="-122"/>
                <a:cs typeface="Noto Sans" pitchFamily="34" charset="-120"/>
              </a:rPr>
              <a:t> → Next: Training Parameters, Optimization, and Advanced Regularization Techniques </a:t>
            </a:r>
            <a:endParaRPr lang="en-US" sz="680" dirty="0"/>
          </a:p>
        </p:txBody>
      </p:sp>
      <p:pic>
        <p:nvPicPr>
          <p:cNvPr id="24" name="Picture 23">
            <a:extLst>
              <a:ext uri="{FF2B5EF4-FFF2-40B4-BE49-F238E27FC236}">
                <a16:creationId xmlns:a16="http://schemas.microsoft.com/office/drawing/2014/main" id="{F0EBEB53-136D-F17C-1C3D-C72A7E54F7D9}"/>
              </a:ext>
            </a:extLst>
          </p:cNvPr>
          <p:cNvPicPr>
            <a:picLocks noChangeAspect="1"/>
          </p:cNvPicPr>
          <p:nvPr/>
        </p:nvPicPr>
        <p:blipFill>
          <a:blip r:embed="rId4"/>
          <a:stretch>
            <a:fillRect/>
          </a:stretch>
        </p:blipFill>
        <p:spPr>
          <a:xfrm>
            <a:off x="7994233" y="-45987"/>
            <a:ext cx="1141859" cy="114185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823496"/>
          </a:xfrm>
          <a:prstGeom prst="rect">
            <a:avLst/>
          </a:prstGeom>
        </p:spPr>
      </p:pic>
      <p:sp>
        <p:nvSpPr>
          <p:cNvPr id="3" name="Text 0"/>
          <p:cNvSpPr/>
          <p:nvPr/>
        </p:nvSpPr>
        <p:spPr>
          <a:xfrm>
            <a:off x="571500" y="428625"/>
            <a:ext cx="8001000" cy="1200150"/>
          </a:xfrm>
          <a:prstGeom prst="rect">
            <a:avLst/>
          </a:prstGeom>
          <a:noFill/>
          <a:ln/>
        </p:spPr>
        <p:txBody>
          <a:bodyPr wrap="squar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SwinV2-Base Training Configuration: Optimization &amp; Regularization</a:t>
            </a:r>
            <a:endParaRPr lang="en-US" sz="2700" dirty="0"/>
          </a:p>
        </p:txBody>
      </p:sp>
      <p:sp>
        <p:nvSpPr>
          <p:cNvPr id="4" name="Shape 1"/>
          <p:cNvSpPr/>
          <p:nvPr/>
        </p:nvSpPr>
        <p:spPr>
          <a:xfrm>
            <a:off x="600075" y="1559123"/>
            <a:ext cx="3857625" cy="342900"/>
          </a:xfrm>
          <a:prstGeom prst="rect">
            <a:avLst/>
          </a:prstGeom>
          <a:solidFill>
            <a:srgbClr val="2E5090"/>
          </a:solidFill>
          <a:ln/>
        </p:spPr>
        <p:txBody>
          <a:bodyPr/>
          <a:lstStyle/>
          <a:p>
            <a:endParaRPr lang="en-US"/>
          </a:p>
        </p:txBody>
      </p:sp>
      <p:sp>
        <p:nvSpPr>
          <p:cNvPr id="5" name="Text 2"/>
          <p:cNvSpPr/>
          <p:nvPr/>
        </p:nvSpPr>
        <p:spPr>
          <a:xfrm>
            <a:off x="600075" y="1559123"/>
            <a:ext cx="3857625" cy="342900"/>
          </a:xfrm>
          <a:prstGeom prst="rect">
            <a:avLst/>
          </a:prstGeom>
          <a:noFill/>
          <a:ln/>
        </p:spPr>
        <p:txBody>
          <a:bodyPr wrap="square" lIns="136017" tIns="102108" rIns="136017" bIns="102108" rtlCol="0" anchor="ctr">
            <a:spAutoFit/>
          </a:bodyPr>
          <a:lstStyle/>
          <a:p>
            <a:pPr marL="0" indent="0">
              <a:buNone/>
            </a:pPr>
            <a:r>
              <a:rPr lang="en-US" sz="837" b="1" dirty="0">
                <a:solidFill>
                  <a:srgbClr val="FFFFFF"/>
                </a:solidFill>
                <a:latin typeface="Noto Sans" pitchFamily="34" charset="0"/>
                <a:ea typeface="Noto Sans" pitchFamily="34" charset="-122"/>
                <a:cs typeface="Noto Sans" pitchFamily="34" charset="-120"/>
              </a:rPr>
              <a:t>Training Parameters</a:t>
            </a:r>
            <a:endParaRPr lang="en-US" sz="837" dirty="0"/>
          </a:p>
        </p:txBody>
      </p:sp>
      <p:sp>
        <p:nvSpPr>
          <p:cNvPr id="6" name="Text 3"/>
          <p:cNvSpPr/>
          <p:nvPr/>
        </p:nvSpPr>
        <p:spPr>
          <a:xfrm>
            <a:off x="600075" y="2094904"/>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Max Epochs</a:t>
            </a:r>
            <a:endParaRPr lang="en-US" sz="732" dirty="0"/>
          </a:p>
        </p:txBody>
      </p:sp>
      <p:sp>
        <p:nvSpPr>
          <p:cNvPr id="7" name="Text 4"/>
          <p:cNvSpPr/>
          <p:nvPr/>
        </p:nvSpPr>
        <p:spPr>
          <a:xfrm>
            <a:off x="1671638" y="2102048"/>
            <a:ext cx="114440"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75</a:t>
            </a:r>
            <a:endParaRPr lang="en-US" sz="732" dirty="0"/>
          </a:p>
        </p:txBody>
      </p:sp>
      <p:sp>
        <p:nvSpPr>
          <p:cNvPr id="8" name="Text 5"/>
          <p:cNvSpPr/>
          <p:nvPr/>
        </p:nvSpPr>
        <p:spPr>
          <a:xfrm>
            <a:off x="600075" y="2423517"/>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Early Stopping</a:t>
            </a:r>
            <a:endParaRPr lang="en-US" sz="732" dirty="0"/>
          </a:p>
        </p:txBody>
      </p:sp>
      <p:sp>
        <p:nvSpPr>
          <p:cNvPr id="9" name="Text 6"/>
          <p:cNvSpPr/>
          <p:nvPr/>
        </p:nvSpPr>
        <p:spPr>
          <a:xfrm>
            <a:off x="1671638" y="2430661"/>
            <a:ext cx="912837"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Triggered at epoch </a:t>
            </a:r>
            <a:endParaRPr lang="en-US" sz="732" dirty="0"/>
          </a:p>
        </p:txBody>
      </p:sp>
      <p:sp>
        <p:nvSpPr>
          <p:cNvPr id="10" name="Text 7"/>
          <p:cNvSpPr/>
          <p:nvPr/>
        </p:nvSpPr>
        <p:spPr>
          <a:xfrm>
            <a:off x="2584475" y="2430661"/>
            <a:ext cx="114440"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48</a:t>
            </a:r>
            <a:endParaRPr lang="en-US" sz="732" dirty="0"/>
          </a:p>
        </p:txBody>
      </p:sp>
      <p:sp>
        <p:nvSpPr>
          <p:cNvPr id="11" name="Text 8"/>
          <p:cNvSpPr/>
          <p:nvPr/>
        </p:nvSpPr>
        <p:spPr>
          <a:xfrm>
            <a:off x="2698914" y="2430661"/>
            <a:ext cx="1016533"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(Patience: 15 epochs)</a:t>
            </a:r>
            <a:endParaRPr lang="en-US" sz="732" dirty="0"/>
          </a:p>
        </p:txBody>
      </p:sp>
      <p:sp>
        <p:nvSpPr>
          <p:cNvPr id="12" name="Text 9"/>
          <p:cNvSpPr/>
          <p:nvPr/>
        </p:nvSpPr>
        <p:spPr>
          <a:xfrm>
            <a:off x="600075" y="2752129"/>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Loss Function</a:t>
            </a:r>
            <a:endParaRPr lang="en-US" sz="732" dirty="0"/>
          </a:p>
        </p:txBody>
      </p:sp>
      <p:sp>
        <p:nvSpPr>
          <p:cNvPr id="13" name="Text 10"/>
          <p:cNvSpPr/>
          <p:nvPr/>
        </p:nvSpPr>
        <p:spPr>
          <a:xfrm>
            <a:off x="1671638" y="2759273"/>
            <a:ext cx="1150255"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SoftTargetCrossEntropy</a:t>
            </a:r>
            <a:endParaRPr lang="en-US" sz="732" dirty="0"/>
          </a:p>
        </p:txBody>
      </p:sp>
      <p:sp>
        <p:nvSpPr>
          <p:cNvPr id="14" name="Shape 11"/>
          <p:cNvSpPr/>
          <p:nvPr/>
        </p:nvSpPr>
        <p:spPr>
          <a:xfrm>
            <a:off x="4743450" y="1559123"/>
            <a:ext cx="3857625" cy="342900"/>
          </a:xfrm>
          <a:prstGeom prst="rect">
            <a:avLst/>
          </a:prstGeom>
          <a:solidFill>
            <a:srgbClr val="2E5090"/>
          </a:solidFill>
          <a:ln/>
        </p:spPr>
        <p:txBody>
          <a:bodyPr/>
          <a:lstStyle/>
          <a:p>
            <a:endParaRPr lang="en-US"/>
          </a:p>
        </p:txBody>
      </p:sp>
      <p:sp>
        <p:nvSpPr>
          <p:cNvPr id="15" name="Text 12"/>
          <p:cNvSpPr/>
          <p:nvPr/>
        </p:nvSpPr>
        <p:spPr>
          <a:xfrm>
            <a:off x="4743450" y="1559123"/>
            <a:ext cx="3857625" cy="342900"/>
          </a:xfrm>
          <a:prstGeom prst="rect">
            <a:avLst/>
          </a:prstGeom>
          <a:noFill/>
          <a:ln/>
        </p:spPr>
        <p:txBody>
          <a:bodyPr wrap="square" lIns="136017" tIns="102108" rIns="136017" bIns="102108" rtlCol="0" anchor="ctr">
            <a:spAutoFit/>
          </a:bodyPr>
          <a:lstStyle/>
          <a:p>
            <a:pPr marL="0" indent="0">
              <a:buNone/>
            </a:pPr>
            <a:r>
              <a:rPr lang="en-US" sz="837" b="1" dirty="0">
                <a:solidFill>
                  <a:srgbClr val="FFFFFF"/>
                </a:solidFill>
                <a:latin typeface="Noto Sans" pitchFamily="34" charset="0"/>
                <a:ea typeface="Noto Sans" pitchFamily="34" charset="-122"/>
                <a:cs typeface="Noto Sans" pitchFamily="34" charset="-120"/>
              </a:rPr>
              <a:t>Optimization</a:t>
            </a:r>
            <a:endParaRPr lang="en-US" sz="837" dirty="0"/>
          </a:p>
        </p:txBody>
      </p:sp>
      <p:sp>
        <p:nvSpPr>
          <p:cNvPr id="16" name="Text 13"/>
          <p:cNvSpPr/>
          <p:nvPr/>
        </p:nvSpPr>
        <p:spPr>
          <a:xfrm>
            <a:off x="4743450" y="2094904"/>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Optimizer</a:t>
            </a:r>
            <a:endParaRPr lang="en-US" sz="732" dirty="0"/>
          </a:p>
        </p:txBody>
      </p:sp>
      <p:sp>
        <p:nvSpPr>
          <p:cNvPr id="17" name="Text 14"/>
          <p:cNvSpPr/>
          <p:nvPr/>
        </p:nvSpPr>
        <p:spPr>
          <a:xfrm>
            <a:off x="5815013" y="2102048"/>
            <a:ext cx="380265"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AdamW</a:t>
            </a:r>
            <a:endParaRPr lang="en-US" sz="732" dirty="0"/>
          </a:p>
        </p:txBody>
      </p:sp>
      <p:sp>
        <p:nvSpPr>
          <p:cNvPr id="18" name="Text 15"/>
          <p:cNvSpPr/>
          <p:nvPr/>
        </p:nvSpPr>
        <p:spPr>
          <a:xfrm>
            <a:off x="4743450" y="2423517"/>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Learning Rate</a:t>
            </a:r>
            <a:endParaRPr lang="en-US" sz="732" dirty="0"/>
          </a:p>
        </p:txBody>
      </p:sp>
      <p:sp>
        <p:nvSpPr>
          <p:cNvPr id="19" name="Text 16"/>
          <p:cNvSpPr/>
          <p:nvPr/>
        </p:nvSpPr>
        <p:spPr>
          <a:xfrm>
            <a:off x="5815013" y="2430661"/>
            <a:ext cx="300763"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5×10⁻⁵</a:t>
            </a:r>
            <a:endParaRPr lang="en-US" sz="732" dirty="0"/>
          </a:p>
        </p:txBody>
      </p:sp>
      <p:sp>
        <p:nvSpPr>
          <p:cNvPr id="20" name="Text 17"/>
          <p:cNvSpPr/>
          <p:nvPr/>
        </p:nvSpPr>
        <p:spPr>
          <a:xfrm>
            <a:off x="6115776" y="2430661"/>
            <a:ext cx="343263"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(initial)</a:t>
            </a:r>
            <a:endParaRPr lang="en-US" sz="732" dirty="0"/>
          </a:p>
        </p:txBody>
      </p:sp>
      <p:sp>
        <p:nvSpPr>
          <p:cNvPr id="21" name="Text 18"/>
          <p:cNvSpPr/>
          <p:nvPr/>
        </p:nvSpPr>
        <p:spPr>
          <a:xfrm>
            <a:off x="4743450" y="2752129"/>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Weight Decay</a:t>
            </a:r>
            <a:endParaRPr lang="en-US" sz="732" dirty="0"/>
          </a:p>
        </p:txBody>
      </p:sp>
      <p:sp>
        <p:nvSpPr>
          <p:cNvPr id="22" name="Text 19"/>
          <p:cNvSpPr/>
          <p:nvPr/>
        </p:nvSpPr>
        <p:spPr>
          <a:xfrm>
            <a:off x="5815013" y="2759273"/>
            <a:ext cx="199551"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0.05</a:t>
            </a:r>
            <a:endParaRPr lang="en-US" sz="732" dirty="0"/>
          </a:p>
        </p:txBody>
      </p:sp>
      <p:sp>
        <p:nvSpPr>
          <p:cNvPr id="23" name="Text 20"/>
          <p:cNvSpPr/>
          <p:nvPr/>
        </p:nvSpPr>
        <p:spPr>
          <a:xfrm>
            <a:off x="4743450" y="3080742"/>
            <a:ext cx="1071563" cy="150019"/>
          </a:xfrm>
          <a:prstGeom prst="rect">
            <a:avLst/>
          </a:prstGeom>
          <a:noFill/>
          <a:ln/>
        </p:spPr>
        <p:txBody>
          <a:bodyPr wrap="none" lIns="0" tIns="0" rIns="127508" bIns="0" rtlCol="0" anchor="ctr">
            <a:spAutoFit/>
          </a:bodyPr>
          <a:lstStyle/>
          <a:p>
            <a:pPr marL="0" indent="0">
              <a:buNone/>
            </a:pPr>
            <a:r>
              <a:rPr lang="en-US" sz="732" b="1" dirty="0">
                <a:solidFill>
                  <a:srgbClr val="1A3A52"/>
                </a:solidFill>
                <a:latin typeface="Noto Sans" pitchFamily="34" charset="0"/>
                <a:ea typeface="Noto Sans" pitchFamily="34" charset="-122"/>
                <a:cs typeface="Noto Sans" pitchFamily="34" charset="-120"/>
              </a:rPr>
              <a:t>LR Scheduler</a:t>
            </a:r>
            <a:endParaRPr lang="en-US" sz="732" dirty="0"/>
          </a:p>
        </p:txBody>
      </p:sp>
      <p:sp>
        <p:nvSpPr>
          <p:cNvPr id="24" name="Text 21"/>
          <p:cNvSpPr/>
          <p:nvPr/>
        </p:nvSpPr>
        <p:spPr>
          <a:xfrm>
            <a:off x="5815013" y="3087886"/>
            <a:ext cx="847623" cy="135731"/>
          </a:xfrm>
          <a:prstGeom prst="rect">
            <a:avLst/>
          </a:prstGeom>
          <a:noFill/>
          <a:ln/>
        </p:spPr>
        <p:txBody>
          <a:bodyPr wrap="none" lIns="0" tIns="0" rIns="0" bIns="0" rtlCol="0" anchor="ctr">
            <a:spAutoFit/>
          </a:bodyPr>
          <a:lstStyle/>
          <a:p>
            <a:pPr marL="0" indent="0">
              <a:buNone/>
            </a:pPr>
            <a:r>
              <a:rPr lang="en-US" sz="732" b="1" dirty="0">
                <a:solidFill>
                  <a:srgbClr val="2E5090"/>
                </a:solidFill>
                <a:latin typeface="Noto Sans" pitchFamily="34" charset="0"/>
                <a:ea typeface="Noto Sans" pitchFamily="34" charset="-122"/>
                <a:cs typeface="Noto Sans" pitchFamily="34" charset="-120"/>
              </a:rPr>
              <a:t>Cosine Annealing</a:t>
            </a:r>
            <a:endParaRPr lang="en-US" sz="732" dirty="0"/>
          </a:p>
        </p:txBody>
      </p:sp>
      <p:sp>
        <p:nvSpPr>
          <p:cNvPr id="25" name="Text 22"/>
          <p:cNvSpPr/>
          <p:nvPr/>
        </p:nvSpPr>
        <p:spPr>
          <a:xfrm>
            <a:off x="6662635" y="3087886"/>
            <a:ext cx="1050857"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with 5-epoch warmup</a:t>
            </a:r>
            <a:endParaRPr lang="en-US" sz="732" dirty="0"/>
          </a:p>
        </p:txBody>
      </p:sp>
      <p:sp>
        <p:nvSpPr>
          <p:cNvPr id="26" name="Shape 23"/>
          <p:cNvSpPr/>
          <p:nvPr/>
        </p:nvSpPr>
        <p:spPr>
          <a:xfrm>
            <a:off x="571500" y="3458809"/>
            <a:ext cx="8001000" cy="1222921"/>
          </a:xfrm>
          <a:prstGeom prst="rect">
            <a:avLst/>
          </a:prstGeom>
          <a:solidFill>
            <a:srgbClr val="E8F4F8"/>
          </a:solidFill>
          <a:ln/>
        </p:spPr>
        <p:txBody>
          <a:bodyPr/>
          <a:lstStyle/>
          <a:p>
            <a:endParaRPr lang="en-US"/>
          </a:p>
        </p:txBody>
      </p:sp>
      <p:sp>
        <p:nvSpPr>
          <p:cNvPr id="27" name="Shape 24"/>
          <p:cNvSpPr/>
          <p:nvPr/>
        </p:nvSpPr>
        <p:spPr>
          <a:xfrm>
            <a:off x="571500" y="3458809"/>
            <a:ext cx="28575" cy="1222921"/>
          </a:xfrm>
          <a:prstGeom prst="rect">
            <a:avLst/>
          </a:prstGeom>
          <a:solidFill>
            <a:srgbClr val="F39C12"/>
          </a:solidFill>
          <a:ln/>
        </p:spPr>
        <p:txBody>
          <a:bodyPr/>
          <a:lstStyle/>
          <a:p>
            <a:endParaRPr lang="en-US"/>
          </a:p>
        </p:txBody>
      </p:sp>
      <p:sp>
        <p:nvSpPr>
          <p:cNvPr id="28" name="Text 25"/>
          <p:cNvSpPr/>
          <p:nvPr/>
        </p:nvSpPr>
        <p:spPr>
          <a:xfrm>
            <a:off x="714375" y="3601684"/>
            <a:ext cx="7715250" cy="171450"/>
          </a:xfrm>
          <a:prstGeom prst="rect">
            <a:avLst/>
          </a:prstGeom>
          <a:noFill/>
          <a:ln/>
        </p:spPr>
        <p:txBody>
          <a:bodyPr wrap="none" lIns="0" tIns="0" rIns="0" bIns="0" rtlCol="0" anchor="ctr">
            <a:spAutoFit/>
          </a:bodyPr>
          <a:lstStyle/>
          <a:p>
            <a:pPr marL="0" indent="0">
              <a:buNone/>
            </a:pPr>
            <a:r>
              <a:rPr lang="en-US" sz="837" b="1" dirty="0">
                <a:solidFill>
                  <a:srgbClr val="1A3A52"/>
                </a:solidFill>
                <a:latin typeface="Noto Sans" pitchFamily="34" charset="0"/>
                <a:ea typeface="Noto Sans" pitchFamily="34" charset="-122"/>
                <a:cs typeface="Noto Sans" pitchFamily="34" charset="-120"/>
              </a:rPr>
              <a:t>Advanced Regularization Techniques</a:t>
            </a:r>
            <a:endParaRPr lang="en-US" sz="837" dirty="0"/>
          </a:p>
        </p:txBody>
      </p:sp>
      <p:sp>
        <p:nvSpPr>
          <p:cNvPr id="29" name="Text 26"/>
          <p:cNvSpPr/>
          <p:nvPr/>
        </p:nvSpPr>
        <p:spPr>
          <a:xfrm>
            <a:off x="714375" y="3874932"/>
            <a:ext cx="350044" cy="135731"/>
          </a:xfrm>
          <a:prstGeom prst="rect">
            <a:avLst/>
          </a:prstGeom>
          <a:noFill/>
          <a:ln/>
        </p:spPr>
        <p:txBody>
          <a:bodyPr wrap="none" lIns="0" tIns="0" rIns="0" bIns="0" rtlCol="0" anchor="ctr">
            <a:spAutoFit/>
          </a:bodyPr>
          <a:lstStyle/>
          <a:p>
            <a:pPr marL="0" indent="0">
              <a:buNone/>
            </a:pPr>
            <a:r>
              <a:rPr lang="en-US" sz="732" b="1" dirty="0">
                <a:solidFill>
                  <a:srgbClr val="34495E"/>
                </a:solidFill>
                <a:latin typeface="Noto Sans" pitchFamily="34" charset="0"/>
                <a:ea typeface="Noto Sans" pitchFamily="34" charset="-122"/>
                <a:cs typeface="Noto Sans" pitchFamily="34" charset="-120"/>
              </a:rPr>
              <a:t>MixUp:</a:t>
            </a:r>
            <a:endParaRPr lang="en-US" sz="732" dirty="0"/>
          </a:p>
        </p:txBody>
      </p:sp>
      <p:sp>
        <p:nvSpPr>
          <p:cNvPr id="30" name="Text 27"/>
          <p:cNvSpPr/>
          <p:nvPr/>
        </p:nvSpPr>
        <p:spPr>
          <a:xfrm>
            <a:off x="1064419" y="3874932"/>
            <a:ext cx="2749758"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α = 0.8 — Blends pairs of training samples and their labels</a:t>
            </a:r>
            <a:endParaRPr lang="en-US" sz="732" dirty="0"/>
          </a:p>
        </p:txBody>
      </p:sp>
      <p:sp>
        <p:nvSpPr>
          <p:cNvPr id="31" name="Text 28"/>
          <p:cNvSpPr/>
          <p:nvPr/>
        </p:nvSpPr>
        <p:spPr>
          <a:xfrm>
            <a:off x="714375" y="4044931"/>
            <a:ext cx="383949" cy="135731"/>
          </a:xfrm>
          <a:prstGeom prst="rect">
            <a:avLst/>
          </a:prstGeom>
          <a:noFill/>
          <a:ln/>
        </p:spPr>
        <p:txBody>
          <a:bodyPr wrap="none" lIns="0" tIns="0" rIns="0" bIns="0" rtlCol="0" anchor="ctr">
            <a:spAutoFit/>
          </a:bodyPr>
          <a:lstStyle/>
          <a:p>
            <a:pPr marL="0" indent="0">
              <a:buNone/>
            </a:pPr>
            <a:r>
              <a:rPr lang="en-US" sz="732" b="1" dirty="0">
                <a:solidFill>
                  <a:srgbClr val="34495E"/>
                </a:solidFill>
                <a:latin typeface="Noto Sans" pitchFamily="34" charset="0"/>
                <a:ea typeface="Noto Sans" pitchFamily="34" charset="-122"/>
                <a:cs typeface="Noto Sans" pitchFamily="34" charset="-120"/>
              </a:rPr>
              <a:t>CutMix:</a:t>
            </a:r>
            <a:endParaRPr lang="en-US" sz="732" dirty="0"/>
          </a:p>
        </p:txBody>
      </p:sp>
      <p:sp>
        <p:nvSpPr>
          <p:cNvPr id="32" name="Text 29"/>
          <p:cNvSpPr/>
          <p:nvPr/>
        </p:nvSpPr>
        <p:spPr>
          <a:xfrm>
            <a:off x="1098324" y="4044931"/>
            <a:ext cx="2824962"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α = 1.0 — Cuts and pastes patches between training images</a:t>
            </a:r>
            <a:endParaRPr lang="en-US" sz="732" dirty="0"/>
          </a:p>
        </p:txBody>
      </p:sp>
      <p:sp>
        <p:nvSpPr>
          <p:cNvPr id="33" name="Text 30"/>
          <p:cNvSpPr/>
          <p:nvPr/>
        </p:nvSpPr>
        <p:spPr>
          <a:xfrm>
            <a:off x="714375" y="4214930"/>
            <a:ext cx="870114" cy="135731"/>
          </a:xfrm>
          <a:prstGeom prst="rect">
            <a:avLst/>
          </a:prstGeom>
          <a:noFill/>
          <a:ln/>
        </p:spPr>
        <p:txBody>
          <a:bodyPr wrap="none" lIns="0" tIns="0" rIns="0" bIns="0" rtlCol="0" anchor="ctr">
            <a:spAutoFit/>
          </a:bodyPr>
          <a:lstStyle/>
          <a:p>
            <a:pPr marL="0" indent="0">
              <a:buNone/>
            </a:pPr>
            <a:r>
              <a:rPr lang="en-US" sz="732" b="1" dirty="0">
                <a:solidFill>
                  <a:srgbClr val="34495E"/>
                </a:solidFill>
                <a:latin typeface="Noto Sans" pitchFamily="34" charset="0"/>
                <a:ea typeface="Noto Sans" pitchFamily="34" charset="-122"/>
                <a:cs typeface="Noto Sans" pitchFamily="34" charset="-120"/>
              </a:rPr>
              <a:t>Label Smoothing:</a:t>
            </a:r>
            <a:endParaRPr lang="en-US" sz="732" dirty="0"/>
          </a:p>
        </p:txBody>
      </p:sp>
      <p:sp>
        <p:nvSpPr>
          <p:cNvPr id="34" name="Text 31"/>
          <p:cNvSpPr/>
          <p:nvPr/>
        </p:nvSpPr>
        <p:spPr>
          <a:xfrm>
            <a:off x="1584489" y="4214930"/>
            <a:ext cx="2446511"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0.1 — Softens hard labels to improve generalization</a:t>
            </a:r>
            <a:endParaRPr lang="en-US" sz="732" dirty="0"/>
          </a:p>
        </p:txBody>
      </p:sp>
      <p:sp>
        <p:nvSpPr>
          <p:cNvPr id="35" name="Text 32"/>
          <p:cNvSpPr/>
          <p:nvPr/>
        </p:nvSpPr>
        <p:spPr>
          <a:xfrm>
            <a:off x="714375" y="4384929"/>
            <a:ext cx="1682521" cy="135731"/>
          </a:xfrm>
          <a:prstGeom prst="rect">
            <a:avLst/>
          </a:prstGeom>
          <a:noFill/>
          <a:ln/>
        </p:spPr>
        <p:txBody>
          <a:bodyPr wrap="none" lIns="0" tIns="0" rIns="0" bIns="0" rtlCol="0" anchor="ctr">
            <a:spAutoFit/>
          </a:bodyPr>
          <a:lstStyle/>
          <a:p>
            <a:pPr marL="0" indent="0">
              <a:buNone/>
            </a:pPr>
            <a:r>
              <a:rPr lang="en-US" sz="732" b="1" dirty="0">
                <a:solidFill>
                  <a:srgbClr val="34495E"/>
                </a:solidFill>
                <a:latin typeface="Noto Sans" pitchFamily="34" charset="0"/>
                <a:ea typeface="Noto Sans" pitchFamily="34" charset="-122"/>
                <a:cs typeface="Noto Sans" pitchFamily="34" charset="-120"/>
              </a:rPr>
              <a:t>Automatic Mixed Precision (AMP):</a:t>
            </a:r>
            <a:endParaRPr lang="en-US" sz="732" dirty="0"/>
          </a:p>
        </p:txBody>
      </p:sp>
      <p:sp>
        <p:nvSpPr>
          <p:cNvPr id="36" name="Text 33"/>
          <p:cNvSpPr/>
          <p:nvPr/>
        </p:nvSpPr>
        <p:spPr>
          <a:xfrm>
            <a:off x="2396896" y="4384929"/>
            <a:ext cx="3453054" cy="135731"/>
          </a:xfrm>
          <a:prstGeom prst="rect">
            <a:avLst/>
          </a:prstGeom>
          <a:noFill/>
          <a:ln/>
        </p:spPr>
        <p:txBody>
          <a:bodyPr wrap="none" lIns="0" tIns="0" rIns="0" bIns="0" rtlCol="0" anchor="ctr">
            <a:spAutoFit/>
          </a:bodyPr>
          <a:lstStyle/>
          <a:p>
            <a:pPr marL="0" indent="0">
              <a:buNone/>
            </a:pPr>
            <a:r>
              <a:rPr lang="en-US" sz="732" dirty="0">
                <a:solidFill>
                  <a:srgbClr val="34495E"/>
                </a:solidFill>
                <a:latin typeface="Noto Sans" pitchFamily="34" charset="0"/>
                <a:ea typeface="Noto Sans" pitchFamily="34" charset="-122"/>
                <a:cs typeface="Noto Sans" pitchFamily="34" charset="-120"/>
              </a:rPr>
              <a:t> Enabled — Uses lower precision for efficiency while maintaining accuracy </a:t>
            </a:r>
            <a:endParaRPr lang="en-US" sz="732" dirty="0"/>
          </a:p>
        </p:txBody>
      </p:sp>
      <p:pic>
        <p:nvPicPr>
          <p:cNvPr id="37" name="Picture 36">
            <a:extLst>
              <a:ext uri="{FF2B5EF4-FFF2-40B4-BE49-F238E27FC236}">
                <a16:creationId xmlns:a16="http://schemas.microsoft.com/office/drawing/2014/main" id="{0DDB109B-1E70-F061-7202-2F79A1D861BC}"/>
              </a:ext>
            </a:extLst>
          </p:cNvPr>
          <p:cNvPicPr>
            <a:picLocks noChangeAspect="1"/>
          </p:cNvPicPr>
          <p:nvPr/>
        </p:nvPicPr>
        <p:blipFill>
          <a:blip r:embed="rId4"/>
          <a:stretch>
            <a:fillRect/>
          </a:stretch>
        </p:blipFill>
        <p:spPr>
          <a:xfrm>
            <a:off x="7994233" y="-45987"/>
            <a:ext cx="1141859" cy="1141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979207"/>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Common Challenge: H1 vs H2 Class Confusion</a:t>
            </a:r>
            <a:endParaRPr lang="en-US" sz="2700" dirty="0"/>
          </a:p>
        </p:txBody>
      </p:sp>
      <p:sp>
        <p:nvSpPr>
          <p:cNvPr id="4" name="Shape 1"/>
          <p:cNvSpPr/>
          <p:nvPr/>
        </p:nvSpPr>
        <p:spPr>
          <a:xfrm>
            <a:off x="497133" y="1935522"/>
            <a:ext cx="3930087" cy="2621238"/>
          </a:xfrm>
          <a:prstGeom prst="rect">
            <a:avLst/>
          </a:prstGeom>
          <a:solidFill>
            <a:srgbClr val="FFF3E0"/>
          </a:solidFill>
          <a:ln/>
        </p:spPr>
        <p:txBody>
          <a:bodyPr/>
          <a:lstStyle/>
          <a:p>
            <a:endParaRPr lang="en-US"/>
          </a:p>
        </p:txBody>
      </p:sp>
      <p:sp>
        <p:nvSpPr>
          <p:cNvPr id="5" name="Shape 2"/>
          <p:cNvSpPr/>
          <p:nvPr/>
        </p:nvSpPr>
        <p:spPr>
          <a:xfrm>
            <a:off x="497133" y="1935522"/>
            <a:ext cx="45719" cy="2621238"/>
          </a:xfrm>
          <a:prstGeom prst="rect">
            <a:avLst/>
          </a:prstGeom>
          <a:solidFill>
            <a:srgbClr val="F39C12"/>
          </a:solidFill>
          <a:ln/>
        </p:spPr>
        <p:txBody>
          <a:bodyPr/>
          <a:lstStyle/>
          <a:p>
            <a:endParaRPr lang="en-US"/>
          </a:p>
        </p:txBody>
      </p:sp>
      <p:sp>
        <p:nvSpPr>
          <p:cNvPr id="6" name="Text 3"/>
          <p:cNvSpPr/>
          <p:nvPr/>
        </p:nvSpPr>
        <p:spPr>
          <a:xfrm>
            <a:off x="643174" y="2056119"/>
            <a:ext cx="1398985" cy="215444"/>
          </a:xfrm>
          <a:prstGeom prst="rect">
            <a:avLst/>
          </a:prstGeom>
          <a:noFill/>
          <a:ln/>
        </p:spPr>
        <p:txBody>
          <a:bodyPr wrap="square" lIns="0" tIns="0" rIns="0" bIns="0" rtlCol="0" anchor="ctr">
            <a:spAutoFit/>
          </a:bodyPr>
          <a:lstStyle/>
          <a:p>
            <a:pPr marL="0" indent="0">
              <a:buNone/>
            </a:pPr>
            <a:r>
              <a:rPr lang="en-US" sz="1400" b="1" dirty="0">
                <a:solidFill>
                  <a:srgbClr val="1A3A52"/>
                </a:solidFill>
                <a:latin typeface="Noto Sans" pitchFamily="34" charset="0"/>
                <a:ea typeface="Noto Sans" pitchFamily="34" charset="-122"/>
                <a:cs typeface="Noto Sans" pitchFamily="34" charset="-120"/>
              </a:rPr>
              <a:t>The Challenge</a:t>
            </a:r>
            <a:endParaRPr lang="en-US" sz="1400" dirty="0"/>
          </a:p>
        </p:txBody>
      </p:sp>
      <p:sp>
        <p:nvSpPr>
          <p:cNvPr id="7" name="Text 4"/>
          <p:cNvSpPr/>
          <p:nvPr/>
        </p:nvSpPr>
        <p:spPr>
          <a:xfrm>
            <a:off x="650723" y="2399755"/>
            <a:ext cx="3668736" cy="1692771"/>
          </a:xfrm>
          <a:prstGeom prst="rect">
            <a:avLst/>
          </a:prstGeom>
          <a:noFill/>
          <a:ln/>
        </p:spPr>
        <p:txBody>
          <a:bodyPr wrap="square" lIns="0" tIns="0" rIns="0" bIns="0" rtlCol="0" anchor="ctr">
            <a:spAutoFit/>
          </a:bodyPr>
          <a:lstStyle/>
          <a:p>
            <a:r>
              <a:rPr lang="en-US" sz="1400" dirty="0">
                <a:solidFill>
                  <a:srgbClr val="34495E"/>
                </a:solidFill>
                <a:latin typeface="Noto Sans" pitchFamily="34" charset="0"/>
                <a:ea typeface="Noto Sans" pitchFamily="34" charset="-122"/>
                <a:cs typeface="Noto Sans" pitchFamily="34" charset="-120"/>
              </a:rPr>
              <a:t>All models, including the best-performing </a:t>
            </a:r>
            <a:r>
              <a:rPr lang="en-US" sz="1200" dirty="0">
                <a:solidFill>
                  <a:srgbClr val="34495E"/>
                </a:solidFill>
                <a:latin typeface="Noto Sans" pitchFamily="34" charset="0"/>
                <a:ea typeface="Noto Sans" pitchFamily="34" charset="-122"/>
                <a:cs typeface="Noto Sans" pitchFamily="34" charset="-120"/>
              </a:rPr>
              <a:t>SwinV2-Base Ensemble, struggled to differentiate between </a:t>
            </a:r>
            <a:r>
              <a:rPr lang="en-US" sz="1200" b="1" kern="1200" dirty="0">
                <a:solidFill>
                  <a:srgbClr val="F39C12"/>
                </a:solidFill>
                <a:effectLst/>
                <a:latin typeface="Noto Sans" panose="020B0502040504020204" pitchFamily="34" charset="0"/>
                <a:ea typeface="Noto Sans" panose="020B0502040504020204" pitchFamily="34" charset="0"/>
                <a:cs typeface="Noto Sans" panose="020B0502040504020204" pitchFamily="34" charset="0"/>
              </a:rPr>
              <a:t>Classes H1 and H2</a:t>
            </a:r>
            <a:r>
              <a:rPr lang="en-US" sz="1400" dirty="0">
                <a:solidFill>
                  <a:srgbClr val="34495E"/>
                </a:solidFill>
                <a:latin typeface="Noto Sans" pitchFamily="34" charset="0"/>
                <a:ea typeface="Noto Sans" pitchFamily="34" charset="-122"/>
                <a:cs typeface="Noto Sans" pitchFamily="34" charset="-120"/>
              </a:rPr>
              <a:t> due to their </a:t>
            </a:r>
            <a:r>
              <a:rPr lang="en-US" sz="1400" b="1" dirty="0">
                <a:solidFill>
                  <a:srgbClr val="F39C12"/>
                </a:solidFill>
                <a:latin typeface="Noto Sans" pitchFamily="34" charset="0"/>
                <a:ea typeface="Noto Sans" pitchFamily="34" charset="-122"/>
                <a:cs typeface="Noto Sans" pitchFamily="34" charset="-120"/>
              </a:rPr>
              <a:t>morphological similarities</a:t>
            </a:r>
            <a:r>
              <a:rPr lang="en-US" sz="1400" dirty="0">
                <a:solidFill>
                  <a:srgbClr val="34495E"/>
                </a:solidFill>
                <a:latin typeface="Noto Sans" pitchFamily="34" charset="0"/>
                <a:ea typeface="Noto Sans" pitchFamily="34" charset="-122"/>
                <a:cs typeface="Noto Sans" pitchFamily="34" charset="-120"/>
              </a:rPr>
              <a:t>. These two fungal species share many visual characteristics at the microscopic level, making them inherently difficult to distinguish. </a:t>
            </a:r>
            <a:endParaRPr lang="en-US" sz="1400" dirty="0"/>
          </a:p>
        </p:txBody>
      </p:sp>
      <p:sp>
        <p:nvSpPr>
          <p:cNvPr id="10" name="Text 7"/>
          <p:cNvSpPr/>
          <p:nvPr/>
        </p:nvSpPr>
        <p:spPr>
          <a:xfrm>
            <a:off x="3060383" y="2479265"/>
            <a:ext cx="45719" cy="212007"/>
          </a:xfrm>
          <a:prstGeom prst="rect">
            <a:avLst/>
          </a:prstGeom>
          <a:noFill/>
          <a:ln/>
        </p:spPr>
        <p:txBody>
          <a:bodyPr wrap="square" lIns="0" tIns="0" rIns="0" bIns="0" rtlCol="0" anchor="ctr">
            <a:spAutoFit/>
          </a:bodyPr>
          <a:lstStyle/>
          <a:p>
            <a:pPr marL="0" indent="0">
              <a:buNone/>
            </a:pPr>
            <a:endParaRPr lang="en-US" sz="732" dirty="0"/>
          </a:p>
        </p:txBody>
      </p:sp>
      <p:sp>
        <p:nvSpPr>
          <p:cNvPr id="58" name="Shape 55"/>
          <p:cNvSpPr/>
          <p:nvPr/>
        </p:nvSpPr>
        <p:spPr>
          <a:xfrm>
            <a:off x="4527542" y="1641477"/>
            <a:ext cx="4179282" cy="3145017"/>
          </a:xfrm>
          <a:prstGeom prst="rect">
            <a:avLst/>
          </a:prstGeom>
          <a:solidFill>
            <a:srgbClr val="F0F0F0"/>
          </a:solidFill>
          <a:ln w="198">
            <a:solidFill>
              <a:srgbClr val="2E5090"/>
            </a:solidFill>
            <a:prstDash val="solid"/>
          </a:ln>
        </p:spPr>
        <p:txBody>
          <a:bodyPr/>
          <a:lstStyle/>
          <a:p>
            <a:endParaRPr lang="en-US"/>
          </a:p>
        </p:txBody>
      </p:sp>
      <p:pic>
        <p:nvPicPr>
          <p:cNvPr id="73" name="Picture 72">
            <a:extLst>
              <a:ext uri="{FF2B5EF4-FFF2-40B4-BE49-F238E27FC236}">
                <a16:creationId xmlns:a16="http://schemas.microsoft.com/office/drawing/2014/main" id="{D660B6C8-7A11-1668-C483-4DCDD73C85C9}"/>
              </a:ext>
            </a:extLst>
          </p:cNvPr>
          <p:cNvPicPr>
            <a:picLocks noChangeAspect="1"/>
          </p:cNvPicPr>
          <p:nvPr/>
        </p:nvPicPr>
        <p:blipFill>
          <a:blip r:embed="rId4"/>
          <a:stretch>
            <a:fillRect/>
          </a:stretch>
        </p:blipFill>
        <p:spPr>
          <a:xfrm>
            <a:off x="4548999" y="1566640"/>
            <a:ext cx="4549056" cy="3311433"/>
          </a:xfrm>
          <a:prstGeom prst="rect">
            <a:avLst/>
          </a:prstGeom>
        </p:spPr>
      </p:pic>
      <p:pic>
        <p:nvPicPr>
          <p:cNvPr id="8" name="Picture 7">
            <a:extLst>
              <a:ext uri="{FF2B5EF4-FFF2-40B4-BE49-F238E27FC236}">
                <a16:creationId xmlns:a16="http://schemas.microsoft.com/office/drawing/2014/main" id="{E5F8B050-49F3-75A3-7176-545D95502DDD}"/>
              </a:ext>
            </a:extLst>
          </p:cNvPr>
          <p:cNvPicPr>
            <a:picLocks noChangeAspect="1"/>
          </p:cNvPicPr>
          <p:nvPr/>
        </p:nvPicPr>
        <p:blipFill>
          <a:blip r:embed="rId5"/>
          <a:stretch>
            <a:fillRect/>
          </a:stretch>
        </p:blipFill>
        <p:spPr>
          <a:xfrm>
            <a:off x="8229499" y="-59435"/>
            <a:ext cx="1081411" cy="108141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17B92-AC39-2627-8C0B-8B235BF87201}"/>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60655291-0114-868C-9A93-6566609F280C}"/>
              </a:ext>
            </a:extLst>
          </p:cNvPr>
          <p:cNvPicPr>
            <a:picLocks noChangeAspect="1"/>
          </p:cNvPicPr>
          <p:nvPr/>
        </p:nvPicPr>
        <p:blipFill>
          <a:blip r:embed="rId3"/>
          <a:stretch>
            <a:fillRect/>
          </a:stretch>
        </p:blipFill>
        <p:spPr>
          <a:xfrm>
            <a:off x="0" y="0"/>
            <a:ext cx="9144000" cy="5979207"/>
          </a:xfrm>
          <a:prstGeom prst="rect">
            <a:avLst/>
          </a:prstGeom>
        </p:spPr>
      </p:pic>
      <p:sp>
        <p:nvSpPr>
          <p:cNvPr id="3" name="Text 0">
            <a:extLst>
              <a:ext uri="{FF2B5EF4-FFF2-40B4-BE49-F238E27FC236}">
                <a16:creationId xmlns:a16="http://schemas.microsoft.com/office/drawing/2014/main" id="{BF4AFC7D-6B4F-BA3C-D3AC-BE0748C3CE87}"/>
              </a:ext>
            </a:extLst>
          </p:cNvPr>
          <p:cNvSpPr/>
          <p:nvPr/>
        </p:nvSpPr>
        <p:spPr>
          <a:xfrm>
            <a:off x="531667" y="837700"/>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Common Challenge: H1 vs H2 Class Confusion</a:t>
            </a:r>
            <a:endParaRPr lang="en-US" sz="2700" dirty="0"/>
          </a:p>
        </p:txBody>
      </p:sp>
      <p:sp>
        <p:nvSpPr>
          <p:cNvPr id="15" name="Shape 12">
            <a:extLst>
              <a:ext uri="{FF2B5EF4-FFF2-40B4-BE49-F238E27FC236}">
                <a16:creationId xmlns:a16="http://schemas.microsoft.com/office/drawing/2014/main" id="{254C7C17-2AC9-B1F3-F02E-C2C935C089DB}"/>
              </a:ext>
            </a:extLst>
          </p:cNvPr>
          <p:cNvSpPr/>
          <p:nvPr/>
        </p:nvSpPr>
        <p:spPr>
          <a:xfrm>
            <a:off x="170300" y="1944620"/>
            <a:ext cx="4045177" cy="2490575"/>
          </a:xfrm>
          <a:prstGeom prst="rect">
            <a:avLst/>
          </a:prstGeom>
          <a:solidFill>
            <a:srgbClr val="F8F9FA"/>
          </a:solidFill>
          <a:ln/>
        </p:spPr>
        <p:txBody>
          <a:bodyPr/>
          <a:lstStyle/>
          <a:p>
            <a:endParaRPr lang="en-US"/>
          </a:p>
        </p:txBody>
      </p:sp>
      <p:sp>
        <p:nvSpPr>
          <p:cNvPr id="16" name="Shape 13">
            <a:extLst>
              <a:ext uri="{FF2B5EF4-FFF2-40B4-BE49-F238E27FC236}">
                <a16:creationId xmlns:a16="http://schemas.microsoft.com/office/drawing/2014/main" id="{43B7258D-2947-6105-3376-BCA6D550B74C}"/>
              </a:ext>
            </a:extLst>
          </p:cNvPr>
          <p:cNvSpPr/>
          <p:nvPr/>
        </p:nvSpPr>
        <p:spPr>
          <a:xfrm>
            <a:off x="170300" y="1990340"/>
            <a:ext cx="48650" cy="2398220"/>
          </a:xfrm>
          <a:prstGeom prst="rect">
            <a:avLst/>
          </a:prstGeom>
          <a:solidFill>
            <a:srgbClr val="2E5090"/>
          </a:solidFill>
          <a:ln/>
        </p:spPr>
        <p:txBody>
          <a:bodyPr/>
          <a:lstStyle/>
          <a:p>
            <a:endParaRPr lang="en-US"/>
          </a:p>
        </p:txBody>
      </p:sp>
      <p:sp>
        <p:nvSpPr>
          <p:cNvPr id="17" name="Text 14">
            <a:extLst>
              <a:ext uri="{FF2B5EF4-FFF2-40B4-BE49-F238E27FC236}">
                <a16:creationId xmlns:a16="http://schemas.microsoft.com/office/drawing/2014/main" id="{DEF38EC0-EA20-A781-957E-7D53625BA3E7}"/>
              </a:ext>
            </a:extLst>
          </p:cNvPr>
          <p:cNvSpPr/>
          <p:nvPr/>
        </p:nvSpPr>
        <p:spPr>
          <a:xfrm>
            <a:off x="309299" y="2042146"/>
            <a:ext cx="3616500" cy="153888"/>
          </a:xfrm>
          <a:prstGeom prst="rect">
            <a:avLst/>
          </a:prstGeom>
          <a:noFill/>
          <a:ln/>
        </p:spPr>
        <p:txBody>
          <a:bodyPr wrap="square" lIns="0" tIns="0" rIns="0" bIns="0" rtlCol="0" anchor="ctr">
            <a:spAutoFit/>
          </a:bodyPr>
          <a:lstStyle/>
          <a:p>
            <a:pPr marL="0" indent="0">
              <a:buNone/>
            </a:pPr>
            <a:r>
              <a:rPr lang="en-US" sz="1000" b="1" dirty="0">
                <a:solidFill>
                  <a:srgbClr val="1A3A52"/>
                </a:solidFill>
                <a:latin typeface="Noto Sans" pitchFamily="34" charset="0"/>
                <a:ea typeface="Noto Sans" pitchFamily="34" charset="-122"/>
                <a:cs typeface="Noto Sans" pitchFamily="34" charset="-120"/>
              </a:rPr>
              <a:t>Per-Class Performance (SwinV2 Ensemble)</a:t>
            </a:r>
            <a:endParaRPr lang="en-US" sz="1000" dirty="0"/>
          </a:p>
        </p:txBody>
      </p:sp>
      <p:sp>
        <p:nvSpPr>
          <p:cNvPr id="18" name="Text 15">
            <a:extLst>
              <a:ext uri="{FF2B5EF4-FFF2-40B4-BE49-F238E27FC236}">
                <a16:creationId xmlns:a16="http://schemas.microsoft.com/office/drawing/2014/main" id="{BA02D83F-8357-FC6B-DAA9-6E76A14574F3}"/>
              </a:ext>
            </a:extLst>
          </p:cNvPr>
          <p:cNvSpPr/>
          <p:nvPr/>
        </p:nvSpPr>
        <p:spPr>
          <a:xfrm>
            <a:off x="376938" y="2302078"/>
            <a:ext cx="394176" cy="138499"/>
          </a:xfrm>
          <a:prstGeom prst="rect">
            <a:avLst/>
          </a:prstGeom>
          <a:noFill/>
          <a:ln/>
        </p:spPr>
        <p:txBody>
          <a:bodyPr wrap="square" lIns="0" tIns="0" rIns="0" bIns="0" rtlCol="0" anchor="ctr">
            <a:spAutoFit/>
          </a:bodyPr>
          <a:lstStyle/>
          <a:p>
            <a:pPr marL="0" indent="0" algn="ctr">
              <a:buNone/>
            </a:pPr>
            <a:r>
              <a:rPr lang="en-US" sz="900" b="1" dirty="0">
                <a:solidFill>
                  <a:srgbClr val="888888"/>
                </a:solidFill>
                <a:latin typeface="Noto Sans" pitchFamily="34" charset="0"/>
                <a:ea typeface="Noto Sans" pitchFamily="34" charset="-122"/>
                <a:cs typeface="Noto Sans" pitchFamily="34" charset="-120"/>
              </a:rPr>
              <a:t>Class</a:t>
            </a:r>
            <a:endParaRPr lang="en-US" sz="900" dirty="0"/>
          </a:p>
        </p:txBody>
      </p:sp>
      <p:sp>
        <p:nvSpPr>
          <p:cNvPr id="19" name="Text 16">
            <a:extLst>
              <a:ext uri="{FF2B5EF4-FFF2-40B4-BE49-F238E27FC236}">
                <a16:creationId xmlns:a16="http://schemas.microsoft.com/office/drawing/2014/main" id="{60426C1E-5661-1981-ED70-3F1D83475785}"/>
              </a:ext>
            </a:extLst>
          </p:cNvPr>
          <p:cNvSpPr/>
          <p:nvPr/>
        </p:nvSpPr>
        <p:spPr>
          <a:xfrm>
            <a:off x="902054" y="2302078"/>
            <a:ext cx="710808" cy="138499"/>
          </a:xfrm>
          <a:prstGeom prst="rect">
            <a:avLst/>
          </a:prstGeom>
          <a:noFill/>
          <a:ln/>
        </p:spPr>
        <p:txBody>
          <a:bodyPr wrap="square" lIns="0" tIns="0" rIns="0" bIns="0" rtlCol="0" anchor="ctr">
            <a:spAutoFit/>
          </a:bodyPr>
          <a:lstStyle/>
          <a:p>
            <a:pPr marL="0" indent="0" algn="ctr">
              <a:buNone/>
            </a:pPr>
            <a:r>
              <a:rPr lang="en-US" sz="900" b="1" dirty="0">
                <a:solidFill>
                  <a:srgbClr val="888888"/>
                </a:solidFill>
                <a:latin typeface="Noto Sans" pitchFamily="34" charset="0"/>
                <a:ea typeface="Noto Sans" pitchFamily="34" charset="-122"/>
                <a:cs typeface="Noto Sans" pitchFamily="34" charset="-120"/>
              </a:rPr>
              <a:t>Precision</a:t>
            </a:r>
            <a:endParaRPr lang="en-US" sz="900" dirty="0"/>
          </a:p>
        </p:txBody>
      </p:sp>
      <p:sp>
        <p:nvSpPr>
          <p:cNvPr id="20" name="Text 17">
            <a:extLst>
              <a:ext uri="{FF2B5EF4-FFF2-40B4-BE49-F238E27FC236}">
                <a16:creationId xmlns:a16="http://schemas.microsoft.com/office/drawing/2014/main" id="{50E4207A-A69E-363E-6F5F-084E71ED0186}"/>
              </a:ext>
            </a:extLst>
          </p:cNvPr>
          <p:cNvSpPr/>
          <p:nvPr/>
        </p:nvSpPr>
        <p:spPr>
          <a:xfrm>
            <a:off x="1780040" y="2302078"/>
            <a:ext cx="463102" cy="138499"/>
          </a:xfrm>
          <a:prstGeom prst="rect">
            <a:avLst/>
          </a:prstGeom>
          <a:noFill/>
          <a:ln/>
        </p:spPr>
        <p:txBody>
          <a:bodyPr wrap="square" lIns="0" tIns="0" rIns="0" bIns="0" rtlCol="0" anchor="ctr">
            <a:spAutoFit/>
          </a:bodyPr>
          <a:lstStyle/>
          <a:p>
            <a:pPr marL="0" indent="0" algn="ctr">
              <a:buNone/>
            </a:pPr>
            <a:r>
              <a:rPr lang="en-US" sz="900" b="1" dirty="0">
                <a:solidFill>
                  <a:srgbClr val="888888"/>
                </a:solidFill>
                <a:latin typeface="Noto Sans" pitchFamily="34" charset="0"/>
                <a:ea typeface="Noto Sans" pitchFamily="34" charset="-122"/>
                <a:cs typeface="Noto Sans" pitchFamily="34" charset="-120"/>
              </a:rPr>
              <a:t>Recall</a:t>
            </a:r>
            <a:endParaRPr lang="en-US" sz="900" dirty="0"/>
          </a:p>
        </p:txBody>
      </p:sp>
      <p:sp>
        <p:nvSpPr>
          <p:cNvPr id="21" name="Text 18">
            <a:extLst>
              <a:ext uri="{FF2B5EF4-FFF2-40B4-BE49-F238E27FC236}">
                <a16:creationId xmlns:a16="http://schemas.microsoft.com/office/drawing/2014/main" id="{E6B20218-B8C1-DAA7-028A-D0EB3643D5CB}"/>
              </a:ext>
            </a:extLst>
          </p:cNvPr>
          <p:cNvSpPr/>
          <p:nvPr/>
        </p:nvSpPr>
        <p:spPr>
          <a:xfrm>
            <a:off x="2494518" y="2302078"/>
            <a:ext cx="654805" cy="138499"/>
          </a:xfrm>
          <a:prstGeom prst="rect">
            <a:avLst/>
          </a:prstGeom>
          <a:noFill/>
          <a:ln/>
        </p:spPr>
        <p:txBody>
          <a:bodyPr wrap="square" lIns="0" tIns="0" rIns="0" bIns="0" rtlCol="0" anchor="ctr">
            <a:spAutoFit/>
          </a:bodyPr>
          <a:lstStyle/>
          <a:p>
            <a:pPr marL="0" indent="0" algn="ctr">
              <a:buNone/>
            </a:pPr>
            <a:r>
              <a:rPr lang="en-US" sz="900" b="1" dirty="0">
                <a:solidFill>
                  <a:srgbClr val="888888"/>
                </a:solidFill>
                <a:latin typeface="Noto Sans" pitchFamily="34" charset="0"/>
                <a:ea typeface="Noto Sans" pitchFamily="34" charset="-122"/>
                <a:cs typeface="Noto Sans" pitchFamily="34" charset="-120"/>
              </a:rPr>
              <a:t>F1-Score</a:t>
            </a:r>
            <a:endParaRPr lang="en-US" sz="900" dirty="0"/>
          </a:p>
        </p:txBody>
      </p:sp>
      <p:sp>
        <p:nvSpPr>
          <p:cNvPr id="22" name="Text 19">
            <a:extLst>
              <a:ext uri="{FF2B5EF4-FFF2-40B4-BE49-F238E27FC236}">
                <a16:creationId xmlns:a16="http://schemas.microsoft.com/office/drawing/2014/main" id="{C8483075-36F8-0EBA-2C9C-39E25E0A70F2}"/>
              </a:ext>
            </a:extLst>
          </p:cNvPr>
          <p:cNvSpPr/>
          <p:nvPr/>
        </p:nvSpPr>
        <p:spPr>
          <a:xfrm>
            <a:off x="3293154" y="2302078"/>
            <a:ext cx="620342" cy="138499"/>
          </a:xfrm>
          <a:prstGeom prst="rect">
            <a:avLst/>
          </a:prstGeom>
          <a:noFill/>
          <a:ln/>
        </p:spPr>
        <p:txBody>
          <a:bodyPr wrap="square" lIns="0" tIns="0" rIns="0" bIns="0" rtlCol="0" anchor="ctr">
            <a:spAutoFit/>
          </a:bodyPr>
          <a:lstStyle/>
          <a:p>
            <a:pPr marL="0" indent="0" algn="ctr">
              <a:buNone/>
            </a:pPr>
            <a:r>
              <a:rPr lang="en-US" sz="900" b="1" dirty="0">
                <a:solidFill>
                  <a:srgbClr val="888888"/>
                </a:solidFill>
                <a:latin typeface="Noto Sans" pitchFamily="34" charset="0"/>
                <a:ea typeface="Noto Sans" pitchFamily="34" charset="-122"/>
                <a:cs typeface="Noto Sans" pitchFamily="34" charset="-120"/>
              </a:rPr>
              <a:t>Support</a:t>
            </a:r>
            <a:endParaRPr lang="en-US" sz="900" dirty="0"/>
          </a:p>
        </p:txBody>
      </p:sp>
      <p:sp>
        <p:nvSpPr>
          <p:cNvPr id="23" name="Shape 20">
            <a:extLst>
              <a:ext uri="{FF2B5EF4-FFF2-40B4-BE49-F238E27FC236}">
                <a16:creationId xmlns:a16="http://schemas.microsoft.com/office/drawing/2014/main" id="{0E842FF0-63C2-E3AA-0BFF-3EEE378CAD22}"/>
              </a:ext>
            </a:extLst>
          </p:cNvPr>
          <p:cNvSpPr/>
          <p:nvPr/>
        </p:nvSpPr>
        <p:spPr>
          <a:xfrm>
            <a:off x="309301" y="2529382"/>
            <a:ext cx="3837220" cy="367316"/>
          </a:xfrm>
          <a:prstGeom prst="rect">
            <a:avLst/>
          </a:prstGeom>
          <a:solidFill>
            <a:srgbClr val="FFFACD"/>
          </a:solidFill>
          <a:ln/>
        </p:spPr>
        <p:txBody>
          <a:bodyPr/>
          <a:lstStyle/>
          <a:p>
            <a:endParaRPr lang="en-US"/>
          </a:p>
        </p:txBody>
      </p:sp>
      <p:sp>
        <p:nvSpPr>
          <p:cNvPr id="24" name="Shape 21">
            <a:extLst>
              <a:ext uri="{FF2B5EF4-FFF2-40B4-BE49-F238E27FC236}">
                <a16:creationId xmlns:a16="http://schemas.microsoft.com/office/drawing/2014/main" id="{49683EFB-A40C-C584-D2C0-A01CE73F8C89}"/>
              </a:ext>
            </a:extLst>
          </p:cNvPr>
          <p:cNvSpPr/>
          <p:nvPr/>
        </p:nvSpPr>
        <p:spPr>
          <a:xfrm>
            <a:off x="309300" y="2529382"/>
            <a:ext cx="57731" cy="367316"/>
          </a:xfrm>
          <a:prstGeom prst="rect">
            <a:avLst/>
          </a:prstGeom>
          <a:solidFill>
            <a:srgbClr val="F39C12"/>
          </a:solidFill>
          <a:ln/>
        </p:spPr>
        <p:txBody>
          <a:bodyPr/>
          <a:lstStyle/>
          <a:p>
            <a:endParaRPr lang="en-US"/>
          </a:p>
        </p:txBody>
      </p:sp>
      <p:sp>
        <p:nvSpPr>
          <p:cNvPr id="25" name="Text 22">
            <a:extLst>
              <a:ext uri="{FF2B5EF4-FFF2-40B4-BE49-F238E27FC236}">
                <a16:creationId xmlns:a16="http://schemas.microsoft.com/office/drawing/2014/main" id="{D72C0D42-A67E-9E08-FF81-810F7976A01C}"/>
              </a:ext>
            </a:extLst>
          </p:cNvPr>
          <p:cNvSpPr/>
          <p:nvPr/>
        </p:nvSpPr>
        <p:spPr>
          <a:xfrm>
            <a:off x="487417" y="2632810"/>
            <a:ext cx="236935" cy="161583"/>
          </a:xfrm>
          <a:prstGeom prst="rect">
            <a:avLst/>
          </a:prstGeom>
          <a:noFill/>
          <a:ln/>
        </p:spPr>
        <p:txBody>
          <a:bodyPr wrap="squar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H1</a:t>
            </a:r>
            <a:endParaRPr lang="en-US" sz="1050" dirty="0"/>
          </a:p>
        </p:txBody>
      </p:sp>
      <p:sp>
        <p:nvSpPr>
          <p:cNvPr id="26" name="Text 23">
            <a:extLst>
              <a:ext uri="{FF2B5EF4-FFF2-40B4-BE49-F238E27FC236}">
                <a16:creationId xmlns:a16="http://schemas.microsoft.com/office/drawing/2014/main" id="{E4A6034A-BA27-6A59-4BEF-B1CC6AA70A51}"/>
              </a:ext>
            </a:extLst>
          </p:cNvPr>
          <p:cNvSpPr/>
          <p:nvPr/>
        </p:nvSpPr>
        <p:spPr>
          <a:xfrm>
            <a:off x="1026967" y="2636865"/>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0.9803</a:t>
            </a:r>
            <a:endParaRPr lang="en-US" sz="1000" dirty="0"/>
          </a:p>
        </p:txBody>
      </p:sp>
      <p:sp>
        <p:nvSpPr>
          <p:cNvPr id="27" name="Text 24">
            <a:extLst>
              <a:ext uri="{FF2B5EF4-FFF2-40B4-BE49-F238E27FC236}">
                <a16:creationId xmlns:a16="http://schemas.microsoft.com/office/drawing/2014/main" id="{392E8041-2C77-23F7-A3DA-0CEA4AC2CA2C}"/>
              </a:ext>
            </a:extLst>
          </p:cNvPr>
          <p:cNvSpPr/>
          <p:nvPr/>
        </p:nvSpPr>
        <p:spPr>
          <a:xfrm>
            <a:off x="1777061" y="2636865"/>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0.9743</a:t>
            </a:r>
            <a:endParaRPr lang="en-US" sz="1000" dirty="0"/>
          </a:p>
        </p:txBody>
      </p:sp>
      <p:sp>
        <p:nvSpPr>
          <p:cNvPr id="28" name="Text 25">
            <a:extLst>
              <a:ext uri="{FF2B5EF4-FFF2-40B4-BE49-F238E27FC236}">
                <a16:creationId xmlns:a16="http://schemas.microsoft.com/office/drawing/2014/main" id="{635D9DFE-BF5E-5AEE-4DB7-E81FE396D408}"/>
              </a:ext>
            </a:extLst>
          </p:cNvPr>
          <p:cNvSpPr/>
          <p:nvPr/>
        </p:nvSpPr>
        <p:spPr>
          <a:xfrm>
            <a:off x="2527155" y="2636865"/>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0.9773</a:t>
            </a:r>
            <a:endParaRPr lang="en-US" sz="1000" dirty="0"/>
          </a:p>
        </p:txBody>
      </p:sp>
      <p:sp>
        <p:nvSpPr>
          <p:cNvPr id="29" name="Text 26">
            <a:extLst>
              <a:ext uri="{FF2B5EF4-FFF2-40B4-BE49-F238E27FC236}">
                <a16:creationId xmlns:a16="http://schemas.microsoft.com/office/drawing/2014/main" id="{2C9D2B10-9ABF-861E-3759-8388AA2A8759}"/>
              </a:ext>
            </a:extLst>
          </p:cNvPr>
          <p:cNvSpPr/>
          <p:nvPr/>
        </p:nvSpPr>
        <p:spPr>
          <a:xfrm>
            <a:off x="3364611" y="2636865"/>
            <a:ext cx="284323"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155</a:t>
            </a:r>
            <a:endParaRPr lang="en-US" sz="1000" dirty="0"/>
          </a:p>
        </p:txBody>
      </p:sp>
      <p:sp>
        <p:nvSpPr>
          <p:cNvPr id="30" name="Shape 27">
            <a:extLst>
              <a:ext uri="{FF2B5EF4-FFF2-40B4-BE49-F238E27FC236}">
                <a16:creationId xmlns:a16="http://schemas.microsoft.com/office/drawing/2014/main" id="{94AE431D-7E2C-5283-A693-DF93F1C738E3}"/>
              </a:ext>
            </a:extLst>
          </p:cNvPr>
          <p:cNvSpPr/>
          <p:nvPr/>
        </p:nvSpPr>
        <p:spPr>
          <a:xfrm>
            <a:off x="309301" y="2897285"/>
            <a:ext cx="3837220" cy="367316"/>
          </a:xfrm>
          <a:prstGeom prst="rect">
            <a:avLst/>
          </a:prstGeom>
          <a:solidFill>
            <a:srgbClr val="FFFACD"/>
          </a:solidFill>
          <a:ln/>
        </p:spPr>
        <p:txBody>
          <a:bodyPr/>
          <a:lstStyle/>
          <a:p>
            <a:endParaRPr lang="en-US"/>
          </a:p>
        </p:txBody>
      </p:sp>
      <p:sp>
        <p:nvSpPr>
          <p:cNvPr id="31" name="Shape 28">
            <a:extLst>
              <a:ext uri="{FF2B5EF4-FFF2-40B4-BE49-F238E27FC236}">
                <a16:creationId xmlns:a16="http://schemas.microsoft.com/office/drawing/2014/main" id="{4928803B-7F15-96D7-B36E-D95AEEEB0C69}"/>
              </a:ext>
            </a:extLst>
          </p:cNvPr>
          <p:cNvSpPr/>
          <p:nvPr/>
        </p:nvSpPr>
        <p:spPr>
          <a:xfrm>
            <a:off x="309300" y="2897285"/>
            <a:ext cx="57731" cy="367316"/>
          </a:xfrm>
          <a:prstGeom prst="rect">
            <a:avLst/>
          </a:prstGeom>
          <a:solidFill>
            <a:srgbClr val="F39C12"/>
          </a:solidFill>
          <a:ln/>
        </p:spPr>
        <p:txBody>
          <a:bodyPr/>
          <a:lstStyle/>
          <a:p>
            <a:endParaRPr lang="en-US"/>
          </a:p>
        </p:txBody>
      </p:sp>
      <p:sp>
        <p:nvSpPr>
          <p:cNvPr id="32" name="Text 29">
            <a:extLst>
              <a:ext uri="{FF2B5EF4-FFF2-40B4-BE49-F238E27FC236}">
                <a16:creationId xmlns:a16="http://schemas.microsoft.com/office/drawing/2014/main" id="{7C5DADD3-0A11-B336-5210-76D82F1BB737}"/>
              </a:ext>
            </a:extLst>
          </p:cNvPr>
          <p:cNvSpPr/>
          <p:nvPr/>
        </p:nvSpPr>
        <p:spPr>
          <a:xfrm>
            <a:off x="487417" y="3000713"/>
            <a:ext cx="236935" cy="161583"/>
          </a:xfrm>
          <a:prstGeom prst="rect">
            <a:avLst/>
          </a:prstGeom>
          <a:noFill/>
          <a:ln/>
        </p:spPr>
        <p:txBody>
          <a:bodyPr wrap="squar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H2</a:t>
            </a:r>
            <a:endParaRPr lang="en-US" sz="1050" dirty="0"/>
          </a:p>
        </p:txBody>
      </p:sp>
      <p:sp>
        <p:nvSpPr>
          <p:cNvPr id="33" name="Text 30">
            <a:extLst>
              <a:ext uri="{FF2B5EF4-FFF2-40B4-BE49-F238E27FC236}">
                <a16:creationId xmlns:a16="http://schemas.microsoft.com/office/drawing/2014/main" id="{4C218657-13E1-94D6-7F47-6425AC59A8E6}"/>
              </a:ext>
            </a:extLst>
          </p:cNvPr>
          <p:cNvSpPr/>
          <p:nvPr/>
        </p:nvSpPr>
        <p:spPr>
          <a:xfrm>
            <a:off x="1026967" y="3004768"/>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0.9744</a:t>
            </a:r>
            <a:endParaRPr lang="en-US" sz="1000" dirty="0"/>
          </a:p>
        </p:txBody>
      </p:sp>
      <p:sp>
        <p:nvSpPr>
          <p:cNvPr id="34" name="Text 31">
            <a:extLst>
              <a:ext uri="{FF2B5EF4-FFF2-40B4-BE49-F238E27FC236}">
                <a16:creationId xmlns:a16="http://schemas.microsoft.com/office/drawing/2014/main" id="{03B2F1DD-13B0-530C-BA2C-E55245EF137C}"/>
              </a:ext>
            </a:extLst>
          </p:cNvPr>
          <p:cNvSpPr/>
          <p:nvPr/>
        </p:nvSpPr>
        <p:spPr>
          <a:xfrm>
            <a:off x="1777061" y="3004768"/>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0.9806</a:t>
            </a:r>
            <a:endParaRPr lang="en-US" sz="1000" dirty="0"/>
          </a:p>
        </p:txBody>
      </p:sp>
      <p:sp>
        <p:nvSpPr>
          <p:cNvPr id="35" name="Text 32">
            <a:extLst>
              <a:ext uri="{FF2B5EF4-FFF2-40B4-BE49-F238E27FC236}">
                <a16:creationId xmlns:a16="http://schemas.microsoft.com/office/drawing/2014/main" id="{3B217993-74FB-FCA7-F9A7-0061936C7750}"/>
              </a:ext>
            </a:extLst>
          </p:cNvPr>
          <p:cNvSpPr/>
          <p:nvPr/>
        </p:nvSpPr>
        <p:spPr>
          <a:xfrm>
            <a:off x="2527155" y="3004768"/>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0.9775</a:t>
            </a:r>
            <a:endParaRPr lang="en-US" sz="1000" dirty="0"/>
          </a:p>
        </p:txBody>
      </p:sp>
      <p:sp>
        <p:nvSpPr>
          <p:cNvPr id="36" name="Text 33">
            <a:extLst>
              <a:ext uri="{FF2B5EF4-FFF2-40B4-BE49-F238E27FC236}">
                <a16:creationId xmlns:a16="http://schemas.microsoft.com/office/drawing/2014/main" id="{749848C3-535D-A27E-3677-5A49E546C765}"/>
              </a:ext>
            </a:extLst>
          </p:cNvPr>
          <p:cNvSpPr/>
          <p:nvPr/>
        </p:nvSpPr>
        <p:spPr>
          <a:xfrm>
            <a:off x="3364611" y="3004768"/>
            <a:ext cx="284323"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154</a:t>
            </a:r>
            <a:endParaRPr lang="en-US" sz="1000" dirty="0"/>
          </a:p>
        </p:txBody>
      </p:sp>
      <p:sp>
        <p:nvSpPr>
          <p:cNvPr id="37" name="Shape 34">
            <a:extLst>
              <a:ext uri="{FF2B5EF4-FFF2-40B4-BE49-F238E27FC236}">
                <a16:creationId xmlns:a16="http://schemas.microsoft.com/office/drawing/2014/main" id="{24E0D057-B82E-0F49-5B66-EB2CFAFA5B4E}"/>
              </a:ext>
            </a:extLst>
          </p:cNvPr>
          <p:cNvSpPr/>
          <p:nvPr/>
        </p:nvSpPr>
        <p:spPr>
          <a:xfrm>
            <a:off x="309301" y="3265188"/>
            <a:ext cx="3837220" cy="367316"/>
          </a:xfrm>
          <a:prstGeom prst="rect">
            <a:avLst/>
          </a:prstGeom>
          <a:solidFill>
            <a:srgbClr val="FFFFFF"/>
          </a:solidFill>
          <a:ln/>
        </p:spPr>
        <p:txBody>
          <a:bodyPr/>
          <a:lstStyle/>
          <a:p>
            <a:endParaRPr lang="en-US"/>
          </a:p>
        </p:txBody>
      </p:sp>
      <p:sp>
        <p:nvSpPr>
          <p:cNvPr id="38" name="Shape 35">
            <a:extLst>
              <a:ext uri="{FF2B5EF4-FFF2-40B4-BE49-F238E27FC236}">
                <a16:creationId xmlns:a16="http://schemas.microsoft.com/office/drawing/2014/main" id="{1BE7F833-C984-DDCA-8519-585005C2AF3D}"/>
              </a:ext>
            </a:extLst>
          </p:cNvPr>
          <p:cNvSpPr/>
          <p:nvPr/>
        </p:nvSpPr>
        <p:spPr>
          <a:xfrm>
            <a:off x="309300" y="3265188"/>
            <a:ext cx="57731" cy="367316"/>
          </a:xfrm>
          <a:prstGeom prst="rect">
            <a:avLst/>
          </a:prstGeom>
          <a:solidFill>
            <a:srgbClr val="2E5090"/>
          </a:solidFill>
          <a:ln/>
        </p:spPr>
        <p:txBody>
          <a:bodyPr/>
          <a:lstStyle/>
          <a:p>
            <a:endParaRPr lang="en-US"/>
          </a:p>
        </p:txBody>
      </p:sp>
      <p:sp>
        <p:nvSpPr>
          <p:cNvPr id="39" name="Text 36">
            <a:extLst>
              <a:ext uri="{FF2B5EF4-FFF2-40B4-BE49-F238E27FC236}">
                <a16:creationId xmlns:a16="http://schemas.microsoft.com/office/drawing/2014/main" id="{C119035C-1832-6960-155C-5E8A5740FDA0}"/>
              </a:ext>
            </a:extLst>
          </p:cNvPr>
          <p:cNvSpPr/>
          <p:nvPr/>
        </p:nvSpPr>
        <p:spPr>
          <a:xfrm>
            <a:off x="487417" y="3368616"/>
            <a:ext cx="236935" cy="161583"/>
          </a:xfrm>
          <a:prstGeom prst="rect">
            <a:avLst/>
          </a:prstGeom>
          <a:noFill/>
          <a:ln/>
        </p:spPr>
        <p:txBody>
          <a:bodyPr wrap="squar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H3</a:t>
            </a:r>
            <a:endParaRPr lang="en-US" sz="1050" dirty="0"/>
          </a:p>
        </p:txBody>
      </p:sp>
      <p:sp>
        <p:nvSpPr>
          <p:cNvPr id="40" name="Text 37">
            <a:extLst>
              <a:ext uri="{FF2B5EF4-FFF2-40B4-BE49-F238E27FC236}">
                <a16:creationId xmlns:a16="http://schemas.microsoft.com/office/drawing/2014/main" id="{9C373AAA-1BAF-0A51-C355-6ACC7AD46D14}"/>
              </a:ext>
            </a:extLst>
          </p:cNvPr>
          <p:cNvSpPr/>
          <p:nvPr/>
        </p:nvSpPr>
        <p:spPr>
          <a:xfrm>
            <a:off x="1026967" y="3372671"/>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0.9918</a:t>
            </a:r>
            <a:endParaRPr lang="en-US" sz="1000" dirty="0"/>
          </a:p>
        </p:txBody>
      </p:sp>
      <p:sp>
        <p:nvSpPr>
          <p:cNvPr id="41" name="Text 38">
            <a:extLst>
              <a:ext uri="{FF2B5EF4-FFF2-40B4-BE49-F238E27FC236}">
                <a16:creationId xmlns:a16="http://schemas.microsoft.com/office/drawing/2014/main" id="{6B55C2D6-56CF-A595-728F-9DA4891CCB85}"/>
              </a:ext>
            </a:extLst>
          </p:cNvPr>
          <p:cNvSpPr/>
          <p:nvPr/>
        </p:nvSpPr>
        <p:spPr>
          <a:xfrm>
            <a:off x="1777061" y="3372671"/>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0.9918</a:t>
            </a:r>
            <a:endParaRPr lang="en-US" sz="1000" dirty="0"/>
          </a:p>
        </p:txBody>
      </p:sp>
      <p:sp>
        <p:nvSpPr>
          <p:cNvPr id="42" name="Text 39">
            <a:extLst>
              <a:ext uri="{FF2B5EF4-FFF2-40B4-BE49-F238E27FC236}">
                <a16:creationId xmlns:a16="http://schemas.microsoft.com/office/drawing/2014/main" id="{784B366F-ECF7-14A8-3D6E-0F203A0F9EA7}"/>
              </a:ext>
            </a:extLst>
          </p:cNvPr>
          <p:cNvSpPr/>
          <p:nvPr/>
        </p:nvSpPr>
        <p:spPr>
          <a:xfrm>
            <a:off x="2527155" y="3372671"/>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0.9918</a:t>
            </a:r>
            <a:endParaRPr lang="en-US" sz="1000" dirty="0"/>
          </a:p>
        </p:txBody>
      </p:sp>
      <p:sp>
        <p:nvSpPr>
          <p:cNvPr id="43" name="Text 40">
            <a:extLst>
              <a:ext uri="{FF2B5EF4-FFF2-40B4-BE49-F238E27FC236}">
                <a16:creationId xmlns:a16="http://schemas.microsoft.com/office/drawing/2014/main" id="{D2325D90-42BE-3A59-61AF-9A18B2DD72FD}"/>
              </a:ext>
            </a:extLst>
          </p:cNvPr>
          <p:cNvSpPr/>
          <p:nvPr/>
        </p:nvSpPr>
        <p:spPr>
          <a:xfrm>
            <a:off x="3364611" y="3372671"/>
            <a:ext cx="284323"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122</a:t>
            </a:r>
            <a:endParaRPr lang="en-US" sz="1000" dirty="0"/>
          </a:p>
        </p:txBody>
      </p:sp>
      <p:sp>
        <p:nvSpPr>
          <p:cNvPr id="44" name="Shape 41">
            <a:extLst>
              <a:ext uri="{FF2B5EF4-FFF2-40B4-BE49-F238E27FC236}">
                <a16:creationId xmlns:a16="http://schemas.microsoft.com/office/drawing/2014/main" id="{C71B0B08-3646-5B41-2E85-DE5D0D979FCD}"/>
              </a:ext>
            </a:extLst>
          </p:cNvPr>
          <p:cNvSpPr/>
          <p:nvPr/>
        </p:nvSpPr>
        <p:spPr>
          <a:xfrm>
            <a:off x="309301" y="3633091"/>
            <a:ext cx="3837220" cy="367316"/>
          </a:xfrm>
          <a:prstGeom prst="rect">
            <a:avLst/>
          </a:prstGeom>
          <a:solidFill>
            <a:srgbClr val="FFFFFF"/>
          </a:solidFill>
          <a:ln/>
        </p:spPr>
        <p:txBody>
          <a:bodyPr/>
          <a:lstStyle/>
          <a:p>
            <a:endParaRPr lang="en-US"/>
          </a:p>
        </p:txBody>
      </p:sp>
      <p:sp>
        <p:nvSpPr>
          <p:cNvPr id="45" name="Shape 42">
            <a:extLst>
              <a:ext uri="{FF2B5EF4-FFF2-40B4-BE49-F238E27FC236}">
                <a16:creationId xmlns:a16="http://schemas.microsoft.com/office/drawing/2014/main" id="{528313AC-AC99-66DD-26BF-CF6371442950}"/>
              </a:ext>
            </a:extLst>
          </p:cNvPr>
          <p:cNvSpPr/>
          <p:nvPr/>
        </p:nvSpPr>
        <p:spPr>
          <a:xfrm>
            <a:off x="309300" y="3633091"/>
            <a:ext cx="57731" cy="367316"/>
          </a:xfrm>
          <a:prstGeom prst="rect">
            <a:avLst/>
          </a:prstGeom>
          <a:solidFill>
            <a:srgbClr val="2E5090"/>
          </a:solidFill>
          <a:ln/>
        </p:spPr>
        <p:txBody>
          <a:bodyPr/>
          <a:lstStyle/>
          <a:p>
            <a:endParaRPr lang="en-US"/>
          </a:p>
        </p:txBody>
      </p:sp>
      <p:sp>
        <p:nvSpPr>
          <p:cNvPr id="46" name="Text 43">
            <a:extLst>
              <a:ext uri="{FF2B5EF4-FFF2-40B4-BE49-F238E27FC236}">
                <a16:creationId xmlns:a16="http://schemas.microsoft.com/office/drawing/2014/main" id="{9F8EA96C-9C13-FB37-1C31-94E6AD7DA98C}"/>
              </a:ext>
            </a:extLst>
          </p:cNvPr>
          <p:cNvSpPr/>
          <p:nvPr/>
        </p:nvSpPr>
        <p:spPr>
          <a:xfrm>
            <a:off x="487417" y="3736519"/>
            <a:ext cx="236935" cy="161583"/>
          </a:xfrm>
          <a:prstGeom prst="rect">
            <a:avLst/>
          </a:prstGeom>
          <a:noFill/>
          <a:ln/>
        </p:spPr>
        <p:txBody>
          <a:bodyPr wrap="squar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H5</a:t>
            </a:r>
            <a:endParaRPr lang="en-US" sz="1050" dirty="0"/>
          </a:p>
        </p:txBody>
      </p:sp>
      <p:sp>
        <p:nvSpPr>
          <p:cNvPr id="47" name="Text 44">
            <a:extLst>
              <a:ext uri="{FF2B5EF4-FFF2-40B4-BE49-F238E27FC236}">
                <a16:creationId xmlns:a16="http://schemas.microsoft.com/office/drawing/2014/main" id="{C023D512-90BD-8937-1181-5D47D5453763}"/>
              </a:ext>
            </a:extLst>
          </p:cNvPr>
          <p:cNvSpPr/>
          <p:nvPr/>
        </p:nvSpPr>
        <p:spPr>
          <a:xfrm>
            <a:off x="1026967" y="3740574"/>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0.9915</a:t>
            </a:r>
            <a:endParaRPr lang="en-US" sz="1000" dirty="0"/>
          </a:p>
        </p:txBody>
      </p:sp>
      <p:sp>
        <p:nvSpPr>
          <p:cNvPr id="48" name="Text 45">
            <a:extLst>
              <a:ext uri="{FF2B5EF4-FFF2-40B4-BE49-F238E27FC236}">
                <a16:creationId xmlns:a16="http://schemas.microsoft.com/office/drawing/2014/main" id="{EEEF70B2-1D36-813B-E8EC-9F3B50939344}"/>
              </a:ext>
            </a:extLst>
          </p:cNvPr>
          <p:cNvSpPr/>
          <p:nvPr/>
        </p:nvSpPr>
        <p:spPr>
          <a:xfrm>
            <a:off x="1777061" y="3740574"/>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0.9915</a:t>
            </a:r>
            <a:endParaRPr lang="en-US" sz="1000" dirty="0"/>
          </a:p>
        </p:txBody>
      </p:sp>
      <p:sp>
        <p:nvSpPr>
          <p:cNvPr id="49" name="Text 46">
            <a:extLst>
              <a:ext uri="{FF2B5EF4-FFF2-40B4-BE49-F238E27FC236}">
                <a16:creationId xmlns:a16="http://schemas.microsoft.com/office/drawing/2014/main" id="{ACE430DF-3D4B-D356-6BDA-52681B434A9A}"/>
              </a:ext>
            </a:extLst>
          </p:cNvPr>
          <p:cNvSpPr/>
          <p:nvPr/>
        </p:nvSpPr>
        <p:spPr>
          <a:xfrm>
            <a:off x="2527155" y="3740574"/>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0.9915</a:t>
            </a:r>
            <a:endParaRPr lang="en-US" sz="1000" dirty="0"/>
          </a:p>
        </p:txBody>
      </p:sp>
      <p:sp>
        <p:nvSpPr>
          <p:cNvPr id="50" name="Text 47">
            <a:extLst>
              <a:ext uri="{FF2B5EF4-FFF2-40B4-BE49-F238E27FC236}">
                <a16:creationId xmlns:a16="http://schemas.microsoft.com/office/drawing/2014/main" id="{A43ABA0A-C631-741A-1078-6D94EF039C0A}"/>
              </a:ext>
            </a:extLst>
          </p:cNvPr>
          <p:cNvSpPr/>
          <p:nvPr/>
        </p:nvSpPr>
        <p:spPr>
          <a:xfrm>
            <a:off x="3364611" y="3740574"/>
            <a:ext cx="284323"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118</a:t>
            </a:r>
            <a:endParaRPr lang="en-US" sz="1000" dirty="0"/>
          </a:p>
        </p:txBody>
      </p:sp>
      <p:sp>
        <p:nvSpPr>
          <p:cNvPr id="51" name="Shape 48">
            <a:extLst>
              <a:ext uri="{FF2B5EF4-FFF2-40B4-BE49-F238E27FC236}">
                <a16:creationId xmlns:a16="http://schemas.microsoft.com/office/drawing/2014/main" id="{913754F8-B85E-9F98-AAC0-BEE88C018555}"/>
              </a:ext>
            </a:extLst>
          </p:cNvPr>
          <p:cNvSpPr/>
          <p:nvPr/>
        </p:nvSpPr>
        <p:spPr>
          <a:xfrm>
            <a:off x="309301" y="4000994"/>
            <a:ext cx="3837220" cy="367316"/>
          </a:xfrm>
          <a:prstGeom prst="rect">
            <a:avLst/>
          </a:prstGeom>
          <a:solidFill>
            <a:srgbClr val="FFFFFF"/>
          </a:solidFill>
          <a:ln/>
        </p:spPr>
        <p:txBody>
          <a:bodyPr/>
          <a:lstStyle/>
          <a:p>
            <a:endParaRPr lang="en-US"/>
          </a:p>
        </p:txBody>
      </p:sp>
      <p:sp>
        <p:nvSpPr>
          <p:cNvPr id="52" name="Shape 49">
            <a:extLst>
              <a:ext uri="{FF2B5EF4-FFF2-40B4-BE49-F238E27FC236}">
                <a16:creationId xmlns:a16="http://schemas.microsoft.com/office/drawing/2014/main" id="{EAACA29E-4C34-2B50-888B-A1CD026BEEE5}"/>
              </a:ext>
            </a:extLst>
          </p:cNvPr>
          <p:cNvSpPr/>
          <p:nvPr/>
        </p:nvSpPr>
        <p:spPr>
          <a:xfrm>
            <a:off x="309300" y="4000994"/>
            <a:ext cx="57731" cy="367316"/>
          </a:xfrm>
          <a:prstGeom prst="rect">
            <a:avLst/>
          </a:prstGeom>
          <a:solidFill>
            <a:srgbClr val="2E5090"/>
          </a:solidFill>
          <a:ln/>
        </p:spPr>
        <p:txBody>
          <a:bodyPr/>
          <a:lstStyle/>
          <a:p>
            <a:endParaRPr lang="en-US"/>
          </a:p>
        </p:txBody>
      </p:sp>
      <p:sp>
        <p:nvSpPr>
          <p:cNvPr id="53" name="Text 50">
            <a:extLst>
              <a:ext uri="{FF2B5EF4-FFF2-40B4-BE49-F238E27FC236}">
                <a16:creationId xmlns:a16="http://schemas.microsoft.com/office/drawing/2014/main" id="{86D81C75-F68D-C409-DF3D-CCA9E38468B1}"/>
              </a:ext>
            </a:extLst>
          </p:cNvPr>
          <p:cNvSpPr/>
          <p:nvPr/>
        </p:nvSpPr>
        <p:spPr>
          <a:xfrm>
            <a:off x="487417" y="4104423"/>
            <a:ext cx="236935" cy="161583"/>
          </a:xfrm>
          <a:prstGeom prst="rect">
            <a:avLst/>
          </a:prstGeom>
          <a:noFill/>
          <a:ln/>
        </p:spPr>
        <p:txBody>
          <a:bodyPr wrap="square" lIns="0" tIns="0" rIns="0" bIns="0" rtlCol="0" anchor="ctr">
            <a:spAutoFit/>
          </a:bodyPr>
          <a:lstStyle/>
          <a:p>
            <a:pPr marL="0" indent="0">
              <a:buNone/>
            </a:pPr>
            <a:r>
              <a:rPr lang="en-US" sz="1050" b="1" dirty="0">
                <a:solidFill>
                  <a:srgbClr val="1A3A52"/>
                </a:solidFill>
                <a:latin typeface="Noto Sans" pitchFamily="34" charset="0"/>
                <a:ea typeface="Noto Sans" pitchFamily="34" charset="-122"/>
                <a:cs typeface="Noto Sans" pitchFamily="34" charset="-120"/>
              </a:rPr>
              <a:t>H6</a:t>
            </a:r>
            <a:endParaRPr lang="en-US" sz="1050" dirty="0"/>
          </a:p>
        </p:txBody>
      </p:sp>
      <p:sp>
        <p:nvSpPr>
          <p:cNvPr id="54" name="Text 51">
            <a:extLst>
              <a:ext uri="{FF2B5EF4-FFF2-40B4-BE49-F238E27FC236}">
                <a16:creationId xmlns:a16="http://schemas.microsoft.com/office/drawing/2014/main" id="{8C63CA5D-78F9-4526-B826-3807FCCD6922}"/>
              </a:ext>
            </a:extLst>
          </p:cNvPr>
          <p:cNvSpPr/>
          <p:nvPr/>
        </p:nvSpPr>
        <p:spPr>
          <a:xfrm>
            <a:off x="1026967" y="4108477"/>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0.9921</a:t>
            </a:r>
            <a:endParaRPr lang="en-US" sz="1000" dirty="0"/>
          </a:p>
        </p:txBody>
      </p:sp>
      <p:sp>
        <p:nvSpPr>
          <p:cNvPr id="55" name="Text 52">
            <a:extLst>
              <a:ext uri="{FF2B5EF4-FFF2-40B4-BE49-F238E27FC236}">
                <a16:creationId xmlns:a16="http://schemas.microsoft.com/office/drawing/2014/main" id="{0400461C-802D-221F-3704-D2DE2E13F19C}"/>
              </a:ext>
            </a:extLst>
          </p:cNvPr>
          <p:cNvSpPr/>
          <p:nvPr/>
        </p:nvSpPr>
        <p:spPr>
          <a:xfrm>
            <a:off x="1777061" y="4108477"/>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0.9921</a:t>
            </a:r>
            <a:endParaRPr lang="en-US" sz="1000" dirty="0"/>
          </a:p>
        </p:txBody>
      </p:sp>
      <p:sp>
        <p:nvSpPr>
          <p:cNvPr id="56" name="Text 53">
            <a:extLst>
              <a:ext uri="{FF2B5EF4-FFF2-40B4-BE49-F238E27FC236}">
                <a16:creationId xmlns:a16="http://schemas.microsoft.com/office/drawing/2014/main" id="{4A58B294-13EB-3163-B886-299FAEB594C5}"/>
              </a:ext>
            </a:extLst>
          </p:cNvPr>
          <p:cNvSpPr/>
          <p:nvPr/>
        </p:nvSpPr>
        <p:spPr>
          <a:xfrm>
            <a:off x="2527155" y="4108477"/>
            <a:ext cx="519104"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0.9921</a:t>
            </a:r>
            <a:endParaRPr lang="en-US" sz="1000" dirty="0"/>
          </a:p>
        </p:txBody>
      </p:sp>
      <p:sp>
        <p:nvSpPr>
          <p:cNvPr id="57" name="Text 54">
            <a:extLst>
              <a:ext uri="{FF2B5EF4-FFF2-40B4-BE49-F238E27FC236}">
                <a16:creationId xmlns:a16="http://schemas.microsoft.com/office/drawing/2014/main" id="{877144AB-ABD8-5BBE-B3A7-13B6300DA722}"/>
              </a:ext>
            </a:extLst>
          </p:cNvPr>
          <p:cNvSpPr/>
          <p:nvPr/>
        </p:nvSpPr>
        <p:spPr>
          <a:xfrm>
            <a:off x="3364611" y="4108477"/>
            <a:ext cx="284323" cy="153888"/>
          </a:xfrm>
          <a:prstGeom prst="rect">
            <a:avLst/>
          </a:prstGeom>
          <a:noFill/>
          <a:ln/>
        </p:spPr>
        <p:txBody>
          <a:bodyPr wrap="square" lIns="0" tIns="0" rIns="0" bIns="0" rtlCol="0" anchor="ctr">
            <a:spAutoFit/>
          </a:bodyPr>
          <a:lstStyle/>
          <a:p>
            <a:pPr marL="0" indent="0" algn="ctr">
              <a:buNone/>
            </a:pPr>
            <a:r>
              <a:rPr lang="en-US" sz="1000" dirty="0">
                <a:solidFill>
                  <a:srgbClr val="34495E"/>
                </a:solidFill>
                <a:latin typeface="Noto Sans" pitchFamily="34" charset="0"/>
                <a:ea typeface="Noto Sans" pitchFamily="34" charset="-122"/>
                <a:cs typeface="Noto Sans" pitchFamily="34" charset="-120"/>
              </a:rPr>
              <a:t>127</a:t>
            </a:r>
            <a:endParaRPr lang="en-US" sz="1000" dirty="0"/>
          </a:p>
        </p:txBody>
      </p:sp>
      <p:sp>
        <p:nvSpPr>
          <p:cNvPr id="61" name="Shape 58">
            <a:extLst>
              <a:ext uri="{FF2B5EF4-FFF2-40B4-BE49-F238E27FC236}">
                <a16:creationId xmlns:a16="http://schemas.microsoft.com/office/drawing/2014/main" id="{11EB278D-35CB-589F-92FC-6DCC5DAD8AFE}"/>
              </a:ext>
            </a:extLst>
          </p:cNvPr>
          <p:cNvSpPr/>
          <p:nvPr/>
        </p:nvSpPr>
        <p:spPr>
          <a:xfrm>
            <a:off x="4359309" y="2199844"/>
            <a:ext cx="4614392" cy="2072220"/>
          </a:xfrm>
          <a:prstGeom prst="rect">
            <a:avLst/>
          </a:prstGeom>
          <a:solidFill>
            <a:srgbClr val="E8F4F8"/>
          </a:solidFill>
          <a:ln/>
        </p:spPr>
        <p:txBody>
          <a:bodyPr/>
          <a:lstStyle/>
          <a:p>
            <a:endParaRPr lang="en-US"/>
          </a:p>
        </p:txBody>
      </p:sp>
      <p:sp>
        <p:nvSpPr>
          <p:cNvPr id="62" name="Shape 59">
            <a:extLst>
              <a:ext uri="{FF2B5EF4-FFF2-40B4-BE49-F238E27FC236}">
                <a16:creationId xmlns:a16="http://schemas.microsoft.com/office/drawing/2014/main" id="{0EE58086-847B-D648-0741-D9F49B12D598}"/>
              </a:ext>
            </a:extLst>
          </p:cNvPr>
          <p:cNvSpPr/>
          <p:nvPr/>
        </p:nvSpPr>
        <p:spPr>
          <a:xfrm>
            <a:off x="4359308" y="2199844"/>
            <a:ext cx="51844" cy="2072220"/>
          </a:xfrm>
          <a:prstGeom prst="rect">
            <a:avLst/>
          </a:prstGeom>
          <a:solidFill>
            <a:srgbClr val="F39C12"/>
          </a:solidFill>
          <a:ln/>
        </p:spPr>
        <p:txBody>
          <a:bodyPr/>
          <a:lstStyle/>
          <a:p>
            <a:endParaRPr lang="en-US"/>
          </a:p>
        </p:txBody>
      </p:sp>
      <p:sp>
        <p:nvSpPr>
          <p:cNvPr id="63" name="Text 60">
            <a:extLst>
              <a:ext uri="{FF2B5EF4-FFF2-40B4-BE49-F238E27FC236}">
                <a16:creationId xmlns:a16="http://schemas.microsoft.com/office/drawing/2014/main" id="{BC1B0836-CBF1-7321-6EBB-66E5015C6BD0}"/>
              </a:ext>
            </a:extLst>
          </p:cNvPr>
          <p:cNvSpPr/>
          <p:nvPr/>
        </p:nvSpPr>
        <p:spPr>
          <a:xfrm>
            <a:off x="4466463" y="2577811"/>
            <a:ext cx="1001947" cy="190825"/>
          </a:xfrm>
          <a:prstGeom prst="rect">
            <a:avLst/>
          </a:prstGeom>
          <a:noFill/>
          <a:ln/>
        </p:spPr>
        <p:txBody>
          <a:bodyPr wrap="square" lIns="0" tIns="0" rIns="0" bIns="0" rtlCol="0" anchor="ctr">
            <a:spAutoFit/>
          </a:bodyPr>
          <a:lstStyle/>
          <a:p>
            <a:pPr marL="0" indent="0">
              <a:buNone/>
            </a:pPr>
            <a:r>
              <a:rPr lang="en-US" sz="1200" b="1" dirty="0">
                <a:solidFill>
                  <a:srgbClr val="1A3A52"/>
                </a:solidFill>
                <a:latin typeface="Noto Sans" pitchFamily="34" charset="0"/>
                <a:ea typeface="Noto Sans" pitchFamily="34" charset="-122"/>
                <a:cs typeface="Noto Sans" pitchFamily="34" charset="-120"/>
              </a:rPr>
              <a:t>Key Insight</a:t>
            </a:r>
            <a:endParaRPr lang="en-US" sz="1200" dirty="0"/>
          </a:p>
        </p:txBody>
      </p:sp>
      <p:sp>
        <p:nvSpPr>
          <p:cNvPr id="64" name="Text 61">
            <a:extLst>
              <a:ext uri="{FF2B5EF4-FFF2-40B4-BE49-F238E27FC236}">
                <a16:creationId xmlns:a16="http://schemas.microsoft.com/office/drawing/2014/main" id="{1A35CA0D-BAC4-EDC2-1669-63DAE7693EA4}"/>
              </a:ext>
            </a:extLst>
          </p:cNvPr>
          <p:cNvSpPr/>
          <p:nvPr/>
        </p:nvSpPr>
        <p:spPr>
          <a:xfrm>
            <a:off x="4466463" y="2853341"/>
            <a:ext cx="4486215" cy="834860"/>
          </a:xfrm>
          <a:prstGeom prst="rect">
            <a:avLst/>
          </a:prstGeom>
          <a:noFill/>
          <a:ln/>
        </p:spPr>
        <p:txBody>
          <a:bodyPr wrap="square" lIns="0" tIns="0" rIns="0" bIns="0" rtlCol="0" anchor="ctr">
            <a:spAutoFit/>
          </a:bodyPr>
          <a:lstStyle/>
          <a:p>
            <a:r>
              <a:rPr lang="en-US" sz="1050" dirty="0">
                <a:solidFill>
                  <a:srgbClr val="34495E"/>
                </a:solidFill>
                <a:latin typeface="Noto Sans" pitchFamily="34" charset="0"/>
                <a:ea typeface="Noto Sans" pitchFamily="34" charset="-122"/>
                <a:cs typeface="Noto Sans" pitchFamily="34" charset="-120"/>
              </a:rPr>
              <a:t> The </a:t>
            </a:r>
            <a:r>
              <a:rPr lang="en-US" sz="1050" b="1" dirty="0">
                <a:solidFill>
                  <a:srgbClr val="F39C12"/>
                </a:solidFill>
                <a:latin typeface="Noto Sans" pitchFamily="34" charset="0"/>
                <a:ea typeface="Noto Sans" pitchFamily="34" charset="-122"/>
                <a:cs typeface="Noto Sans" pitchFamily="34" charset="-120"/>
              </a:rPr>
              <a:t>0.2% performance gap</a:t>
            </a:r>
            <a:r>
              <a:rPr lang="en-US" sz="1050" b="1" dirty="0"/>
              <a:t> </a:t>
            </a:r>
            <a:r>
              <a:rPr lang="en-US" sz="1050" dirty="0">
                <a:solidFill>
                  <a:srgbClr val="34495E"/>
                </a:solidFill>
                <a:latin typeface="Noto Sans" pitchFamily="34" charset="0"/>
                <a:ea typeface="Noto Sans" pitchFamily="34" charset="-122"/>
                <a:cs typeface="Noto Sans" pitchFamily="34" charset="-120"/>
              </a:rPr>
              <a:t>between H1/H2 (F1: 0.977) and other classes (F1: 0.99+) indicates this is an </a:t>
            </a:r>
            <a:r>
              <a:rPr lang="en-US" sz="1050" b="1" dirty="0">
                <a:solidFill>
                  <a:srgbClr val="F39C12"/>
                </a:solidFill>
                <a:latin typeface="Noto Sans" pitchFamily="34" charset="0"/>
                <a:ea typeface="Noto Sans" pitchFamily="34" charset="-122"/>
                <a:cs typeface="Noto Sans" pitchFamily="34" charset="-120"/>
              </a:rPr>
              <a:t>inherent dataset limitation</a:t>
            </a:r>
            <a:r>
              <a:rPr lang="en-US" sz="1050" b="1" dirty="0"/>
              <a:t> </a:t>
            </a:r>
            <a:r>
              <a:rPr lang="en-US" sz="1050" dirty="0">
                <a:solidFill>
                  <a:srgbClr val="34495E"/>
                </a:solidFill>
                <a:latin typeface="Noto Sans" pitchFamily="34" charset="0"/>
                <a:ea typeface="Noto Sans" pitchFamily="34" charset="-122"/>
                <a:cs typeface="Noto Sans" pitchFamily="34" charset="-120"/>
              </a:rPr>
              <a:t>  rather than a model deficiency. Future improvements require enhanced feature extraction or dataset augmentation strategies specifically targeting these classes. </a:t>
            </a:r>
            <a:endParaRPr lang="en-US" sz="1050" dirty="0"/>
          </a:p>
        </p:txBody>
      </p:sp>
      <p:sp>
        <p:nvSpPr>
          <p:cNvPr id="65" name="Text 62">
            <a:extLst>
              <a:ext uri="{FF2B5EF4-FFF2-40B4-BE49-F238E27FC236}">
                <a16:creationId xmlns:a16="http://schemas.microsoft.com/office/drawing/2014/main" id="{179E4055-E387-BBFF-DD67-D65340D58414}"/>
              </a:ext>
            </a:extLst>
          </p:cNvPr>
          <p:cNvSpPr/>
          <p:nvPr/>
        </p:nvSpPr>
        <p:spPr>
          <a:xfrm>
            <a:off x="5307281" y="2389716"/>
            <a:ext cx="48721" cy="167387"/>
          </a:xfrm>
          <a:prstGeom prst="rect">
            <a:avLst/>
          </a:prstGeom>
          <a:noFill/>
          <a:ln/>
        </p:spPr>
        <p:txBody>
          <a:bodyPr wrap="square" lIns="0" tIns="0" rIns="0" bIns="0" rtlCol="0" anchor="ctr">
            <a:spAutoFit/>
          </a:bodyPr>
          <a:lstStyle/>
          <a:p>
            <a:pPr marL="0" indent="0">
              <a:buNone/>
            </a:pPr>
            <a:endParaRPr lang="en-US" sz="800" dirty="0"/>
          </a:p>
        </p:txBody>
      </p:sp>
      <p:sp>
        <p:nvSpPr>
          <p:cNvPr id="66" name="Text 63">
            <a:extLst>
              <a:ext uri="{FF2B5EF4-FFF2-40B4-BE49-F238E27FC236}">
                <a16:creationId xmlns:a16="http://schemas.microsoft.com/office/drawing/2014/main" id="{ED41A163-7BD1-27FF-F05F-DE7AA041A80F}"/>
              </a:ext>
            </a:extLst>
          </p:cNvPr>
          <p:cNvSpPr/>
          <p:nvPr/>
        </p:nvSpPr>
        <p:spPr>
          <a:xfrm>
            <a:off x="5598386" y="2732573"/>
            <a:ext cx="51844" cy="265914"/>
          </a:xfrm>
          <a:prstGeom prst="rect">
            <a:avLst/>
          </a:prstGeom>
          <a:noFill/>
          <a:ln/>
        </p:spPr>
        <p:txBody>
          <a:bodyPr wrap="square" lIns="0" tIns="0" rIns="0" bIns="0" rtlCol="0" anchor="ctr">
            <a:spAutoFit/>
          </a:bodyPr>
          <a:lstStyle/>
          <a:p>
            <a:pPr marL="0" indent="0">
              <a:buNone/>
            </a:pPr>
            <a:endParaRPr lang="en-US" sz="800" dirty="0"/>
          </a:p>
        </p:txBody>
      </p:sp>
      <p:sp>
        <p:nvSpPr>
          <p:cNvPr id="67" name="Text 64">
            <a:extLst>
              <a:ext uri="{FF2B5EF4-FFF2-40B4-BE49-F238E27FC236}">
                <a16:creationId xmlns:a16="http://schemas.microsoft.com/office/drawing/2014/main" id="{FB237322-FA44-C954-26DF-D12103C9160F}"/>
              </a:ext>
            </a:extLst>
          </p:cNvPr>
          <p:cNvSpPr/>
          <p:nvPr/>
        </p:nvSpPr>
        <p:spPr>
          <a:xfrm>
            <a:off x="4466464" y="2869727"/>
            <a:ext cx="51844" cy="265914"/>
          </a:xfrm>
          <a:prstGeom prst="rect">
            <a:avLst/>
          </a:prstGeom>
          <a:noFill/>
          <a:ln/>
        </p:spPr>
        <p:txBody>
          <a:bodyPr wrap="square" lIns="0" tIns="0" rIns="0" bIns="0" rtlCol="0" anchor="ctr">
            <a:spAutoFit/>
          </a:bodyPr>
          <a:lstStyle/>
          <a:p>
            <a:pPr marL="0" indent="0">
              <a:buNone/>
            </a:pPr>
            <a:endParaRPr lang="en-US" sz="800" dirty="0"/>
          </a:p>
        </p:txBody>
      </p:sp>
      <p:sp>
        <p:nvSpPr>
          <p:cNvPr id="70" name="Text 67">
            <a:extLst>
              <a:ext uri="{FF2B5EF4-FFF2-40B4-BE49-F238E27FC236}">
                <a16:creationId xmlns:a16="http://schemas.microsoft.com/office/drawing/2014/main" id="{F41888F5-AC39-5811-779B-DBF5822DA6B6}"/>
              </a:ext>
            </a:extLst>
          </p:cNvPr>
          <p:cNvSpPr/>
          <p:nvPr/>
        </p:nvSpPr>
        <p:spPr>
          <a:xfrm>
            <a:off x="4466464" y="3006882"/>
            <a:ext cx="51844" cy="265914"/>
          </a:xfrm>
          <a:prstGeom prst="rect">
            <a:avLst/>
          </a:prstGeom>
          <a:noFill/>
          <a:ln/>
        </p:spPr>
        <p:txBody>
          <a:bodyPr wrap="square" lIns="0" tIns="0" rIns="0" bIns="0" rtlCol="0" anchor="ctr">
            <a:spAutoFit/>
          </a:bodyPr>
          <a:lstStyle/>
          <a:p>
            <a:pPr marL="0" indent="0">
              <a:buNone/>
            </a:pPr>
            <a:endParaRPr lang="en-US" sz="800" dirty="0"/>
          </a:p>
        </p:txBody>
      </p:sp>
      <p:pic>
        <p:nvPicPr>
          <p:cNvPr id="4" name="Picture 3">
            <a:extLst>
              <a:ext uri="{FF2B5EF4-FFF2-40B4-BE49-F238E27FC236}">
                <a16:creationId xmlns:a16="http://schemas.microsoft.com/office/drawing/2014/main" id="{F6E4EB24-FC49-724D-BDB0-5B25C8535088}"/>
              </a:ext>
            </a:extLst>
          </p:cNvPr>
          <p:cNvPicPr>
            <a:picLocks noChangeAspect="1"/>
          </p:cNvPicPr>
          <p:nvPr/>
        </p:nvPicPr>
        <p:blipFill>
          <a:blip r:embed="rId4"/>
          <a:stretch>
            <a:fillRect/>
          </a:stretch>
        </p:blipFill>
        <p:spPr>
          <a:xfrm>
            <a:off x="8236222" y="-45986"/>
            <a:ext cx="1067964" cy="1067964"/>
          </a:xfrm>
          <a:prstGeom prst="rect">
            <a:avLst/>
          </a:prstGeom>
        </p:spPr>
      </p:pic>
    </p:spTree>
    <p:extLst>
      <p:ext uri="{BB962C8B-B14F-4D97-AF65-F5344CB8AC3E}">
        <p14:creationId xmlns:p14="http://schemas.microsoft.com/office/powerpoint/2010/main" val="9936925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368528"/>
          </a:xfrm>
          <a:prstGeom prst="rect">
            <a:avLst/>
          </a:prstGeom>
        </p:spPr>
      </p:pic>
      <p:sp>
        <p:nvSpPr>
          <p:cNvPr id="3" name="Text 0"/>
          <p:cNvSpPr/>
          <p:nvPr/>
        </p:nvSpPr>
        <p:spPr>
          <a:xfrm>
            <a:off x="571500" y="428625"/>
            <a:ext cx="8001000" cy="685800"/>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System Architecture Overview</a:t>
            </a:r>
            <a:endParaRPr lang="en-US" sz="2700" dirty="0"/>
          </a:p>
        </p:txBody>
      </p:sp>
      <p:sp>
        <p:nvSpPr>
          <p:cNvPr id="6" name="Shape 3"/>
          <p:cNvSpPr/>
          <p:nvPr/>
        </p:nvSpPr>
        <p:spPr>
          <a:xfrm>
            <a:off x="600075" y="4086225"/>
            <a:ext cx="1919883" cy="892969"/>
          </a:xfrm>
          <a:prstGeom prst="rect">
            <a:avLst/>
          </a:prstGeom>
          <a:solidFill>
            <a:srgbClr val="F8F9FA"/>
          </a:solidFill>
          <a:ln/>
        </p:spPr>
        <p:txBody>
          <a:bodyPr/>
          <a:lstStyle/>
          <a:p>
            <a:endParaRPr lang="en-US" sz="2400"/>
          </a:p>
        </p:txBody>
      </p:sp>
      <p:sp>
        <p:nvSpPr>
          <p:cNvPr id="7" name="Shape 4"/>
          <p:cNvSpPr/>
          <p:nvPr/>
        </p:nvSpPr>
        <p:spPr>
          <a:xfrm>
            <a:off x="600075" y="4086225"/>
            <a:ext cx="28575" cy="892969"/>
          </a:xfrm>
          <a:prstGeom prst="rect">
            <a:avLst/>
          </a:prstGeom>
          <a:solidFill>
            <a:srgbClr val="2E5090"/>
          </a:solidFill>
          <a:ln/>
        </p:spPr>
        <p:txBody>
          <a:bodyPr/>
          <a:lstStyle/>
          <a:p>
            <a:endParaRPr lang="en-US" sz="2400"/>
          </a:p>
        </p:txBody>
      </p:sp>
      <p:sp>
        <p:nvSpPr>
          <p:cNvPr id="8" name="Text 5"/>
          <p:cNvSpPr/>
          <p:nvPr/>
        </p:nvSpPr>
        <p:spPr>
          <a:xfrm>
            <a:off x="1454218" y="4204901"/>
            <a:ext cx="211597" cy="276999"/>
          </a:xfrm>
          <a:prstGeom prst="rect">
            <a:avLst/>
          </a:prstGeom>
          <a:noFill/>
          <a:ln/>
        </p:spPr>
        <p:txBody>
          <a:bodyPr wrap="none" lIns="0" tIns="0" rIns="0" bIns="0" rtlCol="0" anchor="ctr">
            <a:spAutoFit/>
          </a:bodyPr>
          <a:lstStyle/>
          <a:p>
            <a:pPr marL="0" indent="0" algn="ctr">
              <a:buNone/>
            </a:pPr>
            <a:r>
              <a:rPr lang="en-US" dirty="0">
                <a:solidFill>
                  <a:srgbClr val="000000"/>
                </a:solidFill>
                <a:latin typeface="Noto Sans" pitchFamily="34" charset="0"/>
                <a:ea typeface="Noto Sans" pitchFamily="34" charset="-122"/>
                <a:cs typeface="Noto Sans" pitchFamily="34" charset="-120"/>
              </a:rPr>
              <a:t>📱</a:t>
            </a:r>
            <a:endParaRPr lang="en-US" dirty="0"/>
          </a:p>
        </p:txBody>
      </p:sp>
      <p:sp>
        <p:nvSpPr>
          <p:cNvPr id="9" name="Text 6"/>
          <p:cNvSpPr/>
          <p:nvPr/>
        </p:nvSpPr>
        <p:spPr>
          <a:xfrm>
            <a:off x="805002" y="4556329"/>
            <a:ext cx="1510029" cy="138499"/>
          </a:xfrm>
          <a:prstGeom prst="rect">
            <a:avLst/>
          </a:prstGeom>
          <a:noFill/>
          <a:ln/>
        </p:spPr>
        <p:txBody>
          <a:bodyPr wrap="none" lIns="0" tIns="0" rIns="0" bIns="0" rtlCol="0" anchor="ctr">
            <a:spAutoFit/>
          </a:bodyPr>
          <a:lstStyle/>
          <a:p>
            <a:pPr marL="0" indent="0" algn="ctr">
              <a:buNone/>
            </a:pPr>
            <a:r>
              <a:rPr lang="en-US" sz="900" b="1" dirty="0">
                <a:solidFill>
                  <a:srgbClr val="1A3A52"/>
                </a:solidFill>
                <a:latin typeface="Noto Sans" pitchFamily="34" charset="0"/>
                <a:ea typeface="Noto Sans" pitchFamily="34" charset="-122"/>
                <a:cs typeface="Noto Sans" pitchFamily="34" charset="-120"/>
              </a:rPr>
              <a:t>Flutter Mobile Application</a:t>
            </a:r>
            <a:endParaRPr lang="en-US" sz="900" dirty="0"/>
          </a:p>
        </p:txBody>
      </p:sp>
      <p:sp>
        <p:nvSpPr>
          <p:cNvPr id="10" name="Text 7"/>
          <p:cNvSpPr/>
          <p:nvPr/>
        </p:nvSpPr>
        <p:spPr>
          <a:xfrm>
            <a:off x="902784" y="4746189"/>
            <a:ext cx="1314463" cy="123111"/>
          </a:xfrm>
          <a:prstGeom prst="rect">
            <a:avLst/>
          </a:prstGeom>
          <a:noFill/>
          <a:ln/>
        </p:spPr>
        <p:txBody>
          <a:bodyPr wrap="none" lIns="0" tIns="0" rIns="0" bIns="0" rtlCol="0" anchor="ctr">
            <a:spAutoFit/>
          </a:bodyPr>
          <a:lstStyle/>
          <a:p>
            <a:pPr marL="0" indent="0" algn="ctr">
              <a:buNone/>
            </a:pPr>
            <a:r>
              <a:rPr lang="en-US" sz="800" b="1" dirty="0">
                <a:solidFill>
                  <a:srgbClr val="F39C12"/>
                </a:solidFill>
                <a:latin typeface="Noto Sans" pitchFamily="34" charset="0"/>
                <a:ea typeface="Noto Sans" pitchFamily="34" charset="-122"/>
                <a:cs typeface="Noto Sans" pitchFamily="34" charset="-120"/>
              </a:rPr>
              <a:t>Frontend / User Interface</a:t>
            </a:r>
            <a:endParaRPr lang="en-US" sz="800" dirty="0"/>
          </a:p>
        </p:txBody>
      </p:sp>
      <p:sp>
        <p:nvSpPr>
          <p:cNvPr id="11" name="Shape 8"/>
          <p:cNvSpPr/>
          <p:nvPr/>
        </p:nvSpPr>
        <p:spPr>
          <a:xfrm>
            <a:off x="2627114" y="4086225"/>
            <a:ext cx="1919883" cy="892969"/>
          </a:xfrm>
          <a:prstGeom prst="rect">
            <a:avLst/>
          </a:prstGeom>
          <a:solidFill>
            <a:srgbClr val="F8F9FA"/>
          </a:solidFill>
          <a:ln/>
        </p:spPr>
        <p:txBody>
          <a:bodyPr/>
          <a:lstStyle/>
          <a:p>
            <a:endParaRPr lang="en-US" sz="2400"/>
          </a:p>
        </p:txBody>
      </p:sp>
      <p:sp>
        <p:nvSpPr>
          <p:cNvPr id="12" name="Shape 9"/>
          <p:cNvSpPr/>
          <p:nvPr/>
        </p:nvSpPr>
        <p:spPr>
          <a:xfrm>
            <a:off x="2627114" y="4086225"/>
            <a:ext cx="28575" cy="892969"/>
          </a:xfrm>
          <a:prstGeom prst="rect">
            <a:avLst/>
          </a:prstGeom>
          <a:solidFill>
            <a:srgbClr val="2E5090"/>
          </a:solidFill>
          <a:ln/>
        </p:spPr>
        <p:txBody>
          <a:bodyPr/>
          <a:lstStyle/>
          <a:p>
            <a:endParaRPr lang="en-US" sz="2400"/>
          </a:p>
        </p:txBody>
      </p:sp>
      <p:sp>
        <p:nvSpPr>
          <p:cNvPr id="13" name="Text 10"/>
          <p:cNvSpPr/>
          <p:nvPr/>
        </p:nvSpPr>
        <p:spPr>
          <a:xfrm>
            <a:off x="3428357" y="4204901"/>
            <a:ext cx="317395" cy="276999"/>
          </a:xfrm>
          <a:prstGeom prst="rect">
            <a:avLst/>
          </a:prstGeom>
          <a:noFill/>
          <a:ln/>
        </p:spPr>
        <p:txBody>
          <a:bodyPr wrap="none" lIns="0" tIns="0" rIns="0" bIns="0" rtlCol="0" anchor="ctr">
            <a:spAutoFit/>
          </a:bodyPr>
          <a:lstStyle/>
          <a:p>
            <a:pPr marL="0" indent="0" algn="ctr">
              <a:buNone/>
            </a:pPr>
            <a:r>
              <a:rPr lang="en-US" dirty="0">
                <a:solidFill>
                  <a:srgbClr val="000000"/>
                </a:solidFill>
                <a:latin typeface="Noto Sans" pitchFamily="34" charset="0"/>
                <a:ea typeface="Noto Sans" pitchFamily="34" charset="-122"/>
                <a:cs typeface="Noto Sans" pitchFamily="34" charset="-120"/>
              </a:rPr>
              <a:t>⚙️</a:t>
            </a:r>
            <a:endParaRPr lang="en-US" dirty="0"/>
          </a:p>
        </p:txBody>
      </p:sp>
      <p:sp>
        <p:nvSpPr>
          <p:cNvPr id="14" name="Text 11"/>
          <p:cNvSpPr/>
          <p:nvPr/>
        </p:nvSpPr>
        <p:spPr>
          <a:xfrm>
            <a:off x="2877726" y="4556329"/>
            <a:ext cx="1418658" cy="138499"/>
          </a:xfrm>
          <a:prstGeom prst="rect">
            <a:avLst/>
          </a:prstGeom>
          <a:noFill/>
          <a:ln/>
        </p:spPr>
        <p:txBody>
          <a:bodyPr wrap="none" lIns="0" tIns="0" rIns="0" bIns="0" rtlCol="0" anchor="ctr">
            <a:spAutoFit/>
          </a:bodyPr>
          <a:lstStyle/>
          <a:p>
            <a:pPr marL="0" indent="0" algn="ctr">
              <a:buNone/>
            </a:pPr>
            <a:r>
              <a:rPr lang="en-US" sz="900" b="1" dirty="0">
                <a:solidFill>
                  <a:srgbClr val="1A3A52"/>
                </a:solidFill>
                <a:latin typeface="Noto Sans" pitchFamily="34" charset="0"/>
                <a:ea typeface="Noto Sans" pitchFamily="34" charset="-122"/>
                <a:cs typeface="Noto Sans" pitchFamily="34" charset="-120"/>
              </a:rPr>
              <a:t>Flask Middleware Server</a:t>
            </a:r>
            <a:endParaRPr lang="en-US" sz="900" dirty="0"/>
          </a:p>
        </p:txBody>
      </p:sp>
      <p:sp>
        <p:nvSpPr>
          <p:cNvPr id="15" name="Text 12"/>
          <p:cNvSpPr/>
          <p:nvPr/>
        </p:nvSpPr>
        <p:spPr>
          <a:xfrm>
            <a:off x="2852078" y="4746189"/>
            <a:ext cx="1469954" cy="123111"/>
          </a:xfrm>
          <a:prstGeom prst="rect">
            <a:avLst/>
          </a:prstGeom>
          <a:noFill/>
          <a:ln/>
        </p:spPr>
        <p:txBody>
          <a:bodyPr wrap="none" lIns="0" tIns="0" rIns="0" bIns="0" rtlCol="0" anchor="ctr">
            <a:spAutoFit/>
          </a:bodyPr>
          <a:lstStyle/>
          <a:p>
            <a:pPr marL="0" indent="0" algn="ctr">
              <a:buNone/>
            </a:pPr>
            <a:r>
              <a:rPr lang="en-US" sz="800" b="1" dirty="0">
                <a:solidFill>
                  <a:srgbClr val="F39C12"/>
                </a:solidFill>
                <a:latin typeface="Noto Sans" pitchFamily="34" charset="0"/>
                <a:ea typeface="Noto Sans" pitchFamily="34" charset="-122"/>
                <a:cs typeface="Noto Sans" pitchFamily="34" charset="-120"/>
              </a:rPr>
              <a:t>Backend API / Orchestration</a:t>
            </a:r>
            <a:endParaRPr lang="en-US" sz="800" dirty="0"/>
          </a:p>
        </p:txBody>
      </p:sp>
      <p:sp>
        <p:nvSpPr>
          <p:cNvPr id="16" name="Shape 13"/>
          <p:cNvSpPr/>
          <p:nvPr/>
        </p:nvSpPr>
        <p:spPr>
          <a:xfrm>
            <a:off x="4654153" y="4086225"/>
            <a:ext cx="1919883" cy="892969"/>
          </a:xfrm>
          <a:prstGeom prst="rect">
            <a:avLst/>
          </a:prstGeom>
          <a:solidFill>
            <a:srgbClr val="F8F9FA"/>
          </a:solidFill>
          <a:ln/>
        </p:spPr>
        <p:txBody>
          <a:bodyPr/>
          <a:lstStyle/>
          <a:p>
            <a:endParaRPr lang="en-US" sz="2400"/>
          </a:p>
        </p:txBody>
      </p:sp>
      <p:sp>
        <p:nvSpPr>
          <p:cNvPr id="17" name="Shape 14"/>
          <p:cNvSpPr/>
          <p:nvPr/>
        </p:nvSpPr>
        <p:spPr>
          <a:xfrm>
            <a:off x="4654153" y="4086225"/>
            <a:ext cx="28575" cy="892969"/>
          </a:xfrm>
          <a:prstGeom prst="rect">
            <a:avLst/>
          </a:prstGeom>
          <a:solidFill>
            <a:srgbClr val="2E5090"/>
          </a:solidFill>
          <a:ln/>
        </p:spPr>
        <p:txBody>
          <a:bodyPr/>
          <a:lstStyle/>
          <a:p>
            <a:endParaRPr lang="en-US" sz="2400"/>
          </a:p>
        </p:txBody>
      </p:sp>
      <p:sp>
        <p:nvSpPr>
          <p:cNvPr id="18" name="Text 15"/>
          <p:cNvSpPr/>
          <p:nvPr/>
        </p:nvSpPr>
        <p:spPr>
          <a:xfrm>
            <a:off x="5455396" y="4204901"/>
            <a:ext cx="317395" cy="276999"/>
          </a:xfrm>
          <a:prstGeom prst="rect">
            <a:avLst/>
          </a:prstGeom>
          <a:noFill/>
          <a:ln/>
        </p:spPr>
        <p:txBody>
          <a:bodyPr wrap="none" lIns="0" tIns="0" rIns="0" bIns="0" rtlCol="0" anchor="ctr">
            <a:spAutoFit/>
          </a:bodyPr>
          <a:lstStyle/>
          <a:p>
            <a:pPr marL="0" indent="0" algn="ctr">
              <a:buNone/>
            </a:pPr>
            <a:r>
              <a:rPr lang="en-US" dirty="0">
                <a:solidFill>
                  <a:srgbClr val="000000"/>
                </a:solidFill>
                <a:latin typeface="Noto Sans" pitchFamily="34" charset="0"/>
                <a:ea typeface="Noto Sans" pitchFamily="34" charset="-122"/>
                <a:cs typeface="Noto Sans" pitchFamily="34" charset="-120"/>
              </a:rPr>
              <a:t>🤖</a:t>
            </a:r>
            <a:endParaRPr lang="en-US" dirty="0"/>
          </a:p>
        </p:txBody>
      </p:sp>
      <p:sp>
        <p:nvSpPr>
          <p:cNvPr id="19" name="Text 16"/>
          <p:cNvSpPr/>
          <p:nvPr/>
        </p:nvSpPr>
        <p:spPr>
          <a:xfrm>
            <a:off x="4745266" y="4556329"/>
            <a:ext cx="1737655" cy="138499"/>
          </a:xfrm>
          <a:prstGeom prst="rect">
            <a:avLst/>
          </a:prstGeom>
          <a:noFill/>
          <a:ln/>
        </p:spPr>
        <p:txBody>
          <a:bodyPr wrap="none" lIns="0" tIns="0" rIns="0" bIns="0" rtlCol="0" anchor="ctr">
            <a:spAutoFit/>
          </a:bodyPr>
          <a:lstStyle/>
          <a:p>
            <a:pPr marL="0" indent="0" algn="ctr">
              <a:buNone/>
            </a:pPr>
            <a:r>
              <a:rPr lang="en-US" sz="900" b="1" dirty="0">
                <a:solidFill>
                  <a:srgbClr val="1A3A52"/>
                </a:solidFill>
                <a:latin typeface="Noto Sans" pitchFamily="34" charset="0"/>
                <a:ea typeface="Noto Sans" pitchFamily="34" charset="-122"/>
                <a:cs typeface="Noto Sans" pitchFamily="34" charset="-120"/>
              </a:rPr>
              <a:t>Hugging Face Cloud Inference</a:t>
            </a:r>
            <a:endParaRPr lang="en-US" sz="900" dirty="0"/>
          </a:p>
        </p:txBody>
      </p:sp>
      <p:sp>
        <p:nvSpPr>
          <p:cNvPr id="20" name="Text 17"/>
          <p:cNvSpPr/>
          <p:nvPr/>
        </p:nvSpPr>
        <p:spPr>
          <a:xfrm>
            <a:off x="4896750" y="4746189"/>
            <a:ext cx="1434688" cy="123111"/>
          </a:xfrm>
          <a:prstGeom prst="rect">
            <a:avLst/>
          </a:prstGeom>
          <a:noFill/>
          <a:ln/>
        </p:spPr>
        <p:txBody>
          <a:bodyPr wrap="none" lIns="0" tIns="0" rIns="0" bIns="0" rtlCol="0" anchor="ctr">
            <a:spAutoFit/>
          </a:bodyPr>
          <a:lstStyle/>
          <a:p>
            <a:pPr marL="0" indent="0" algn="ctr">
              <a:buNone/>
            </a:pPr>
            <a:r>
              <a:rPr lang="en-US" sz="800" b="1" dirty="0">
                <a:solidFill>
                  <a:srgbClr val="F39C12"/>
                </a:solidFill>
                <a:latin typeface="Noto Sans" pitchFamily="34" charset="0"/>
                <a:ea typeface="Noto Sans" pitchFamily="34" charset="-122"/>
                <a:cs typeface="Noto Sans" pitchFamily="34" charset="-120"/>
              </a:rPr>
              <a:t>AI Model / Inference Engine</a:t>
            </a:r>
            <a:endParaRPr lang="en-US" sz="800" dirty="0"/>
          </a:p>
        </p:txBody>
      </p:sp>
      <p:sp>
        <p:nvSpPr>
          <p:cNvPr id="21" name="Shape 18"/>
          <p:cNvSpPr/>
          <p:nvPr/>
        </p:nvSpPr>
        <p:spPr>
          <a:xfrm>
            <a:off x="6681192" y="4086225"/>
            <a:ext cx="1919883" cy="892969"/>
          </a:xfrm>
          <a:prstGeom prst="rect">
            <a:avLst/>
          </a:prstGeom>
          <a:solidFill>
            <a:srgbClr val="F8F9FA"/>
          </a:solidFill>
          <a:ln/>
        </p:spPr>
        <p:txBody>
          <a:bodyPr/>
          <a:lstStyle/>
          <a:p>
            <a:endParaRPr lang="en-US" sz="2400"/>
          </a:p>
        </p:txBody>
      </p:sp>
      <p:sp>
        <p:nvSpPr>
          <p:cNvPr id="22" name="Shape 19"/>
          <p:cNvSpPr/>
          <p:nvPr/>
        </p:nvSpPr>
        <p:spPr>
          <a:xfrm>
            <a:off x="6681192" y="4086225"/>
            <a:ext cx="28575" cy="892969"/>
          </a:xfrm>
          <a:prstGeom prst="rect">
            <a:avLst/>
          </a:prstGeom>
          <a:solidFill>
            <a:srgbClr val="2E5090"/>
          </a:solidFill>
          <a:ln/>
        </p:spPr>
        <p:txBody>
          <a:bodyPr/>
          <a:lstStyle/>
          <a:p>
            <a:endParaRPr lang="en-US" sz="2400"/>
          </a:p>
        </p:txBody>
      </p:sp>
      <p:sp>
        <p:nvSpPr>
          <p:cNvPr id="23" name="Text 20"/>
          <p:cNvSpPr/>
          <p:nvPr/>
        </p:nvSpPr>
        <p:spPr>
          <a:xfrm>
            <a:off x="7490450" y="4204901"/>
            <a:ext cx="301365" cy="276999"/>
          </a:xfrm>
          <a:prstGeom prst="rect">
            <a:avLst/>
          </a:prstGeom>
          <a:noFill/>
          <a:ln/>
        </p:spPr>
        <p:txBody>
          <a:bodyPr wrap="none" lIns="0" tIns="0" rIns="0" bIns="0" rtlCol="0" anchor="ctr">
            <a:spAutoFit/>
          </a:bodyPr>
          <a:lstStyle/>
          <a:p>
            <a:pPr marL="0" indent="0" algn="ctr">
              <a:buNone/>
            </a:pPr>
            <a:r>
              <a:rPr lang="en-US" dirty="0">
                <a:solidFill>
                  <a:srgbClr val="000000"/>
                </a:solidFill>
                <a:latin typeface="Noto Sans" pitchFamily="34" charset="0"/>
                <a:ea typeface="Noto Sans" pitchFamily="34" charset="-122"/>
                <a:cs typeface="Noto Sans" pitchFamily="34" charset="-120"/>
              </a:rPr>
              <a:t>💾</a:t>
            </a:r>
            <a:endParaRPr lang="en-US" dirty="0"/>
          </a:p>
        </p:txBody>
      </p:sp>
      <p:sp>
        <p:nvSpPr>
          <p:cNvPr id="24" name="Text 21"/>
          <p:cNvSpPr/>
          <p:nvPr/>
        </p:nvSpPr>
        <p:spPr>
          <a:xfrm>
            <a:off x="6850852" y="4556329"/>
            <a:ext cx="1580561" cy="138499"/>
          </a:xfrm>
          <a:prstGeom prst="rect">
            <a:avLst/>
          </a:prstGeom>
          <a:noFill/>
          <a:ln/>
        </p:spPr>
        <p:txBody>
          <a:bodyPr wrap="none" lIns="0" tIns="0" rIns="0" bIns="0" rtlCol="0" anchor="ctr">
            <a:spAutoFit/>
          </a:bodyPr>
          <a:lstStyle/>
          <a:p>
            <a:pPr marL="0" indent="0" algn="ctr">
              <a:buNone/>
            </a:pPr>
            <a:r>
              <a:rPr lang="en-US" sz="900" b="1" dirty="0">
                <a:solidFill>
                  <a:srgbClr val="1A3A52"/>
                </a:solidFill>
                <a:latin typeface="Noto Sans" pitchFamily="34" charset="0"/>
                <a:ea typeface="Noto Sans" pitchFamily="34" charset="-122"/>
                <a:cs typeface="Noto Sans" pitchFamily="34" charset="-120"/>
              </a:rPr>
              <a:t>Supabase Backend Services</a:t>
            </a:r>
            <a:endParaRPr lang="en-US" sz="900" dirty="0"/>
          </a:p>
        </p:txBody>
      </p:sp>
      <p:sp>
        <p:nvSpPr>
          <p:cNvPr id="25" name="Text 22"/>
          <p:cNvSpPr/>
          <p:nvPr/>
        </p:nvSpPr>
        <p:spPr>
          <a:xfrm>
            <a:off x="6943025" y="4746189"/>
            <a:ext cx="1396216" cy="123111"/>
          </a:xfrm>
          <a:prstGeom prst="rect">
            <a:avLst/>
          </a:prstGeom>
          <a:noFill/>
          <a:ln/>
        </p:spPr>
        <p:txBody>
          <a:bodyPr wrap="none" lIns="0" tIns="0" rIns="0" bIns="0" rtlCol="0" anchor="ctr">
            <a:spAutoFit/>
          </a:bodyPr>
          <a:lstStyle/>
          <a:p>
            <a:pPr marL="0" indent="0" algn="ctr">
              <a:buNone/>
            </a:pPr>
            <a:r>
              <a:rPr lang="en-US" sz="800" b="1" dirty="0">
                <a:solidFill>
                  <a:srgbClr val="F39C12"/>
                </a:solidFill>
                <a:latin typeface="Noto Sans" pitchFamily="34" charset="0"/>
                <a:ea typeface="Noto Sans" pitchFamily="34" charset="-122"/>
                <a:cs typeface="Noto Sans" pitchFamily="34" charset="-120"/>
              </a:rPr>
              <a:t>Database &amp; Authentication</a:t>
            </a:r>
            <a:endParaRPr lang="en-US" sz="800" dirty="0"/>
          </a:p>
        </p:txBody>
      </p:sp>
      <p:pic>
        <p:nvPicPr>
          <p:cNvPr id="27" name="Picture 26">
            <a:extLst>
              <a:ext uri="{FF2B5EF4-FFF2-40B4-BE49-F238E27FC236}">
                <a16:creationId xmlns:a16="http://schemas.microsoft.com/office/drawing/2014/main" id="{603ED09D-DBB6-5CEE-F028-22A4FA47690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75084" y="879395"/>
            <a:ext cx="4522111" cy="3035808"/>
          </a:xfrm>
          <a:prstGeom prst="rect">
            <a:avLst/>
          </a:prstGeom>
        </p:spPr>
      </p:pic>
      <p:pic>
        <p:nvPicPr>
          <p:cNvPr id="4" name="Picture 3">
            <a:extLst>
              <a:ext uri="{FF2B5EF4-FFF2-40B4-BE49-F238E27FC236}">
                <a16:creationId xmlns:a16="http://schemas.microsoft.com/office/drawing/2014/main" id="{318EFC8A-15BB-8B50-137F-390AECF897E9}"/>
              </a:ext>
            </a:extLst>
          </p:cNvPr>
          <p:cNvPicPr>
            <a:picLocks noChangeAspect="1"/>
          </p:cNvPicPr>
          <p:nvPr/>
        </p:nvPicPr>
        <p:blipFill>
          <a:blip r:embed="rId5"/>
          <a:stretch>
            <a:fillRect/>
          </a:stretch>
        </p:blipFill>
        <p:spPr>
          <a:xfrm>
            <a:off x="7994233" y="-39263"/>
            <a:ext cx="1141859" cy="1141859"/>
          </a:xfrm>
          <a:prstGeom prst="rect">
            <a:avLst/>
          </a:prstGeom>
        </p:spPr>
      </p:pic>
      <p:sp>
        <p:nvSpPr>
          <p:cNvPr id="5" name="Rectangle 4">
            <a:extLst>
              <a:ext uri="{FF2B5EF4-FFF2-40B4-BE49-F238E27FC236}">
                <a16:creationId xmlns:a16="http://schemas.microsoft.com/office/drawing/2014/main" id="{B26008E6-82E5-42B0-582D-D822824A275F}"/>
              </a:ext>
            </a:extLst>
          </p:cNvPr>
          <p:cNvSpPr/>
          <p:nvPr/>
        </p:nvSpPr>
        <p:spPr>
          <a:xfrm>
            <a:off x="4682728" y="2420471"/>
            <a:ext cx="386813" cy="151279"/>
          </a:xfrm>
          <a:prstGeom prst="rect">
            <a:avLst/>
          </a:prstGeom>
          <a:solidFill>
            <a:srgbClr val="FCDA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40590886-C92E-837A-9305-A51F58FA96D0}"/>
              </a:ext>
            </a:extLst>
          </p:cNvPr>
          <p:cNvSpPr/>
          <p:nvPr/>
        </p:nvSpPr>
        <p:spPr>
          <a:xfrm>
            <a:off x="5069540" y="2421592"/>
            <a:ext cx="215153" cy="151279"/>
          </a:xfrm>
          <a:prstGeom prst="rect">
            <a:avLst/>
          </a:prstGeom>
          <a:solidFill>
            <a:srgbClr val="FFFEF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486400"/>
          </a:xfrm>
          <a:prstGeom prst="rect">
            <a:avLst/>
          </a:prstGeom>
        </p:spPr>
      </p:pic>
      <p:sp>
        <p:nvSpPr>
          <p:cNvPr id="3" name="Shape 0"/>
          <p:cNvSpPr/>
          <p:nvPr/>
        </p:nvSpPr>
        <p:spPr>
          <a:xfrm>
            <a:off x="428625" y="428625"/>
            <a:ext cx="8286750" cy="485775"/>
          </a:xfrm>
          <a:prstGeom prst="rect">
            <a:avLst/>
          </a:prstGeom>
          <a:solidFill>
            <a:srgbClr val="000000">
              <a:alpha val="0"/>
            </a:srgbClr>
          </a:solidFill>
          <a:ln/>
        </p:spPr>
        <p:txBody>
          <a:bodyPr/>
          <a:lstStyle/>
          <a:p>
            <a:endParaRPr lang="en-US"/>
          </a:p>
        </p:txBody>
      </p:sp>
      <p:sp>
        <p:nvSpPr>
          <p:cNvPr id="4" name="Shape 1"/>
          <p:cNvSpPr/>
          <p:nvPr/>
        </p:nvSpPr>
        <p:spPr>
          <a:xfrm>
            <a:off x="428625" y="885825"/>
            <a:ext cx="8286750" cy="28575"/>
          </a:xfrm>
          <a:prstGeom prst="rect">
            <a:avLst/>
          </a:prstGeom>
          <a:solidFill>
            <a:srgbClr val="E8A950"/>
          </a:solidFill>
          <a:ln/>
        </p:spPr>
        <p:txBody>
          <a:bodyPr/>
          <a:lstStyle/>
          <a:p>
            <a:endParaRPr lang="en-US"/>
          </a:p>
        </p:txBody>
      </p:sp>
      <p:sp>
        <p:nvSpPr>
          <p:cNvPr id="5" name="Text 2"/>
          <p:cNvSpPr/>
          <p:nvPr/>
        </p:nvSpPr>
        <p:spPr>
          <a:xfrm>
            <a:off x="428625" y="428625"/>
            <a:ext cx="8286750" cy="485775"/>
          </a:xfrm>
          <a:prstGeom prst="rect">
            <a:avLst/>
          </a:prstGeom>
          <a:noFill/>
          <a:ln/>
        </p:spPr>
        <p:txBody>
          <a:bodyPr wrap="none" lIns="0" tIns="0" rIns="0" bIns="85090" rtlCol="0" anchor="t">
            <a:spAutoFit/>
          </a:bodyPr>
          <a:lstStyle/>
          <a:p>
            <a:pPr marL="0" indent="0" algn="l">
              <a:lnSpc>
                <a:spcPts val="3000"/>
              </a:lnSpc>
              <a:buNone/>
            </a:pPr>
            <a:r>
              <a:rPr lang="en-US" sz="1808" b="1" dirty="0">
                <a:solidFill>
                  <a:srgbClr val="4A4A4A"/>
                </a:solidFill>
              </a:rPr>
              <a:t>Integrated System Architecture: A Unified Diagnostic Pipeline</a:t>
            </a:r>
            <a:endParaRPr lang="en-US" sz="1808" dirty="0"/>
          </a:p>
        </p:txBody>
      </p:sp>
      <p:sp>
        <p:nvSpPr>
          <p:cNvPr id="6" name="Text 3"/>
          <p:cNvSpPr/>
          <p:nvPr/>
        </p:nvSpPr>
        <p:spPr>
          <a:xfrm>
            <a:off x="428625" y="1100138"/>
            <a:ext cx="4000500" cy="883255"/>
          </a:xfrm>
          <a:prstGeom prst="rect">
            <a:avLst/>
          </a:prstGeom>
          <a:noFill/>
          <a:ln/>
        </p:spPr>
        <p:txBody>
          <a:bodyPr wrap="square" lIns="0" tIns="0" rIns="0" bIns="0" rtlCol="0" anchor="t">
            <a:spAutoFit/>
          </a:bodyPr>
          <a:lstStyle/>
          <a:p>
            <a:pPr marL="0" indent="0" algn="l">
              <a:lnSpc>
                <a:spcPts val="1400"/>
              </a:lnSpc>
              <a:buNone/>
            </a:pPr>
            <a:r>
              <a:rPr lang="en-US" sz="1050" dirty="0">
                <a:solidFill>
                  <a:srgbClr val="4A4A4A"/>
                </a:solidFill>
              </a:rPr>
              <a:t>The system operates as a unified architecture that seamlessly connects the user interface, backend services, cloud-based AI inference, and data management components. By integrating Flutter, Flask, Hugging Face, and Supabase into a cohesive pipeline, the system delivers a scalable, reliable, and real-time diagnostic solution tailored for medical use cases.</a:t>
            </a:r>
            <a:endParaRPr lang="en-US" sz="1050" dirty="0"/>
          </a:p>
        </p:txBody>
      </p:sp>
      <p:sp>
        <p:nvSpPr>
          <p:cNvPr id="7" name="Shape 4"/>
          <p:cNvSpPr/>
          <p:nvPr/>
        </p:nvSpPr>
        <p:spPr>
          <a:xfrm>
            <a:off x="428625" y="2100263"/>
            <a:ext cx="200025" cy="200025"/>
          </a:xfrm>
          <a:prstGeom prst="ellipse">
            <a:avLst/>
          </a:prstGeom>
          <a:solidFill>
            <a:srgbClr val="E8A950"/>
          </a:solidFill>
          <a:ln/>
        </p:spPr>
        <p:txBody>
          <a:bodyPr/>
          <a:lstStyle/>
          <a:p>
            <a:endParaRPr lang="en-US"/>
          </a:p>
        </p:txBody>
      </p:sp>
      <p:sp>
        <p:nvSpPr>
          <p:cNvPr id="8" name="Text 5"/>
          <p:cNvSpPr/>
          <p:nvPr/>
        </p:nvSpPr>
        <p:spPr>
          <a:xfrm>
            <a:off x="495775" y="2123331"/>
            <a:ext cx="65724" cy="153888"/>
          </a:xfrm>
          <a:prstGeom prst="rect">
            <a:avLst/>
          </a:prstGeom>
          <a:noFill/>
          <a:ln/>
        </p:spPr>
        <p:txBody>
          <a:bodyPr wrap="none" lIns="0" tIns="0" rIns="0" bIns="0" rtlCol="0" anchor="ctr">
            <a:spAutoFit/>
          </a:bodyPr>
          <a:lstStyle/>
          <a:p>
            <a:pPr marL="0" indent="0" algn="ctr">
              <a:lnSpc>
                <a:spcPts val="1200"/>
              </a:lnSpc>
              <a:buNone/>
            </a:pPr>
            <a:r>
              <a:rPr lang="en-US" sz="1000" b="1" dirty="0">
                <a:solidFill>
                  <a:srgbClr val="FFFFFF"/>
                </a:solidFill>
              </a:rPr>
              <a:t>1</a:t>
            </a:r>
            <a:endParaRPr lang="en-US" sz="1000" dirty="0"/>
          </a:p>
        </p:txBody>
      </p:sp>
      <p:sp>
        <p:nvSpPr>
          <p:cNvPr id="9" name="Text 6"/>
          <p:cNvSpPr/>
          <p:nvPr/>
        </p:nvSpPr>
        <p:spPr>
          <a:xfrm>
            <a:off x="714375" y="2100263"/>
            <a:ext cx="1059585" cy="179793"/>
          </a:xfrm>
          <a:prstGeom prst="rect">
            <a:avLst/>
          </a:prstGeom>
          <a:noFill/>
          <a:ln/>
        </p:spPr>
        <p:txBody>
          <a:bodyPr wrap="none" lIns="0" tIns="0" rIns="0" bIns="0" rtlCol="0" anchor="t">
            <a:spAutoFit/>
          </a:bodyPr>
          <a:lstStyle/>
          <a:p>
            <a:pPr marL="0" indent="0" algn="l">
              <a:lnSpc>
                <a:spcPts val="1500"/>
              </a:lnSpc>
              <a:buNone/>
            </a:pPr>
            <a:r>
              <a:rPr lang="en-US" sz="1050" b="1" dirty="0">
                <a:solidFill>
                  <a:srgbClr val="4A4A4A"/>
                </a:solidFill>
              </a:rPr>
              <a:t>Flutter Mobile App</a:t>
            </a:r>
            <a:endParaRPr lang="en-US" sz="1050" dirty="0"/>
          </a:p>
        </p:txBody>
      </p:sp>
      <p:sp>
        <p:nvSpPr>
          <p:cNvPr id="10" name="Text 7"/>
          <p:cNvSpPr/>
          <p:nvPr/>
        </p:nvSpPr>
        <p:spPr>
          <a:xfrm>
            <a:off x="714375" y="2314575"/>
            <a:ext cx="3714750"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666666"/>
                </a:solidFill>
              </a:rPr>
              <a:t>Provides an intuitive interface for uploading medical images and initiating the diagnostic process.</a:t>
            </a:r>
            <a:endParaRPr lang="en-US" sz="1000" dirty="0"/>
          </a:p>
        </p:txBody>
      </p:sp>
      <p:sp>
        <p:nvSpPr>
          <p:cNvPr id="11" name="Shape 8"/>
          <p:cNvSpPr/>
          <p:nvPr/>
        </p:nvSpPr>
        <p:spPr>
          <a:xfrm>
            <a:off x="428625" y="2723164"/>
            <a:ext cx="200025" cy="200025"/>
          </a:xfrm>
          <a:prstGeom prst="ellipse">
            <a:avLst/>
          </a:prstGeom>
          <a:solidFill>
            <a:srgbClr val="E8A950"/>
          </a:solidFill>
          <a:ln/>
        </p:spPr>
        <p:txBody>
          <a:bodyPr/>
          <a:lstStyle/>
          <a:p>
            <a:endParaRPr lang="en-US"/>
          </a:p>
        </p:txBody>
      </p:sp>
      <p:sp>
        <p:nvSpPr>
          <p:cNvPr id="12" name="Text 9"/>
          <p:cNvSpPr/>
          <p:nvPr/>
        </p:nvSpPr>
        <p:spPr>
          <a:xfrm>
            <a:off x="495775" y="2746232"/>
            <a:ext cx="65724" cy="153888"/>
          </a:xfrm>
          <a:prstGeom prst="rect">
            <a:avLst/>
          </a:prstGeom>
          <a:noFill/>
          <a:ln/>
        </p:spPr>
        <p:txBody>
          <a:bodyPr wrap="none" lIns="0" tIns="0" rIns="0" bIns="0" rtlCol="0" anchor="ctr">
            <a:spAutoFit/>
          </a:bodyPr>
          <a:lstStyle/>
          <a:p>
            <a:pPr marL="0" indent="0" algn="ctr">
              <a:lnSpc>
                <a:spcPts val="1200"/>
              </a:lnSpc>
              <a:buNone/>
            </a:pPr>
            <a:r>
              <a:rPr lang="en-US" sz="1000" b="1" dirty="0">
                <a:solidFill>
                  <a:srgbClr val="FFFFFF"/>
                </a:solidFill>
              </a:rPr>
              <a:t>2</a:t>
            </a:r>
            <a:endParaRPr lang="en-US" sz="1000" dirty="0"/>
          </a:p>
        </p:txBody>
      </p:sp>
      <p:sp>
        <p:nvSpPr>
          <p:cNvPr id="13" name="Text 10"/>
          <p:cNvSpPr/>
          <p:nvPr/>
        </p:nvSpPr>
        <p:spPr>
          <a:xfrm>
            <a:off x="714375" y="2723164"/>
            <a:ext cx="1378583" cy="179793"/>
          </a:xfrm>
          <a:prstGeom prst="rect">
            <a:avLst/>
          </a:prstGeom>
          <a:noFill/>
          <a:ln/>
        </p:spPr>
        <p:txBody>
          <a:bodyPr wrap="none" lIns="0" tIns="0" rIns="0" bIns="0" rtlCol="0" anchor="t">
            <a:spAutoFit/>
          </a:bodyPr>
          <a:lstStyle/>
          <a:p>
            <a:pPr marL="0" indent="0" algn="l">
              <a:lnSpc>
                <a:spcPts val="1500"/>
              </a:lnSpc>
              <a:buNone/>
            </a:pPr>
            <a:r>
              <a:rPr lang="en-US" sz="1050" b="1" dirty="0">
                <a:solidFill>
                  <a:srgbClr val="4A4A4A"/>
                </a:solidFill>
              </a:rPr>
              <a:t>Flask Middleware Server</a:t>
            </a:r>
            <a:endParaRPr lang="en-US" sz="1050" dirty="0"/>
          </a:p>
        </p:txBody>
      </p:sp>
      <p:sp>
        <p:nvSpPr>
          <p:cNvPr id="14" name="Text 11"/>
          <p:cNvSpPr/>
          <p:nvPr/>
        </p:nvSpPr>
        <p:spPr>
          <a:xfrm>
            <a:off x="714375" y="2937477"/>
            <a:ext cx="3714750"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666666"/>
                </a:solidFill>
              </a:rPr>
              <a:t>Handles request processing, image preparation, and communication between the mobile front-end and cloud AI service.</a:t>
            </a:r>
            <a:endParaRPr lang="en-US" sz="1000" dirty="0"/>
          </a:p>
        </p:txBody>
      </p:sp>
      <p:sp>
        <p:nvSpPr>
          <p:cNvPr id="15" name="Shape 12"/>
          <p:cNvSpPr/>
          <p:nvPr/>
        </p:nvSpPr>
        <p:spPr>
          <a:xfrm>
            <a:off x="428625" y="3346066"/>
            <a:ext cx="200025" cy="200025"/>
          </a:xfrm>
          <a:prstGeom prst="ellipse">
            <a:avLst/>
          </a:prstGeom>
          <a:solidFill>
            <a:srgbClr val="E8A950"/>
          </a:solidFill>
          <a:ln/>
        </p:spPr>
        <p:txBody>
          <a:bodyPr/>
          <a:lstStyle/>
          <a:p>
            <a:endParaRPr lang="en-US"/>
          </a:p>
        </p:txBody>
      </p:sp>
      <p:sp>
        <p:nvSpPr>
          <p:cNvPr id="16" name="Text 13"/>
          <p:cNvSpPr/>
          <p:nvPr/>
        </p:nvSpPr>
        <p:spPr>
          <a:xfrm>
            <a:off x="495775" y="3369134"/>
            <a:ext cx="65724" cy="153888"/>
          </a:xfrm>
          <a:prstGeom prst="rect">
            <a:avLst/>
          </a:prstGeom>
          <a:noFill/>
          <a:ln/>
        </p:spPr>
        <p:txBody>
          <a:bodyPr wrap="none" lIns="0" tIns="0" rIns="0" bIns="0" rtlCol="0" anchor="ctr">
            <a:spAutoFit/>
          </a:bodyPr>
          <a:lstStyle/>
          <a:p>
            <a:pPr marL="0" indent="0" algn="ctr">
              <a:lnSpc>
                <a:spcPts val="1200"/>
              </a:lnSpc>
              <a:buNone/>
            </a:pPr>
            <a:r>
              <a:rPr lang="en-US" sz="1000" b="1" dirty="0">
                <a:solidFill>
                  <a:srgbClr val="FFFFFF"/>
                </a:solidFill>
              </a:rPr>
              <a:t>3</a:t>
            </a:r>
            <a:endParaRPr lang="en-US" sz="1000" dirty="0"/>
          </a:p>
        </p:txBody>
      </p:sp>
      <p:sp>
        <p:nvSpPr>
          <p:cNvPr id="17" name="Text 14"/>
          <p:cNvSpPr/>
          <p:nvPr/>
        </p:nvSpPr>
        <p:spPr>
          <a:xfrm>
            <a:off x="714375" y="3346066"/>
            <a:ext cx="2148024" cy="179793"/>
          </a:xfrm>
          <a:prstGeom prst="rect">
            <a:avLst/>
          </a:prstGeom>
          <a:noFill/>
          <a:ln/>
        </p:spPr>
        <p:txBody>
          <a:bodyPr wrap="none" lIns="0" tIns="0" rIns="0" bIns="0" rtlCol="0" anchor="t">
            <a:spAutoFit/>
          </a:bodyPr>
          <a:lstStyle/>
          <a:p>
            <a:pPr marL="0" indent="0" algn="l">
              <a:lnSpc>
                <a:spcPts val="1500"/>
              </a:lnSpc>
              <a:buNone/>
            </a:pPr>
            <a:r>
              <a:rPr lang="en-US" sz="1050" b="1" dirty="0">
                <a:solidFill>
                  <a:srgbClr val="4A4A4A"/>
                </a:solidFill>
              </a:rPr>
              <a:t>SwinV2-Base Ensemble (Hugging Face)</a:t>
            </a:r>
            <a:endParaRPr lang="en-US" sz="1050" dirty="0"/>
          </a:p>
        </p:txBody>
      </p:sp>
      <p:sp>
        <p:nvSpPr>
          <p:cNvPr id="18" name="Text 15"/>
          <p:cNvSpPr/>
          <p:nvPr/>
        </p:nvSpPr>
        <p:spPr>
          <a:xfrm>
            <a:off x="714375" y="3560378"/>
            <a:ext cx="3714750"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666666"/>
                </a:solidFill>
              </a:rPr>
              <a:t>Performs high-accuracy fungal classification and returns prediction results to the middleware.</a:t>
            </a:r>
            <a:endParaRPr lang="en-US" sz="1000" dirty="0"/>
          </a:p>
        </p:txBody>
      </p:sp>
      <p:sp>
        <p:nvSpPr>
          <p:cNvPr id="19" name="Shape 16"/>
          <p:cNvSpPr/>
          <p:nvPr/>
        </p:nvSpPr>
        <p:spPr>
          <a:xfrm>
            <a:off x="428625" y="3968967"/>
            <a:ext cx="200025" cy="200025"/>
          </a:xfrm>
          <a:prstGeom prst="ellipse">
            <a:avLst/>
          </a:prstGeom>
          <a:solidFill>
            <a:srgbClr val="E8A950"/>
          </a:solidFill>
          <a:ln/>
        </p:spPr>
        <p:txBody>
          <a:bodyPr/>
          <a:lstStyle/>
          <a:p>
            <a:endParaRPr lang="en-US"/>
          </a:p>
        </p:txBody>
      </p:sp>
      <p:sp>
        <p:nvSpPr>
          <p:cNvPr id="20" name="Text 17"/>
          <p:cNvSpPr/>
          <p:nvPr/>
        </p:nvSpPr>
        <p:spPr>
          <a:xfrm>
            <a:off x="495775" y="3992035"/>
            <a:ext cx="65724" cy="153888"/>
          </a:xfrm>
          <a:prstGeom prst="rect">
            <a:avLst/>
          </a:prstGeom>
          <a:noFill/>
          <a:ln/>
        </p:spPr>
        <p:txBody>
          <a:bodyPr wrap="none" lIns="0" tIns="0" rIns="0" bIns="0" rtlCol="0" anchor="ctr">
            <a:spAutoFit/>
          </a:bodyPr>
          <a:lstStyle/>
          <a:p>
            <a:pPr marL="0" indent="0" algn="ctr">
              <a:lnSpc>
                <a:spcPts val="1200"/>
              </a:lnSpc>
              <a:buNone/>
            </a:pPr>
            <a:r>
              <a:rPr lang="en-US" sz="1000" b="1" dirty="0">
                <a:solidFill>
                  <a:srgbClr val="FFFFFF"/>
                </a:solidFill>
              </a:rPr>
              <a:t>4</a:t>
            </a:r>
            <a:endParaRPr lang="en-US" sz="1000" dirty="0"/>
          </a:p>
        </p:txBody>
      </p:sp>
      <p:sp>
        <p:nvSpPr>
          <p:cNvPr id="21" name="Text 18"/>
          <p:cNvSpPr/>
          <p:nvPr/>
        </p:nvSpPr>
        <p:spPr>
          <a:xfrm>
            <a:off x="714375" y="3968967"/>
            <a:ext cx="1037143" cy="179793"/>
          </a:xfrm>
          <a:prstGeom prst="rect">
            <a:avLst/>
          </a:prstGeom>
          <a:noFill/>
          <a:ln/>
        </p:spPr>
        <p:txBody>
          <a:bodyPr wrap="none" lIns="0" tIns="0" rIns="0" bIns="0" rtlCol="0" anchor="t">
            <a:spAutoFit/>
          </a:bodyPr>
          <a:lstStyle/>
          <a:p>
            <a:pPr marL="0" indent="0" algn="l">
              <a:lnSpc>
                <a:spcPts val="1500"/>
              </a:lnSpc>
              <a:buNone/>
            </a:pPr>
            <a:r>
              <a:rPr lang="en-US" sz="1050" b="1" dirty="0">
                <a:solidFill>
                  <a:srgbClr val="4A4A4A"/>
                </a:solidFill>
              </a:rPr>
              <a:t>Supabase Backend</a:t>
            </a:r>
            <a:endParaRPr lang="en-US" sz="1050" dirty="0"/>
          </a:p>
        </p:txBody>
      </p:sp>
      <p:sp>
        <p:nvSpPr>
          <p:cNvPr id="22" name="Text 19"/>
          <p:cNvSpPr/>
          <p:nvPr/>
        </p:nvSpPr>
        <p:spPr>
          <a:xfrm>
            <a:off x="714375" y="4183280"/>
            <a:ext cx="3714750" cy="280002"/>
          </a:xfrm>
          <a:prstGeom prst="rect">
            <a:avLst/>
          </a:prstGeom>
          <a:noFill/>
          <a:ln/>
        </p:spPr>
        <p:txBody>
          <a:bodyPr wrap="square" lIns="0" tIns="0" rIns="0" bIns="0" rtlCol="0" anchor="t">
            <a:spAutoFit/>
          </a:bodyPr>
          <a:lstStyle/>
          <a:p>
            <a:pPr marL="0" indent="0" algn="l">
              <a:lnSpc>
                <a:spcPts val="1100"/>
              </a:lnSpc>
              <a:buNone/>
            </a:pPr>
            <a:r>
              <a:rPr lang="en-US" sz="1000" dirty="0">
                <a:solidFill>
                  <a:srgbClr val="666666"/>
                </a:solidFill>
              </a:rPr>
              <a:t>Delivers secure authentication, user management, and storage of prediction history through PostgreSQL-backed services.</a:t>
            </a:r>
            <a:endParaRPr lang="en-US" sz="1000" dirty="0"/>
          </a:p>
        </p:txBody>
      </p:sp>
      <p:pic>
        <p:nvPicPr>
          <p:cNvPr id="23" name="Image 1" descr="preencoded.png"/>
          <p:cNvPicPr>
            <a:picLocks noChangeAspect="1"/>
          </p:cNvPicPr>
          <p:nvPr/>
        </p:nvPicPr>
        <p:blipFill>
          <a:blip r:embed="rId4"/>
          <a:stretch>
            <a:fillRect/>
          </a:stretch>
        </p:blipFill>
        <p:spPr>
          <a:xfrm>
            <a:off x="4847749" y="1017474"/>
            <a:ext cx="4297447" cy="3760266"/>
          </a:xfrm>
          <a:prstGeom prst="rect">
            <a:avLst/>
          </a:prstGeom>
        </p:spPr>
      </p:pic>
      <p:pic>
        <p:nvPicPr>
          <p:cNvPr id="24" name="Picture 23">
            <a:extLst>
              <a:ext uri="{FF2B5EF4-FFF2-40B4-BE49-F238E27FC236}">
                <a16:creationId xmlns:a16="http://schemas.microsoft.com/office/drawing/2014/main" id="{6815E0D1-676B-CB90-315A-FA761BDBEEC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751887" y="3853101"/>
            <a:ext cx="335994" cy="335994"/>
          </a:xfrm>
          <a:prstGeom prst="rect">
            <a:avLst/>
          </a:prstGeom>
        </p:spPr>
      </p:pic>
      <p:pic>
        <p:nvPicPr>
          <p:cNvPr id="25" name="Picture 24">
            <a:extLst>
              <a:ext uri="{FF2B5EF4-FFF2-40B4-BE49-F238E27FC236}">
                <a16:creationId xmlns:a16="http://schemas.microsoft.com/office/drawing/2014/main" id="{25546EB8-29C3-8219-BD7D-9F58A94A13F9}"/>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2800" l="9901" r="89604">
                        <a14:foregroundMark x1="66832" y1="55200" x2="80693" y2="92800"/>
                        <a14:foregroundMark x1="66832" y1="11200" x2="14851" y2="46400"/>
                        <a14:foregroundMark x1="34158" y1="70800" x2="45050" y2="79600"/>
                        <a14:foregroundMark x1="14851" y1="55200" x2="45050" y2="84000"/>
                      </a14:backgroundRemoval>
                    </a14:imgEffect>
                  </a14:imgLayer>
                </a14:imgProps>
              </a:ext>
            </a:extLst>
          </a:blip>
          <a:stretch>
            <a:fillRect/>
          </a:stretch>
        </p:blipFill>
        <p:spPr>
          <a:xfrm>
            <a:off x="1795142" y="1966114"/>
            <a:ext cx="278507" cy="344687"/>
          </a:xfrm>
          <a:prstGeom prst="rect">
            <a:avLst/>
          </a:prstGeom>
        </p:spPr>
      </p:pic>
      <p:pic>
        <p:nvPicPr>
          <p:cNvPr id="26" name="Picture 25">
            <a:extLst>
              <a:ext uri="{FF2B5EF4-FFF2-40B4-BE49-F238E27FC236}">
                <a16:creationId xmlns:a16="http://schemas.microsoft.com/office/drawing/2014/main" id="{56E37D41-E39E-4489-ECBE-1F51C2B84FDA}"/>
              </a:ext>
            </a:extLst>
          </p:cNvPr>
          <p:cNvPicPr>
            <a:picLocks noChangeAspect="1"/>
          </p:cNvPicPr>
          <p:nvPr/>
        </p:nvPicPr>
        <p:blipFill>
          <a:blip r:embed="rId9"/>
          <a:stretch>
            <a:fillRect/>
          </a:stretch>
        </p:blipFill>
        <p:spPr>
          <a:xfrm>
            <a:off x="2699725" y="3064668"/>
            <a:ext cx="711317" cy="711317"/>
          </a:xfrm>
          <a:prstGeom prst="rect">
            <a:avLst/>
          </a:prstGeom>
        </p:spPr>
      </p:pic>
      <p:pic>
        <p:nvPicPr>
          <p:cNvPr id="27" name="Picture 26">
            <a:extLst>
              <a:ext uri="{FF2B5EF4-FFF2-40B4-BE49-F238E27FC236}">
                <a16:creationId xmlns:a16="http://schemas.microsoft.com/office/drawing/2014/main" id="{49E96386-1135-3E31-384F-FD4219F0B67D}"/>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9778" b="92000" l="9778" r="89778">
                        <a14:foregroundMark x1="13778" y1="24000" x2="83556" y2="92000"/>
                      </a14:backgroundRemoval>
                    </a14:imgEffect>
                  </a14:imgLayer>
                </a14:imgProps>
              </a:ext>
            </a:extLst>
          </a:blip>
          <a:stretch>
            <a:fillRect/>
          </a:stretch>
        </p:blipFill>
        <p:spPr>
          <a:xfrm>
            <a:off x="2119193" y="2581325"/>
            <a:ext cx="381120" cy="381120"/>
          </a:xfrm>
          <a:prstGeom prst="rect">
            <a:avLst/>
          </a:prstGeom>
        </p:spPr>
      </p:pic>
      <p:pic>
        <p:nvPicPr>
          <p:cNvPr id="28" name="Picture 27">
            <a:extLst>
              <a:ext uri="{FF2B5EF4-FFF2-40B4-BE49-F238E27FC236}">
                <a16:creationId xmlns:a16="http://schemas.microsoft.com/office/drawing/2014/main" id="{86692B85-A490-E0ED-F021-EB1680B73AD5}"/>
              </a:ext>
            </a:extLst>
          </p:cNvPr>
          <p:cNvPicPr>
            <a:picLocks noChangeAspect="1"/>
          </p:cNvPicPr>
          <p:nvPr/>
        </p:nvPicPr>
        <p:blipFill>
          <a:blip r:embed="rId12"/>
          <a:stretch>
            <a:fillRect/>
          </a:stretch>
        </p:blipFill>
        <p:spPr>
          <a:xfrm>
            <a:off x="8418175" y="0"/>
            <a:ext cx="823895" cy="82389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571500" y="302312"/>
            <a:ext cx="5937523" cy="587212"/>
          </a:xfrm>
          <a:prstGeom prst="rect">
            <a:avLst/>
          </a:prstGeom>
          <a:noFill/>
          <a:ln/>
        </p:spPr>
        <p:txBody>
          <a:bodyPr wrap="none" lIns="0" tIns="0" rIns="0" bIns="170053" rtlCol="0" anchor="ctr">
            <a:spAutoFit/>
          </a:bodyPr>
          <a:lstStyle/>
          <a:p>
            <a:r>
              <a:rPr lang="en-US" sz="2700" b="1" dirty="0">
                <a:solidFill>
                  <a:srgbClr val="1A3A52"/>
                </a:solidFill>
                <a:latin typeface="Noto Sans" pitchFamily="34" charset="0"/>
                <a:ea typeface="Noto Sans" pitchFamily="34" charset="-122"/>
                <a:cs typeface="Noto Sans" pitchFamily="34" charset="-120"/>
              </a:rPr>
              <a:t>Agile Software Development Cycle</a:t>
            </a:r>
            <a:endParaRPr lang="en-US" sz="2700" dirty="0"/>
          </a:p>
        </p:txBody>
      </p:sp>
      <p:pic>
        <p:nvPicPr>
          <p:cNvPr id="73" name="Picture 72">
            <a:extLst>
              <a:ext uri="{FF2B5EF4-FFF2-40B4-BE49-F238E27FC236}">
                <a16:creationId xmlns:a16="http://schemas.microsoft.com/office/drawing/2014/main" id="{D53C94F3-BC5F-68E9-1735-DCE8D30A1CF0}"/>
              </a:ext>
            </a:extLst>
          </p:cNvPr>
          <p:cNvPicPr>
            <a:picLocks noChangeAspect="1"/>
          </p:cNvPicPr>
          <p:nvPr/>
        </p:nvPicPr>
        <p:blipFill>
          <a:blip r:embed="rId4"/>
          <a:stretch>
            <a:fillRect/>
          </a:stretch>
        </p:blipFill>
        <p:spPr>
          <a:xfrm>
            <a:off x="2314213" y="811530"/>
            <a:ext cx="4194810" cy="4194810"/>
          </a:xfrm>
          <a:prstGeom prst="rect">
            <a:avLst/>
          </a:prstGeom>
        </p:spPr>
      </p:pic>
      <p:pic>
        <p:nvPicPr>
          <p:cNvPr id="4" name="Picture 3">
            <a:extLst>
              <a:ext uri="{FF2B5EF4-FFF2-40B4-BE49-F238E27FC236}">
                <a16:creationId xmlns:a16="http://schemas.microsoft.com/office/drawing/2014/main" id="{C18F9900-D2A7-405E-AEE9-40A29E776CD9}"/>
              </a:ext>
            </a:extLst>
          </p:cNvPr>
          <p:cNvPicPr>
            <a:picLocks noChangeAspect="1"/>
          </p:cNvPicPr>
          <p:nvPr/>
        </p:nvPicPr>
        <p:blipFill>
          <a:blip r:embed="rId5"/>
          <a:stretch>
            <a:fillRect/>
          </a:stretch>
        </p:blipFill>
        <p:spPr>
          <a:xfrm>
            <a:off x="7994233" y="-25816"/>
            <a:ext cx="1141859" cy="1141859"/>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38100"/>
            <a:ext cx="9144000" cy="5013960"/>
          </a:xfrm>
          <a:prstGeom prst="rect">
            <a:avLst/>
          </a:prstGeom>
        </p:spPr>
      </p:pic>
      <p:sp>
        <p:nvSpPr>
          <p:cNvPr id="3" name="Text 0"/>
          <p:cNvSpPr/>
          <p:nvPr/>
        </p:nvSpPr>
        <p:spPr>
          <a:xfrm>
            <a:off x="600075" y="223084"/>
            <a:ext cx="6445675" cy="587212"/>
          </a:xfrm>
          <a:prstGeom prst="rect">
            <a:avLst/>
          </a:prstGeom>
          <a:noFill/>
          <a:ln/>
        </p:spPr>
        <p:txBody>
          <a:bodyPr wrap="none" lIns="0" tIns="0" rIns="0" bIns="170053" rtlCol="0" anchor="ctr">
            <a:spAutoFit/>
          </a:bodyPr>
          <a:lstStyle/>
          <a:p>
            <a:pPr marL="0" indent="0">
              <a:buNone/>
            </a:pPr>
            <a:r>
              <a:rPr lang="en-US" sz="2700" b="1" dirty="0">
                <a:solidFill>
                  <a:srgbClr val="1A3A52"/>
                </a:solidFill>
                <a:latin typeface="Noto Sans" pitchFamily="34" charset="0"/>
                <a:ea typeface="Noto Sans" pitchFamily="34" charset="-122"/>
                <a:cs typeface="Noto Sans" pitchFamily="34" charset="-120"/>
              </a:rPr>
              <a:t>Future Work and Recommendations: </a:t>
            </a:r>
            <a:endParaRPr lang="en-US" sz="2700" dirty="0"/>
          </a:p>
        </p:txBody>
      </p:sp>
      <p:sp>
        <p:nvSpPr>
          <p:cNvPr id="7" name="Shape 4"/>
          <p:cNvSpPr/>
          <p:nvPr/>
        </p:nvSpPr>
        <p:spPr>
          <a:xfrm>
            <a:off x="554356" y="1062463"/>
            <a:ext cx="3926563" cy="1567871"/>
          </a:xfrm>
          <a:prstGeom prst="rect">
            <a:avLst/>
          </a:prstGeom>
          <a:solidFill>
            <a:srgbClr val="F8F9FA"/>
          </a:solidFill>
          <a:ln/>
        </p:spPr>
        <p:txBody>
          <a:bodyPr/>
          <a:lstStyle/>
          <a:p>
            <a:endParaRPr lang="en-US"/>
          </a:p>
        </p:txBody>
      </p:sp>
      <p:sp>
        <p:nvSpPr>
          <p:cNvPr id="8" name="Shape 5"/>
          <p:cNvSpPr/>
          <p:nvPr/>
        </p:nvSpPr>
        <p:spPr>
          <a:xfrm>
            <a:off x="552572" y="1062463"/>
            <a:ext cx="45719" cy="1567871"/>
          </a:xfrm>
          <a:prstGeom prst="rect">
            <a:avLst/>
          </a:prstGeom>
          <a:solidFill>
            <a:srgbClr val="2E5090"/>
          </a:solidFill>
          <a:ln/>
        </p:spPr>
        <p:txBody>
          <a:bodyPr/>
          <a:lstStyle/>
          <a:p>
            <a:endParaRPr lang="en-US"/>
          </a:p>
        </p:txBody>
      </p:sp>
      <p:sp>
        <p:nvSpPr>
          <p:cNvPr id="9" name="Text 6"/>
          <p:cNvSpPr/>
          <p:nvPr/>
        </p:nvSpPr>
        <p:spPr>
          <a:xfrm>
            <a:off x="748310" y="886176"/>
            <a:ext cx="65" cy="242374"/>
          </a:xfrm>
          <a:prstGeom prst="rect">
            <a:avLst/>
          </a:prstGeom>
          <a:noFill/>
          <a:ln/>
        </p:spPr>
        <p:txBody>
          <a:bodyPr wrap="none" lIns="0" tIns="0" rIns="0" bIns="0" rtlCol="0" anchor="ctr">
            <a:spAutoFit/>
          </a:bodyPr>
          <a:lstStyle/>
          <a:p>
            <a:pPr marL="0" indent="0">
              <a:buNone/>
            </a:pPr>
            <a:endParaRPr lang="en-US" sz="1575" dirty="0"/>
          </a:p>
        </p:txBody>
      </p:sp>
      <p:sp>
        <p:nvSpPr>
          <p:cNvPr id="15" name="Shape 12"/>
          <p:cNvSpPr/>
          <p:nvPr/>
        </p:nvSpPr>
        <p:spPr>
          <a:xfrm>
            <a:off x="4716663" y="1062463"/>
            <a:ext cx="3854053" cy="1567871"/>
          </a:xfrm>
          <a:prstGeom prst="rect">
            <a:avLst/>
          </a:prstGeom>
          <a:solidFill>
            <a:srgbClr val="F8F9FA"/>
          </a:solidFill>
          <a:ln/>
        </p:spPr>
        <p:txBody>
          <a:bodyPr/>
          <a:lstStyle/>
          <a:p>
            <a:endParaRPr lang="en-US"/>
          </a:p>
        </p:txBody>
      </p:sp>
      <p:sp>
        <p:nvSpPr>
          <p:cNvPr id="16" name="Shape 13"/>
          <p:cNvSpPr/>
          <p:nvPr/>
        </p:nvSpPr>
        <p:spPr>
          <a:xfrm>
            <a:off x="4642369" y="1062463"/>
            <a:ext cx="45719" cy="1567871"/>
          </a:xfrm>
          <a:prstGeom prst="rect">
            <a:avLst/>
          </a:prstGeom>
          <a:solidFill>
            <a:srgbClr val="2E5090"/>
          </a:solidFill>
          <a:ln/>
        </p:spPr>
        <p:txBody>
          <a:bodyPr/>
          <a:lstStyle/>
          <a:p>
            <a:endParaRPr lang="en-US"/>
          </a:p>
        </p:txBody>
      </p:sp>
      <p:sp>
        <p:nvSpPr>
          <p:cNvPr id="23" name="Text 20"/>
          <p:cNvSpPr/>
          <p:nvPr/>
        </p:nvSpPr>
        <p:spPr>
          <a:xfrm>
            <a:off x="748375" y="4447228"/>
            <a:ext cx="8001000" cy="253603"/>
          </a:xfrm>
          <a:prstGeom prst="rect">
            <a:avLst/>
          </a:prstGeom>
          <a:noFill/>
          <a:ln/>
        </p:spPr>
        <p:txBody>
          <a:bodyPr wrap="square" lIns="0" tIns="127508" rIns="0" bIns="0" rtlCol="0" anchor="ctr">
            <a:spAutoFit/>
          </a:bodyPr>
          <a:lstStyle/>
          <a:p>
            <a:pPr marL="0" indent="0" algn="ctr">
              <a:buNone/>
            </a:pPr>
            <a:r>
              <a:rPr lang="en-US" sz="680" i="1" dirty="0">
                <a:solidFill>
                  <a:srgbClr val="2E5090"/>
                </a:solidFill>
                <a:latin typeface="Noto Sans" pitchFamily="34" charset="0"/>
                <a:ea typeface="Noto Sans" pitchFamily="34" charset="-122"/>
                <a:cs typeface="Noto Sans" pitchFamily="34" charset="-120"/>
              </a:rPr>
              <a:t> → Next: Clinical Validation in real-world healthcare settings and Explainable AI (XAI) integration with implementation roadmap </a:t>
            </a:r>
            <a:endParaRPr lang="en-US" sz="680" dirty="0"/>
          </a:p>
        </p:txBody>
      </p:sp>
      <p:pic>
        <p:nvPicPr>
          <p:cNvPr id="25" name="Image 1" descr="preencoded.png">
            <a:extLst>
              <a:ext uri="{FF2B5EF4-FFF2-40B4-BE49-F238E27FC236}">
                <a16:creationId xmlns:a16="http://schemas.microsoft.com/office/drawing/2014/main" id="{EE8BAC1B-4FC0-D0AD-2F79-A907CFAD0781}"/>
              </a:ext>
            </a:extLst>
          </p:cNvPr>
          <p:cNvPicPr>
            <a:picLocks noChangeAspect="1"/>
          </p:cNvPicPr>
          <p:nvPr/>
        </p:nvPicPr>
        <p:blipFill>
          <a:blip r:embed="rId4"/>
          <a:stretch>
            <a:fillRect/>
          </a:stretch>
        </p:blipFill>
        <p:spPr>
          <a:xfrm>
            <a:off x="748309" y="1272509"/>
            <a:ext cx="171450" cy="171450"/>
          </a:xfrm>
          <a:prstGeom prst="rect">
            <a:avLst/>
          </a:prstGeom>
          <a:ln>
            <a:noFill/>
          </a:ln>
        </p:spPr>
      </p:pic>
      <p:sp>
        <p:nvSpPr>
          <p:cNvPr id="26" name="Text 2">
            <a:extLst>
              <a:ext uri="{FF2B5EF4-FFF2-40B4-BE49-F238E27FC236}">
                <a16:creationId xmlns:a16="http://schemas.microsoft.com/office/drawing/2014/main" id="{EEDFB812-5AC9-9C59-4EAF-C46F0AE88B39}"/>
              </a:ext>
            </a:extLst>
          </p:cNvPr>
          <p:cNvSpPr/>
          <p:nvPr/>
        </p:nvSpPr>
        <p:spPr>
          <a:xfrm>
            <a:off x="1026915" y="1208215"/>
            <a:ext cx="3361134" cy="523670"/>
          </a:xfrm>
          <a:prstGeom prst="rect">
            <a:avLst/>
          </a:prstGeom>
          <a:noFill/>
          <a:ln/>
        </p:spPr>
        <p:txBody>
          <a:bodyPr wrap="square" lIns="0" tIns="0" rIns="0" bIns="0" rtlCol="0" anchor="t">
            <a:spAutoFit/>
          </a:bodyPr>
          <a:lstStyle/>
          <a:p>
            <a:pPr marL="0" indent="0" algn="l">
              <a:lnSpc>
                <a:spcPts val="1400"/>
              </a:lnSpc>
              <a:buNone/>
            </a:pPr>
            <a:r>
              <a:rPr lang="en-US" sz="1000" b="1" dirty="0">
                <a:solidFill>
                  <a:srgbClr val="3D2817"/>
                </a:solidFill>
                <a:latin typeface="Noto Sans" pitchFamily="34" charset="0"/>
                <a:ea typeface="Noto Sans" pitchFamily="34" charset="-122"/>
                <a:cs typeface="Noto Sans" pitchFamily="34" charset="-120"/>
              </a:rPr>
              <a:t>Improved Distinction:</a:t>
            </a:r>
            <a:r>
              <a:rPr lang="en-US" sz="1000" dirty="0">
                <a:solidFill>
                  <a:srgbClr val="3D2817"/>
                </a:solidFill>
                <a:latin typeface="Noto Sans" pitchFamily="34" charset="0"/>
                <a:ea typeface="Noto Sans" pitchFamily="34" charset="-122"/>
                <a:cs typeface="Noto Sans" pitchFamily="34" charset="-120"/>
              </a:rPr>
              <a:t> Develop advanced techniques (multi-task learning) to enhance precise differentiation between H1 and H2 categories.</a:t>
            </a:r>
            <a:endParaRPr lang="en-US" sz="1000" dirty="0"/>
          </a:p>
        </p:txBody>
      </p:sp>
      <p:pic>
        <p:nvPicPr>
          <p:cNvPr id="27" name="Image 2" descr="preencoded.png">
            <a:extLst>
              <a:ext uri="{FF2B5EF4-FFF2-40B4-BE49-F238E27FC236}">
                <a16:creationId xmlns:a16="http://schemas.microsoft.com/office/drawing/2014/main" id="{236704F7-396D-1251-F11A-07B2EB92F4C2}"/>
              </a:ext>
            </a:extLst>
          </p:cNvPr>
          <p:cNvPicPr>
            <a:picLocks noChangeAspect="1"/>
          </p:cNvPicPr>
          <p:nvPr/>
        </p:nvPicPr>
        <p:blipFill>
          <a:blip r:embed="rId5"/>
          <a:stretch>
            <a:fillRect/>
          </a:stretch>
        </p:blipFill>
        <p:spPr>
          <a:xfrm>
            <a:off x="4873826" y="1272509"/>
            <a:ext cx="214313" cy="171450"/>
          </a:xfrm>
          <a:prstGeom prst="rect">
            <a:avLst/>
          </a:prstGeom>
        </p:spPr>
      </p:pic>
      <p:sp>
        <p:nvSpPr>
          <p:cNvPr id="28" name="Text 3">
            <a:extLst>
              <a:ext uri="{FF2B5EF4-FFF2-40B4-BE49-F238E27FC236}">
                <a16:creationId xmlns:a16="http://schemas.microsoft.com/office/drawing/2014/main" id="{88FF34AD-5D75-27CC-439E-1B3E25297B88}"/>
              </a:ext>
            </a:extLst>
          </p:cNvPr>
          <p:cNvSpPr/>
          <p:nvPr/>
        </p:nvSpPr>
        <p:spPr>
          <a:xfrm>
            <a:off x="5195295" y="1208215"/>
            <a:ext cx="3318272" cy="529056"/>
          </a:xfrm>
          <a:prstGeom prst="rect">
            <a:avLst/>
          </a:prstGeom>
          <a:noFill/>
          <a:ln/>
        </p:spPr>
        <p:txBody>
          <a:bodyPr wrap="square" lIns="0" tIns="0" rIns="0" bIns="0" rtlCol="0" anchor="t">
            <a:spAutoFit/>
          </a:bodyPr>
          <a:lstStyle/>
          <a:p>
            <a:pPr marL="0" indent="0" algn="l">
              <a:lnSpc>
                <a:spcPts val="1400"/>
              </a:lnSpc>
              <a:buNone/>
            </a:pPr>
            <a:r>
              <a:rPr lang="en-US" sz="1050" b="1" dirty="0">
                <a:solidFill>
                  <a:srgbClr val="3D2817"/>
                </a:solidFill>
                <a:latin typeface="Noto Sans" pitchFamily="34" charset="0"/>
                <a:ea typeface="Noto Sans" pitchFamily="34" charset="-122"/>
                <a:cs typeface="Noto Sans" pitchFamily="34" charset="-120"/>
              </a:rPr>
              <a:t>Clinical Validation:</a:t>
            </a:r>
            <a:r>
              <a:rPr lang="en-US" sz="1050" dirty="0">
                <a:solidFill>
                  <a:srgbClr val="3D2817"/>
                </a:solidFill>
                <a:latin typeface="Noto Sans" pitchFamily="34" charset="0"/>
                <a:ea typeface="Noto Sans" pitchFamily="34" charset="-122"/>
                <a:cs typeface="Noto Sans" pitchFamily="34" charset="-120"/>
              </a:rPr>
              <a:t> Conduct large-scale validation studies in real clinical environments with hospitals and medical institutions.</a:t>
            </a:r>
            <a:endParaRPr lang="en-US" sz="1050" dirty="0"/>
          </a:p>
        </p:txBody>
      </p:sp>
      <p:sp>
        <p:nvSpPr>
          <p:cNvPr id="22" name="Shape 5">
            <a:extLst>
              <a:ext uri="{FF2B5EF4-FFF2-40B4-BE49-F238E27FC236}">
                <a16:creationId xmlns:a16="http://schemas.microsoft.com/office/drawing/2014/main" id="{CB1A8F14-6A25-B3EF-3824-69AA5AD21FA2}"/>
              </a:ext>
            </a:extLst>
          </p:cNvPr>
          <p:cNvSpPr/>
          <p:nvPr/>
        </p:nvSpPr>
        <p:spPr>
          <a:xfrm>
            <a:off x="4448363" y="1062463"/>
            <a:ext cx="45719" cy="1567871"/>
          </a:xfrm>
          <a:prstGeom prst="rect">
            <a:avLst/>
          </a:prstGeom>
          <a:solidFill>
            <a:srgbClr val="2E5090"/>
          </a:solidFill>
          <a:ln/>
        </p:spPr>
        <p:txBody>
          <a:bodyPr/>
          <a:lstStyle/>
          <a:p>
            <a:endParaRPr lang="en-US"/>
          </a:p>
        </p:txBody>
      </p:sp>
      <p:sp>
        <p:nvSpPr>
          <p:cNvPr id="24" name="Shape 13">
            <a:extLst>
              <a:ext uri="{FF2B5EF4-FFF2-40B4-BE49-F238E27FC236}">
                <a16:creationId xmlns:a16="http://schemas.microsoft.com/office/drawing/2014/main" id="{28D19EFF-9241-9525-C99F-D3329A27823B}"/>
              </a:ext>
            </a:extLst>
          </p:cNvPr>
          <p:cNvSpPr/>
          <p:nvPr/>
        </p:nvSpPr>
        <p:spPr>
          <a:xfrm>
            <a:off x="8580004" y="1062463"/>
            <a:ext cx="45719" cy="1567871"/>
          </a:xfrm>
          <a:prstGeom prst="rect">
            <a:avLst/>
          </a:prstGeom>
          <a:solidFill>
            <a:srgbClr val="2E5090"/>
          </a:solidFill>
          <a:ln/>
        </p:spPr>
        <p:txBody>
          <a:bodyPr/>
          <a:lstStyle/>
          <a:p>
            <a:endParaRPr lang="en-US"/>
          </a:p>
        </p:txBody>
      </p:sp>
      <p:sp>
        <p:nvSpPr>
          <p:cNvPr id="46" name="Shape 9">
            <a:extLst>
              <a:ext uri="{FF2B5EF4-FFF2-40B4-BE49-F238E27FC236}">
                <a16:creationId xmlns:a16="http://schemas.microsoft.com/office/drawing/2014/main" id="{E8D46B62-E1BA-A5CC-7D83-97AD68E6E799}"/>
              </a:ext>
            </a:extLst>
          </p:cNvPr>
          <p:cNvSpPr/>
          <p:nvPr/>
        </p:nvSpPr>
        <p:spPr>
          <a:xfrm>
            <a:off x="574353" y="2904364"/>
            <a:ext cx="7994443" cy="1311548"/>
          </a:xfrm>
          <a:prstGeom prst="rect">
            <a:avLst/>
          </a:prstGeom>
          <a:solidFill>
            <a:srgbClr val="F8F9FA"/>
          </a:solidFill>
          <a:ln/>
        </p:spPr>
        <p:txBody>
          <a:bodyPr/>
          <a:lstStyle/>
          <a:p>
            <a:endParaRPr lang="ar-SA"/>
          </a:p>
        </p:txBody>
      </p:sp>
      <p:sp>
        <p:nvSpPr>
          <p:cNvPr id="47" name="Shape 10">
            <a:extLst>
              <a:ext uri="{FF2B5EF4-FFF2-40B4-BE49-F238E27FC236}">
                <a16:creationId xmlns:a16="http://schemas.microsoft.com/office/drawing/2014/main" id="{00CC20EC-0115-8E3E-DC71-0537D5C0C155}"/>
              </a:ext>
            </a:extLst>
          </p:cNvPr>
          <p:cNvSpPr/>
          <p:nvPr/>
        </p:nvSpPr>
        <p:spPr>
          <a:xfrm>
            <a:off x="554356" y="2887362"/>
            <a:ext cx="47285" cy="1311548"/>
          </a:xfrm>
          <a:prstGeom prst="rect">
            <a:avLst/>
          </a:prstGeom>
          <a:solidFill>
            <a:srgbClr val="2E5090"/>
          </a:solidFill>
          <a:ln/>
        </p:spPr>
        <p:txBody>
          <a:bodyPr/>
          <a:lstStyle/>
          <a:p>
            <a:endParaRPr lang="ar-SA"/>
          </a:p>
        </p:txBody>
      </p:sp>
      <p:sp>
        <p:nvSpPr>
          <p:cNvPr id="48" name="Text 12">
            <a:extLst>
              <a:ext uri="{FF2B5EF4-FFF2-40B4-BE49-F238E27FC236}">
                <a16:creationId xmlns:a16="http://schemas.microsoft.com/office/drawing/2014/main" id="{C06BDDDE-D20C-B9B6-91C6-60CEAE2FC34F}"/>
              </a:ext>
            </a:extLst>
          </p:cNvPr>
          <p:cNvSpPr/>
          <p:nvPr/>
        </p:nvSpPr>
        <p:spPr>
          <a:xfrm>
            <a:off x="1082188" y="3087530"/>
            <a:ext cx="7155031" cy="421206"/>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b="1" dirty="0">
                <a:solidFill>
                  <a:srgbClr val="3D2817"/>
                </a:solidFill>
                <a:latin typeface="Noto Sans" pitchFamily="34" charset="0"/>
                <a:ea typeface="Noto Sans" pitchFamily="34" charset="-122"/>
                <a:cs typeface="Noto Sans" pitchFamily="34" charset="-120"/>
              </a:rPr>
              <a:t>Explainable AI (XAI</a:t>
            </a:r>
            <a:r>
              <a:rPr lang="en-US" sz="837" b="1" dirty="0">
                <a:solidFill>
                  <a:srgbClr val="1A3A52"/>
                </a:solidFill>
                <a:latin typeface="Noto Sans" pitchFamily="34" charset="0"/>
                <a:ea typeface="Noto Sans" pitchFamily="34" charset="-122"/>
                <a:cs typeface="Noto Sans" pitchFamily="34" charset="-120"/>
              </a:rPr>
              <a:t>): </a:t>
            </a:r>
            <a:r>
              <a:rPr lang="en-US" sz="800" dirty="0">
                <a:solidFill>
                  <a:srgbClr val="34495E"/>
                </a:solidFill>
                <a:latin typeface="Noto Sans" pitchFamily="34" charset="0"/>
                <a:ea typeface="Noto Sans" pitchFamily="34" charset="-122"/>
                <a:cs typeface="Noto Sans" pitchFamily="34" charset="-120"/>
              </a:rPr>
              <a:t> </a:t>
            </a:r>
            <a:r>
              <a:rPr lang="en-US" sz="900" dirty="0">
                <a:solidFill>
                  <a:srgbClr val="3D2817"/>
                </a:solidFill>
                <a:latin typeface="Noto Sans" pitchFamily="34" charset="0"/>
                <a:ea typeface="Noto Sans" pitchFamily="34" charset="-122"/>
                <a:cs typeface="Noto Sans" pitchFamily="34" charset="-120"/>
              </a:rPr>
              <a:t>Integrate interpretability techniques (Grad-CAM, SHAP, attention visualization) to provide visual explanations of model predictions. Enhance clinician trust and enable better understanding of classification decisions</a:t>
            </a:r>
            <a:r>
              <a:rPr lang="en-US" sz="800" dirty="0">
                <a:solidFill>
                  <a:srgbClr val="34495E"/>
                </a:solidFill>
                <a:latin typeface="Noto Sans" pitchFamily="34" charset="0"/>
                <a:ea typeface="Noto Sans" pitchFamily="34" charset="-122"/>
                <a:cs typeface="Noto Sans" pitchFamily="34" charset="-120"/>
              </a:rPr>
              <a:t>. </a:t>
            </a:r>
            <a:endParaRPr lang="en-US" sz="800" dirty="0"/>
          </a:p>
          <a:p>
            <a:pPr marL="0" indent="0">
              <a:buNone/>
            </a:pPr>
            <a:endParaRPr lang="en-US" sz="837" dirty="0"/>
          </a:p>
        </p:txBody>
      </p:sp>
      <p:sp>
        <p:nvSpPr>
          <p:cNvPr id="49" name="Text 13">
            <a:extLst>
              <a:ext uri="{FF2B5EF4-FFF2-40B4-BE49-F238E27FC236}">
                <a16:creationId xmlns:a16="http://schemas.microsoft.com/office/drawing/2014/main" id="{F0B74F19-8156-20CC-7892-94754F831ADB}"/>
              </a:ext>
            </a:extLst>
          </p:cNvPr>
          <p:cNvSpPr/>
          <p:nvPr/>
        </p:nvSpPr>
        <p:spPr>
          <a:xfrm>
            <a:off x="2368880" y="3370237"/>
            <a:ext cx="3552825" cy="138499"/>
          </a:xfrm>
          <a:prstGeom prst="rect">
            <a:avLst/>
          </a:prstGeom>
          <a:noFill/>
          <a:ln/>
        </p:spPr>
        <p:txBody>
          <a:bodyPr wrap="square" lIns="0" tIns="0" rIns="0" bIns="0" rtlCol="0" anchor="ctr">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endParaRPr lang="en-US" sz="900" dirty="0"/>
          </a:p>
        </p:txBody>
      </p:sp>
      <p:pic>
        <p:nvPicPr>
          <p:cNvPr id="50" name="Image 1" descr="preencoded.png">
            <a:extLst>
              <a:ext uri="{FF2B5EF4-FFF2-40B4-BE49-F238E27FC236}">
                <a16:creationId xmlns:a16="http://schemas.microsoft.com/office/drawing/2014/main" id="{9B0876B9-D81F-97BD-85BE-C78294C9B80D}"/>
              </a:ext>
            </a:extLst>
          </p:cNvPr>
          <p:cNvPicPr>
            <a:picLocks noChangeAspect="1"/>
          </p:cNvPicPr>
          <p:nvPr/>
        </p:nvPicPr>
        <p:blipFill>
          <a:blip r:embed="rId4"/>
          <a:stretch>
            <a:fillRect/>
          </a:stretch>
        </p:blipFill>
        <p:spPr>
          <a:xfrm>
            <a:off x="814789" y="3107595"/>
            <a:ext cx="171450" cy="171450"/>
          </a:xfrm>
          <a:prstGeom prst="rect">
            <a:avLst/>
          </a:prstGeom>
          <a:ln>
            <a:noFill/>
          </a:ln>
        </p:spPr>
      </p:pic>
      <p:sp>
        <p:nvSpPr>
          <p:cNvPr id="51" name="Shape 10">
            <a:extLst>
              <a:ext uri="{FF2B5EF4-FFF2-40B4-BE49-F238E27FC236}">
                <a16:creationId xmlns:a16="http://schemas.microsoft.com/office/drawing/2014/main" id="{15D6C2C4-ED7A-57CA-C861-7004B12C8C75}"/>
              </a:ext>
            </a:extLst>
          </p:cNvPr>
          <p:cNvSpPr/>
          <p:nvPr/>
        </p:nvSpPr>
        <p:spPr>
          <a:xfrm>
            <a:off x="8568797" y="2891062"/>
            <a:ext cx="47285" cy="1311548"/>
          </a:xfrm>
          <a:prstGeom prst="rect">
            <a:avLst/>
          </a:prstGeom>
          <a:solidFill>
            <a:srgbClr val="2E5090"/>
          </a:solidFill>
          <a:ln/>
        </p:spPr>
        <p:txBody>
          <a:bodyPr/>
          <a:lstStyle/>
          <a:p>
            <a:endParaRPr lang="ar-SA"/>
          </a:p>
        </p:txBody>
      </p:sp>
      <p:pic>
        <p:nvPicPr>
          <p:cNvPr id="4" name="Picture 3">
            <a:extLst>
              <a:ext uri="{FF2B5EF4-FFF2-40B4-BE49-F238E27FC236}">
                <a16:creationId xmlns:a16="http://schemas.microsoft.com/office/drawing/2014/main" id="{9F629BAA-D229-942B-ABCC-7914B72399A6}"/>
              </a:ext>
            </a:extLst>
          </p:cNvPr>
          <p:cNvPicPr>
            <a:picLocks noChangeAspect="1"/>
          </p:cNvPicPr>
          <p:nvPr/>
        </p:nvPicPr>
        <p:blipFill>
          <a:blip r:embed="rId6"/>
          <a:stretch>
            <a:fillRect/>
          </a:stretch>
        </p:blipFill>
        <p:spPr>
          <a:xfrm>
            <a:off x="7994233" y="-39263"/>
            <a:ext cx="1141859" cy="11418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47" name="Image 0" descr="preencoded.png">
            <a:extLst>
              <a:ext uri="{FF2B5EF4-FFF2-40B4-BE49-F238E27FC236}">
                <a16:creationId xmlns:a16="http://schemas.microsoft.com/office/drawing/2014/main" id="{69DF5FE5-1F40-7609-85B2-1798A39E8136}"/>
              </a:ext>
            </a:extLst>
          </p:cNvPr>
          <p:cNvPicPr>
            <a:picLocks noChangeAspect="1"/>
          </p:cNvPicPr>
          <p:nvPr/>
        </p:nvPicPr>
        <p:blipFill>
          <a:blip r:embed="rId3"/>
          <a:stretch>
            <a:fillRect/>
          </a:stretch>
        </p:blipFill>
        <p:spPr>
          <a:xfrm>
            <a:off x="-53578" y="-25003"/>
            <a:ext cx="9197578" cy="5168503"/>
          </a:xfrm>
          <a:prstGeom prst="rect">
            <a:avLst/>
          </a:prstGeom>
        </p:spPr>
      </p:pic>
      <p:sp>
        <p:nvSpPr>
          <p:cNvPr id="48" name="Shape 1">
            <a:extLst>
              <a:ext uri="{FF2B5EF4-FFF2-40B4-BE49-F238E27FC236}">
                <a16:creationId xmlns:a16="http://schemas.microsoft.com/office/drawing/2014/main" id="{1D62C007-C0B9-E2E7-B6A0-95F17C051129}"/>
              </a:ext>
            </a:extLst>
          </p:cNvPr>
          <p:cNvSpPr/>
          <p:nvPr/>
        </p:nvSpPr>
        <p:spPr>
          <a:xfrm>
            <a:off x="571500" y="878681"/>
            <a:ext cx="8001000" cy="21431"/>
          </a:xfrm>
          <a:prstGeom prst="rect">
            <a:avLst/>
          </a:prstGeom>
          <a:solidFill>
            <a:srgbClr val="E67E22"/>
          </a:solidFill>
          <a:ln/>
        </p:spPr>
        <p:txBody>
          <a:bodyPr/>
          <a:lstStyle/>
          <a:p>
            <a:endParaRPr lang="en-US"/>
          </a:p>
        </p:txBody>
      </p:sp>
      <p:sp>
        <p:nvSpPr>
          <p:cNvPr id="49" name="Text 2">
            <a:extLst>
              <a:ext uri="{FF2B5EF4-FFF2-40B4-BE49-F238E27FC236}">
                <a16:creationId xmlns:a16="http://schemas.microsoft.com/office/drawing/2014/main" id="{0B64E6A9-D9CE-01EA-E86E-0B3E940B2901}"/>
              </a:ext>
            </a:extLst>
          </p:cNvPr>
          <p:cNvSpPr/>
          <p:nvPr/>
        </p:nvSpPr>
        <p:spPr>
          <a:xfrm>
            <a:off x="571500" y="428625"/>
            <a:ext cx="8197885" cy="483209"/>
          </a:xfrm>
          <a:prstGeom prst="rect">
            <a:avLst/>
          </a:prstGeom>
          <a:noFill/>
          <a:ln/>
        </p:spPr>
        <p:txBody>
          <a:bodyPr wrap="none" lIns="0" tIns="0" rIns="0" bIns="127508" rtlCol="0" anchor="t">
            <a:spAutoFit/>
          </a:bodyPr>
          <a:lstStyle/>
          <a:p>
            <a:pPr marL="0" indent="0" algn="l">
              <a:lnSpc>
                <a:spcPts val="2700"/>
              </a:lnSpc>
              <a:buNone/>
            </a:pPr>
            <a:r>
              <a:rPr lang="en-US" sz="2800" b="1" dirty="0">
                <a:solidFill>
                  <a:srgbClr val="2C3E50"/>
                </a:solidFill>
              </a:rPr>
              <a:t>Project Conclusion: Intelligent Fungal Detection System</a:t>
            </a:r>
            <a:endParaRPr lang="en-US" sz="2800" dirty="0"/>
          </a:p>
        </p:txBody>
      </p:sp>
      <p:sp>
        <p:nvSpPr>
          <p:cNvPr id="50" name="Shape 3">
            <a:extLst>
              <a:ext uri="{FF2B5EF4-FFF2-40B4-BE49-F238E27FC236}">
                <a16:creationId xmlns:a16="http://schemas.microsoft.com/office/drawing/2014/main" id="{EC65D630-3027-CD83-D549-0950032E3305}"/>
              </a:ext>
            </a:extLst>
          </p:cNvPr>
          <p:cNvSpPr/>
          <p:nvPr/>
        </p:nvSpPr>
        <p:spPr>
          <a:xfrm>
            <a:off x="544711" y="1221581"/>
            <a:ext cx="8001000" cy="842963"/>
          </a:xfrm>
          <a:prstGeom prst="rect">
            <a:avLst/>
          </a:prstGeom>
          <a:solidFill>
            <a:schemeClr val="tx2">
              <a:lumMod val="75000"/>
            </a:schemeClr>
          </a:solidFill>
          <a:ln/>
        </p:spPr>
        <p:txBody>
          <a:bodyPr/>
          <a:lstStyle/>
          <a:p>
            <a:endParaRPr lang="en-US"/>
          </a:p>
        </p:txBody>
      </p:sp>
      <p:pic>
        <p:nvPicPr>
          <p:cNvPr id="51" name="Image 1" descr="preencoded.png">
            <a:extLst>
              <a:ext uri="{FF2B5EF4-FFF2-40B4-BE49-F238E27FC236}">
                <a16:creationId xmlns:a16="http://schemas.microsoft.com/office/drawing/2014/main" id="{063B411F-E8C1-7814-7EC5-E3589B1BE993}"/>
              </a:ext>
            </a:extLst>
          </p:cNvPr>
          <p:cNvPicPr>
            <a:picLocks noChangeAspect="1"/>
          </p:cNvPicPr>
          <p:nvPr/>
        </p:nvPicPr>
        <p:blipFill>
          <a:blip r:embed="rId4"/>
          <a:stretch>
            <a:fillRect/>
          </a:stretch>
        </p:blipFill>
        <p:spPr>
          <a:xfrm>
            <a:off x="723305" y="1503759"/>
            <a:ext cx="321469" cy="285750"/>
          </a:xfrm>
          <a:prstGeom prst="rect">
            <a:avLst/>
          </a:prstGeom>
        </p:spPr>
      </p:pic>
      <p:sp>
        <p:nvSpPr>
          <p:cNvPr id="52" name="Text 4">
            <a:extLst>
              <a:ext uri="{FF2B5EF4-FFF2-40B4-BE49-F238E27FC236}">
                <a16:creationId xmlns:a16="http://schemas.microsoft.com/office/drawing/2014/main" id="{2059F709-D398-9917-C063-69FEAEEDB44E}"/>
              </a:ext>
            </a:extLst>
          </p:cNvPr>
          <p:cNvSpPr/>
          <p:nvPr/>
        </p:nvSpPr>
        <p:spPr>
          <a:xfrm>
            <a:off x="1187649" y="1400174"/>
            <a:ext cx="1662635" cy="312073"/>
          </a:xfrm>
          <a:prstGeom prst="rect">
            <a:avLst/>
          </a:prstGeom>
          <a:noFill/>
          <a:ln/>
        </p:spPr>
        <p:txBody>
          <a:bodyPr wrap="none" lIns="0" tIns="0" rIns="0" bIns="0" rtlCol="0" anchor="t">
            <a:spAutoFit/>
          </a:bodyPr>
          <a:lstStyle/>
          <a:p>
            <a:pPr marL="0" indent="0" algn="l">
              <a:lnSpc>
                <a:spcPts val="2400"/>
              </a:lnSpc>
              <a:buNone/>
            </a:pPr>
            <a:r>
              <a:rPr lang="en-US" sz="2400" b="1" dirty="0">
                <a:solidFill>
                  <a:srgbClr val="FFFFFF"/>
                </a:solidFill>
              </a:rPr>
              <a:t>98.61</a:t>
            </a:r>
            <a:r>
              <a:rPr lang="en-US" sz="1600" b="1" dirty="0">
                <a:solidFill>
                  <a:srgbClr val="FFFFFF"/>
                </a:solidFill>
              </a:rPr>
              <a:t>% Accuracy</a:t>
            </a:r>
            <a:endParaRPr lang="en-US" sz="1600" dirty="0"/>
          </a:p>
        </p:txBody>
      </p:sp>
      <p:sp>
        <p:nvSpPr>
          <p:cNvPr id="53" name="Text 5">
            <a:extLst>
              <a:ext uri="{FF2B5EF4-FFF2-40B4-BE49-F238E27FC236}">
                <a16:creationId xmlns:a16="http://schemas.microsoft.com/office/drawing/2014/main" id="{6EEE3FAD-01C2-B9EC-E0FB-794301CBEAD2}"/>
              </a:ext>
            </a:extLst>
          </p:cNvPr>
          <p:cNvSpPr/>
          <p:nvPr/>
        </p:nvSpPr>
        <p:spPr>
          <a:xfrm>
            <a:off x="1187649" y="1735931"/>
            <a:ext cx="6213239" cy="162801"/>
          </a:xfrm>
          <a:prstGeom prst="rect">
            <a:avLst/>
          </a:prstGeom>
          <a:noFill/>
          <a:ln/>
        </p:spPr>
        <p:txBody>
          <a:bodyPr wrap="none" lIns="0" tIns="0" rIns="0" bIns="0" rtlCol="0" anchor="t">
            <a:spAutoFit/>
          </a:bodyPr>
          <a:lstStyle/>
          <a:p>
            <a:pPr marL="0" indent="0" algn="l">
              <a:lnSpc>
                <a:spcPts val="1200"/>
              </a:lnSpc>
              <a:buNone/>
            </a:pPr>
            <a:r>
              <a:rPr lang="en-US" sz="1400" dirty="0">
                <a:solidFill>
                  <a:srgbClr val="FFFFFF">
                    <a:alpha val="95000"/>
                  </a:srgbClr>
                </a:solidFill>
              </a:rPr>
              <a:t>SwinV2-Base</a:t>
            </a:r>
            <a:r>
              <a:rPr lang="en-US" sz="1050" dirty="0">
                <a:solidFill>
                  <a:srgbClr val="FFFFFF">
                    <a:alpha val="95000"/>
                  </a:srgbClr>
                </a:solidFill>
              </a:rPr>
              <a:t> Ensemble model demonstrates strong reliability and consistent performance in fungal detection</a:t>
            </a:r>
            <a:endParaRPr lang="en-US" sz="1050" dirty="0"/>
          </a:p>
        </p:txBody>
      </p:sp>
      <p:pic>
        <p:nvPicPr>
          <p:cNvPr id="54" name="Image 2" descr="preencoded.png">
            <a:extLst>
              <a:ext uri="{FF2B5EF4-FFF2-40B4-BE49-F238E27FC236}">
                <a16:creationId xmlns:a16="http://schemas.microsoft.com/office/drawing/2014/main" id="{55B4109C-EC95-F61C-B531-A0E9C0BCD23D}"/>
              </a:ext>
            </a:extLst>
          </p:cNvPr>
          <p:cNvPicPr>
            <a:picLocks noChangeAspect="1"/>
          </p:cNvPicPr>
          <p:nvPr/>
        </p:nvPicPr>
        <p:blipFill>
          <a:blip r:embed="rId5"/>
          <a:stretch>
            <a:fillRect/>
          </a:stretch>
        </p:blipFill>
        <p:spPr>
          <a:xfrm>
            <a:off x="517922" y="2454697"/>
            <a:ext cx="232172" cy="185737"/>
          </a:xfrm>
          <a:prstGeom prst="rect">
            <a:avLst/>
          </a:prstGeom>
        </p:spPr>
      </p:pic>
      <p:sp>
        <p:nvSpPr>
          <p:cNvPr id="55" name="Text 6">
            <a:extLst>
              <a:ext uri="{FF2B5EF4-FFF2-40B4-BE49-F238E27FC236}">
                <a16:creationId xmlns:a16="http://schemas.microsoft.com/office/drawing/2014/main" id="{C4938041-D93F-24AD-869B-B6DA2048299B}"/>
              </a:ext>
            </a:extLst>
          </p:cNvPr>
          <p:cNvSpPr/>
          <p:nvPr/>
        </p:nvSpPr>
        <p:spPr>
          <a:xfrm>
            <a:off x="821531" y="2472556"/>
            <a:ext cx="3610732" cy="211981"/>
          </a:xfrm>
          <a:prstGeom prst="rect">
            <a:avLst/>
          </a:prstGeom>
          <a:noFill/>
          <a:ln/>
        </p:spPr>
        <p:txBody>
          <a:bodyPr wrap="none" lIns="0" tIns="0" rIns="0" bIns="0" rtlCol="0" anchor="t">
            <a:spAutoFit/>
          </a:bodyPr>
          <a:lstStyle/>
          <a:p>
            <a:pPr marL="0" indent="0" algn="l">
              <a:lnSpc>
                <a:spcPts val="1500"/>
              </a:lnSpc>
              <a:buNone/>
            </a:pPr>
            <a:r>
              <a:rPr lang="en-US" sz="2000" b="1" dirty="0">
                <a:solidFill>
                  <a:srgbClr val="2C3E50"/>
                </a:solidFill>
              </a:rPr>
              <a:t>System Architecture &amp; Integration</a:t>
            </a:r>
            <a:endParaRPr lang="en-US" sz="2000" dirty="0"/>
          </a:p>
        </p:txBody>
      </p:sp>
      <p:sp>
        <p:nvSpPr>
          <p:cNvPr id="56" name="Text 7">
            <a:extLst>
              <a:ext uri="{FF2B5EF4-FFF2-40B4-BE49-F238E27FC236}">
                <a16:creationId xmlns:a16="http://schemas.microsoft.com/office/drawing/2014/main" id="{4B51B877-5B88-617B-5553-E8FC2EEFCB25}"/>
              </a:ext>
            </a:extLst>
          </p:cNvPr>
          <p:cNvSpPr/>
          <p:nvPr/>
        </p:nvSpPr>
        <p:spPr>
          <a:xfrm>
            <a:off x="571500" y="2761878"/>
            <a:ext cx="8001000" cy="547842"/>
          </a:xfrm>
          <a:prstGeom prst="rect">
            <a:avLst/>
          </a:prstGeom>
          <a:noFill/>
          <a:ln/>
        </p:spPr>
        <p:txBody>
          <a:bodyPr wrap="square" lIns="0" tIns="0" rIns="0" bIns="0" rtlCol="0" anchor="t">
            <a:spAutoFit/>
          </a:bodyPr>
          <a:lstStyle/>
          <a:p>
            <a:pPr marL="0" indent="0" algn="l">
              <a:lnSpc>
                <a:spcPts val="1400"/>
              </a:lnSpc>
              <a:buNone/>
            </a:pPr>
            <a:r>
              <a:rPr lang="en-US" sz="1400" dirty="0">
                <a:solidFill>
                  <a:srgbClr val="2C3E50"/>
                </a:solidFill>
              </a:rPr>
              <a:t>The model has been successfully integrated into an </a:t>
            </a:r>
            <a:r>
              <a:rPr lang="en-US" sz="1400" b="1" dirty="0">
                <a:solidFill>
                  <a:srgbClr val="E67E22"/>
                </a:solidFill>
              </a:rPr>
              <a:t>easy-to-use mobile application</a:t>
            </a:r>
            <a:r>
              <a:rPr lang="en-US" sz="1400" dirty="0">
                <a:solidFill>
                  <a:srgbClr val="2C3E50"/>
                </a:solidFill>
              </a:rPr>
              <a:t>, supported by a flexible cloud-based architecture using </a:t>
            </a:r>
            <a:r>
              <a:rPr lang="en-US" sz="1400" b="1" dirty="0">
                <a:solidFill>
                  <a:srgbClr val="E67E22"/>
                </a:solidFill>
              </a:rPr>
              <a:t>Hugging Face, Flask, and Supabase</a:t>
            </a:r>
            <a:r>
              <a:rPr lang="en-US" sz="1400" dirty="0">
                <a:solidFill>
                  <a:srgbClr val="2C3E50"/>
                </a:solidFill>
              </a:rPr>
              <a:t>, making the system scalable and practical for real medical environments.</a:t>
            </a:r>
            <a:endParaRPr lang="en-US" sz="1400" dirty="0"/>
          </a:p>
        </p:txBody>
      </p:sp>
      <p:sp>
        <p:nvSpPr>
          <p:cNvPr id="57" name="Shape 8">
            <a:extLst>
              <a:ext uri="{FF2B5EF4-FFF2-40B4-BE49-F238E27FC236}">
                <a16:creationId xmlns:a16="http://schemas.microsoft.com/office/drawing/2014/main" id="{9751B64D-338B-02BF-34F9-C55C0F9AAF87}"/>
              </a:ext>
            </a:extLst>
          </p:cNvPr>
          <p:cNvSpPr/>
          <p:nvPr/>
        </p:nvSpPr>
        <p:spPr>
          <a:xfrm>
            <a:off x="571500" y="3362900"/>
            <a:ext cx="883920" cy="246888"/>
          </a:xfrm>
          <a:prstGeom prst="rect">
            <a:avLst/>
          </a:prstGeom>
          <a:solidFill>
            <a:srgbClr val="E67E22"/>
          </a:solidFill>
          <a:ln/>
        </p:spPr>
        <p:txBody>
          <a:bodyPr/>
          <a:lstStyle/>
          <a:p>
            <a:endParaRPr lang="en-US"/>
          </a:p>
        </p:txBody>
      </p:sp>
      <p:sp>
        <p:nvSpPr>
          <p:cNvPr id="58" name="Text 9">
            <a:extLst>
              <a:ext uri="{FF2B5EF4-FFF2-40B4-BE49-F238E27FC236}">
                <a16:creationId xmlns:a16="http://schemas.microsoft.com/office/drawing/2014/main" id="{160A520A-1A4D-9612-7897-B988ED5FE09C}"/>
              </a:ext>
            </a:extLst>
          </p:cNvPr>
          <p:cNvSpPr/>
          <p:nvPr/>
        </p:nvSpPr>
        <p:spPr>
          <a:xfrm>
            <a:off x="571500" y="3362902"/>
            <a:ext cx="1089465" cy="246888"/>
          </a:xfrm>
          <a:prstGeom prst="rect">
            <a:avLst/>
          </a:prstGeom>
          <a:noFill/>
          <a:ln/>
        </p:spPr>
        <p:txBody>
          <a:bodyPr wrap="square" lIns="102108" tIns="51054" rIns="102108" bIns="51054" rtlCol="0" anchor="t">
            <a:spAutoFit/>
          </a:bodyPr>
          <a:lstStyle/>
          <a:p>
            <a:pPr marL="0" indent="0" algn="l">
              <a:lnSpc>
                <a:spcPts val="1100"/>
              </a:lnSpc>
              <a:buNone/>
            </a:pPr>
            <a:r>
              <a:rPr lang="en-US" sz="1050" b="1" dirty="0">
                <a:solidFill>
                  <a:srgbClr val="FFFFFF"/>
                </a:solidFill>
              </a:rPr>
              <a:t>Hugging Face</a:t>
            </a:r>
            <a:endParaRPr lang="en-US" sz="1050" dirty="0"/>
          </a:p>
        </p:txBody>
      </p:sp>
      <p:sp>
        <p:nvSpPr>
          <p:cNvPr id="59" name="Shape 10">
            <a:extLst>
              <a:ext uri="{FF2B5EF4-FFF2-40B4-BE49-F238E27FC236}">
                <a16:creationId xmlns:a16="http://schemas.microsoft.com/office/drawing/2014/main" id="{72026295-1F18-B705-3C88-EDB0BD47A70C}"/>
              </a:ext>
            </a:extLst>
          </p:cNvPr>
          <p:cNvSpPr/>
          <p:nvPr/>
        </p:nvSpPr>
        <p:spPr>
          <a:xfrm>
            <a:off x="1528304" y="3362901"/>
            <a:ext cx="556259" cy="246888"/>
          </a:xfrm>
          <a:prstGeom prst="rect">
            <a:avLst/>
          </a:prstGeom>
          <a:solidFill>
            <a:srgbClr val="E67E22"/>
          </a:solidFill>
          <a:ln/>
        </p:spPr>
        <p:txBody>
          <a:bodyPr/>
          <a:lstStyle/>
          <a:p>
            <a:endParaRPr lang="en-US"/>
          </a:p>
        </p:txBody>
      </p:sp>
      <p:sp>
        <p:nvSpPr>
          <p:cNvPr id="60" name="Text 11">
            <a:extLst>
              <a:ext uri="{FF2B5EF4-FFF2-40B4-BE49-F238E27FC236}">
                <a16:creationId xmlns:a16="http://schemas.microsoft.com/office/drawing/2014/main" id="{E19F91EF-A16E-71B5-DAA7-3CA9695AFE85}"/>
              </a:ext>
            </a:extLst>
          </p:cNvPr>
          <p:cNvSpPr/>
          <p:nvPr/>
        </p:nvSpPr>
        <p:spPr>
          <a:xfrm>
            <a:off x="1558784" y="3362902"/>
            <a:ext cx="556259" cy="246888"/>
          </a:xfrm>
          <a:prstGeom prst="rect">
            <a:avLst/>
          </a:prstGeom>
          <a:noFill/>
          <a:ln/>
        </p:spPr>
        <p:txBody>
          <a:bodyPr wrap="square" lIns="102108" tIns="51054" rIns="102108" bIns="51054" rtlCol="0" anchor="t">
            <a:spAutoFit/>
          </a:bodyPr>
          <a:lstStyle/>
          <a:p>
            <a:pPr marL="0" indent="0" algn="l">
              <a:lnSpc>
                <a:spcPts val="1100"/>
              </a:lnSpc>
              <a:buNone/>
            </a:pPr>
            <a:r>
              <a:rPr lang="en-US" sz="1050" b="1" dirty="0">
                <a:solidFill>
                  <a:srgbClr val="FFFFFF"/>
                </a:solidFill>
              </a:rPr>
              <a:t>Flask</a:t>
            </a:r>
            <a:endParaRPr lang="en-US" sz="1050" dirty="0"/>
          </a:p>
        </p:txBody>
      </p:sp>
      <p:sp>
        <p:nvSpPr>
          <p:cNvPr id="61" name="Shape 12">
            <a:extLst>
              <a:ext uri="{FF2B5EF4-FFF2-40B4-BE49-F238E27FC236}">
                <a16:creationId xmlns:a16="http://schemas.microsoft.com/office/drawing/2014/main" id="{BE834417-77DE-F3FD-E2C8-FC23310E80F8}"/>
              </a:ext>
            </a:extLst>
          </p:cNvPr>
          <p:cNvSpPr/>
          <p:nvPr/>
        </p:nvSpPr>
        <p:spPr>
          <a:xfrm>
            <a:off x="2224665" y="3346571"/>
            <a:ext cx="662869" cy="246888"/>
          </a:xfrm>
          <a:prstGeom prst="rect">
            <a:avLst/>
          </a:prstGeom>
          <a:solidFill>
            <a:srgbClr val="E67E22"/>
          </a:solidFill>
          <a:ln/>
        </p:spPr>
        <p:txBody>
          <a:bodyPr/>
          <a:lstStyle/>
          <a:p>
            <a:endParaRPr lang="en-US"/>
          </a:p>
        </p:txBody>
      </p:sp>
      <p:sp>
        <p:nvSpPr>
          <p:cNvPr id="62" name="Text 13">
            <a:extLst>
              <a:ext uri="{FF2B5EF4-FFF2-40B4-BE49-F238E27FC236}">
                <a16:creationId xmlns:a16="http://schemas.microsoft.com/office/drawing/2014/main" id="{D19E61ED-C3C1-883A-CAB3-9FA769998A93}"/>
              </a:ext>
            </a:extLst>
          </p:cNvPr>
          <p:cNvSpPr/>
          <p:nvPr/>
        </p:nvSpPr>
        <p:spPr>
          <a:xfrm>
            <a:off x="2183780" y="3347661"/>
            <a:ext cx="781069" cy="246888"/>
          </a:xfrm>
          <a:prstGeom prst="rect">
            <a:avLst/>
          </a:prstGeom>
          <a:noFill/>
          <a:ln/>
        </p:spPr>
        <p:txBody>
          <a:bodyPr wrap="square" lIns="102108" tIns="51054" rIns="102108" bIns="51054" rtlCol="0" anchor="t">
            <a:spAutoFit/>
          </a:bodyPr>
          <a:lstStyle/>
          <a:p>
            <a:pPr marL="0" indent="0" algn="l">
              <a:lnSpc>
                <a:spcPts val="1100"/>
              </a:lnSpc>
              <a:buNone/>
            </a:pPr>
            <a:r>
              <a:rPr lang="en-US" sz="1050" b="1" dirty="0">
                <a:solidFill>
                  <a:srgbClr val="FFFFFF"/>
                </a:solidFill>
              </a:rPr>
              <a:t>Supabase</a:t>
            </a:r>
            <a:endParaRPr lang="en-US" sz="1050" dirty="0"/>
          </a:p>
        </p:txBody>
      </p:sp>
      <p:sp>
        <p:nvSpPr>
          <p:cNvPr id="63" name="Shape 14">
            <a:extLst>
              <a:ext uri="{FF2B5EF4-FFF2-40B4-BE49-F238E27FC236}">
                <a16:creationId xmlns:a16="http://schemas.microsoft.com/office/drawing/2014/main" id="{ECBDF7B0-1123-9A2B-C6CD-D823924433E8}"/>
              </a:ext>
            </a:extLst>
          </p:cNvPr>
          <p:cNvSpPr/>
          <p:nvPr/>
        </p:nvSpPr>
        <p:spPr>
          <a:xfrm>
            <a:off x="2925086" y="3343705"/>
            <a:ext cx="1336371" cy="246888"/>
          </a:xfrm>
          <a:prstGeom prst="rect">
            <a:avLst/>
          </a:prstGeom>
          <a:solidFill>
            <a:srgbClr val="E67E22"/>
          </a:solidFill>
          <a:ln/>
        </p:spPr>
        <p:txBody>
          <a:bodyPr/>
          <a:lstStyle/>
          <a:p>
            <a:endParaRPr lang="en-US"/>
          </a:p>
        </p:txBody>
      </p:sp>
      <p:sp>
        <p:nvSpPr>
          <p:cNvPr id="64" name="Text 15">
            <a:extLst>
              <a:ext uri="{FF2B5EF4-FFF2-40B4-BE49-F238E27FC236}">
                <a16:creationId xmlns:a16="http://schemas.microsoft.com/office/drawing/2014/main" id="{F488F51B-5391-F6AB-4F21-FE1150B234FE}"/>
              </a:ext>
            </a:extLst>
          </p:cNvPr>
          <p:cNvSpPr/>
          <p:nvPr/>
        </p:nvSpPr>
        <p:spPr>
          <a:xfrm>
            <a:off x="2941032" y="3345839"/>
            <a:ext cx="1304479" cy="246888"/>
          </a:xfrm>
          <a:prstGeom prst="rect">
            <a:avLst/>
          </a:prstGeom>
          <a:noFill/>
          <a:ln/>
        </p:spPr>
        <p:txBody>
          <a:bodyPr wrap="square" lIns="102108" tIns="51054" rIns="102108" bIns="51054" rtlCol="0" anchor="t">
            <a:spAutoFit/>
          </a:bodyPr>
          <a:lstStyle/>
          <a:p>
            <a:pPr marL="0" indent="0" algn="l">
              <a:lnSpc>
                <a:spcPts val="1100"/>
              </a:lnSpc>
              <a:buNone/>
            </a:pPr>
            <a:r>
              <a:rPr lang="en-US" sz="1050" b="1" dirty="0">
                <a:solidFill>
                  <a:srgbClr val="FFFFFF"/>
                </a:solidFill>
              </a:rPr>
              <a:t>Flutter Mobile App</a:t>
            </a:r>
            <a:endParaRPr lang="en-US" sz="1050" dirty="0"/>
          </a:p>
        </p:txBody>
      </p:sp>
      <p:pic>
        <p:nvPicPr>
          <p:cNvPr id="65" name="Image 3" descr="preencoded.png">
            <a:extLst>
              <a:ext uri="{FF2B5EF4-FFF2-40B4-BE49-F238E27FC236}">
                <a16:creationId xmlns:a16="http://schemas.microsoft.com/office/drawing/2014/main" id="{7171958E-5214-EFCA-72BB-B0943D5AF074}"/>
              </a:ext>
            </a:extLst>
          </p:cNvPr>
          <p:cNvPicPr>
            <a:picLocks noChangeAspect="1"/>
          </p:cNvPicPr>
          <p:nvPr/>
        </p:nvPicPr>
        <p:blipFill>
          <a:blip r:embed="rId6"/>
          <a:stretch>
            <a:fillRect/>
          </a:stretch>
        </p:blipFill>
        <p:spPr>
          <a:xfrm>
            <a:off x="464344" y="3992145"/>
            <a:ext cx="223186" cy="198388"/>
          </a:xfrm>
          <a:prstGeom prst="rect">
            <a:avLst/>
          </a:prstGeom>
        </p:spPr>
      </p:pic>
      <p:sp>
        <p:nvSpPr>
          <p:cNvPr id="66" name="Text 16">
            <a:extLst>
              <a:ext uri="{FF2B5EF4-FFF2-40B4-BE49-F238E27FC236}">
                <a16:creationId xmlns:a16="http://schemas.microsoft.com/office/drawing/2014/main" id="{EA77E309-7589-4F1E-6BFD-452517169B25}"/>
              </a:ext>
            </a:extLst>
          </p:cNvPr>
          <p:cNvSpPr/>
          <p:nvPr/>
        </p:nvSpPr>
        <p:spPr>
          <a:xfrm>
            <a:off x="750094" y="3992145"/>
            <a:ext cx="3966599" cy="211981"/>
          </a:xfrm>
          <a:prstGeom prst="rect">
            <a:avLst/>
          </a:prstGeom>
          <a:noFill/>
          <a:ln/>
        </p:spPr>
        <p:txBody>
          <a:bodyPr wrap="none" lIns="0" tIns="0" rIns="0" bIns="0" rtlCol="0" anchor="t">
            <a:spAutoFit/>
          </a:bodyPr>
          <a:lstStyle/>
          <a:p>
            <a:pPr marL="0" indent="0" algn="l">
              <a:lnSpc>
                <a:spcPts val="1500"/>
              </a:lnSpc>
              <a:buNone/>
            </a:pPr>
            <a:r>
              <a:rPr lang="en-US" sz="2000" b="1" dirty="0">
                <a:solidFill>
                  <a:srgbClr val="2C3E50"/>
                </a:solidFill>
              </a:rPr>
              <a:t>Healthcare Impact &amp; Future Potential</a:t>
            </a:r>
          </a:p>
        </p:txBody>
      </p:sp>
      <p:sp>
        <p:nvSpPr>
          <p:cNvPr id="67" name="Text 17">
            <a:extLst>
              <a:ext uri="{FF2B5EF4-FFF2-40B4-BE49-F238E27FC236}">
                <a16:creationId xmlns:a16="http://schemas.microsoft.com/office/drawing/2014/main" id="{4D2CD1DC-3342-6004-64E6-FC10112B1CFF}"/>
              </a:ext>
            </a:extLst>
          </p:cNvPr>
          <p:cNvSpPr/>
          <p:nvPr/>
        </p:nvSpPr>
        <p:spPr>
          <a:xfrm>
            <a:off x="517922" y="4281467"/>
            <a:ext cx="8001000" cy="538609"/>
          </a:xfrm>
          <a:prstGeom prst="rect">
            <a:avLst/>
          </a:prstGeom>
          <a:noFill/>
          <a:ln/>
        </p:spPr>
        <p:txBody>
          <a:bodyPr wrap="square" lIns="0" tIns="0" rIns="0" bIns="0" rtlCol="0" anchor="t">
            <a:spAutoFit/>
          </a:bodyPr>
          <a:lstStyle/>
          <a:p>
            <a:pPr marL="0" indent="0" algn="l">
              <a:lnSpc>
                <a:spcPts val="1400"/>
              </a:lnSpc>
              <a:buNone/>
            </a:pPr>
            <a:r>
              <a:rPr lang="en-US" sz="1200" dirty="0">
                <a:solidFill>
                  <a:srgbClr val="2C3E50"/>
                </a:solidFill>
              </a:rPr>
              <a:t>The project showcases how </a:t>
            </a:r>
            <a:r>
              <a:rPr lang="en-US" sz="1200" b="1" dirty="0">
                <a:solidFill>
                  <a:srgbClr val="E67E22"/>
                </a:solidFill>
              </a:rPr>
              <a:t>advanced AI technologies can be effectively applied to medical diagnosis</a:t>
            </a:r>
            <a:r>
              <a:rPr lang="en-US" sz="1200" dirty="0">
                <a:solidFill>
                  <a:srgbClr val="2C3E50"/>
                </a:solidFill>
              </a:rPr>
              <a:t>, providing faster and more accurate support for healthcare professionals. This intelligent system enables early detection and timely intervention in fungal infections.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11583</TotalTime>
  <Words>2824</Words>
  <Application>Microsoft Office PowerPoint</Application>
  <PresentationFormat>On-screen Show (16:9)</PresentationFormat>
  <Paragraphs>549</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Noto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Hothifa Mahdi</cp:lastModifiedBy>
  <cp:revision>43</cp:revision>
  <dcterms:created xsi:type="dcterms:W3CDTF">2025-10-26T02:15:07Z</dcterms:created>
  <dcterms:modified xsi:type="dcterms:W3CDTF">2025-11-17T23:19:29Z</dcterms:modified>
</cp:coreProperties>
</file>